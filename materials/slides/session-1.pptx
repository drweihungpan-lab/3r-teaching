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doi.org/10.1371/journal.pbio.1002165" TargetMode="External"/><Relationship Id="rId3" Type="http://schemas.openxmlformats.org/officeDocument/2006/relationships/hyperlink" Target="https://doi.org/10.7554/eLife.71601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../../GLOSSARY.md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../../docs/setup.md#configuration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../../docs/template.md#administrator-protect-main-in-every-generated-repository" TargetMode="External"/><Relationship Id="rId3" Type="http://schemas.openxmlformats.org/officeDocument/2006/relationships/hyperlink" Target="../../docs/ci.md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../../docs/template.md" TargetMode="Externa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../../docs/template.md#local-setup-and-startup" TargetMode="Externa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../../data/synthetic/dm.csv" TargetMode="External"/><Relationship Id="rId3" Type="http://schemas.openxmlformats.org/officeDocument/2006/relationships/hyperlink" Target="../../data/synthetic/lb.csv" TargetMode="Externa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../../docs/collaboration.md" TargetMode="Externa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../../SYLLABUS.md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1 / 24</a:t>
            </a:r>
          </a:p>
        </p:txBody>
      </p:sp>
      <p:sp>
        <p:nvSpPr>
          <p:cNvPr id="4" name="title:line-1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Session 1: Environments, Git, and CI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session-1.md   ·   1</a:t>
            </a:r>
          </a:p>
        </p:txBody>
      </p:sp>
      <p:sp>
        <p:nvSpPr>
          <p:cNvPr id="6" name="content:line-3:0"/>
          <p:cNvSpPr txBox="1"/>
          <p:nvPr/>
        </p:nvSpPr>
        <p:spPr>
          <a:xfrm>
            <a:off x="594360" y="1737360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0" i="0">
                <a:solidFill>
                  <a:srgbClr val="20344A"/>
                </a:solidFill>
                <a:latin typeface="Arial"/>
              </a:rPr>
              <a:t>Make a small, explainable change to a complete working example.</a:t>
            </a:r>
          </a:p>
        </p:txBody>
      </p:sp>
      <p:sp>
        <p:nvSpPr>
          <p:cNvPr id="7" name="content:line-5:0"/>
          <p:cNvSpPr txBox="1"/>
          <p:nvPr/>
        </p:nvSpPr>
        <p:spPr>
          <a:xfrm>
            <a:off x="594360" y="2229612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Isolate Python, keep local settings private, and run the checks.</a:t>
            </a:r>
          </a:p>
        </p:txBody>
      </p:sp>
      <p:sp>
        <p:nvSpPr>
          <p:cNvPr id="8" name="content:line-6:0"/>
          <p:cNvSpPr txBox="1"/>
          <p:nvPr/>
        </p:nvSpPr>
        <p:spPr>
          <a:xfrm>
            <a:off x="594360" y="2721864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Use a feature branch, a pull request, and a teammate's review.</a:t>
            </a:r>
          </a:p>
        </p:txBody>
      </p:sp>
      <p:sp>
        <p:nvSpPr>
          <p:cNvPr id="9" name="content:line-7:0"/>
          <p:cNvSpPr txBox="1"/>
          <p:nvPr/>
        </p:nvSpPr>
        <p:spPr>
          <a:xfrm>
            <a:off x="594360" y="3214115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Read automated results before merging.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2 / 24</a:t>
            </a:r>
          </a:p>
        </p:txBody>
      </p:sp>
      <p:sp>
        <p:nvSpPr>
          <p:cNvPr id="4" name="title:line-11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Our three-hour route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session-1.md   ·   2</a:t>
            </a:r>
          </a:p>
        </p:txBody>
      </p:sp>
      <p:sp>
        <p:nvSpPr>
          <p:cNvPr id="6" name="content:line-13:0"/>
          <p:cNvSpPr txBox="1"/>
          <p:nvPr/>
        </p:nvSpPr>
        <p:spPr>
          <a:xfrm>
            <a:off x="594360" y="1737360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00–35: Opening — introductions, a bubble tea question, and why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results must hold.</a:t>
            </a:r>
          </a:p>
        </p:txBody>
      </p:sp>
      <p:sp>
        <p:nvSpPr>
          <p:cNvPr id="7" name="content:line-14:0"/>
          <p:cNvSpPr txBox="1"/>
          <p:nvPr/>
        </p:nvSpPr>
        <p:spPr>
          <a:xfrm>
            <a:off x="594360" y="2581656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35–65: Explanation — environments, configuration, Git, and CI.</a:t>
            </a:r>
          </a:p>
        </p:txBody>
      </p:sp>
      <p:sp>
        <p:nvSpPr>
          <p:cNvPr id="8" name="content:line-15:0"/>
          <p:cNvSpPr txBox="1"/>
          <p:nvPr/>
        </p:nvSpPr>
        <p:spPr>
          <a:xfrm>
            <a:off x="594360" y="3073907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65–85: Demonstration — template to a checked draft PR.</a:t>
            </a:r>
          </a:p>
        </p:txBody>
      </p:sp>
      <p:sp>
        <p:nvSpPr>
          <p:cNvPr id="9" name="content:line-16:0"/>
          <p:cNvSpPr txBox="1"/>
          <p:nvPr/>
        </p:nvSpPr>
        <p:spPr>
          <a:xfrm>
            <a:off x="594360" y="3566159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85–100: Break — 15 minutes.</a:t>
            </a:r>
          </a:p>
        </p:txBody>
      </p:sp>
      <p:sp>
        <p:nvSpPr>
          <p:cNvPr id="10" name="content:line-17:0"/>
          <p:cNvSpPr txBox="1"/>
          <p:nvPr/>
        </p:nvSpPr>
        <p:spPr>
          <a:xfrm>
            <a:off x="594360" y="4058411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100–180: Guided practice — repeat the workflow; the conflict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drill if time permits.</a:t>
            </a:r>
          </a:p>
        </p:txBody>
      </p:sp>
      <p:sp>
        <p:nvSpPr>
          <p:cNvPr id="11" name="content:line-19:0"/>
          <p:cNvSpPr txBox="1"/>
          <p:nvPr/>
        </p:nvSpPr>
        <p:spPr>
          <a:xfrm>
            <a:off x="594360" y="4902708"/>
            <a:ext cx="11003279" cy="11323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0" i="0">
                <a:solidFill>
                  <a:srgbClr val="20344A"/>
                </a:solidFill>
                <a:latin typeface="Arial"/>
              </a:rPr>
              <a:t>These flexible timings total 35 minutes opening, 30 explanation,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20 demonstration, 15 break, and 80 practice. Unfinished practice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continues at home, in addition to the homework.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3 / 24</a:t>
            </a:r>
          </a:p>
        </p:txBody>
      </p:sp>
      <p:sp>
        <p:nvSpPr>
          <p:cNvPr id="4" name="title:line-23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Your bubble tea shop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session-1.md   ·   3</a:t>
            </a:r>
          </a:p>
        </p:txBody>
      </p:sp>
      <p:sp>
        <p:nvSpPr>
          <p:cNvPr id="6" name="content:line-25:0"/>
          <p:cNvSpPr txBox="1"/>
          <p:nvPr/>
        </p:nvSpPr>
        <p:spPr>
          <a:xfrm>
            <a:off x="594360" y="1737360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0" i="0">
                <a:solidFill>
                  <a:srgbClr val="20344A"/>
                </a:solidFill>
                <a:latin typeface="Arial"/>
              </a:rPr>
              <a:t>At the student demo day, your bubble tea got great reviews.</a:t>
            </a:r>
          </a:p>
        </p:txBody>
      </p:sp>
      <p:sp>
        <p:nvSpPr>
          <p:cNvPr id="7" name="content:line-27:0"/>
          <p:cNvSpPr txBox="1"/>
          <p:nvPr/>
        </p:nvSpPr>
        <p:spPr>
          <a:xfrm>
            <a:off x="594360" y="2229612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0" i="0">
                <a:solidFill>
                  <a:srgbClr val="20344A"/>
                </a:solidFill>
                <a:latin typeface="Arial"/>
              </a:rPr>
              <a:t>Now you want to open a shop in front of NTHU. You already have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the best location and the decor.</a:t>
            </a:r>
          </a:p>
        </p:txBody>
      </p:sp>
      <p:sp>
        <p:nvSpPr>
          <p:cNvPr id="8" name="content:line-29:0"/>
          <p:cNvSpPr txBox="1"/>
          <p:nvPr/>
        </p:nvSpPr>
        <p:spPr>
          <a:xfrm>
            <a:off x="594360" y="3073908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1" i="0">
                <a:solidFill>
                  <a:srgbClr val="20344A"/>
                </a:solidFill>
                <a:latin typeface="Arial"/>
              </a:rPr>
              <a:t>What do you need to take care of so every customer gets the </a:t>
            </a:r>
            <a:br/>
            <a:r>
              <a:rPr sz="2100" b="1" i="0">
                <a:solidFill>
                  <a:srgbClr val="20344A"/>
                </a:solidFill>
                <a:latin typeface="Arial"/>
              </a:rPr>
              <a:t>tea they loved?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4 / 24</a:t>
            </a:r>
          </a:p>
        </p:txBody>
      </p:sp>
      <p:sp>
        <p:nvSpPr>
          <p:cNvPr id="4" name="title:line-33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Can we trust published biomedical </a:t>
            </a:r>
            <a:br/>
            <a:r>
              <a:rPr sz="3200" b="0" i="0">
                <a:solidFill>
                  <a:srgbClr val="20344A"/>
                </a:solidFill>
                <a:latin typeface="Arial"/>
              </a:rPr>
              <a:t>research?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session-1.md   ·   4</a:t>
            </a:r>
          </a:p>
        </p:txBody>
      </p:sp>
      <p:sp>
        <p:nvSpPr>
          <p:cNvPr id="6" name="content:line-35:0"/>
          <p:cNvSpPr txBox="1"/>
          <p:nvPr/>
        </p:nvSpPr>
        <p:spPr>
          <a:xfrm>
            <a:off x="594360" y="1737360"/>
            <a:ext cx="11003279" cy="11323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An estimated </a:t>
            </a:r>
            <a:r>
              <a:rPr sz="2100" b="1" i="0">
                <a:solidFill>
                  <a:srgbClr val="20344A"/>
                </a:solidFill>
                <a:latin typeface="Arial"/>
              </a:rPr>
              <a:t>&gt;50%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of preclinical biomedical research is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irreproducible, costing about </a:t>
            </a:r>
            <a:r>
              <a:rPr sz="2100" b="1" i="0">
                <a:solidFill>
                  <a:srgbClr val="20344A"/>
                </a:solidFill>
                <a:latin typeface="Arial"/>
              </a:rPr>
              <a:t>US$28 billion a year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in the US.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(</a:t>
            </a:r>
            <a:r>
              <a:rPr sz="2100" b="0" i="0">
                <a:solidFill>
                  <a:srgbClr val="007F82"/>
                </a:solidFill>
                <a:latin typeface="Arial"/>
                <a:hlinkClick r:id="rId2"/>
              </a:rPr>
              <a:t>Freedman et al., PLoS Biol 2015</a:t>
            </a:r>
            <a:r>
              <a:rPr sz="2100" b="0" i="0">
                <a:solidFill>
                  <a:srgbClr val="20344A"/>
                </a:solidFill>
                <a:latin typeface="Arial"/>
              </a:rPr>
              <a:t>)</a:t>
            </a:r>
          </a:p>
        </p:txBody>
      </p:sp>
      <p:sp>
        <p:nvSpPr>
          <p:cNvPr id="7" name="content:line-36:0"/>
          <p:cNvSpPr txBox="1"/>
          <p:nvPr/>
        </p:nvSpPr>
        <p:spPr>
          <a:xfrm>
            <a:off x="594360" y="2933700"/>
            <a:ext cx="11003279" cy="148437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Cancer biology: only </a:t>
            </a:r>
            <a:r>
              <a:rPr sz="2100" b="1" i="0">
                <a:solidFill>
                  <a:srgbClr val="20344A"/>
                </a:solidFill>
                <a:latin typeface="Arial"/>
              </a:rPr>
              <a:t>46%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of replications succeeded, and </a:t>
            </a:r>
            <a:r>
              <a:rPr sz="2100" b="1" i="0">
                <a:solidFill>
                  <a:srgbClr val="20344A"/>
                </a:solidFill>
                <a:latin typeface="Arial"/>
              </a:rPr>
              <a:t>74%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of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planned experiments could not be done at all, partly because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methods were not described in enough detail. (</a:t>
            </a:r>
            <a:r>
              <a:rPr sz="2100" b="0" i="0">
                <a:solidFill>
                  <a:srgbClr val="007F82"/>
                </a:solidFill>
                <a:latin typeface="Arial"/>
                <a:hlinkClick r:id="rId3"/>
              </a:rPr>
              <a:t>Errington et al., </a:t>
            </a:r>
            <a:br/>
            <a:r>
              <a:rPr sz="2100" b="0" i="0">
                <a:solidFill>
                  <a:srgbClr val="007F82"/>
                </a:solidFill>
                <a:latin typeface="Arial"/>
                <a:hlinkClick r:id="rId3"/>
              </a:rPr>
              <a:t>eLife 2021</a:t>
            </a:r>
            <a:r>
              <a:rPr sz="2100" b="0" i="0">
                <a:solidFill>
                  <a:srgbClr val="20344A"/>
                </a:solidFill>
                <a:latin typeface="Arial"/>
              </a:rPr>
              <a:t>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5 / 24</a:t>
            </a:r>
          </a:p>
        </p:txBody>
      </p:sp>
      <p:sp>
        <p:nvSpPr>
          <p:cNvPr id="4" name="title:line-40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What are we trying to preserve?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session-1.md   ·   5</a:t>
            </a:r>
          </a:p>
        </p:txBody>
      </p:sp>
      <p:sp>
        <p:nvSpPr>
          <p:cNvPr id="6" name="content:line-42:0"/>
          <p:cNvSpPr txBox="1"/>
          <p:nvPr/>
        </p:nvSpPr>
        <p:spPr>
          <a:xfrm>
            <a:off x="594360" y="1737360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Repeatability: matching results under the same conditions.</a:t>
            </a:r>
          </a:p>
        </p:txBody>
      </p:sp>
      <p:sp>
        <p:nvSpPr>
          <p:cNvPr id="7" name="content:line-43:0"/>
          <p:cNvSpPr txBox="1"/>
          <p:nvPr/>
        </p:nvSpPr>
        <p:spPr>
          <a:xfrm>
            <a:off x="594360" y="2229612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Replicability: matching results under slightly different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conditions, such as local Python versus Docker.</a:t>
            </a:r>
          </a:p>
        </p:txBody>
      </p:sp>
      <p:sp>
        <p:nvSpPr>
          <p:cNvPr id="8" name="content:line-44:0"/>
          <p:cNvSpPr txBox="1"/>
          <p:nvPr/>
        </p:nvSpPr>
        <p:spPr>
          <a:xfrm>
            <a:off x="594360" y="3073908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Reproducibility: matching results under very different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conditions, such as an independent simulation; conceptual here.</a:t>
            </a:r>
          </a:p>
        </p:txBody>
      </p:sp>
      <p:sp>
        <p:nvSpPr>
          <p:cNvPr id="9" name="content:line-46:0"/>
          <p:cNvSpPr txBox="1"/>
          <p:nvPr/>
        </p:nvSpPr>
        <p:spPr>
          <a:xfrm>
            <a:off x="594360" y="3918204"/>
            <a:ext cx="11003279" cy="11323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0" i="0">
                <a:solidFill>
                  <a:srgbClr val="20344A"/>
                </a:solidFill>
                <a:latin typeface="Arial"/>
              </a:rPr>
              <a:t>These are the </a:t>
            </a:r>
            <a:r>
              <a:rPr sz="2100" b="0" i="0">
                <a:solidFill>
                  <a:srgbClr val="007F82"/>
                </a:solidFill>
                <a:latin typeface="Arial"/>
                <a:hlinkClick r:id="rId2"/>
              </a:rPr>
              <a:t>course definitions</a:t>
            </a:r>
            <a:r>
              <a:rPr sz="2100" b="0" i="0">
                <a:solidFill>
                  <a:srgbClr val="20344A"/>
                </a:solidFill>
                <a:latin typeface="Arial"/>
              </a:rPr>
              <a:t>. Later comparisons require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exact records/counts and declared tolerances for calculated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decimals.</a:t>
            </a:r>
          </a:p>
        </p:txBody>
      </p:sp>
      <p:sp>
        <p:nvSpPr>
          <p:cNvPr id="10" name="content:line-48:0"/>
          <p:cNvSpPr txBox="1"/>
          <p:nvPr/>
        </p:nvSpPr>
        <p:spPr>
          <a:xfrm>
            <a:off x="594360" y="5114544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0" i="0">
                <a:solidFill>
                  <a:srgbClr val="20344A"/>
                </a:solidFill>
                <a:latin typeface="Arial"/>
              </a:rPr>
              <a:t>Keep your bubble tea answers in mind.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6 / 24</a:t>
            </a:r>
          </a:p>
        </p:txBody>
      </p:sp>
      <p:sp>
        <p:nvSpPr>
          <p:cNvPr id="4" name="title:line-52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Start with a working application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session-1.md   ·   6</a:t>
            </a:r>
          </a:p>
        </p:txBody>
      </p:sp>
      <p:sp>
        <p:nvSpPr>
          <p:cNvPr id="6" name="content:line-54:0"/>
          <p:cNvSpPr txBox="1"/>
          <p:nvPr/>
        </p:nvSpPr>
        <p:spPr>
          <a:xfrm>
            <a:off x="594360" y="1737360"/>
            <a:ext cx="11003279" cy="11323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0" i="0">
                <a:solidFill>
                  <a:srgbClr val="20344A"/>
                </a:solidFill>
                <a:latin typeface="Arial"/>
              </a:rPr>
              <a:t>The supplied synthetic healthcare example already joins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participant and laboratory CSVs, validates inputs, and produces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summaries.</a:t>
            </a:r>
          </a:p>
        </p:txBody>
      </p:sp>
      <p:sp>
        <p:nvSpPr>
          <p:cNvPr id="7" name="content:line-57:0"/>
          <p:cNvSpPr txBox="1"/>
          <p:nvPr/>
        </p:nvSpPr>
        <p:spPr>
          <a:xfrm>
            <a:off x="594360" y="2933700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Streamlit upload → FastAPI request → stat_core processing</a:t>
            </a:r>
          </a:p>
        </p:txBody>
      </p:sp>
      <p:sp>
        <p:nvSpPr>
          <p:cNvPr id="8" name="content:line-58:0"/>
          <p:cNvSpPr txBox="1"/>
          <p:nvPr/>
        </p:nvSpPr>
        <p:spPr>
          <a:xfrm>
            <a:off x="594360" y="3311652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                 ← counts, records, summaries ←</a:t>
            </a:r>
          </a:p>
        </p:txBody>
      </p:sp>
      <p:sp>
        <p:nvSpPr>
          <p:cNvPr id="9" name="content:line-61:0"/>
          <p:cNvSpPr txBox="1"/>
          <p:nvPr/>
        </p:nvSpPr>
        <p:spPr>
          <a:xfrm>
            <a:off x="594360" y="3689604"/>
            <a:ext cx="11003279" cy="11323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0" i="0">
                <a:solidFill>
                  <a:srgbClr val="20344A"/>
                </a:solidFill>
                <a:latin typeface="Arial"/>
              </a:rPr>
              <a:t>Today we inspect and make a small change. Later sessions trace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packaging, tests, services, and Docker Compose. Model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complexity and interface polish are not the goal.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7 / 24</a:t>
            </a:r>
          </a:p>
        </p:txBody>
      </p:sp>
      <p:sp>
        <p:nvSpPr>
          <p:cNvPr id="4" name="title:line-65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A Python environment belongs to one </a:t>
            </a:r>
            <a:br/>
            <a:r>
              <a:rPr sz="3200" b="0" i="0">
                <a:solidFill>
                  <a:srgbClr val="20344A"/>
                </a:solidFill>
                <a:latin typeface="Arial"/>
              </a:rPr>
              <a:t>project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session-1.md   ·   7</a:t>
            </a:r>
          </a:p>
        </p:txBody>
      </p:sp>
      <p:sp>
        <p:nvSpPr>
          <p:cNvPr id="6" name="content:line-67:0"/>
          <p:cNvSpPr txBox="1"/>
          <p:nvPr/>
        </p:nvSpPr>
        <p:spPr>
          <a:xfrm>
            <a:off x="594360" y="1737360"/>
            <a:ext cx="11003279" cy="11323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0" i="0">
                <a:solidFill>
                  <a:srgbClr val="20344A"/>
                </a:solidFill>
                <a:latin typeface="Arial"/>
              </a:rPr>
              <a:t>A virtual environment is a separate Python installation area for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this project's packages. It avoids mixing them with global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packages or another project.</a:t>
            </a:r>
          </a:p>
        </p:txBody>
      </p:sp>
      <p:sp>
        <p:nvSpPr>
          <p:cNvPr id="7" name="content:line-69:0"/>
          <p:cNvSpPr txBox="1"/>
          <p:nvPr/>
        </p:nvSpPr>
        <p:spPr>
          <a:xfrm>
            <a:off x="594360" y="2933700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Create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.venv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with Python 3.12; activate it in each new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terminal.</a:t>
            </a:r>
          </a:p>
        </p:txBody>
      </p:sp>
      <p:sp>
        <p:nvSpPr>
          <p:cNvPr id="8" name="content:line-70:0"/>
          <p:cNvSpPr txBox="1"/>
          <p:nvPr/>
        </p:nvSpPr>
        <p:spPr>
          <a:xfrm>
            <a:off x="594360" y="3777996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Install declared dependencies, rather than copying another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person's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.venv</a:t>
            </a:r>
            <a:r>
              <a:rPr sz="2100" b="0" i="0">
                <a:solidFill>
                  <a:srgbClr val="20344A"/>
                </a:solidFill>
                <a:latin typeface="Arial"/>
              </a:rPr>
              <a:t>.</a:t>
            </a:r>
          </a:p>
        </p:txBody>
      </p:sp>
      <p:sp>
        <p:nvSpPr>
          <p:cNvPr id="9" name="content:line-71:0"/>
          <p:cNvSpPr txBox="1"/>
          <p:nvPr/>
        </p:nvSpPr>
        <p:spPr>
          <a:xfrm>
            <a:off x="594360" y="4622292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Activation chooses which Python runs; it does not install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packages.</a:t>
            </a:r>
          </a:p>
        </p:txBody>
      </p:sp>
      <p:sp>
        <p:nvSpPr>
          <p:cNvPr id="10" name="content:line-72:0"/>
          <p:cNvSpPr txBox="1"/>
          <p:nvPr/>
        </p:nvSpPr>
        <p:spPr>
          <a:xfrm>
            <a:off x="594360" y="5466588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A virtual environment alone does not lock dependency versions.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Record versions with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python -m pip freeze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when comparing 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7 / 24  ·  CONTINUED 2</a:t>
            </a:r>
          </a:p>
        </p:txBody>
      </p:sp>
      <p:sp>
        <p:nvSpPr>
          <p:cNvPr id="4" name="title:line-65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A Python environment belongs to one </a:t>
            </a:r>
            <a:br/>
            <a:r>
              <a:rPr sz="3200" b="0" i="0">
                <a:solidFill>
                  <a:srgbClr val="20344A"/>
                </a:solidFill>
                <a:latin typeface="Arial"/>
              </a:rPr>
              <a:t>project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session-1.md   ·   8</a:t>
            </a:r>
          </a:p>
        </p:txBody>
      </p:sp>
      <p:sp>
        <p:nvSpPr>
          <p:cNvPr id="6" name="content:line-72:2"/>
          <p:cNvSpPr txBox="1"/>
          <p:nvPr/>
        </p:nvSpPr>
        <p:spPr>
          <a:xfrm>
            <a:off x="594360" y="1737360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 "/>
            </a:pPr>
            <a:r>
              <a:rPr sz="2100" b="0" i="0">
                <a:solidFill>
                  <a:srgbClr val="20344A"/>
                </a:solidFill>
                <a:latin typeface="Arial"/>
              </a:rPr>
              <a:t>environments.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8 / 24</a:t>
            </a:r>
          </a:p>
        </p:txBody>
      </p:sp>
      <p:sp>
        <p:nvSpPr>
          <p:cNvPr id="4" name="title:line-76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Local configuration and shareable </a:t>
            </a:r>
            <a:br/>
            <a:r>
              <a:rPr sz="3200" b="0" i="0">
                <a:solidFill>
                  <a:srgbClr val="20344A"/>
                </a:solidFill>
                <a:latin typeface="Arial"/>
              </a:rPr>
              <a:t>examples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session-1.md   ·   9</a:t>
            </a:r>
          </a:p>
        </p:txBody>
      </p:sp>
      <p:sp>
        <p:nvSpPr>
          <p:cNvPr id="6" name="content:line-78:0"/>
          <p:cNvSpPr txBox="1"/>
          <p:nvPr/>
        </p:nvSpPr>
        <p:spPr>
          <a:xfrm>
            <a:off x="594360" y="1737360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0" i="0">
                <a:solidFill>
                  <a:srgbClr val="20344A"/>
                </a:solidFill>
                <a:latin typeface="Arial"/>
              </a:rPr>
              <a:t>Configuration is settings read at startup, rather than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processing code.</a:t>
            </a:r>
          </a:p>
        </p:txBody>
      </p:sp>
      <p:sp>
        <p:nvSpPr>
          <p:cNvPr id="7" name="content:line-80:0"/>
          <p:cNvSpPr txBox="1"/>
          <p:nvPr/>
        </p:nvSpPr>
        <p:spPr>
          <a:xfrm>
            <a:off x="594360" y="2581656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Courier New"/>
              </a:rPr>
              <a:t>.env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holds your local settings; Git ignores it and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.venv/</a:t>
            </a:r>
            <a:r>
              <a:rPr sz="2100" b="0" i="0">
                <a:solidFill>
                  <a:srgbClr val="20344A"/>
                </a:solidFill>
                <a:latin typeface="Arial"/>
              </a:rPr>
              <a:t>.</a:t>
            </a:r>
          </a:p>
        </p:txBody>
      </p:sp>
      <p:sp>
        <p:nvSpPr>
          <p:cNvPr id="8" name="content:line-81:0"/>
          <p:cNvSpPr txBox="1"/>
          <p:nvPr/>
        </p:nvSpPr>
        <p:spPr>
          <a:xfrm>
            <a:off x="594360" y="3073907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Courier New"/>
              </a:rPr>
              <a:t>.env.example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is tracked and safe to share; never put secrets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in it.</a:t>
            </a:r>
          </a:p>
        </p:txBody>
      </p:sp>
      <p:sp>
        <p:nvSpPr>
          <p:cNvPr id="9" name="content:line-82:0"/>
          <p:cNvSpPr txBox="1"/>
          <p:nvPr/>
        </p:nvSpPr>
        <p:spPr>
          <a:xfrm>
            <a:off x="594360" y="3918204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Courier New"/>
              </a:rPr>
              <a:t>python-dotenv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reads the root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.env</a:t>
            </a:r>
            <a:r>
              <a:rPr sz="2100" b="0" i="0">
                <a:solidFill>
                  <a:srgbClr val="20344A"/>
                </a:solidFill>
                <a:latin typeface="Arial"/>
              </a:rPr>
              <a:t>; exported variables take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precedence.</a:t>
            </a:r>
          </a:p>
        </p:txBody>
      </p:sp>
      <p:sp>
        <p:nvSpPr>
          <p:cNvPr id="10" name="content:line-83:0"/>
          <p:cNvSpPr txBox="1"/>
          <p:nvPr/>
        </p:nvSpPr>
        <p:spPr>
          <a:xfrm>
            <a:off x="594360" y="4762500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Restart services after changes;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.gitignore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does not untrack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an already committed secret.</a:t>
            </a:r>
          </a:p>
        </p:txBody>
      </p:sp>
      <p:sp>
        <p:nvSpPr>
          <p:cNvPr id="11" name="content:line-85:0"/>
          <p:cNvSpPr txBox="1"/>
          <p:nvPr/>
        </p:nvSpPr>
        <p:spPr>
          <a:xfrm>
            <a:off x="594360" y="5606796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0" i="0">
                <a:solidFill>
                  <a:srgbClr val="20344A"/>
                </a:solidFill>
                <a:latin typeface="Arial"/>
              </a:rPr>
              <a:t>Use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LOG_LEVEL=INFO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and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BACKEND_URL=http://127.0.0.1:8000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8 / 24  ·  CONTINUED 2</a:t>
            </a:r>
          </a:p>
        </p:txBody>
      </p:sp>
      <p:sp>
        <p:nvSpPr>
          <p:cNvPr id="4" name="title:line-76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Local configuration and shareable </a:t>
            </a:r>
            <a:br/>
            <a:r>
              <a:rPr sz="3200" b="0" i="0">
                <a:solidFill>
                  <a:srgbClr val="20344A"/>
                </a:solidFill>
                <a:latin typeface="Arial"/>
              </a:rPr>
              <a:t>examples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session-1.md   ·   10</a:t>
            </a:r>
          </a:p>
        </p:txBody>
      </p:sp>
      <p:sp>
        <p:nvSpPr>
          <p:cNvPr id="6" name="content:line-85:1"/>
          <p:cNvSpPr txBox="1"/>
          <p:nvPr/>
        </p:nvSpPr>
        <p:spPr>
          <a:xfrm>
            <a:off x="594360" y="1737360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0" i="0">
                <a:solidFill>
                  <a:srgbClr val="20344A"/>
                </a:solidFill>
                <a:latin typeface="Arial"/>
              </a:rPr>
              <a:t>locally. See </a:t>
            </a:r>
            <a:r>
              <a:rPr sz="2100" b="0" i="0">
                <a:solidFill>
                  <a:srgbClr val="007F82"/>
                </a:solidFill>
                <a:latin typeface="Arial"/>
                <a:hlinkClick r:id="rId2"/>
              </a:rPr>
              <a:t>configuration details</a:t>
            </a:r>
            <a:r>
              <a:rPr sz="2100" b="0" i="0">
                <a:solidFill>
                  <a:srgbClr val="20344A"/>
                </a:solidFill>
                <a:latin typeface="Arial"/>
              </a:rPr>
              <a:t>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9 / 24</a:t>
            </a:r>
          </a:p>
        </p:txBody>
      </p:sp>
      <p:sp>
        <p:nvSpPr>
          <p:cNvPr id="4" name="title:line-89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Git records changes; GitHub hosts </a:t>
            </a:r>
            <a:br/>
            <a:r>
              <a:rPr sz="3200" b="0" i="0">
                <a:solidFill>
                  <a:srgbClr val="20344A"/>
                </a:solidFill>
                <a:latin typeface="Arial"/>
              </a:rPr>
              <a:t>collaboration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session-1.md   ·   11</a:t>
            </a:r>
          </a:p>
        </p:txBody>
      </p:sp>
      <p:sp>
        <p:nvSpPr>
          <p:cNvPr id="6" name="content:line-91:0"/>
          <p:cNvSpPr txBox="1"/>
          <p:nvPr/>
        </p:nvSpPr>
        <p:spPr>
          <a:xfrm>
            <a:off x="594360" y="1737360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A repository contains files and their recorded history.</a:t>
            </a:r>
          </a:p>
        </p:txBody>
      </p:sp>
      <p:sp>
        <p:nvSpPr>
          <p:cNvPr id="7" name="content:line-92:0"/>
          <p:cNvSpPr txBox="1"/>
          <p:nvPr/>
        </p:nvSpPr>
        <p:spPr>
          <a:xfrm>
            <a:off x="594360" y="2229612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A feature branch names a line of work for one purpose.</a:t>
            </a:r>
          </a:p>
        </p:txBody>
      </p:sp>
      <p:sp>
        <p:nvSpPr>
          <p:cNvPr id="8" name="content:line-93:0"/>
          <p:cNvSpPr txBox="1"/>
          <p:nvPr/>
        </p:nvSpPr>
        <p:spPr>
          <a:xfrm>
            <a:off x="594360" y="2721864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Staging selects the changes for the next commit; a commit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records that snapshot with a message.</a:t>
            </a:r>
          </a:p>
        </p:txBody>
      </p:sp>
      <p:sp>
        <p:nvSpPr>
          <p:cNvPr id="9" name="content:line-94:0"/>
          <p:cNvSpPr txBox="1"/>
          <p:nvPr/>
        </p:nvSpPr>
        <p:spPr>
          <a:xfrm>
            <a:off x="594360" y="3566160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A push sends local commits to GitHub. A pull request (PR) asks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teammates to review a branch before merging.</a:t>
            </a:r>
          </a:p>
        </p:txBody>
      </p:sp>
      <p:sp>
        <p:nvSpPr>
          <p:cNvPr id="10" name="content:line-97:0"/>
          <p:cNvSpPr txBox="1"/>
          <p:nvPr/>
        </p:nvSpPr>
        <p:spPr>
          <a:xfrm>
            <a:off x="594360" y="4410456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feature branch → commit → draft PR → review + checks → main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10 / 24</a:t>
            </a:r>
          </a:p>
        </p:txBody>
      </p:sp>
      <p:sp>
        <p:nvSpPr>
          <p:cNvPr id="4" name="title:line-102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CI reports; repository rules require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session-1.md   ·   12</a:t>
            </a:r>
          </a:p>
        </p:txBody>
      </p:sp>
      <p:sp>
        <p:nvSpPr>
          <p:cNvPr id="6" name="content:line-104:0"/>
          <p:cNvSpPr txBox="1"/>
          <p:nvPr/>
        </p:nvSpPr>
        <p:spPr>
          <a:xfrm>
            <a:off x="594360" y="1737360"/>
            <a:ext cx="11003279" cy="11323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0" i="0">
                <a:solidFill>
                  <a:srgbClr val="20344A"/>
                </a:solidFill>
                <a:latin typeface="Arial"/>
              </a:rPr>
              <a:t>Continuous integration (CI) runs automated checks on proposed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changes. This template runs </a:t>
            </a:r>
            <a:r>
              <a:rPr sz="2100" b="1" i="0">
                <a:solidFill>
                  <a:srgbClr val="20344A"/>
                </a:solidFill>
                <a:latin typeface="Arial"/>
              </a:rPr>
              <a:t>Backend CI → Backend tests</a:t>
            </a:r>
            <a:r>
              <a:rPr sz="2100" b="0" i="0">
                <a:solidFill>
                  <a:srgbClr val="20344A"/>
                </a:solidFill>
                <a:latin typeface="Arial"/>
              </a:rPr>
              <a:t>,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including documentation PRs.</a:t>
            </a:r>
          </a:p>
        </p:txBody>
      </p:sp>
      <p:sp>
        <p:nvSpPr>
          <p:cNvPr id="7" name="content:line-106:0"/>
          <p:cNvSpPr txBox="1"/>
          <p:nvPr/>
        </p:nvSpPr>
        <p:spPr>
          <a:xfrm>
            <a:off x="594360" y="2933700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A green check reports success for a particular commit; it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does not prove every requirement.</a:t>
            </a:r>
          </a:p>
        </p:txBody>
      </p:sp>
      <p:sp>
        <p:nvSpPr>
          <p:cNvPr id="8" name="content:line-107:0"/>
          <p:cNvSpPr txBox="1"/>
          <p:nvPr/>
        </p:nvSpPr>
        <p:spPr>
          <a:xfrm>
            <a:off x="594360" y="3777996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Copied workflow files do not protect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main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automatically.</a:t>
            </a:r>
          </a:p>
        </p:txBody>
      </p:sp>
      <p:sp>
        <p:nvSpPr>
          <p:cNvPr id="9" name="content:line-108:0"/>
          <p:cNvSpPr txBox="1"/>
          <p:nvPr/>
        </p:nvSpPr>
        <p:spPr>
          <a:xfrm>
            <a:off x="594360" y="4270248"/>
            <a:ext cx="11003279" cy="11323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A group administrator separately requires PRs, teammate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approval, conversation resolution, and </a:t>
            </a:r>
            <a:r>
              <a:rPr sz="2100" b="1" i="0">
                <a:solidFill>
                  <a:srgbClr val="20344A"/>
                </a:solidFill>
                <a:latin typeface="Arial"/>
              </a:rPr>
              <a:t>Backend tests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in branch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protection.</a:t>
            </a:r>
          </a:p>
        </p:txBody>
      </p:sp>
      <p:sp>
        <p:nvSpPr>
          <p:cNvPr id="10" name="content:line-109:0"/>
          <p:cNvSpPr txBox="1"/>
          <p:nvPr/>
        </p:nvSpPr>
        <p:spPr>
          <a:xfrm>
            <a:off x="594360" y="5466588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Check the merge box actually enforces the rule; inspect the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latest commit's result.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10 / 24  ·  CONTINUED 2</a:t>
            </a:r>
          </a:p>
        </p:txBody>
      </p:sp>
      <p:sp>
        <p:nvSpPr>
          <p:cNvPr id="4" name="title:line-102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CI reports; repository rules require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session-1.md   ·   13</a:t>
            </a:r>
          </a:p>
        </p:txBody>
      </p:sp>
      <p:sp>
        <p:nvSpPr>
          <p:cNvPr id="6" name="content:line-111:0"/>
          <p:cNvSpPr txBox="1"/>
          <p:nvPr/>
        </p:nvSpPr>
        <p:spPr>
          <a:xfrm>
            <a:off x="594360" y="1737360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0" i="0">
                <a:solidFill>
                  <a:srgbClr val="20344A"/>
                </a:solidFill>
                <a:latin typeface="Arial"/>
              </a:rPr>
              <a:t>See </a:t>
            </a:r>
            <a:r>
              <a:rPr sz="2100" b="0" i="0">
                <a:solidFill>
                  <a:srgbClr val="007F82"/>
                </a:solidFill>
                <a:latin typeface="Arial"/>
                <a:hlinkClick r:id="rId2"/>
              </a:rPr>
              <a:t>group protection setup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and </a:t>
            </a:r>
            <a:r>
              <a:rPr sz="2100" b="0" i="0">
                <a:solidFill>
                  <a:srgbClr val="007F82"/>
                </a:solidFill>
                <a:latin typeface="Arial"/>
                <a:hlinkClick r:id="rId3"/>
              </a:rPr>
              <a:t>CI guidance</a:t>
            </a:r>
            <a:r>
              <a:rPr sz="2100" b="0" i="0">
                <a:solidFill>
                  <a:srgbClr val="20344A"/>
                </a:solidFill>
                <a:latin typeface="Arial"/>
              </a:rPr>
              <a:t>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11 / 24</a:t>
            </a:r>
          </a:p>
        </p:txBody>
      </p:sp>
      <p:sp>
        <p:nvSpPr>
          <p:cNvPr id="4" name="title:line-115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Demo: create your group's repository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session-1.md   ·   14</a:t>
            </a:r>
          </a:p>
        </p:txBody>
      </p:sp>
      <p:sp>
        <p:nvSpPr>
          <p:cNvPr id="6" name="content:line-117:0"/>
          <p:cNvSpPr txBox="1"/>
          <p:nvPr/>
        </p:nvSpPr>
        <p:spPr>
          <a:xfrm>
            <a:off x="594360" y="1737360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0" i="0">
                <a:solidFill>
                  <a:srgbClr val="20344A"/>
                </a:solidFill>
                <a:latin typeface="Arial"/>
              </a:rPr>
              <a:t>The instructor first publishes the completed framework on the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template's default branch and enables </a:t>
            </a:r>
            <a:r>
              <a:rPr sz="2100" b="1" i="0">
                <a:solidFill>
                  <a:srgbClr val="20344A"/>
                </a:solidFill>
                <a:latin typeface="Arial"/>
              </a:rPr>
              <a:t>Template repository</a:t>
            </a:r>
            <a:r>
              <a:rPr sz="2100" b="0" i="0">
                <a:solidFill>
                  <a:srgbClr val="20344A"/>
                </a:solidFill>
                <a:latin typeface="Arial"/>
              </a:rPr>
              <a:t>.</a:t>
            </a:r>
          </a:p>
        </p:txBody>
      </p:sp>
      <p:sp>
        <p:nvSpPr>
          <p:cNvPr id="7" name="content:line-119:0"/>
          <p:cNvSpPr txBox="1"/>
          <p:nvPr/>
        </p:nvSpPr>
        <p:spPr>
          <a:xfrm>
            <a:off x="594360" y="2581656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One member selects </a:t>
            </a:r>
            <a:r>
              <a:rPr sz="2100" b="1" i="0">
                <a:solidFill>
                  <a:srgbClr val="20344A"/>
                </a:solidFill>
                <a:latin typeface="Arial"/>
              </a:rPr>
              <a:t>Use this template → Create a new </a:t>
            </a:r>
            <a:br/>
            <a:r>
              <a:rPr sz="2100" b="1" i="0">
                <a:solidFill>
                  <a:srgbClr val="20344A"/>
                </a:solidFill>
                <a:latin typeface="Arial"/>
              </a:rPr>
              <a:t>repository</a:t>
            </a:r>
            <a:r>
              <a:rPr sz="2100" b="0" i="0">
                <a:solidFill>
                  <a:srgbClr val="20344A"/>
                </a:solidFill>
                <a:latin typeface="Arial"/>
              </a:rPr>
              <a:t>; copy only the default branch, named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main</a:t>
            </a:r>
            <a:r>
              <a:rPr sz="2100" b="0" i="0">
                <a:solidFill>
                  <a:srgbClr val="20344A"/>
                </a:solidFill>
                <a:latin typeface="Arial"/>
              </a:rPr>
              <a:t>.</a:t>
            </a:r>
          </a:p>
        </p:txBody>
      </p:sp>
      <p:sp>
        <p:nvSpPr>
          <p:cNvPr id="8" name="content:line-120:0"/>
          <p:cNvSpPr txBox="1"/>
          <p:nvPr/>
        </p:nvSpPr>
        <p:spPr>
          <a:xfrm>
            <a:off x="594360" y="3425952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Invite teammates with write access and the instructor with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read access.</a:t>
            </a:r>
          </a:p>
        </p:txBody>
      </p:sp>
      <p:sp>
        <p:nvSpPr>
          <p:cNvPr id="9" name="content:line-121:0"/>
          <p:cNvSpPr txBox="1"/>
          <p:nvPr/>
        </p:nvSpPr>
        <p:spPr>
          <a:xfrm>
            <a:off x="594360" y="4270248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Replace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OWNER/GROUP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below with your group's actual owner and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name.</a:t>
            </a:r>
          </a:p>
        </p:txBody>
      </p:sp>
      <p:sp>
        <p:nvSpPr>
          <p:cNvPr id="10" name="content:line-124:0"/>
          <p:cNvSpPr txBox="1"/>
          <p:nvPr/>
        </p:nvSpPr>
        <p:spPr>
          <a:xfrm>
            <a:off x="594360" y="5114544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git clone https://github.com/OWNER/GROUP.git</a:t>
            </a:r>
          </a:p>
        </p:txBody>
      </p:sp>
      <p:sp>
        <p:nvSpPr>
          <p:cNvPr id="11" name="content:line-125:0"/>
          <p:cNvSpPr txBox="1"/>
          <p:nvPr/>
        </p:nvSpPr>
        <p:spPr>
          <a:xfrm>
            <a:off x="594360" y="5492496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cd GROUP</a:t>
            </a:r>
          </a:p>
        </p:txBody>
      </p:sp>
      <p:sp>
        <p:nvSpPr>
          <p:cNvPr id="12" name="content:line-128:0"/>
          <p:cNvSpPr txBox="1"/>
          <p:nvPr/>
        </p:nvSpPr>
        <p:spPr>
          <a:xfrm>
            <a:off x="594360" y="5870448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0" i="0">
                <a:solidFill>
                  <a:srgbClr val="20344A"/>
                </a:solidFill>
                <a:latin typeface="Arial"/>
              </a:rPr>
              <a:t>Follow </a:t>
            </a:r>
            <a:r>
              <a:rPr sz="2100" b="0" i="0">
                <a:solidFill>
                  <a:srgbClr val="007F82"/>
                </a:solidFill>
                <a:latin typeface="Arial"/>
                <a:hlinkClick r:id="rId2"/>
              </a:rPr>
              <a:t>template setup</a:t>
            </a:r>
            <a:r>
              <a:rPr sz="2100" b="0" i="0">
                <a:solidFill>
                  <a:srgbClr val="20344A"/>
                </a:solidFill>
                <a:latin typeface="Arial"/>
              </a:rPr>
              <a:t>. Template updates do not synchronize 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11 / 24  ·  CONTINUED 2</a:t>
            </a:r>
          </a:p>
        </p:txBody>
      </p:sp>
      <p:sp>
        <p:nvSpPr>
          <p:cNvPr id="4" name="title:line-115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Demo: create your group's repository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session-1.md   ·   15</a:t>
            </a:r>
          </a:p>
        </p:txBody>
      </p:sp>
      <p:sp>
        <p:nvSpPr>
          <p:cNvPr id="6" name="content:line-128:1"/>
          <p:cNvSpPr txBox="1"/>
          <p:nvPr/>
        </p:nvSpPr>
        <p:spPr>
          <a:xfrm>
            <a:off x="594360" y="1737360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0" i="0">
                <a:solidFill>
                  <a:srgbClr val="20344A"/>
                </a:solidFill>
                <a:latin typeface="Arial"/>
              </a:rPr>
              <a:t>automatically.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12 / 24</a:t>
            </a:r>
          </a:p>
        </p:txBody>
      </p:sp>
      <p:sp>
        <p:nvSpPr>
          <p:cNvPr id="4" name="title:line-132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Demo: prepare Python and check the </a:t>
            </a:r>
            <a:br/>
            <a:r>
              <a:rPr sz="3200" b="0" i="0">
                <a:solidFill>
                  <a:srgbClr val="20344A"/>
                </a:solidFill>
                <a:latin typeface="Arial"/>
              </a:rPr>
              <a:t>baseline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session-1.md   ·   16</a:t>
            </a:r>
          </a:p>
        </p:txBody>
      </p:sp>
      <p:sp>
        <p:nvSpPr>
          <p:cNvPr id="6" name="content:line-134:0"/>
          <p:cNvSpPr txBox="1"/>
          <p:nvPr/>
        </p:nvSpPr>
        <p:spPr>
          <a:xfrm>
            <a:off x="594360" y="1737360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0" i="0">
                <a:solidFill>
                  <a:srgbClr val="20344A"/>
                </a:solidFill>
                <a:latin typeface="Arial"/>
              </a:rPr>
              <a:t>Run from the group repository root on macOS/Linux:</a:t>
            </a:r>
          </a:p>
        </p:txBody>
      </p:sp>
      <p:sp>
        <p:nvSpPr>
          <p:cNvPr id="7" name="content:line-137:0"/>
          <p:cNvSpPr txBox="1"/>
          <p:nvPr/>
        </p:nvSpPr>
        <p:spPr>
          <a:xfrm>
            <a:off x="594360" y="2229612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python3.12 -m venv .venv</a:t>
            </a:r>
          </a:p>
        </p:txBody>
      </p:sp>
      <p:sp>
        <p:nvSpPr>
          <p:cNvPr id="8" name="content:line-138:0"/>
          <p:cNvSpPr txBox="1"/>
          <p:nvPr/>
        </p:nvSpPr>
        <p:spPr>
          <a:xfrm>
            <a:off x="594360" y="2607564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source .venv/bin/activate</a:t>
            </a:r>
          </a:p>
        </p:txBody>
      </p:sp>
      <p:sp>
        <p:nvSpPr>
          <p:cNvPr id="9" name="content:line-139:0"/>
          <p:cNvSpPr txBox="1"/>
          <p:nvPr/>
        </p:nvSpPr>
        <p:spPr>
          <a:xfrm>
            <a:off x="594360" y="2985515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python -m pip install --upgrade pip</a:t>
            </a:r>
          </a:p>
        </p:txBody>
      </p:sp>
      <p:sp>
        <p:nvSpPr>
          <p:cNvPr id="10" name="content:line-140:0"/>
          <p:cNvSpPr txBox="1"/>
          <p:nvPr/>
        </p:nvSpPr>
        <p:spPr>
          <a:xfrm>
            <a:off x="594360" y="3363467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python -m pip install -e './backend[dev]'</a:t>
            </a:r>
          </a:p>
        </p:txBody>
      </p:sp>
      <p:sp>
        <p:nvSpPr>
          <p:cNvPr id="11" name="content:line-141:0"/>
          <p:cNvSpPr txBox="1"/>
          <p:nvPr/>
        </p:nvSpPr>
        <p:spPr>
          <a:xfrm>
            <a:off x="594360" y="3741419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python -m pip install -r frontend/requirements.txt</a:t>
            </a:r>
          </a:p>
        </p:txBody>
      </p:sp>
      <p:sp>
        <p:nvSpPr>
          <p:cNvPr id="12" name="content:line-142:0"/>
          <p:cNvSpPr txBox="1"/>
          <p:nvPr/>
        </p:nvSpPr>
        <p:spPr>
          <a:xfrm>
            <a:off x="594360" y="4119371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test -e .env || cp .env.example .env</a:t>
            </a:r>
          </a:p>
        </p:txBody>
      </p:sp>
      <p:sp>
        <p:nvSpPr>
          <p:cNvPr id="13" name="content:line-143:0"/>
          <p:cNvSpPr txBox="1"/>
          <p:nvPr/>
        </p:nvSpPr>
        <p:spPr>
          <a:xfrm>
            <a:off x="594360" y="4497323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python -m pytest backend/tests</a:t>
            </a:r>
          </a:p>
        </p:txBody>
      </p:sp>
      <p:sp>
        <p:nvSpPr>
          <p:cNvPr id="14" name="content:line-146:0"/>
          <p:cNvSpPr txBox="1"/>
          <p:nvPr/>
        </p:nvSpPr>
        <p:spPr>
          <a:xfrm>
            <a:off x="594360" y="4875275"/>
            <a:ext cx="11003279" cy="11323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0" i="0">
                <a:solidFill>
                  <a:srgbClr val="20344A"/>
                </a:solidFill>
                <a:latin typeface="Arial"/>
              </a:rPr>
              <a:t>The working example has 175+ tests; the count may grow.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Expect all tests to pass; read failures and warnings. For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PowerShell equivalents, see </a:t>
            </a:r>
            <a:r>
              <a:rPr sz="2100" b="0" i="0">
                <a:solidFill>
                  <a:srgbClr val="007F82"/>
                </a:solidFill>
                <a:latin typeface="Arial"/>
                <a:hlinkClick r:id="rId2"/>
              </a:rPr>
              <a:t>setup</a:t>
            </a:r>
            <a:r>
              <a:rPr sz="2100" b="0" i="0">
                <a:solidFill>
                  <a:srgbClr val="20344A"/>
                </a:solidFill>
                <a:latin typeface="Arial"/>
              </a:rPr>
              <a:t>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13 / 24</a:t>
            </a:r>
          </a:p>
        </p:txBody>
      </p:sp>
      <p:sp>
        <p:nvSpPr>
          <p:cNvPr id="4" name="title:line-150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Demo: see the example work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session-1.md   ·   17</a:t>
            </a:r>
          </a:p>
        </p:txBody>
      </p:sp>
      <p:sp>
        <p:nvSpPr>
          <p:cNvPr id="6" name="content:line-152:0"/>
          <p:cNvSpPr txBox="1"/>
          <p:nvPr/>
        </p:nvSpPr>
        <p:spPr>
          <a:xfrm>
            <a:off x="594360" y="1737360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0" i="0">
                <a:solidFill>
                  <a:srgbClr val="20344A"/>
                </a:solidFill>
                <a:latin typeface="Arial"/>
              </a:rPr>
              <a:t>In the activated environment at the root, start the API:</a:t>
            </a:r>
          </a:p>
        </p:txBody>
      </p:sp>
      <p:sp>
        <p:nvSpPr>
          <p:cNvPr id="7" name="content:line-155:0"/>
          <p:cNvSpPr txBox="1"/>
          <p:nvPr/>
        </p:nvSpPr>
        <p:spPr>
          <a:xfrm>
            <a:off x="594360" y="2229612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python -m uvicorn app.main:app --app-dir backend \</a:t>
            </a:r>
          </a:p>
        </p:txBody>
      </p:sp>
      <p:sp>
        <p:nvSpPr>
          <p:cNvPr id="8" name="content:line-156:0"/>
          <p:cNvSpPr txBox="1"/>
          <p:nvPr/>
        </p:nvSpPr>
        <p:spPr>
          <a:xfrm>
            <a:off x="594360" y="2607564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  --host 127.0.0.1 --port 8000</a:t>
            </a:r>
          </a:p>
        </p:txBody>
      </p:sp>
      <p:sp>
        <p:nvSpPr>
          <p:cNvPr id="9" name="content:line-159:0"/>
          <p:cNvSpPr txBox="1"/>
          <p:nvPr/>
        </p:nvSpPr>
        <p:spPr>
          <a:xfrm>
            <a:off x="594360" y="2985515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0" i="0">
                <a:solidFill>
                  <a:srgbClr val="20344A"/>
                </a:solidFill>
                <a:latin typeface="Arial"/>
              </a:rPr>
              <a:t>Keep it running. In a second terminal at the root:</a:t>
            </a:r>
          </a:p>
        </p:txBody>
      </p:sp>
      <p:sp>
        <p:nvSpPr>
          <p:cNvPr id="10" name="content:line-162:0"/>
          <p:cNvSpPr txBox="1"/>
          <p:nvPr/>
        </p:nvSpPr>
        <p:spPr>
          <a:xfrm>
            <a:off x="594360" y="3477767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source .venv/bin/activate</a:t>
            </a:r>
          </a:p>
        </p:txBody>
      </p:sp>
      <p:sp>
        <p:nvSpPr>
          <p:cNvPr id="11" name="content:line-163:0"/>
          <p:cNvSpPr txBox="1"/>
          <p:nvPr/>
        </p:nvSpPr>
        <p:spPr>
          <a:xfrm>
            <a:off x="594360" y="3855719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python -m streamlit run frontend/app.py \</a:t>
            </a:r>
          </a:p>
        </p:txBody>
      </p:sp>
      <p:sp>
        <p:nvSpPr>
          <p:cNvPr id="12" name="content:line-164:0"/>
          <p:cNvSpPr txBox="1"/>
          <p:nvPr/>
        </p:nvSpPr>
        <p:spPr>
          <a:xfrm>
            <a:off x="594360" y="4233671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  --server.address 127.0.0.1 --server.port 8501</a:t>
            </a:r>
          </a:p>
        </p:txBody>
      </p:sp>
      <p:sp>
        <p:nvSpPr>
          <p:cNvPr id="13" name="content:line-167:0"/>
          <p:cNvSpPr txBox="1"/>
          <p:nvPr/>
        </p:nvSpPr>
        <p:spPr>
          <a:xfrm>
            <a:off x="594360" y="4611623"/>
            <a:ext cx="11003279" cy="11323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0" i="0">
                <a:solidFill>
                  <a:srgbClr val="20344A"/>
                </a:solidFill>
                <a:latin typeface="Arial"/>
              </a:rPr>
              <a:t>Open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http://127.0.0.1:8501</a:t>
            </a:r>
            <a:r>
              <a:rPr sz="2100" b="0" i="0">
                <a:solidFill>
                  <a:srgbClr val="20344A"/>
                </a:solidFill>
                <a:latin typeface="Arial"/>
              </a:rPr>
              <a:t>; upload </a:t>
            </a:r>
            <a:r>
              <a:rPr sz="2100" b="0" i="0">
                <a:solidFill>
                  <a:srgbClr val="007F82"/>
                </a:solidFill>
                <a:latin typeface="Arial"/>
                <a:hlinkClick r:id="rId2"/>
              </a:rPr>
              <a:t>dm.csv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and </a:t>
            </a:r>
            <a:r>
              <a:rPr sz="2100" b="0" i="0">
                <a:solidFill>
                  <a:srgbClr val="007F82"/>
                </a:solidFill>
                <a:latin typeface="Arial"/>
                <a:hlinkClick r:id="rId3"/>
              </a:rPr>
              <a:t>lb.csv</a:t>
            </a:r>
            <a:r>
              <a:rPr sz="2100" b="0" i="0">
                <a:solidFill>
                  <a:srgbClr val="20344A"/>
                </a:solidFill>
                <a:latin typeface="Arial"/>
              </a:rPr>
              <a:t>. Select </a:t>
            </a:r>
            <a:br/>
            <a:r>
              <a:rPr sz="2100" b="1" i="0">
                <a:solidFill>
                  <a:srgbClr val="20344A"/>
                </a:solidFill>
                <a:latin typeface="Arial"/>
              </a:rPr>
              <a:t>Process CSVs</a:t>
            </a:r>
            <a:r>
              <a:rPr sz="2100" b="0" i="0">
                <a:solidFill>
                  <a:srgbClr val="20344A"/>
                </a:solidFill>
                <a:latin typeface="Arial"/>
              </a:rPr>
              <a:t>: expect 24 participants, 96 records, 95 observed,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one missing. Stop servers with Ctrl-C afterward.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14 / 24</a:t>
            </a:r>
          </a:p>
        </p:txBody>
      </p:sp>
      <p:sp>
        <p:nvSpPr>
          <p:cNvPr id="4" name="title:line-171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Demo: one small README change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session-1.md   ·   18</a:t>
            </a:r>
          </a:p>
        </p:txBody>
      </p:sp>
      <p:sp>
        <p:nvSpPr>
          <p:cNvPr id="6" name="content:line-173:0"/>
          <p:cNvSpPr txBox="1"/>
          <p:nvPr/>
        </p:nvSpPr>
        <p:spPr>
          <a:xfrm>
            <a:off x="594360" y="1737360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0" i="0">
                <a:solidFill>
                  <a:srgbClr val="20344A"/>
                </a:solidFill>
                <a:latin typeface="Arial"/>
              </a:rPr>
              <a:t>With a clean working tree, start a feature branch:</a:t>
            </a:r>
          </a:p>
        </p:txBody>
      </p:sp>
      <p:sp>
        <p:nvSpPr>
          <p:cNvPr id="7" name="content:line-176:0"/>
          <p:cNvSpPr txBox="1"/>
          <p:nvPr/>
        </p:nvSpPr>
        <p:spPr>
          <a:xfrm>
            <a:off x="594360" y="2229612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git status</a:t>
            </a:r>
          </a:p>
        </p:txBody>
      </p:sp>
      <p:sp>
        <p:nvSpPr>
          <p:cNvPr id="8" name="content:line-177:0"/>
          <p:cNvSpPr txBox="1"/>
          <p:nvPr/>
        </p:nvSpPr>
        <p:spPr>
          <a:xfrm>
            <a:off x="594360" y="2607564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git switch main</a:t>
            </a:r>
          </a:p>
        </p:txBody>
      </p:sp>
      <p:sp>
        <p:nvSpPr>
          <p:cNvPr id="9" name="content:line-178:0"/>
          <p:cNvSpPr txBox="1"/>
          <p:nvPr/>
        </p:nvSpPr>
        <p:spPr>
          <a:xfrm>
            <a:off x="594360" y="2985515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git pull --ff-only origin main</a:t>
            </a:r>
          </a:p>
        </p:txBody>
      </p:sp>
      <p:sp>
        <p:nvSpPr>
          <p:cNvPr id="10" name="content:line-179:0"/>
          <p:cNvSpPr txBox="1"/>
          <p:nvPr/>
        </p:nvSpPr>
        <p:spPr>
          <a:xfrm>
            <a:off x="594360" y="3363467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git switch -c feature/group-purpose</a:t>
            </a:r>
          </a:p>
        </p:txBody>
      </p:sp>
      <p:sp>
        <p:nvSpPr>
          <p:cNvPr id="11" name="content:line-182:0"/>
          <p:cNvSpPr txBox="1"/>
          <p:nvPr/>
        </p:nvSpPr>
        <p:spPr>
          <a:xfrm>
            <a:off x="594360" y="3741419"/>
            <a:ext cx="11003279" cy="148437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0" i="0">
                <a:solidFill>
                  <a:srgbClr val="20344A"/>
                </a:solidFill>
                <a:latin typeface="Arial"/>
              </a:rPr>
              <a:t>In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README.md</a:t>
            </a:r>
            <a:r>
              <a:rPr sz="2100" b="0" i="0">
                <a:solidFill>
                  <a:srgbClr val="20344A"/>
                </a:solidFill>
                <a:latin typeface="Arial"/>
              </a:rPr>
              <a:t>, add a short group-purpose paragraph: who the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project serves, your chosen dataset, and the question it will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explore. Keep the synthetic example clearly labeled as the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current demonstration.</a:t>
            </a:r>
          </a:p>
        </p:txBody>
      </p:sp>
      <p:sp>
        <p:nvSpPr>
          <p:cNvPr id="12" name="content:line-184:0"/>
          <p:cNvSpPr txBox="1"/>
          <p:nvPr/>
        </p:nvSpPr>
        <p:spPr>
          <a:xfrm>
            <a:off x="594360" y="5289803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0" i="0">
                <a:solidFill>
                  <a:srgbClr val="20344A"/>
                </a:solidFill>
                <a:latin typeface="Arial"/>
              </a:rPr>
              <a:t>Inspect the edit with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git diff</a:t>
            </a:r>
            <a:r>
              <a:rPr sz="2100" b="0" i="0">
                <a:solidFill>
                  <a:srgbClr val="20344A"/>
                </a:solidFill>
                <a:latin typeface="Arial"/>
              </a:rPr>
              <a:t>. The purpose is readable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documentation; processing behavior should still pass its checks.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15 / 24</a:t>
            </a:r>
          </a:p>
        </p:txBody>
      </p:sp>
      <p:sp>
        <p:nvSpPr>
          <p:cNvPr id="4" name="title:line-188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Demo: record and publish the change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session-1.md   ·   19</a:t>
            </a:r>
          </a:p>
        </p:txBody>
      </p:sp>
      <p:sp>
        <p:nvSpPr>
          <p:cNvPr id="6" name="content:line-191:0"/>
          <p:cNvSpPr txBox="1"/>
          <p:nvPr/>
        </p:nvSpPr>
        <p:spPr>
          <a:xfrm>
            <a:off x="594360" y="1737360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python -m pytest backend/tests</a:t>
            </a:r>
          </a:p>
        </p:txBody>
      </p:sp>
      <p:sp>
        <p:nvSpPr>
          <p:cNvPr id="7" name="content:line-192:0"/>
          <p:cNvSpPr txBox="1"/>
          <p:nvPr/>
        </p:nvSpPr>
        <p:spPr>
          <a:xfrm>
            <a:off x="594360" y="2115312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git diff --check</a:t>
            </a:r>
          </a:p>
        </p:txBody>
      </p:sp>
      <p:sp>
        <p:nvSpPr>
          <p:cNvPr id="8" name="content:line-193:0"/>
          <p:cNvSpPr txBox="1"/>
          <p:nvPr/>
        </p:nvSpPr>
        <p:spPr>
          <a:xfrm>
            <a:off x="594360" y="2493264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git diff -- README.md</a:t>
            </a:r>
          </a:p>
        </p:txBody>
      </p:sp>
      <p:sp>
        <p:nvSpPr>
          <p:cNvPr id="9" name="content:line-194:0"/>
          <p:cNvSpPr txBox="1"/>
          <p:nvPr/>
        </p:nvSpPr>
        <p:spPr>
          <a:xfrm>
            <a:off x="594360" y="2871215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git add README.md</a:t>
            </a:r>
          </a:p>
        </p:txBody>
      </p:sp>
      <p:sp>
        <p:nvSpPr>
          <p:cNvPr id="10" name="content:line-195:0"/>
          <p:cNvSpPr txBox="1"/>
          <p:nvPr/>
        </p:nvSpPr>
        <p:spPr>
          <a:xfrm>
            <a:off x="594360" y="3249167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git diff --cached</a:t>
            </a:r>
          </a:p>
        </p:txBody>
      </p:sp>
      <p:sp>
        <p:nvSpPr>
          <p:cNvPr id="11" name="content:line-196:0"/>
          <p:cNvSpPr txBox="1"/>
          <p:nvPr/>
        </p:nvSpPr>
        <p:spPr>
          <a:xfrm>
            <a:off x="594360" y="3627119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git commit -m "Document our group's dataset and question"</a:t>
            </a:r>
          </a:p>
        </p:txBody>
      </p:sp>
      <p:sp>
        <p:nvSpPr>
          <p:cNvPr id="12" name="content:line-197:0"/>
          <p:cNvSpPr txBox="1"/>
          <p:nvPr/>
        </p:nvSpPr>
        <p:spPr>
          <a:xfrm>
            <a:off x="594360" y="4005071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git push -u origin feature/group-purpose</a:t>
            </a:r>
          </a:p>
        </p:txBody>
      </p:sp>
      <p:sp>
        <p:nvSpPr>
          <p:cNvPr id="13" name="content:line-200:0"/>
          <p:cNvSpPr txBox="1"/>
          <p:nvPr/>
        </p:nvSpPr>
        <p:spPr>
          <a:xfrm>
            <a:off x="594360" y="4383023"/>
            <a:ext cx="11003279" cy="11323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0" i="0">
                <a:solidFill>
                  <a:srgbClr val="20344A"/>
                </a:solidFill>
                <a:latin typeface="Arial"/>
              </a:rPr>
              <a:t>Check README links and wording too. Stage only the intended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file; confirm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.env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and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.venv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are absent. A descriptive message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explains the purpose of the change.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16 / 24</a:t>
            </a:r>
          </a:p>
        </p:txBody>
      </p:sp>
      <p:sp>
        <p:nvSpPr>
          <p:cNvPr id="4" name="title:line-204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Demo: open a draft PR and inspect checks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session-1.md   ·   20</a:t>
            </a:r>
          </a:p>
        </p:txBody>
      </p:sp>
      <p:sp>
        <p:nvSpPr>
          <p:cNvPr id="6" name="content:line-206:0"/>
          <p:cNvSpPr txBox="1"/>
          <p:nvPr/>
        </p:nvSpPr>
        <p:spPr>
          <a:xfrm>
            <a:off x="594360" y="1737360"/>
            <a:ext cx="11003279" cy="11323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In the group repository, select </a:t>
            </a:r>
            <a:r>
              <a:rPr sz="2100" b="1" i="0">
                <a:solidFill>
                  <a:srgbClr val="20344A"/>
                </a:solidFill>
                <a:latin typeface="Arial"/>
              </a:rPr>
              <a:t>Compare &amp; pull request</a:t>
            </a:r>
            <a:r>
              <a:rPr sz="2100" b="0" i="0">
                <a:solidFill>
                  <a:srgbClr val="20344A"/>
                </a:solidFill>
                <a:latin typeface="Arial"/>
              </a:rPr>
              <a:t>; base </a:t>
            </a:r>
            <a:br/>
            <a:r>
              <a:rPr sz="2100" b="0" i="0">
                <a:solidFill>
                  <a:srgbClr val="20344A"/>
                </a:solidFill>
                <a:latin typeface="Courier New"/>
              </a:rPr>
              <a:t>main</a:t>
            </a:r>
            <a:r>
              <a:rPr sz="2100" b="0" i="0">
                <a:solidFill>
                  <a:srgbClr val="20344A"/>
                </a:solidFill>
                <a:latin typeface="Arial"/>
              </a:rPr>
              <a:t>, compare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feature/group-purpose</a:t>
            </a:r>
            <a:r>
              <a:rPr sz="2100" b="0" i="0">
                <a:solidFill>
                  <a:srgbClr val="20344A"/>
                </a:solidFill>
                <a:latin typeface="Arial"/>
              </a:rPr>
              <a:t>; choose </a:t>
            </a:r>
            <a:r>
              <a:rPr sz="2100" b="1" i="0">
                <a:solidFill>
                  <a:srgbClr val="20344A"/>
                </a:solidFill>
                <a:latin typeface="Arial"/>
              </a:rPr>
              <a:t>Create draft </a:t>
            </a:r>
            <a:br/>
            <a:r>
              <a:rPr sz="2100" b="1" i="0">
                <a:solidFill>
                  <a:srgbClr val="20344A"/>
                </a:solidFill>
                <a:latin typeface="Arial"/>
              </a:rPr>
              <a:t>pull request</a:t>
            </a:r>
            <a:r>
              <a:rPr sz="2100" b="0" i="0">
                <a:solidFill>
                  <a:srgbClr val="20344A"/>
                </a:solidFill>
                <a:latin typeface="Arial"/>
              </a:rPr>
              <a:t>.</a:t>
            </a:r>
          </a:p>
        </p:txBody>
      </p:sp>
      <p:sp>
        <p:nvSpPr>
          <p:cNvPr id="7" name="content:line-207:0"/>
          <p:cNvSpPr txBox="1"/>
          <p:nvPr/>
        </p:nvSpPr>
        <p:spPr>
          <a:xfrm>
            <a:off x="594360" y="2933700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Fill in the supplied PR template: purpose, before/after, actual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commands, results, and limits.</a:t>
            </a:r>
          </a:p>
        </p:txBody>
      </p:sp>
      <p:sp>
        <p:nvSpPr>
          <p:cNvPr id="8" name="content:line-208:0"/>
          <p:cNvSpPr txBox="1"/>
          <p:nvPr/>
        </p:nvSpPr>
        <p:spPr>
          <a:xfrm>
            <a:off x="594360" y="3777996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Open </a:t>
            </a:r>
            <a:r>
              <a:rPr sz="2100" b="1" i="0">
                <a:solidFill>
                  <a:srgbClr val="20344A"/>
                </a:solidFill>
                <a:latin typeface="Arial"/>
              </a:rPr>
              <a:t>Checks → Backend tests → Run backend tests</a:t>
            </a:r>
            <a:r>
              <a:rPr sz="2100" b="0" i="0">
                <a:solidFill>
                  <a:srgbClr val="20344A"/>
                </a:solidFill>
                <a:latin typeface="Arial"/>
              </a:rPr>
              <a:t>. Confirm the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branch and commit SHA, the identifier of the version checked.</a:t>
            </a:r>
          </a:p>
        </p:txBody>
      </p:sp>
      <p:sp>
        <p:nvSpPr>
          <p:cNvPr id="9" name="content:line-209:0"/>
          <p:cNvSpPr txBox="1"/>
          <p:nvPr/>
        </p:nvSpPr>
        <p:spPr>
          <a:xfrm>
            <a:off x="594360" y="4622292"/>
            <a:ext cx="11003279" cy="11323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Read failing logs at the first failed step; correct the cause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and push to the same branch. A rerun of an older commit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cannot check a new correction.</a:t>
            </a:r>
          </a:p>
        </p:txBody>
      </p:sp>
      <p:sp>
        <p:nvSpPr>
          <p:cNvPr id="10" name="content:line-211:0"/>
          <p:cNvSpPr txBox="1"/>
          <p:nvPr/>
        </p:nvSpPr>
        <p:spPr>
          <a:xfrm>
            <a:off x="594360" y="5818632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0" i="0">
                <a:solidFill>
                  <a:srgbClr val="20344A"/>
                </a:solidFill>
                <a:latin typeface="Arial"/>
              </a:rPr>
              <a:t>A draft signals work in progress. Mark ready for review and 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16 / 24  ·  CONTINUED 2</a:t>
            </a:r>
          </a:p>
        </p:txBody>
      </p:sp>
      <p:sp>
        <p:nvSpPr>
          <p:cNvPr id="4" name="title:line-204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Demo: open a draft PR and inspect checks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session-1.md   ·   21</a:t>
            </a:r>
          </a:p>
        </p:txBody>
      </p:sp>
      <p:sp>
        <p:nvSpPr>
          <p:cNvPr id="6" name="content:line-211:1"/>
          <p:cNvSpPr txBox="1"/>
          <p:nvPr/>
        </p:nvSpPr>
        <p:spPr>
          <a:xfrm>
            <a:off x="594360" y="1737360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0" i="0">
                <a:solidFill>
                  <a:srgbClr val="20344A"/>
                </a:solidFill>
                <a:latin typeface="Arial"/>
              </a:rPr>
              <a:t>request a teammate when the change and evidence are ready.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17 / 24</a:t>
            </a:r>
          </a:p>
        </p:txBody>
      </p:sp>
      <p:sp>
        <p:nvSpPr>
          <p:cNvPr id="4" name="title:line-215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A meaningful review helps the next reader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session-1.md   ·   22</a:t>
            </a:r>
          </a:p>
        </p:txBody>
      </p:sp>
      <p:sp>
        <p:nvSpPr>
          <p:cNvPr id="6" name="content:line-217:0"/>
          <p:cNvSpPr txBox="1"/>
          <p:nvPr/>
        </p:nvSpPr>
        <p:spPr>
          <a:xfrm>
            <a:off x="594360" y="1737360"/>
            <a:ext cx="11003279" cy="11323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0" i="0">
                <a:solidFill>
                  <a:srgbClr val="20344A"/>
                </a:solidFill>
                <a:latin typeface="Arial"/>
              </a:rPr>
              <a:t>Read </a:t>
            </a:r>
            <a:r>
              <a:rPr sz="2100" b="1" i="0">
                <a:solidFill>
                  <a:srgbClr val="20344A"/>
                </a:solidFill>
                <a:latin typeface="Arial"/>
              </a:rPr>
              <a:t>Files changed</a:t>
            </a:r>
            <a:r>
              <a:rPr sz="2100" b="0" i="0">
                <a:solidFill>
                  <a:srgbClr val="20344A"/>
                </a:solidFill>
                <a:latin typeface="Arial"/>
              </a:rPr>
              <a:t>, the purpose, and check evidence. Comment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on behavior, tests, or clarity: “Which file contains your chosen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dataset, and is the synthetic demo still distinguishable?”</a:t>
            </a:r>
          </a:p>
        </p:txBody>
      </p:sp>
      <p:sp>
        <p:nvSpPr>
          <p:cNvPr id="7" name="content:line-219:0"/>
          <p:cNvSpPr txBox="1"/>
          <p:nvPr/>
        </p:nvSpPr>
        <p:spPr>
          <a:xfrm>
            <a:off x="594360" y="2933700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Submit a review with an explanation; approval alone or “looks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good” is insufficient.</a:t>
            </a:r>
          </a:p>
        </p:txBody>
      </p:sp>
      <p:sp>
        <p:nvSpPr>
          <p:cNvPr id="8" name="content:line-220:0"/>
          <p:cNvSpPr txBox="1"/>
          <p:nvPr/>
        </p:nvSpPr>
        <p:spPr>
          <a:xfrm>
            <a:off x="594360" y="3777996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The author replies, corrects concerns, and pushes follow-up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commits.</a:t>
            </a:r>
          </a:p>
        </p:txBody>
      </p:sp>
      <p:sp>
        <p:nvSpPr>
          <p:cNvPr id="9" name="content:line-221:0"/>
          <p:cNvSpPr txBox="1"/>
          <p:nvPr/>
        </p:nvSpPr>
        <p:spPr>
          <a:xfrm>
            <a:off x="594360" y="4622292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The reviewer checks the update and latest CI, then approves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when satisfied.</a:t>
            </a:r>
          </a:p>
        </p:txBody>
      </p:sp>
      <p:sp>
        <p:nvSpPr>
          <p:cNvPr id="10" name="content:line-222:0"/>
          <p:cNvSpPr txBox="1"/>
          <p:nvPr/>
        </p:nvSpPr>
        <p:spPr>
          <a:xfrm>
            <a:off x="594360" y="5466588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Merge the PR through GitHub only after passing required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checks, teammate approval, and resolved discussions.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17 / 24  ·  CONTINUED 2</a:t>
            </a:r>
          </a:p>
        </p:txBody>
      </p:sp>
      <p:sp>
        <p:nvSpPr>
          <p:cNvPr id="4" name="title:line-215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A meaningful review helps the next reader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session-1.md   ·   23</a:t>
            </a:r>
          </a:p>
        </p:txBody>
      </p:sp>
      <p:sp>
        <p:nvSpPr>
          <p:cNvPr id="6" name="content:line-224:0"/>
          <p:cNvSpPr txBox="1"/>
          <p:nvPr/>
        </p:nvSpPr>
        <p:spPr>
          <a:xfrm>
            <a:off x="594360" y="1737360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0" i="0">
                <a:solidFill>
                  <a:srgbClr val="20344A"/>
                </a:solidFill>
                <a:latin typeface="Arial"/>
              </a:rPr>
              <a:t>See </a:t>
            </a:r>
            <a:r>
              <a:rPr sz="2100" b="0" i="0">
                <a:solidFill>
                  <a:srgbClr val="007F82"/>
                </a:solidFill>
                <a:latin typeface="Arial"/>
                <a:hlinkClick r:id="rId2"/>
              </a:rPr>
              <a:t>collaboration guidance</a:t>
            </a:r>
            <a:r>
              <a:rPr sz="2100" b="0" i="0">
                <a:solidFill>
                  <a:srgbClr val="20344A"/>
                </a:solidFill>
                <a:latin typeface="Arial"/>
              </a:rPr>
              <a:t>. After merging, switch to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main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and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pull with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--ff-only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before new work.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18 / 24</a:t>
            </a:r>
          </a:p>
        </p:txBody>
      </p:sp>
      <p:sp>
        <p:nvSpPr>
          <p:cNvPr id="4" name="title:line-228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Break, then 80 minutes of practice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session-1.md   ·   24</a:t>
            </a:r>
          </a:p>
        </p:txBody>
      </p:sp>
      <p:sp>
        <p:nvSpPr>
          <p:cNvPr id="6" name="content:line-230:0"/>
          <p:cNvSpPr txBox="1"/>
          <p:nvPr/>
        </p:nvSpPr>
        <p:spPr>
          <a:xfrm>
            <a:off x="594360" y="1737360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0" i="0">
                <a:solidFill>
                  <a:srgbClr val="20344A"/>
                </a:solidFill>
                <a:latin typeface="Arial"/>
              </a:rPr>
              <a:t>Take a 15-minute break after the demonstration.</a:t>
            </a:r>
          </a:p>
        </p:txBody>
      </p:sp>
      <p:sp>
        <p:nvSpPr>
          <p:cNvPr id="7" name="content:line-232:0"/>
          <p:cNvSpPr txBox="1"/>
          <p:nvPr/>
        </p:nvSpPr>
        <p:spPr>
          <a:xfrm>
            <a:off x="594360" y="2229612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First 45 minutes: create the group repository, prepare each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environment, run the example and baseline checks.</a:t>
            </a:r>
          </a:p>
        </p:txBody>
      </p:sp>
      <p:sp>
        <p:nvSpPr>
          <p:cNvPr id="8" name="content:line-233:0"/>
          <p:cNvSpPr txBox="1"/>
          <p:nvPr/>
        </p:nvSpPr>
        <p:spPr>
          <a:xfrm>
            <a:off x="594360" y="3073908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Next 30 minutes: each student makes a small purposeful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change, opens a draft PR, and reviews a teammate's PR.</a:t>
            </a:r>
          </a:p>
        </p:txBody>
      </p:sp>
      <p:sp>
        <p:nvSpPr>
          <p:cNvPr id="9" name="content:line-234:0"/>
          <p:cNvSpPr txBox="1"/>
          <p:nvPr/>
        </p:nvSpPr>
        <p:spPr>
          <a:xfrm>
            <a:off x="594360" y="3918204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Last 5 minutes: record evidence and your stopping point.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Rehearse the controlled conflict below only if time permits.</a:t>
            </a:r>
          </a:p>
        </p:txBody>
      </p:sp>
      <p:sp>
        <p:nvSpPr>
          <p:cNvPr id="10" name="content:line-236:0"/>
          <p:cNvSpPr txBox="1"/>
          <p:nvPr/>
        </p:nvSpPr>
        <p:spPr>
          <a:xfrm>
            <a:off x="594360" y="4762500"/>
            <a:ext cx="11003279" cy="148437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0" i="0">
                <a:solidFill>
                  <a:srgbClr val="20344A"/>
                </a:solidFill>
                <a:latin typeface="Arial"/>
              </a:rPr>
              <a:t>Finish any unfinished practice at home, in addition to the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homework. Use the setup and collaboration guides when stuck.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Work in the group's repository and keep changes small enough to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explain.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19 / 24</a:t>
            </a:r>
          </a:p>
        </p:txBody>
      </p:sp>
      <p:sp>
        <p:nvSpPr>
          <p:cNvPr id="4" name="title:line-240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Controlled conflict: seed a disposable file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session-1.md   ·   25</a:t>
            </a:r>
          </a:p>
        </p:txBody>
      </p:sp>
      <p:sp>
        <p:nvSpPr>
          <p:cNvPr id="6" name="content:line-242:0"/>
          <p:cNvSpPr txBox="1"/>
          <p:nvPr/>
        </p:nvSpPr>
        <p:spPr>
          <a:xfrm>
            <a:off x="594360" y="1737360"/>
            <a:ext cx="11003279" cy="11323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0" i="0">
                <a:solidFill>
                  <a:srgbClr val="20344A"/>
                </a:solidFill>
                <a:latin typeface="Arial"/>
              </a:rPr>
              <a:t>A conflict means Git cannot decide how overlapping edits should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combine. Rehearse locally after committing other work; use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unused branch names and a new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conflict-demo.txt</a:t>
            </a:r>
            <a:r>
              <a:rPr sz="2100" b="0" i="0">
                <a:solidFill>
                  <a:srgbClr val="20344A"/>
                </a:solidFill>
                <a:latin typeface="Arial"/>
              </a:rPr>
              <a:t>.</a:t>
            </a:r>
          </a:p>
        </p:txBody>
      </p:sp>
      <p:sp>
        <p:nvSpPr>
          <p:cNvPr id="7" name="content:line-245:0"/>
          <p:cNvSpPr txBox="1"/>
          <p:nvPr/>
        </p:nvSpPr>
        <p:spPr>
          <a:xfrm>
            <a:off x="594360" y="2933700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git switch main</a:t>
            </a:r>
          </a:p>
        </p:txBody>
      </p:sp>
      <p:sp>
        <p:nvSpPr>
          <p:cNvPr id="8" name="content:line-246:0"/>
          <p:cNvSpPr txBox="1"/>
          <p:nvPr/>
        </p:nvSpPr>
        <p:spPr>
          <a:xfrm>
            <a:off x="594360" y="3311652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git pull --ff-only origin main</a:t>
            </a:r>
          </a:p>
        </p:txBody>
      </p:sp>
      <p:sp>
        <p:nvSpPr>
          <p:cNvPr id="9" name="content:line-247:0"/>
          <p:cNvSpPr txBox="1"/>
          <p:nvPr/>
        </p:nvSpPr>
        <p:spPr>
          <a:xfrm>
            <a:off x="594360" y="3689604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git switch -c practice/conflict-base</a:t>
            </a:r>
          </a:p>
        </p:txBody>
      </p:sp>
      <p:sp>
        <p:nvSpPr>
          <p:cNvPr id="10" name="content:line-250:0"/>
          <p:cNvSpPr txBox="1"/>
          <p:nvPr/>
        </p:nvSpPr>
        <p:spPr>
          <a:xfrm>
            <a:off x="594360" y="4067556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0" i="0">
                <a:solidFill>
                  <a:srgbClr val="20344A"/>
                </a:solidFill>
                <a:latin typeface="Arial"/>
              </a:rPr>
              <a:t>Create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conflict-demo.txt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in your editor with exactly one line: </a:t>
            </a:r>
            <a:br/>
            <a:r>
              <a:rPr sz="2100" b="0" i="0">
                <a:solidFill>
                  <a:srgbClr val="20344A"/>
                </a:solidFill>
                <a:latin typeface="Courier New"/>
              </a:rPr>
              <a:t>Session plan: draft</a:t>
            </a:r>
            <a:r>
              <a:rPr sz="2100" b="0" i="0">
                <a:solidFill>
                  <a:srgbClr val="20344A"/>
                </a:solidFill>
                <a:latin typeface="Arial"/>
              </a:rPr>
              <a:t>.</a:t>
            </a:r>
          </a:p>
        </p:txBody>
      </p:sp>
      <p:sp>
        <p:nvSpPr>
          <p:cNvPr id="11" name="content:line-253:0"/>
          <p:cNvSpPr txBox="1"/>
          <p:nvPr/>
        </p:nvSpPr>
        <p:spPr>
          <a:xfrm>
            <a:off x="594360" y="4911851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git add conflict-demo.txt</a:t>
            </a:r>
          </a:p>
        </p:txBody>
      </p:sp>
      <p:sp>
        <p:nvSpPr>
          <p:cNvPr id="12" name="content:line-254:0"/>
          <p:cNvSpPr txBox="1"/>
          <p:nvPr/>
        </p:nvSpPr>
        <p:spPr>
          <a:xfrm>
            <a:off x="594360" y="5289803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git commit -m "Seed disposable conflict example"</a:t>
            </a:r>
          </a:p>
        </p:txBody>
      </p:sp>
      <p:sp>
        <p:nvSpPr>
          <p:cNvPr id="13" name="content:line-255:0"/>
          <p:cNvSpPr txBox="1"/>
          <p:nvPr/>
        </p:nvSpPr>
        <p:spPr>
          <a:xfrm>
            <a:off x="594360" y="5667755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git switch -c practice/conflict-a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20 / 24</a:t>
            </a:r>
          </a:p>
        </p:txBody>
      </p:sp>
      <p:sp>
        <p:nvSpPr>
          <p:cNvPr id="4" name="title:line-260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Controlled conflict: two feature branches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session-1.md   ·   26</a:t>
            </a:r>
          </a:p>
        </p:txBody>
      </p:sp>
      <p:sp>
        <p:nvSpPr>
          <p:cNvPr id="6" name="content:line-262:0"/>
          <p:cNvSpPr txBox="1"/>
          <p:nvPr/>
        </p:nvSpPr>
        <p:spPr>
          <a:xfrm>
            <a:off x="594360" y="1737360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0" i="0">
                <a:solidFill>
                  <a:srgbClr val="20344A"/>
                </a:solidFill>
                <a:latin typeface="Arial"/>
              </a:rPr>
              <a:t>On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practice/conflict-a</a:t>
            </a:r>
            <a:r>
              <a:rPr sz="2100" b="0" i="0">
                <a:solidFill>
                  <a:srgbClr val="20344A"/>
                </a:solidFill>
                <a:latin typeface="Arial"/>
              </a:rPr>
              <a:t>, replace the line with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Session plan: </a:t>
            </a:r>
            <a:br/>
            <a:r>
              <a:rPr sz="2100" b="0" i="0">
                <a:solidFill>
                  <a:srgbClr val="20344A"/>
                </a:solidFill>
                <a:latin typeface="Courier New"/>
              </a:rPr>
              <a:t>test first</a:t>
            </a:r>
            <a:r>
              <a:rPr sz="2100" b="0" i="0">
                <a:solidFill>
                  <a:srgbClr val="20344A"/>
                </a:solidFill>
                <a:latin typeface="Arial"/>
              </a:rPr>
              <a:t>; save, then run:</a:t>
            </a:r>
          </a:p>
        </p:txBody>
      </p:sp>
      <p:sp>
        <p:nvSpPr>
          <p:cNvPr id="7" name="content:line-265:0"/>
          <p:cNvSpPr txBox="1"/>
          <p:nvPr/>
        </p:nvSpPr>
        <p:spPr>
          <a:xfrm>
            <a:off x="594360" y="2581656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git add conflict-demo.txt</a:t>
            </a:r>
          </a:p>
        </p:txBody>
      </p:sp>
      <p:sp>
        <p:nvSpPr>
          <p:cNvPr id="8" name="content:line-266:0"/>
          <p:cNvSpPr txBox="1"/>
          <p:nvPr/>
        </p:nvSpPr>
        <p:spPr>
          <a:xfrm>
            <a:off x="594360" y="2959607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git commit -m "Suggest testing first"</a:t>
            </a:r>
          </a:p>
        </p:txBody>
      </p:sp>
      <p:sp>
        <p:nvSpPr>
          <p:cNvPr id="9" name="content:line-267:0"/>
          <p:cNvSpPr txBox="1"/>
          <p:nvPr/>
        </p:nvSpPr>
        <p:spPr>
          <a:xfrm>
            <a:off x="594360" y="3337559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git switch practice/conflict-base</a:t>
            </a:r>
          </a:p>
        </p:txBody>
      </p:sp>
      <p:sp>
        <p:nvSpPr>
          <p:cNvPr id="10" name="content:line-268:0"/>
          <p:cNvSpPr txBox="1"/>
          <p:nvPr/>
        </p:nvSpPr>
        <p:spPr>
          <a:xfrm>
            <a:off x="594360" y="3715511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git switch -c practice/conflict-b</a:t>
            </a:r>
          </a:p>
        </p:txBody>
      </p:sp>
      <p:sp>
        <p:nvSpPr>
          <p:cNvPr id="11" name="content:line-271:0"/>
          <p:cNvSpPr txBox="1"/>
          <p:nvPr/>
        </p:nvSpPr>
        <p:spPr>
          <a:xfrm>
            <a:off x="594360" y="4093463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0" i="0">
                <a:solidFill>
                  <a:srgbClr val="20344A"/>
                </a:solidFill>
                <a:latin typeface="Arial"/>
              </a:rPr>
              <a:t>On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practice/conflict-b</a:t>
            </a:r>
            <a:r>
              <a:rPr sz="2100" b="0" i="0">
                <a:solidFill>
                  <a:srgbClr val="20344A"/>
                </a:solidFill>
                <a:latin typeface="Arial"/>
              </a:rPr>
              <a:t>, replace the original line with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Session </a:t>
            </a:r>
            <a:br/>
            <a:r>
              <a:rPr sz="2100" b="0" i="0">
                <a:solidFill>
                  <a:srgbClr val="20344A"/>
                </a:solidFill>
                <a:latin typeface="Courier New"/>
              </a:rPr>
              <a:t>plan: review first</a:t>
            </a:r>
            <a:r>
              <a:rPr sz="2100" b="0" i="0">
                <a:solidFill>
                  <a:srgbClr val="20344A"/>
                </a:solidFill>
                <a:latin typeface="Arial"/>
              </a:rPr>
              <a:t>; save, then run:</a:t>
            </a:r>
          </a:p>
        </p:txBody>
      </p:sp>
      <p:sp>
        <p:nvSpPr>
          <p:cNvPr id="12" name="content:line-274:0"/>
          <p:cNvSpPr txBox="1"/>
          <p:nvPr/>
        </p:nvSpPr>
        <p:spPr>
          <a:xfrm>
            <a:off x="594360" y="4937759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git add conflict-demo.txt</a:t>
            </a:r>
          </a:p>
        </p:txBody>
      </p:sp>
      <p:sp>
        <p:nvSpPr>
          <p:cNvPr id="13" name="content:line-275:0"/>
          <p:cNvSpPr txBox="1"/>
          <p:nvPr/>
        </p:nvSpPr>
        <p:spPr>
          <a:xfrm>
            <a:off x="594360" y="5315711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git commit -m "Suggest reviewing first"</a:t>
            </a:r>
          </a:p>
        </p:txBody>
      </p:sp>
      <p:sp>
        <p:nvSpPr>
          <p:cNvPr id="14" name="content:line-276:0"/>
          <p:cNvSpPr txBox="1"/>
          <p:nvPr/>
        </p:nvSpPr>
        <p:spPr>
          <a:xfrm>
            <a:off x="594360" y="5693663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git merge practice/conflict-a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20 / 24  ·  CONTINUED 2</a:t>
            </a:r>
          </a:p>
        </p:txBody>
      </p:sp>
      <p:sp>
        <p:nvSpPr>
          <p:cNvPr id="4" name="title:line-260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Controlled conflict: two feature branches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session-1.md   ·   27</a:t>
            </a:r>
          </a:p>
        </p:txBody>
      </p:sp>
      <p:sp>
        <p:nvSpPr>
          <p:cNvPr id="6" name="content:line-277:0"/>
          <p:cNvSpPr txBox="1"/>
          <p:nvPr/>
        </p:nvSpPr>
        <p:spPr>
          <a:xfrm>
            <a:off x="594360" y="1737360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git status</a:t>
            </a:r>
          </a:p>
        </p:txBody>
      </p:sp>
      <p:sp>
        <p:nvSpPr>
          <p:cNvPr id="7" name="content:line-280:0"/>
          <p:cNvSpPr txBox="1"/>
          <p:nvPr/>
        </p:nvSpPr>
        <p:spPr>
          <a:xfrm>
            <a:off x="594360" y="2115312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0" i="0">
                <a:solidFill>
                  <a:srgbClr val="20344A"/>
                </a:solidFill>
                <a:latin typeface="Arial"/>
              </a:rPr>
              <a:t>Expect a content conflict: both feature branches changed the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same original line.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21 / 24</a:t>
            </a:r>
          </a:p>
        </p:txBody>
      </p:sp>
      <p:sp>
        <p:nvSpPr>
          <p:cNvPr id="4" name="title:line-284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Resolve deliberately, or abort the merge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session-1.md   ·   28</a:t>
            </a:r>
          </a:p>
        </p:txBody>
      </p:sp>
      <p:sp>
        <p:nvSpPr>
          <p:cNvPr id="6" name="content:line-286:0"/>
          <p:cNvSpPr txBox="1"/>
          <p:nvPr/>
        </p:nvSpPr>
        <p:spPr>
          <a:xfrm>
            <a:off x="594360" y="1737360"/>
            <a:ext cx="11003279" cy="148437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0" i="0">
                <a:solidFill>
                  <a:srgbClr val="20344A"/>
                </a:solidFill>
                <a:latin typeface="Arial"/>
              </a:rPr>
              <a:t>Open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conflict-demo.txt</a:t>
            </a:r>
            <a:r>
              <a:rPr sz="2100" b="0" i="0">
                <a:solidFill>
                  <a:srgbClr val="20344A"/>
                </a:solidFill>
                <a:latin typeface="Arial"/>
              </a:rPr>
              <a:t>: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&lt;&lt;&lt;&lt;&lt;&lt;&lt; HEAD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starts the current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branch's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Session plan: review first</a:t>
            </a:r>
            <a:r>
              <a:rPr sz="2100" b="0" i="0">
                <a:solidFill>
                  <a:srgbClr val="20344A"/>
                </a:solidFill>
                <a:latin typeface="Arial"/>
              </a:rPr>
              <a:t>;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=======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separates the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incoming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Session plan: test first</a:t>
            </a:r>
            <a:r>
              <a:rPr sz="2100" b="0" i="0">
                <a:solidFill>
                  <a:srgbClr val="20344A"/>
                </a:solidFill>
                <a:latin typeface="Arial"/>
              </a:rPr>
              <a:t>;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&gt;&gt;&gt;&gt;&gt;&gt;&gt; </a:t>
            </a:r>
            <a:br/>
            <a:r>
              <a:rPr sz="2100" b="0" i="0">
                <a:solidFill>
                  <a:srgbClr val="20344A"/>
                </a:solidFill>
                <a:latin typeface="Courier New"/>
              </a:rPr>
              <a:t>practice/conflict-a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ends the block.</a:t>
            </a:r>
          </a:p>
        </p:txBody>
      </p:sp>
      <p:sp>
        <p:nvSpPr>
          <p:cNvPr id="7" name="content:line-288:0"/>
          <p:cNvSpPr txBox="1"/>
          <p:nvPr/>
        </p:nvSpPr>
        <p:spPr>
          <a:xfrm>
            <a:off x="594360" y="3285744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0" i="0">
                <a:solidFill>
                  <a:srgbClr val="20344A"/>
                </a:solidFill>
                <a:latin typeface="Arial"/>
              </a:rPr>
              <a:t>Agree on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Session plan: test, then review</a:t>
            </a:r>
            <a:r>
              <a:rPr sz="2100" b="0" i="0">
                <a:solidFill>
                  <a:srgbClr val="20344A"/>
                </a:solidFill>
                <a:latin typeface="Arial"/>
              </a:rPr>
              <a:t>. Replace the entire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marked block with that line; save, then run:</a:t>
            </a:r>
          </a:p>
        </p:txBody>
      </p:sp>
      <p:sp>
        <p:nvSpPr>
          <p:cNvPr id="8" name="content:line-291:0"/>
          <p:cNvSpPr txBox="1"/>
          <p:nvPr/>
        </p:nvSpPr>
        <p:spPr>
          <a:xfrm>
            <a:off x="594360" y="4130040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git add conflict-demo.txt</a:t>
            </a:r>
          </a:p>
        </p:txBody>
      </p:sp>
      <p:sp>
        <p:nvSpPr>
          <p:cNvPr id="9" name="content:line-292:0"/>
          <p:cNvSpPr txBox="1"/>
          <p:nvPr/>
        </p:nvSpPr>
        <p:spPr>
          <a:xfrm>
            <a:off x="594360" y="4507992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git commit -m "Resolve plan: test then review"</a:t>
            </a:r>
          </a:p>
        </p:txBody>
      </p:sp>
      <p:sp>
        <p:nvSpPr>
          <p:cNvPr id="10" name="content:line-293:0"/>
          <p:cNvSpPr txBox="1"/>
          <p:nvPr/>
        </p:nvSpPr>
        <p:spPr>
          <a:xfrm>
            <a:off x="594360" y="4885944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git diff --check</a:t>
            </a:r>
          </a:p>
        </p:txBody>
      </p:sp>
      <p:sp>
        <p:nvSpPr>
          <p:cNvPr id="11" name="content:line-294:0"/>
          <p:cNvSpPr txBox="1"/>
          <p:nvPr/>
        </p:nvSpPr>
        <p:spPr>
          <a:xfrm>
            <a:off x="594360" y="5263896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python -m pytest backend/tests</a:t>
            </a:r>
          </a:p>
        </p:txBody>
      </p:sp>
      <p:sp>
        <p:nvSpPr>
          <p:cNvPr id="12" name="content:line-297:0"/>
          <p:cNvSpPr txBox="1"/>
          <p:nvPr/>
        </p:nvSpPr>
        <p:spPr>
          <a:xfrm>
            <a:off x="594360" y="5641848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0" i="0">
                <a:solidFill>
                  <a:srgbClr val="20344A"/>
                </a:solidFill>
                <a:latin typeface="Arial"/>
              </a:rPr>
              <a:t>If unsure before committing the resolution,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git merge --abort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21 / 24  ·  CONTINUED 2</a:t>
            </a:r>
          </a:p>
        </p:txBody>
      </p:sp>
      <p:sp>
        <p:nvSpPr>
          <p:cNvPr id="4" name="title:line-284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Resolve deliberately, or abort the merge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session-1.md   ·   29</a:t>
            </a:r>
          </a:p>
        </p:txBody>
      </p:sp>
      <p:sp>
        <p:nvSpPr>
          <p:cNvPr id="6" name="content:line-297:1"/>
          <p:cNvSpPr txBox="1"/>
          <p:nvPr/>
        </p:nvSpPr>
        <p:spPr>
          <a:xfrm>
            <a:off x="594360" y="1737360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0" i="0">
                <a:solidFill>
                  <a:srgbClr val="20344A"/>
                </a:solidFill>
                <a:latin typeface="Arial"/>
              </a:rPr>
              <a:t>returns to the pre-merge state. Keep this rehearsal local;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switch back to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main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when done.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22 / 24</a:t>
            </a:r>
          </a:p>
        </p:txBody>
      </p:sp>
      <p:sp>
        <p:nvSpPr>
          <p:cNvPr id="4" name="title:line-301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Use the same recovery on real PRs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session-1.md   ·   30</a:t>
            </a:r>
          </a:p>
        </p:txBody>
      </p:sp>
      <p:sp>
        <p:nvSpPr>
          <p:cNvPr id="6" name="content:line-303:0"/>
          <p:cNvSpPr txBox="1"/>
          <p:nvPr/>
        </p:nvSpPr>
        <p:spPr>
          <a:xfrm>
            <a:off x="594360" y="1737360"/>
            <a:ext cx="11003279" cy="428244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0" i="0">
                <a:solidFill>
                  <a:srgbClr val="20344A"/>
                </a:solidFill>
                <a:latin typeface="Arial"/>
              </a:rPr>
              <a:t>Commit your work first. On your real feature branch:</a:t>
            </a:r>
          </a:p>
        </p:txBody>
      </p:sp>
      <p:sp>
        <p:nvSpPr>
          <p:cNvPr id="7" name="content:line-306:0"/>
          <p:cNvSpPr txBox="1"/>
          <p:nvPr/>
        </p:nvSpPr>
        <p:spPr>
          <a:xfrm>
            <a:off x="594360" y="2229612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git fetch origin</a:t>
            </a:r>
          </a:p>
        </p:txBody>
      </p:sp>
      <p:sp>
        <p:nvSpPr>
          <p:cNvPr id="8" name="content:line-307:0"/>
          <p:cNvSpPr txBox="1"/>
          <p:nvPr/>
        </p:nvSpPr>
        <p:spPr>
          <a:xfrm>
            <a:off x="594360" y="2607564"/>
            <a:ext cx="11003279" cy="377952"/>
          </a:xfrm>
          <a:prstGeom prst="rect">
            <a:avLst/>
          </a:prstGeom>
          <a:solidFill>
            <a:srgbClr val="EDF3F6"/>
          </a:solidFill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376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20344A"/>
                </a:solidFill>
                <a:latin typeface="Arial"/>
              </a:defRPr>
            </a:pPr>
            <a:r>
              <a:rPr sz="1800" b="0" i="0">
                <a:solidFill>
                  <a:srgbClr val="20344A"/>
                </a:solidFill>
                <a:latin typeface="Courier New"/>
              </a:rPr>
              <a:t>git merge origin/main</a:t>
            </a:r>
          </a:p>
        </p:txBody>
      </p:sp>
      <p:sp>
        <p:nvSpPr>
          <p:cNvPr id="9" name="content:line-310:0"/>
          <p:cNvSpPr txBox="1"/>
          <p:nvPr/>
        </p:nvSpPr>
        <p:spPr>
          <a:xfrm>
            <a:off x="594360" y="2985515"/>
            <a:ext cx="11003279" cy="11323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0" i="0">
                <a:solidFill>
                  <a:srgbClr val="20344A"/>
                </a:solidFill>
                <a:latin typeface="Arial"/>
              </a:rPr>
              <a:t>If Git reports conflicts, use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git status</a:t>
            </a:r>
            <a:r>
              <a:rPr sz="2100" b="0" i="0">
                <a:solidFill>
                  <a:srgbClr val="20344A"/>
                </a:solidFill>
                <a:latin typeface="Arial"/>
              </a:rPr>
              <a:t>, discuss both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intentions, edit out markers, stage the resolved files, and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commit. Rerun relevant checks and push the feature branch.</a:t>
            </a:r>
          </a:p>
        </p:txBody>
      </p:sp>
      <p:sp>
        <p:nvSpPr>
          <p:cNvPr id="10" name="content:line-312:0"/>
          <p:cNvSpPr txBox="1"/>
          <p:nvPr/>
        </p:nvSpPr>
        <p:spPr>
          <a:xfrm>
            <a:off x="594360" y="4181856"/>
            <a:ext cx="11003279" cy="11323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0" i="0">
                <a:solidFill>
                  <a:srgbClr val="20344A"/>
                </a:solidFill>
                <a:latin typeface="Arial"/>
              </a:rPr>
              <a:t>Request another review when the change needs it; new commits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may dismiss old approvals. Confirm CI belongs to the latest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commit before the reviewed PR is merged into </a:t>
            </a:r>
            <a:r>
              <a:rPr sz="2100" b="0" i="0">
                <a:solidFill>
                  <a:srgbClr val="20344A"/>
                </a:solidFill>
                <a:latin typeface="Courier New"/>
              </a:rPr>
              <a:t>main</a:t>
            </a:r>
            <a:r>
              <a:rPr sz="2100" b="0" i="0">
                <a:solidFill>
                  <a:srgbClr val="20344A"/>
                </a:solidFill>
                <a:latin typeface="Arial"/>
              </a:rPr>
              <a:t>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23 / 24</a:t>
            </a:r>
          </a:p>
        </p:txBody>
      </p:sp>
      <p:sp>
        <p:nvSpPr>
          <p:cNvPr id="4" name="title:line-316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Your group owns the question and evidence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session-1.md   ·   31</a:t>
            </a:r>
          </a:p>
        </p:txBody>
      </p:sp>
      <p:sp>
        <p:nvSpPr>
          <p:cNvPr id="6" name="content:line-318:0"/>
          <p:cNvSpPr txBox="1"/>
          <p:nvPr/>
        </p:nvSpPr>
        <p:spPr>
          <a:xfrm>
            <a:off x="594360" y="1737360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Groups contain three or four students, with one repository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per group.</a:t>
            </a:r>
          </a:p>
        </p:txBody>
      </p:sp>
      <p:sp>
        <p:nvSpPr>
          <p:cNvPr id="7" name="content:line-319:0"/>
          <p:cNvSpPr txBox="1"/>
          <p:nvPr/>
        </p:nvSpPr>
        <p:spPr>
          <a:xfrm>
            <a:off x="594360" y="2581656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Choose your own dataset and question; topic approval is not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required. Discussion with the instructor is available.</a:t>
            </a:r>
          </a:p>
        </p:txBody>
      </p:sp>
      <p:sp>
        <p:nvSpPr>
          <p:cNvPr id="8" name="content:line-320:0"/>
          <p:cNvSpPr txBox="1"/>
          <p:nvPr/>
        </p:nvSpPr>
        <p:spPr>
          <a:xfrm>
            <a:off x="594360" y="3425952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Modeling is optional; complexity earns no additional credit.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FastAPI, Streamlit, and Docker Compose remain required.</a:t>
            </a:r>
          </a:p>
        </p:txBody>
      </p:sp>
      <p:sp>
        <p:nvSpPr>
          <p:cNvPr id="9" name="content:line-321:0"/>
          <p:cNvSpPr txBox="1"/>
          <p:nvPr/>
        </p:nvSpPr>
        <p:spPr>
          <a:xfrm>
            <a:off x="594360" y="4270248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Each student authors at least one PR and meaningfully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reviews at least one teammate's PR using their own account.</a:t>
            </a:r>
          </a:p>
        </p:txBody>
      </p:sp>
      <p:sp>
        <p:nvSpPr>
          <p:cNvPr id="10" name="content:line-323:0"/>
          <p:cNvSpPr txBox="1"/>
          <p:nvPr/>
        </p:nvSpPr>
        <p:spPr>
          <a:xfrm>
            <a:off x="594360" y="5114544"/>
            <a:ext cx="11003279" cy="11323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0" i="0">
                <a:solidFill>
                  <a:srgbClr val="20344A"/>
                </a:solidFill>
                <a:latin typeface="Arial"/>
              </a:rPr>
              <a:t>Keep authored PR links, submitted review permalinks, and CI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links with commit SHAs in the group README as real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participation occurs.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24 / 24</a:t>
            </a:r>
          </a:p>
        </p:txBody>
      </p:sp>
      <p:sp>
        <p:nvSpPr>
          <p:cNvPr id="4" name="title:line-327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Prepare for the final presentation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session-1.md   ·   32</a:t>
            </a:r>
          </a:p>
        </p:txBody>
      </p:sp>
      <p:sp>
        <p:nvSpPr>
          <p:cNvPr id="6" name="content:line-329:0"/>
          <p:cNvSpPr txBox="1"/>
          <p:nvPr/>
        </p:nvSpPr>
        <p:spPr>
          <a:xfrm>
            <a:off x="594360" y="1737360"/>
            <a:ext cx="11003279" cy="148437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0" i="0">
                <a:solidFill>
                  <a:srgbClr val="20344A"/>
                </a:solidFill>
                <a:latin typeface="Arial"/>
              </a:rPr>
              <a:t>Mandatory homework after Session 1 is approximately two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hours, plus any unfinished guided practice: continue the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PR/review workflow and document the group's dataset and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question.</a:t>
            </a:r>
          </a:p>
        </p:txBody>
      </p:sp>
      <p:sp>
        <p:nvSpPr>
          <p:cNvPr id="7" name="content:line-331:0"/>
          <p:cNvSpPr txBox="1"/>
          <p:nvPr/>
        </p:nvSpPr>
        <p:spPr>
          <a:xfrm>
            <a:off x="594360" y="3285744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Today's checkpoint is preparation: isolated environment,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configuration hygiene, and visible branch/PR history.</a:t>
            </a:r>
          </a:p>
        </p:txBody>
      </p:sp>
      <p:sp>
        <p:nvSpPr>
          <p:cNvPr id="8" name="content:line-332:0"/>
          <p:cNvSpPr txBox="1"/>
          <p:nvPr/>
        </p:nvSpPr>
        <p:spPr>
          <a:xfrm>
            <a:off x="594360" y="4130040"/>
            <a:ext cx="11003279" cy="11323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Assessment is pass/fail, entirely at the final presentation. All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engineering requirements must be met, including tests, CI,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validation, and later output comparisons.</a:t>
            </a:r>
          </a:p>
        </p:txBody>
      </p:sp>
      <p:sp>
        <p:nvSpPr>
          <p:cNvPr id="9" name="content:line-333:0"/>
          <p:cNvSpPr txBox="1"/>
          <p:nvPr/>
        </p:nvSpPr>
        <p:spPr>
          <a:xfrm>
            <a:off x="594360" y="5326380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Statistical analysis correctness is not graded. Tests still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verify the processing behavior you declare.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accent"/>
          <p:cNvSpPr/>
          <p:nvPr/>
        </p:nvSpPr>
        <p:spPr>
          <a:xfrm>
            <a:off x="0" y="0"/>
            <a:ext cx="12191999" cy="64008"/>
          </a:xfrm>
          <a:prstGeom prst="rect">
            <a:avLst/>
          </a:prstGeom>
          <a:solidFill>
            <a:srgbClr val="007F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ection"/>
          <p:cNvSpPr txBox="1"/>
          <p:nvPr/>
        </p:nvSpPr>
        <p:spPr>
          <a:xfrm>
            <a:off x="594360" y="201168"/>
            <a:ext cx="11003279" cy="256032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452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53677A"/>
                </a:solidFill>
                <a:latin typeface="Arial"/>
              </a:defRPr>
            </a:pPr>
            <a:r>
              <a:t>SOURCE 24 / 24  ·  CONTINUED 2</a:t>
            </a:r>
          </a:p>
        </p:txBody>
      </p:sp>
      <p:sp>
        <p:nvSpPr>
          <p:cNvPr id="4" name="title:line-327"/>
          <p:cNvSpPr txBox="1"/>
          <p:nvPr/>
        </p:nvSpPr>
        <p:spPr>
          <a:xfrm>
            <a:off x="594360" y="530352"/>
            <a:ext cx="11003279" cy="1161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4000"/>
              </a:lnSpc>
              <a:spcBef>
                <a:spcPts val="0"/>
              </a:spcBef>
              <a:spcAft>
                <a:spcPts val="0"/>
              </a:spcAft>
              <a:defRPr sz="3200">
                <a:solidFill>
                  <a:srgbClr val="20344A"/>
                </a:solidFill>
                <a:latin typeface="Arial"/>
              </a:defRPr>
            </a:pPr>
            <a:r>
              <a:rPr sz="3200" b="0" i="0">
                <a:solidFill>
                  <a:srgbClr val="20344A"/>
                </a:solidFill>
                <a:latin typeface="Arial"/>
              </a:rPr>
              <a:t>Prepare for the final presentation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94360" y="6510528"/>
            <a:ext cx="11003279" cy="219456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53677A"/>
                </a:solidFill>
                <a:latin typeface="Arial"/>
              </a:defRPr>
            </a:pPr>
            <a:r>
              <a:t>session-1.md   ·   33</a:t>
            </a:r>
          </a:p>
        </p:txBody>
      </p:sp>
      <p:sp>
        <p:nvSpPr>
          <p:cNvPr id="6" name="content:line-334:0"/>
          <p:cNvSpPr txBox="1"/>
          <p:nvPr/>
        </p:nvSpPr>
        <p:spPr>
          <a:xfrm>
            <a:off x="594360" y="1737360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 marL="279400" indent="-215900"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  <a:buChar char="•"/>
            </a:pPr>
            <a:r>
              <a:rPr sz="2100" b="0" i="0">
                <a:solidFill>
                  <a:srgbClr val="20344A"/>
                </a:solidFill>
                <a:latin typeface="Arial"/>
              </a:rPr>
              <a:t>There is no separate submission, resubmission, or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reassessment; the final result is final.</a:t>
            </a:r>
          </a:p>
        </p:txBody>
      </p:sp>
      <p:sp>
        <p:nvSpPr>
          <p:cNvPr id="7" name="content:line-336:0"/>
          <p:cNvSpPr txBox="1"/>
          <p:nvPr/>
        </p:nvSpPr>
        <p:spPr>
          <a:xfrm>
            <a:off x="594360" y="2581656"/>
            <a:ext cx="11003279" cy="780288"/>
          </a:xfrm>
          <a:prstGeom prst="rect">
            <a:avLst/>
          </a:prstGeom>
          <a:noFill/>
        </p:spPr>
        <p:txBody>
          <a:bodyPr wrap="none" anchor="t" lIns="88900" rIns="88900" tIns="38100" bIns="38100">
            <a:noAutofit/>
          </a:bodyPr>
          <a:lstStyle/>
          <a:p>
            <a:pPr>
              <a:lnSpc>
                <a:spcPts val="2772"/>
              </a:lnSpc>
              <a:spcBef>
                <a:spcPts val="0"/>
              </a:spcBef>
              <a:spcAft>
                <a:spcPts val="0"/>
              </a:spcAft>
              <a:defRPr sz="2100">
                <a:solidFill>
                  <a:srgbClr val="20344A"/>
                </a:solidFill>
                <a:latin typeface="Arial"/>
              </a:defRPr>
            </a:pPr>
            <a:r>
              <a:rPr sz="2100" b="0" i="0">
                <a:solidFill>
                  <a:srgbClr val="20344A"/>
                </a:solidFill>
                <a:latin typeface="Arial"/>
              </a:rPr>
              <a:t>Use the </a:t>
            </a:r>
            <a:r>
              <a:rPr sz="2100" b="0" i="0">
                <a:solidFill>
                  <a:srgbClr val="007F82"/>
                </a:solidFill>
                <a:latin typeface="Arial"/>
                <a:hlinkClick r:id="rId2"/>
              </a:rPr>
              <a:t>syllabus</a:t>
            </a:r>
            <a:r>
              <a:rPr sz="2100" b="0" i="0">
                <a:solidFill>
                  <a:srgbClr val="20344A"/>
                </a:solidFill>
                <a:latin typeface="Arial"/>
              </a:rPr>
              <a:t> for the full requirements. Next: trace reusable </a:t>
            </a:r>
            <a:br/>
            <a:r>
              <a:rPr sz="2100" b="0" i="0">
                <a:solidFill>
                  <a:srgbClr val="20344A"/>
                </a:solidFill>
                <a:latin typeface="Arial"/>
              </a:rPr>
              <a:t>processing modules and package metadata.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1: Environments, Git, and CI</dc:title>
  <dc:subject>Editable slides generated from session-1.md</dc:subject>
  <dc:creator>Three-R course</dc:creator>
  <cp:keywords>editable, Markdown, course</cp:keywords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