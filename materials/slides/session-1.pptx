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#configurati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#administrator-protect-main-in-every-generated-repository" TargetMode="External"/><Relationship Id="rId3" Type="http://schemas.openxmlformats.org/officeDocument/2006/relationships/hyperlink" Target="../../docs/ci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#local-setup-and-startu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m.csv" TargetMode="External"/><Relationship Id="rId3" Type="http://schemas.openxmlformats.org/officeDocument/2006/relationships/hyperlink" Target="../../data/synthetic/lb.csv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llaboration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22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1: Environments, Git, and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Make a small, explainable change to a complete working example.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Isolate Python, keep local settings private, and run the checks.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feature branch, a pull request, and a teammate's review.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automated results before merging.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22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three-hour route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00–45: Explanation — environments, configuration, Git, and CI.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template to a checked draft PR.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2141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repeat the workflow and resolve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conflict.</a:t>
            </a:r>
          </a:p>
        </p:txBody>
      </p:sp>
      <p:sp>
        <p:nvSpPr>
          <p:cNvPr id="10" name="content:line-18:0"/>
          <p:cNvSpPr txBox="1"/>
          <p:nvPr/>
        </p:nvSpPr>
        <p:spPr>
          <a:xfrm>
            <a:off x="594360" y="4058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provisional timings total 45 minutes explanation, 30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demonstration, 15 break, and 90 practice.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22</a:t>
            </a:r>
          </a:p>
        </p:txBody>
      </p:sp>
      <p:sp>
        <p:nvSpPr>
          <p:cNvPr id="4" name="title:line-2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are we trying to preserve?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</a:t>
            </a:r>
          </a:p>
        </p:txBody>
      </p:sp>
      <p:sp>
        <p:nvSpPr>
          <p:cNvPr id="6" name="content:line-2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matching results under the same conditions.</a:t>
            </a:r>
          </a:p>
        </p:txBody>
      </p:sp>
      <p:sp>
        <p:nvSpPr>
          <p:cNvPr id="7" name="content:line-25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matching results under slightly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local Python versus Docker.</a:t>
            </a:r>
          </a:p>
        </p:txBody>
      </p:sp>
      <p:sp>
        <p:nvSpPr>
          <p:cNvPr id="8" name="content:line-26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matching results under very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an independent simulation; conceptual here.</a:t>
            </a:r>
          </a:p>
        </p:txBody>
      </p:sp>
      <p:sp>
        <p:nvSpPr>
          <p:cNvPr id="9" name="content:line-28:0"/>
          <p:cNvSpPr txBox="1"/>
          <p:nvPr/>
        </p:nvSpPr>
        <p:spPr>
          <a:xfrm>
            <a:off x="594360" y="39182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definitions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Later comparisons require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 records/counts and declared tolerances for calculated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decimals.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22</a:t>
            </a:r>
          </a:p>
        </p:txBody>
      </p:sp>
      <p:sp>
        <p:nvSpPr>
          <p:cNvPr id="4" name="title:line-3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Start with a working application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4</a:t>
            </a:r>
          </a:p>
        </p:txBody>
      </p:sp>
      <p:sp>
        <p:nvSpPr>
          <p:cNvPr id="6" name="content:line-34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supplied synthetic healthcare example already joins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participant and laboratory CSVs, validates inputs, and produces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summaries.</a:t>
            </a:r>
          </a:p>
        </p:txBody>
      </p:sp>
      <p:sp>
        <p:nvSpPr>
          <p:cNvPr id="7" name="content:line-37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upload → FastAPI request → stat_core processing</a:t>
            </a:r>
          </a:p>
        </p:txBody>
      </p:sp>
      <p:sp>
        <p:nvSpPr>
          <p:cNvPr id="8" name="content:line-38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         ← counts, records, summaries ←</a:t>
            </a:r>
          </a:p>
        </p:txBody>
      </p:sp>
      <p:sp>
        <p:nvSpPr>
          <p:cNvPr id="9" name="content:line-41:0"/>
          <p:cNvSpPr txBox="1"/>
          <p:nvPr/>
        </p:nvSpPr>
        <p:spPr>
          <a:xfrm>
            <a:off x="594360" y="36896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 we inspect and make a small change. Later sessions trace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packaging, tests, services, and Docker Compose. Model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complexity and interface polish are not the goal.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22</a:t>
            </a:r>
          </a:p>
        </p:txBody>
      </p:sp>
      <p:sp>
        <p:nvSpPr>
          <p:cNvPr id="4" name="title:line-4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5</a:t>
            </a:r>
          </a:p>
        </p:txBody>
      </p:sp>
      <p:sp>
        <p:nvSpPr>
          <p:cNvPr id="6" name="content:line-4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 a separate Python installation area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this project's packages. It avoids mixing them with global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 or another project.</a:t>
            </a:r>
          </a:p>
        </p:txBody>
      </p:sp>
      <p:sp>
        <p:nvSpPr>
          <p:cNvPr id="7" name="content:line-4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with Python 3.12; activate it in each new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terminal.</a:t>
            </a:r>
          </a:p>
        </p:txBody>
      </p:sp>
      <p:sp>
        <p:nvSpPr>
          <p:cNvPr id="8" name="content:line-5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Install declared dependencies, rather than copying another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person's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5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Activation chooses which Python runs; it does not install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packages.</a:t>
            </a:r>
          </a:p>
        </p:txBody>
      </p:sp>
      <p:sp>
        <p:nvSpPr>
          <p:cNvPr id="10" name="content:line-5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alone does not lock dependency versions.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 versions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pip freeze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comparing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22  ·  CONTINUED 2</a:t>
            </a:r>
          </a:p>
        </p:txBody>
      </p:sp>
      <p:sp>
        <p:nvSpPr>
          <p:cNvPr id="4" name="title:line-4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6</a:t>
            </a:r>
          </a:p>
        </p:txBody>
      </p:sp>
      <p:sp>
        <p:nvSpPr>
          <p:cNvPr id="6" name="content:line-52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environments.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22</a:t>
            </a:r>
          </a:p>
        </p:txBody>
      </p:sp>
      <p:sp>
        <p:nvSpPr>
          <p:cNvPr id="4" name="title:line-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7</a:t>
            </a:r>
          </a:p>
        </p:txBody>
      </p:sp>
      <p:sp>
        <p:nvSpPr>
          <p:cNvPr id="6" name="content:line-5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Configuration is settings read at startup, rather than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code.</a:t>
            </a:r>
          </a:p>
        </p:txBody>
      </p:sp>
      <p:sp>
        <p:nvSpPr>
          <p:cNvPr id="7" name="content:line-60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holds your local settings; Git ignores it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61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tracked and safe to share; never put secrets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it.</a:t>
            </a:r>
          </a:p>
        </p:txBody>
      </p:sp>
      <p:sp>
        <p:nvSpPr>
          <p:cNvPr id="9" name="content:line-62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python-dotenv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the root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exported variables take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precedence.</a:t>
            </a:r>
          </a:p>
        </p:txBody>
      </p:sp>
      <p:sp>
        <p:nvSpPr>
          <p:cNvPr id="10" name="content:line-63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Restart services after changes;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.gitignore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does not untrack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 already committed secret.</a:t>
            </a:r>
          </a:p>
        </p:txBody>
      </p:sp>
      <p:sp>
        <p:nvSpPr>
          <p:cNvPr id="11" name="content:line-65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LOG_LEVEL=INFO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BACKEND_URL=http://127.0.0.1:8000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22  ·  CONTINUED 2</a:t>
            </a:r>
          </a:p>
        </p:txBody>
      </p:sp>
      <p:sp>
        <p:nvSpPr>
          <p:cNvPr id="4" name="title:line-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8</a:t>
            </a:r>
          </a:p>
        </p:txBody>
      </p:sp>
      <p:sp>
        <p:nvSpPr>
          <p:cNvPr id="6" name="content:line-65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locally.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configuration details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22</a:t>
            </a:r>
          </a:p>
        </p:txBody>
      </p:sp>
      <p:sp>
        <p:nvSpPr>
          <p:cNvPr id="4" name="title:line-6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Git records changes; GitHub hosts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collaboration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9</a:t>
            </a:r>
          </a:p>
        </p:txBody>
      </p:sp>
      <p:sp>
        <p:nvSpPr>
          <p:cNvPr id="6" name="content:line-7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repository contains files and their recorded history.</a:t>
            </a:r>
          </a:p>
        </p:txBody>
      </p:sp>
      <p:sp>
        <p:nvSpPr>
          <p:cNvPr id="7" name="content:line-72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feature branch names a line of work for one purpose.</a:t>
            </a:r>
          </a:p>
        </p:txBody>
      </p:sp>
      <p:sp>
        <p:nvSpPr>
          <p:cNvPr id="8" name="content:line-73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Staging selects the changes for the next commit; a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 that snapshot with a message.</a:t>
            </a:r>
          </a:p>
        </p:txBody>
      </p:sp>
      <p:sp>
        <p:nvSpPr>
          <p:cNvPr id="9" name="content:line-74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push sends local commits to GitHub. A pull request (PR) asks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teammates to review a branch before merging.</a:t>
            </a:r>
          </a:p>
        </p:txBody>
      </p:sp>
      <p:sp>
        <p:nvSpPr>
          <p:cNvPr id="10" name="content:line-77:0"/>
          <p:cNvSpPr txBox="1"/>
          <p:nvPr/>
        </p:nvSpPr>
        <p:spPr>
          <a:xfrm>
            <a:off x="594360" y="44104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feature branch → commit → draft PR → review + checks → main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22</a:t>
            </a:r>
          </a:p>
        </p:txBody>
      </p:sp>
      <p:sp>
        <p:nvSpPr>
          <p:cNvPr id="4" name="title:line-8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CI reports; repository rules require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10</a:t>
            </a:r>
          </a:p>
        </p:txBody>
      </p:sp>
      <p:sp>
        <p:nvSpPr>
          <p:cNvPr id="6" name="content:line-84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Continuous integration (CI) runs automated checks on proposed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changes. This template runs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Backend CI → 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including documentation PRs.</a:t>
            </a:r>
          </a:p>
        </p:txBody>
      </p:sp>
      <p:sp>
        <p:nvSpPr>
          <p:cNvPr id="7" name="content:line-86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green check reports success for a particular commit; 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does not prove every requirement.</a:t>
            </a:r>
          </a:p>
        </p:txBody>
      </p:sp>
      <p:sp>
        <p:nvSpPr>
          <p:cNvPr id="8" name="content:line-87:0"/>
          <p:cNvSpPr txBox="1"/>
          <p:nvPr/>
        </p:nvSpPr>
        <p:spPr>
          <a:xfrm>
            <a:off x="594360" y="37779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Copied workflow files do not protect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automatically.</a:t>
            </a:r>
          </a:p>
        </p:txBody>
      </p:sp>
      <p:sp>
        <p:nvSpPr>
          <p:cNvPr id="9" name="content:line-88:0"/>
          <p:cNvSpPr txBox="1"/>
          <p:nvPr/>
        </p:nvSpPr>
        <p:spPr>
          <a:xfrm>
            <a:off x="594360" y="427024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group administrator separately requires PRs, teammate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approval, conversation resolution, and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branch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protection.</a:t>
            </a:r>
          </a:p>
        </p:txBody>
      </p:sp>
      <p:sp>
        <p:nvSpPr>
          <p:cNvPr id="10" name="content:line-89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the merge box actually enforces the rule; inspect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latest commit's result.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22  ·  CONTINUED 2</a:t>
            </a:r>
          </a:p>
        </p:txBody>
      </p:sp>
      <p:sp>
        <p:nvSpPr>
          <p:cNvPr id="4" name="title:line-8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CI reports; repository rules require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11</a:t>
            </a:r>
          </a:p>
        </p:txBody>
      </p:sp>
      <p:sp>
        <p:nvSpPr>
          <p:cNvPr id="6" name="content:line-9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group protection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CI guidance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22</a:t>
            </a:r>
          </a:p>
        </p:txBody>
      </p:sp>
      <p:sp>
        <p:nvSpPr>
          <p:cNvPr id="4" name="title:line-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create your group's 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12</a:t>
            </a:r>
          </a:p>
        </p:txBody>
      </p:sp>
      <p:sp>
        <p:nvSpPr>
          <p:cNvPr id="6" name="content:line-9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instructor first publishes the completed framework on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template's default branch and enables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Template repository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9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One member selects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Use this template → Create a new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repository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copy only the default branch, named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00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Invite teammates with write access and the instructor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 access.</a:t>
            </a:r>
          </a:p>
        </p:txBody>
      </p:sp>
      <p:sp>
        <p:nvSpPr>
          <p:cNvPr id="9" name="content:line-101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Replace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OWNER/GROUP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below with your group's actual owner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name.</a:t>
            </a:r>
          </a:p>
        </p:txBody>
      </p:sp>
      <p:sp>
        <p:nvSpPr>
          <p:cNvPr id="10" name="content:line-104:0"/>
          <p:cNvSpPr txBox="1"/>
          <p:nvPr/>
        </p:nvSpPr>
        <p:spPr>
          <a:xfrm>
            <a:off x="594360" y="511454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clone https://github.com/OWNER/GROUP.git</a:t>
            </a:r>
          </a:p>
        </p:txBody>
      </p:sp>
      <p:sp>
        <p:nvSpPr>
          <p:cNvPr id="11" name="content:line-105:0"/>
          <p:cNvSpPr txBox="1"/>
          <p:nvPr/>
        </p:nvSpPr>
        <p:spPr>
          <a:xfrm>
            <a:off x="594360" y="54924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cd GROUP</a:t>
            </a:r>
          </a:p>
        </p:txBody>
      </p:sp>
      <p:sp>
        <p:nvSpPr>
          <p:cNvPr id="12" name="content:line-108:0"/>
          <p:cNvSpPr txBox="1"/>
          <p:nvPr/>
        </p:nvSpPr>
        <p:spPr>
          <a:xfrm>
            <a:off x="594360" y="58704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template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Template updates do not synchronize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22  ·  CONTINUED 2</a:t>
            </a:r>
          </a:p>
        </p:txBody>
      </p:sp>
      <p:sp>
        <p:nvSpPr>
          <p:cNvPr id="4" name="title:line-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create your group's 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13</a:t>
            </a:r>
          </a:p>
        </p:txBody>
      </p:sp>
      <p:sp>
        <p:nvSpPr>
          <p:cNvPr id="6" name="content:line-108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automatically.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22</a:t>
            </a:r>
          </a:p>
        </p:txBody>
      </p:sp>
      <p:sp>
        <p:nvSpPr>
          <p:cNvPr id="4" name="title:line-11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prepare Python and check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baseline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14</a:t>
            </a:r>
          </a:p>
        </p:txBody>
      </p:sp>
      <p:sp>
        <p:nvSpPr>
          <p:cNvPr id="6" name="content:line-11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the group repository root on macOS/Linux:</a:t>
            </a:r>
          </a:p>
        </p:txBody>
      </p:sp>
      <p:sp>
        <p:nvSpPr>
          <p:cNvPr id="7" name="content:line-11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8" name="content:line-11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9" name="content:line-11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--upgrade pip</a:t>
            </a:r>
          </a:p>
        </p:txBody>
      </p:sp>
      <p:sp>
        <p:nvSpPr>
          <p:cNvPr id="10" name="content:line-12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-e './backend[dev]'</a:t>
            </a:r>
          </a:p>
        </p:txBody>
      </p:sp>
      <p:sp>
        <p:nvSpPr>
          <p:cNvPr id="11" name="content:line-121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-r frontend/requirements.txt</a:t>
            </a:r>
          </a:p>
        </p:txBody>
      </p:sp>
      <p:sp>
        <p:nvSpPr>
          <p:cNvPr id="12" name="content:line-122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test -e .env || cp .env.example .env</a:t>
            </a:r>
          </a:p>
        </p:txBody>
      </p:sp>
      <p:sp>
        <p:nvSpPr>
          <p:cNvPr id="13" name="content:line-123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14" name="content:line-126:0"/>
          <p:cNvSpPr txBox="1"/>
          <p:nvPr/>
        </p:nvSpPr>
        <p:spPr>
          <a:xfrm>
            <a:off x="594360" y="4875275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working example has 175+ tests; the count may grow.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Expect all tests to pass; read failures and warnings.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PowerShell equivalents,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22</a:t>
            </a:r>
          </a:p>
        </p:txBody>
      </p:sp>
      <p:sp>
        <p:nvSpPr>
          <p:cNvPr id="4" name="title:line-13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see the example work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15</a:t>
            </a:r>
          </a:p>
        </p:txBody>
      </p:sp>
      <p:sp>
        <p:nvSpPr>
          <p:cNvPr id="6" name="content:line-13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activated environment at the root, start the API:</a:t>
            </a:r>
          </a:p>
        </p:txBody>
      </p:sp>
      <p:sp>
        <p:nvSpPr>
          <p:cNvPr id="7" name="content:line-135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8" name="content:line-136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9" name="content:line-139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it running. In a second terminal at the root:</a:t>
            </a:r>
          </a:p>
        </p:txBody>
      </p:sp>
      <p:sp>
        <p:nvSpPr>
          <p:cNvPr id="10" name="content:line-142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11" name="content:line-143:0"/>
          <p:cNvSpPr txBox="1"/>
          <p:nvPr/>
        </p:nvSpPr>
        <p:spPr>
          <a:xfrm>
            <a:off x="594360" y="38557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  <p:sp>
        <p:nvSpPr>
          <p:cNvPr id="12" name="content:line-144:0"/>
          <p:cNvSpPr txBox="1"/>
          <p:nvPr/>
        </p:nvSpPr>
        <p:spPr>
          <a:xfrm>
            <a:off x="594360" y="42336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13" name="content:line-147:0"/>
          <p:cNvSpPr txBox="1"/>
          <p:nvPr/>
        </p:nvSpPr>
        <p:spPr>
          <a:xfrm>
            <a:off x="594360" y="4611623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upload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dm.csv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lb.csv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Select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Process CSVs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expect 24 participants, 96 records, 95 observed,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one missing. Stop servers with Ctrl-C afterward.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22</a:t>
            </a:r>
          </a:p>
        </p:txBody>
      </p:sp>
      <p:sp>
        <p:nvSpPr>
          <p:cNvPr id="4" name="title:line-15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one small README change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16</a:t>
            </a:r>
          </a:p>
        </p:txBody>
      </p:sp>
      <p:sp>
        <p:nvSpPr>
          <p:cNvPr id="6" name="content:line-15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With a clean working tree, start a feature branch:</a:t>
            </a:r>
          </a:p>
        </p:txBody>
      </p:sp>
      <p:sp>
        <p:nvSpPr>
          <p:cNvPr id="7" name="content:line-156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8" name="content:line-157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9" name="content:line-158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10" name="content:line-159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feature/group-purpose</a:t>
            </a:r>
          </a:p>
        </p:txBody>
      </p:sp>
      <p:sp>
        <p:nvSpPr>
          <p:cNvPr id="11" name="content:line-162:0"/>
          <p:cNvSpPr txBox="1"/>
          <p:nvPr/>
        </p:nvSpPr>
        <p:spPr>
          <a:xfrm>
            <a:off x="594360" y="3741419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README.md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add a short group-purpose paragraph: who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project serves, your chosen dataset, and the question it will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explore. Keep the synthetic example clearly labeled as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current demonstration.</a:t>
            </a:r>
          </a:p>
        </p:txBody>
      </p:sp>
      <p:sp>
        <p:nvSpPr>
          <p:cNvPr id="12" name="content:line-164:0"/>
          <p:cNvSpPr txBox="1"/>
          <p:nvPr/>
        </p:nvSpPr>
        <p:spPr>
          <a:xfrm>
            <a:off x="594360" y="528980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the edit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diff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The purpose is readable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documentation; processing behavior should still pass its checks.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22</a:t>
            </a:r>
          </a:p>
        </p:txBody>
      </p:sp>
      <p:sp>
        <p:nvSpPr>
          <p:cNvPr id="4" name="title:line-16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record and publish the change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17</a:t>
            </a:r>
          </a:p>
        </p:txBody>
      </p:sp>
      <p:sp>
        <p:nvSpPr>
          <p:cNvPr id="6" name="content:line-171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7" name="content:line-172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8" name="content:line-173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README.md</a:t>
            </a:r>
          </a:p>
        </p:txBody>
      </p:sp>
      <p:sp>
        <p:nvSpPr>
          <p:cNvPr id="9" name="content:line-174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README.md</a:t>
            </a:r>
          </a:p>
        </p:txBody>
      </p:sp>
      <p:sp>
        <p:nvSpPr>
          <p:cNvPr id="10" name="content:line-175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--cached</a:t>
            </a:r>
          </a:p>
        </p:txBody>
      </p:sp>
      <p:sp>
        <p:nvSpPr>
          <p:cNvPr id="11" name="content:line-176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"Document our group's dataset and question"</a:t>
            </a:r>
          </a:p>
        </p:txBody>
      </p:sp>
      <p:sp>
        <p:nvSpPr>
          <p:cNvPr id="12" name="content:line-177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feature/group-purpose</a:t>
            </a:r>
          </a:p>
        </p:txBody>
      </p:sp>
      <p:sp>
        <p:nvSpPr>
          <p:cNvPr id="13" name="content:line-180:0"/>
          <p:cNvSpPr txBox="1"/>
          <p:nvPr/>
        </p:nvSpPr>
        <p:spPr>
          <a:xfrm>
            <a:off x="594360" y="4383023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README links and wording too. Stage only the intended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file; confirm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are absent. A descriptive message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explains the purpose of the change.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22</a:t>
            </a:r>
          </a:p>
        </p:txBody>
      </p:sp>
      <p:sp>
        <p:nvSpPr>
          <p:cNvPr id="4" name="title:line-1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open a draft PR and inspect checks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18</a:t>
            </a:r>
          </a:p>
        </p:txBody>
      </p:sp>
      <p:sp>
        <p:nvSpPr>
          <p:cNvPr id="6" name="content:line-18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group repository, select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Compare &amp; pull request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base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compare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feature/group-purpose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choose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Create draft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pull request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87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Fill in the supplied PR template: purpose, before/after, actual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commands, results, and limits.</a:t>
            </a:r>
          </a:p>
        </p:txBody>
      </p:sp>
      <p:sp>
        <p:nvSpPr>
          <p:cNvPr id="8" name="content:line-188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Checks → Backend tests → Run 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Confirm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 and commit SHA, the identifier of the version checked.</a:t>
            </a:r>
          </a:p>
        </p:txBody>
      </p:sp>
      <p:sp>
        <p:nvSpPr>
          <p:cNvPr id="9" name="content:line-189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failing logs at the first failed step; correct the cause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push to the same branch. A rerun of an older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cannot check a new correction.</a:t>
            </a:r>
          </a:p>
        </p:txBody>
      </p:sp>
      <p:sp>
        <p:nvSpPr>
          <p:cNvPr id="10" name="content:line-191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draft signals work in progress. Mark ready for review and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22  ·  CONTINUED 2</a:t>
            </a:r>
          </a:p>
        </p:txBody>
      </p:sp>
      <p:sp>
        <p:nvSpPr>
          <p:cNvPr id="4" name="title:line-1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open a draft PR and inspect checks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19</a:t>
            </a:r>
          </a:p>
        </p:txBody>
      </p:sp>
      <p:sp>
        <p:nvSpPr>
          <p:cNvPr id="6" name="content:line-191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request a teammate when the change and evidence are ready.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22</a:t>
            </a:r>
          </a:p>
        </p:txBody>
      </p:sp>
      <p:sp>
        <p:nvSpPr>
          <p:cNvPr id="4" name="title:line-1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20</a:t>
            </a:r>
          </a:p>
        </p:txBody>
      </p:sp>
      <p:sp>
        <p:nvSpPr>
          <p:cNvPr id="6" name="content:line-19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Files changed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 purpose, and check evidence. Comment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 behavior, tests, or clarity: “Which file contains your chosen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dataset, and is the synthetic demo still distinguishable?”</a:t>
            </a:r>
          </a:p>
        </p:txBody>
      </p:sp>
      <p:sp>
        <p:nvSpPr>
          <p:cNvPr id="7" name="content:line-19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Submit a review with an explanation; approval alone or “looks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good” is insufficient.</a:t>
            </a:r>
          </a:p>
        </p:txBody>
      </p:sp>
      <p:sp>
        <p:nvSpPr>
          <p:cNvPr id="8" name="content:line-20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author replies, corrects concerns, and pushes follow-up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commits.</a:t>
            </a:r>
          </a:p>
        </p:txBody>
      </p:sp>
      <p:sp>
        <p:nvSpPr>
          <p:cNvPr id="9" name="content:line-20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reviewer checks the update and latest CI, then approves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when satisfied.</a:t>
            </a:r>
          </a:p>
        </p:txBody>
      </p:sp>
      <p:sp>
        <p:nvSpPr>
          <p:cNvPr id="10" name="content:line-20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Merge the PR through GitHub only after passing required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checks, teammate approval, and resolved discussions.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22  ·  CONTINUED 2</a:t>
            </a:r>
          </a:p>
        </p:txBody>
      </p:sp>
      <p:sp>
        <p:nvSpPr>
          <p:cNvPr id="4" name="title:line-1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21</a:t>
            </a:r>
          </a:p>
        </p:txBody>
      </p:sp>
      <p:sp>
        <p:nvSpPr>
          <p:cNvPr id="6" name="content:line-20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collaboration guidance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After merging, switch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pull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--ff-only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before new work.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22</a:t>
            </a:r>
          </a:p>
        </p:txBody>
      </p:sp>
      <p:sp>
        <p:nvSpPr>
          <p:cNvPr id="4" name="title:line-20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90 minutes of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22</a:t>
            </a:r>
          </a:p>
        </p:txBody>
      </p:sp>
      <p:sp>
        <p:nvSpPr>
          <p:cNvPr id="6" name="content:line-21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a 15-minute break after the demonstration.</a:t>
            </a:r>
          </a:p>
        </p:txBody>
      </p:sp>
      <p:sp>
        <p:nvSpPr>
          <p:cNvPr id="7" name="content:line-212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30 minutes: create the group repository, prepare each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environment, run the example and baseline checks.</a:t>
            </a:r>
          </a:p>
        </p:txBody>
      </p:sp>
      <p:sp>
        <p:nvSpPr>
          <p:cNvPr id="8" name="content:line-213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30 minutes: each student makes a small purposeful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change, opens a draft PR, and reviews a teammate's PR.</a:t>
            </a:r>
          </a:p>
        </p:txBody>
      </p:sp>
      <p:sp>
        <p:nvSpPr>
          <p:cNvPr id="9" name="content:line-214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Last 30 minutes: rehearse the controlled conflict below,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resolve it, rerun checks, and discuss evidence.</a:t>
            </a:r>
          </a:p>
        </p:txBody>
      </p:sp>
      <p:sp>
        <p:nvSpPr>
          <p:cNvPr id="10" name="content:line-216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setup and collaboration guides when stuck. Work in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group's repository and keep changes small enough to explain.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22</a:t>
            </a:r>
          </a:p>
        </p:txBody>
      </p:sp>
      <p:sp>
        <p:nvSpPr>
          <p:cNvPr id="4" name="title:line-22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seed a disposable file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23</a:t>
            </a:r>
          </a:p>
        </p:txBody>
      </p:sp>
      <p:sp>
        <p:nvSpPr>
          <p:cNvPr id="6" name="content:line-22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conflict means Git cannot decide how overlapping edits should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combine. Rehearse locally after committing other work; 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unused branch names and a new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2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8" name="content:line-22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9" name="content:line-22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practice/conflict-base</a:t>
            </a:r>
          </a:p>
        </p:txBody>
      </p:sp>
      <p:sp>
        <p:nvSpPr>
          <p:cNvPr id="10" name="content:line-230:0"/>
          <p:cNvSpPr txBox="1"/>
          <p:nvPr/>
        </p:nvSpPr>
        <p:spPr>
          <a:xfrm>
            <a:off x="594360" y="40675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your editor with exactly one line: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Session plan: draft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233:0"/>
          <p:cNvSpPr txBox="1"/>
          <p:nvPr/>
        </p:nvSpPr>
        <p:spPr>
          <a:xfrm>
            <a:off x="594360" y="491185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12" name="content:line-234:0"/>
          <p:cNvSpPr txBox="1"/>
          <p:nvPr/>
        </p:nvSpPr>
        <p:spPr>
          <a:xfrm>
            <a:off x="594360" y="528980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"Seed disposable conflict example"</a:t>
            </a:r>
          </a:p>
        </p:txBody>
      </p:sp>
      <p:sp>
        <p:nvSpPr>
          <p:cNvPr id="13" name="content:line-235:0"/>
          <p:cNvSpPr txBox="1"/>
          <p:nvPr/>
        </p:nvSpPr>
        <p:spPr>
          <a:xfrm>
            <a:off x="594360" y="566775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22</a:t>
            </a:r>
          </a:p>
        </p:txBody>
      </p:sp>
      <p:sp>
        <p:nvSpPr>
          <p:cNvPr id="4" name="title:line-2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two feature branches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24</a:t>
            </a:r>
          </a:p>
        </p:txBody>
      </p:sp>
      <p:sp>
        <p:nvSpPr>
          <p:cNvPr id="6" name="content:line-24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practice/conflict-a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replace the line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test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save, then run:</a:t>
            </a:r>
          </a:p>
        </p:txBody>
      </p:sp>
      <p:sp>
        <p:nvSpPr>
          <p:cNvPr id="7" name="content:line-245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8" name="content:line-246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"Suggest testing first"</a:t>
            </a:r>
          </a:p>
        </p:txBody>
      </p:sp>
      <p:sp>
        <p:nvSpPr>
          <p:cNvPr id="9" name="content:line-247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practice/conflict-base</a:t>
            </a:r>
          </a:p>
        </p:txBody>
      </p:sp>
      <p:sp>
        <p:nvSpPr>
          <p:cNvPr id="10" name="content:line-248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practice/conflict-b</a:t>
            </a:r>
          </a:p>
        </p:txBody>
      </p:sp>
      <p:sp>
        <p:nvSpPr>
          <p:cNvPr id="11" name="content:line-251:0"/>
          <p:cNvSpPr txBox="1"/>
          <p:nvPr/>
        </p:nvSpPr>
        <p:spPr>
          <a:xfrm>
            <a:off x="594360" y="40934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practice/conflict-b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replace the original line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plan: review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save, then run:</a:t>
            </a:r>
          </a:p>
        </p:txBody>
      </p:sp>
      <p:sp>
        <p:nvSpPr>
          <p:cNvPr id="12" name="content:line-254:0"/>
          <p:cNvSpPr txBox="1"/>
          <p:nvPr/>
        </p:nvSpPr>
        <p:spPr>
          <a:xfrm>
            <a:off x="594360" y="49377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13" name="content:line-255:0"/>
          <p:cNvSpPr txBox="1"/>
          <p:nvPr/>
        </p:nvSpPr>
        <p:spPr>
          <a:xfrm>
            <a:off x="594360" y="53157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"Suggest reviewing first"</a:t>
            </a:r>
          </a:p>
        </p:txBody>
      </p:sp>
      <p:sp>
        <p:nvSpPr>
          <p:cNvPr id="14" name="content:line-256:0"/>
          <p:cNvSpPr txBox="1"/>
          <p:nvPr/>
        </p:nvSpPr>
        <p:spPr>
          <a:xfrm>
            <a:off x="594360" y="56936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practice/conflict-a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22  ·  CONTINUED 2</a:t>
            </a:r>
          </a:p>
        </p:txBody>
      </p:sp>
      <p:sp>
        <p:nvSpPr>
          <p:cNvPr id="4" name="title:line-2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two feature branches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25</a:t>
            </a:r>
          </a:p>
        </p:txBody>
      </p:sp>
      <p:sp>
        <p:nvSpPr>
          <p:cNvPr id="6" name="content:line-257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7" name="content:line-260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a content conflict: both feature branches changed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original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22</a:t>
            </a:r>
          </a:p>
        </p:txBody>
      </p:sp>
      <p:sp>
        <p:nvSpPr>
          <p:cNvPr id="4" name="title:line-26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26</a:t>
            </a:r>
          </a:p>
        </p:txBody>
      </p:sp>
      <p:sp>
        <p:nvSpPr>
          <p:cNvPr id="6" name="content:line-266:0"/>
          <p:cNvSpPr txBox="1"/>
          <p:nvPr/>
        </p:nvSpPr>
        <p:spPr>
          <a:xfrm>
            <a:off x="594360" y="173736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&lt;&lt;&lt;&lt;&lt;&lt;&lt; HEAD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starts the current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review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=======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separates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incoming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test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&gt;&gt;&gt;&gt;&gt;&gt;&gt;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practice/conflict-a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ends the block.</a:t>
            </a:r>
          </a:p>
        </p:txBody>
      </p:sp>
      <p:sp>
        <p:nvSpPr>
          <p:cNvPr id="7" name="content:line-268:0"/>
          <p:cNvSpPr txBox="1"/>
          <p:nvPr/>
        </p:nvSpPr>
        <p:spPr>
          <a:xfrm>
            <a:off x="594360" y="32857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Agree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test, then review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Replace the entire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marked block with that line; save, then run:</a:t>
            </a:r>
          </a:p>
        </p:txBody>
      </p:sp>
      <p:sp>
        <p:nvSpPr>
          <p:cNvPr id="8" name="content:line-271:0"/>
          <p:cNvSpPr txBox="1"/>
          <p:nvPr/>
        </p:nvSpPr>
        <p:spPr>
          <a:xfrm>
            <a:off x="594360" y="413004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9" name="content:line-272:0"/>
          <p:cNvSpPr txBox="1"/>
          <p:nvPr/>
        </p:nvSpPr>
        <p:spPr>
          <a:xfrm>
            <a:off x="594360" y="450799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"Resolve plan: test then review"</a:t>
            </a:r>
          </a:p>
        </p:txBody>
      </p:sp>
      <p:sp>
        <p:nvSpPr>
          <p:cNvPr id="10" name="content:line-273:0"/>
          <p:cNvSpPr txBox="1"/>
          <p:nvPr/>
        </p:nvSpPr>
        <p:spPr>
          <a:xfrm>
            <a:off x="594360" y="488594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11" name="content:line-274:0"/>
          <p:cNvSpPr txBox="1"/>
          <p:nvPr/>
        </p:nvSpPr>
        <p:spPr>
          <a:xfrm>
            <a:off x="594360" y="52638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12" name="content:line-277:0"/>
          <p:cNvSpPr txBox="1"/>
          <p:nvPr/>
        </p:nvSpPr>
        <p:spPr>
          <a:xfrm>
            <a:off x="594360" y="56418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unsure before committing the resolution,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merge --abort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22  ·  CONTINUED 2</a:t>
            </a:r>
          </a:p>
        </p:txBody>
      </p:sp>
      <p:sp>
        <p:nvSpPr>
          <p:cNvPr id="4" name="title:line-26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27</a:t>
            </a:r>
          </a:p>
        </p:txBody>
      </p:sp>
      <p:sp>
        <p:nvSpPr>
          <p:cNvPr id="6" name="content:line-277:1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returns to the pre-merge state. Keep this rehearsal local;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switch back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done.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22</a:t>
            </a:r>
          </a:p>
        </p:txBody>
      </p:sp>
      <p:sp>
        <p:nvSpPr>
          <p:cNvPr id="4" name="title:line-2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Use the same recovery on real PRs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28</a:t>
            </a:r>
          </a:p>
        </p:txBody>
      </p:sp>
      <p:sp>
        <p:nvSpPr>
          <p:cNvPr id="6" name="content:line-28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Commit your work first. On your real feature branch:</a:t>
            </a:r>
          </a:p>
        </p:txBody>
      </p:sp>
      <p:sp>
        <p:nvSpPr>
          <p:cNvPr id="7" name="content:line-286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fetch origin</a:t>
            </a:r>
          </a:p>
        </p:txBody>
      </p:sp>
      <p:sp>
        <p:nvSpPr>
          <p:cNvPr id="8" name="content:line-287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origin/main</a:t>
            </a:r>
          </a:p>
        </p:txBody>
      </p:sp>
      <p:sp>
        <p:nvSpPr>
          <p:cNvPr id="9" name="content:line-290:0"/>
          <p:cNvSpPr txBox="1"/>
          <p:nvPr/>
        </p:nvSpPr>
        <p:spPr>
          <a:xfrm>
            <a:off x="594360" y="2985515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Git reports conflicts, 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status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discuss both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intentions, edit out markers, stage the resolved files,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commit. Rerun relevant checks and push the feature branch.</a:t>
            </a:r>
          </a:p>
        </p:txBody>
      </p:sp>
      <p:sp>
        <p:nvSpPr>
          <p:cNvPr id="10" name="content:line-292:0"/>
          <p:cNvSpPr txBox="1"/>
          <p:nvPr/>
        </p:nvSpPr>
        <p:spPr>
          <a:xfrm>
            <a:off x="594360" y="41818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Request another review when the change needs it; new commits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may dismiss old approvals. Confirm CI belongs to the latest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before the reviewed PR is merged into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22</a:t>
            </a:r>
          </a:p>
        </p:txBody>
      </p:sp>
      <p:sp>
        <p:nvSpPr>
          <p:cNvPr id="4" name="title:line-29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group owns the question and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29</a:t>
            </a:r>
          </a:p>
        </p:txBody>
      </p:sp>
      <p:sp>
        <p:nvSpPr>
          <p:cNvPr id="6" name="content:line-29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Groups contain three or four students, with one repository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 group.</a:t>
            </a:r>
          </a:p>
        </p:txBody>
      </p:sp>
      <p:sp>
        <p:nvSpPr>
          <p:cNvPr id="7" name="content:line-29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Choose your own dataset and question; topic approval is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required. Discussion with the instructor is available.</a:t>
            </a:r>
          </a:p>
        </p:txBody>
      </p:sp>
      <p:sp>
        <p:nvSpPr>
          <p:cNvPr id="8" name="content:line-300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Modeling is optional; complexity earns no additional credit.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FastAPI, Streamlit, and Docker Compose remain required.</a:t>
            </a:r>
          </a:p>
        </p:txBody>
      </p:sp>
      <p:sp>
        <p:nvSpPr>
          <p:cNvPr id="9" name="content:line-301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student authors at least one PR and meaningfully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reviews at least one teammate's PR using their own account.</a:t>
            </a:r>
          </a:p>
        </p:txBody>
      </p:sp>
      <p:sp>
        <p:nvSpPr>
          <p:cNvPr id="10" name="content:line-303:0"/>
          <p:cNvSpPr txBox="1"/>
          <p:nvPr/>
        </p:nvSpPr>
        <p:spPr>
          <a:xfrm>
            <a:off x="594360" y="511454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authored PR links, submitted review permalinks, and CI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links with commit SHAs in the group README as real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participation occurs.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22</a:t>
            </a:r>
          </a:p>
        </p:txBody>
      </p:sp>
      <p:sp>
        <p:nvSpPr>
          <p:cNvPr id="4" name="title:line-30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30</a:t>
            </a:r>
          </a:p>
        </p:txBody>
      </p:sp>
      <p:sp>
        <p:nvSpPr>
          <p:cNvPr id="6" name="content:line-309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after Session 1 is approximately two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hours: continue the PR/review workflow and document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group's dataset and question.</a:t>
            </a:r>
          </a:p>
        </p:txBody>
      </p:sp>
      <p:sp>
        <p:nvSpPr>
          <p:cNvPr id="7" name="content:line-311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 is preparation: isolated environment,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configuration hygiene, and visible branch/PR history.</a:t>
            </a:r>
          </a:p>
        </p:txBody>
      </p:sp>
      <p:sp>
        <p:nvSpPr>
          <p:cNvPr id="8" name="content:line-312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Assessment is pass/fail, entirely at the final presentation. 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engineering requirements must be met, including tests, CI,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validation, and later output comparisons.</a:t>
            </a:r>
          </a:p>
        </p:txBody>
      </p:sp>
      <p:sp>
        <p:nvSpPr>
          <p:cNvPr id="9" name="content:line-313:0"/>
          <p:cNvSpPr txBox="1"/>
          <p:nvPr/>
        </p:nvSpPr>
        <p:spPr>
          <a:xfrm>
            <a:off x="594360" y="497433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Statistical analysis correctness is not graded. Tests still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verify the processing behavior you declare.</a:t>
            </a:r>
          </a:p>
        </p:txBody>
      </p:sp>
      <p:sp>
        <p:nvSpPr>
          <p:cNvPr id="10" name="content:line-314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There is no separate submission, resubmission, or 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22  ·  CONTINUED 2</a:t>
            </a:r>
          </a:p>
        </p:txBody>
      </p:sp>
      <p:sp>
        <p:nvSpPr>
          <p:cNvPr id="4" name="title:line-30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31</a:t>
            </a:r>
          </a:p>
        </p:txBody>
      </p:sp>
      <p:sp>
        <p:nvSpPr>
          <p:cNvPr id="6" name="content:line-314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reassessment; the final result is final.</a:t>
            </a:r>
          </a:p>
        </p:txBody>
      </p:sp>
      <p:sp>
        <p:nvSpPr>
          <p:cNvPr id="7" name="content:line-316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full requirements. Next: trace reusable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modules and package metadata.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1: Environments, Git, and CI</dc:title>
  <dc:subject>Editable slides generated from session-1.md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