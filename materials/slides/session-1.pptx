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371/journal.pbio.1002165" TargetMode="External"/><Relationship Id="rId3" Type="http://schemas.openxmlformats.org/officeDocument/2006/relationships/hyperlink" Target="https://doi.org/10.7554/eLife.7160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sandbox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exercises/session-1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23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1: Environments and Git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Practise the workflow in the Sandbox, where mistakes are free.</a:t>
            </a:r>
          </a:p>
        </p:txBody>
      </p:sp>
      <p:sp>
        <p:nvSpPr>
          <p:cNvPr id="7" name="content:line-5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Isolate Python and keep local settings private.</a:t>
            </a:r>
          </a:p>
        </p:txBody>
      </p:sp>
      <p:sp>
        <p:nvSpPr>
          <p:cNvPr id="8" name="content:line-6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a feature branch, a pull request, and a teammate's review.</a:t>
            </a:r>
          </a:p>
        </p:txBody>
      </p:sp>
      <p:sp>
        <p:nvSpPr>
          <p:cNvPr id="9" name="content:line-7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Resolve a merge conflict on purpose.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23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170-minute route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</a:t>
            </a:r>
          </a:p>
        </p:txBody>
      </p:sp>
      <p:sp>
        <p:nvSpPr>
          <p:cNvPr id="6" name="content:line-1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00–10: Opening — a bubble tea question and why results must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hold.</a:t>
            </a:r>
          </a:p>
        </p:txBody>
      </p:sp>
      <p:sp>
        <p:nvSpPr>
          <p:cNvPr id="7" name="content:line-1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10–20: Device example — a messy notebook, Stages 1 to 2.</a:t>
            </a:r>
          </a:p>
        </p:txBody>
      </p:sp>
      <p:sp>
        <p:nvSpPr>
          <p:cNvPr id="8" name="content:line-15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20–60: Explanation — the four repositories, environments,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configuration.</a:t>
            </a:r>
          </a:p>
        </p:txBody>
      </p:sp>
      <p:sp>
        <p:nvSpPr>
          <p:cNvPr id="9" name="content:line-16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60–70: Break — 10 minutes.</a:t>
            </a:r>
          </a:p>
        </p:txBody>
      </p:sp>
      <p:sp>
        <p:nvSpPr>
          <p:cNvPr id="10" name="content:line-17:0"/>
          <p:cNvSpPr txBox="1"/>
          <p:nvPr/>
        </p:nvSpPr>
        <p:spPr>
          <a:xfrm>
            <a:off x="594360" y="44104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70–100: Explanation — Git, pull requests, reviews, and conflicts.</a:t>
            </a:r>
          </a:p>
        </p:txBody>
      </p:sp>
      <p:sp>
        <p:nvSpPr>
          <p:cNvPr id="11" name="content:line-18:0"/>
          <p:cNvSpPr txBox="1"/>
          <p:nvPr/>
        </p:nvSpPr>
        <p:spPr>
          <a:xfrm>
            <a:off x="594360" y="49027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100–130: Demonstration — one change from branch to merged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pull request.</a:t>
            </a:r>
          </a:p>
        </p:txBody>
      </p:sp>
      <p:sp>
        <p:nvSpPr>
          <p:cNvPr id="12" name="content:line-19:0"/>
          <p:cNvSpPr txBox="1"/>
          <p:nvPr/>
        </p:nvSpPr>
        <p:spPr>
          <a:xfrm>
            <a:off x="594360" y="57470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130–170: Hands-on — 40 minutes in the Sandbox.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23  ·  CONTINUED 2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170-minute route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</a:t>
            </a:r>
          </a:p>
        </p:txBody>
      </p:sp>
      <p:sp>
        <p:nvSpPr>
          <p:cNvPr id="6" name="content:line-2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Unfinished practice continues at home, in addition to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homework.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23</a:t>
            </a:r>
          </a:p>
        </p:txBody>
      </p:sp>
      <p:sp>
        <p:nvSpPr>
          <p:cNvPr id="4" name="title:line-2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4</a:t>
            </a:r>
          </a:p>
        </p:txBody>
      </p:sp>
      <p:sp>
        <p:nvSpPr>
          <p:cNvPr id="6" name="content:line-2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At the student demo day, your bubble tea got great reviews.</a:t>
            </a:r>
          </a:p>
        </p:txBody>
      </p:sp>
      <p:sp>
        <p:nvSpPr>
          <p:cNvPr id="7" name="content:line-29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Now you want to open a shop in front of NTHU. You already have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best location and the decor.</a:t>
            </a:r>
          </a:p>
        </p:txBody>
      </p:sp>
      <p:sp>
        <p:nvSpPr>
          <p:cNvPr id="8" name="content:line-31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What do you need to take care of so every customer gets the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tea they loved?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23</a:t>
            </a:r>
          </a:p>
        </p:txBody>
      </p:sp>
      <p:sp>
        <p:nvSpPr>
          <p:cNvPr id="4" name="title:line-3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Can we trust published biomedical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research?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5</a:t>
            </a:r>
          </a:p>
        </p:txBody>
      </p:sp>
      <p:sp>
        <p:nvSpPr>
          <p:cNvPr id="6" name="content:line-3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estimated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&gt;50%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preclinical biomedical research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irreproducible, costing about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US$28 billion a year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the US.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(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Freedman et al., PLoS Biol 2015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  <p:sp>
        <p:nvSpPr>
          <p:cNvPr id="7" name="content:line-38:0"/>
          <p:cNvSpPr txBox="1"/>
          <p:nvPr/>
        </p:nvSpPr>
        <p:spPr>
          <a:xfrm>
            <a:off x="594360" y="293370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Cancer biology: only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46%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replications succeeded, and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74%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planned experiments could not be done at all, partly because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methods were not described in enough detail. (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Errington et al.,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eLife 2021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23</a:t>
            </a:r>
          </a:p>
        </p:txBody>
      </p:sp>
      <p:sp>
        <p:nvSpPr>
          <p:cNvPr id="4" name="title:line-4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What are we trying to preserve?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6</a:t>
            </a:r>
          </a:p>
        </p:txBody>
      </p:sp>
      <p:sp>
        <p:nvSpPr>
          <p:cNvPr id="6" name="content:line-4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matching results under the same conditions.</a:t>
            </a:r>
          </a:p>
        </p:txBody>
      </p:sp>
      <p:sp>
        <p:nvSpPr>
          <p:cNvPr id="7" name="content:line-45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matching results under slightly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local Python versus Docker.</a:t>
            </a:r>
          </a:p>
        </p:txBody>
      </p:sp>
      <p:sp>
        <p:nvSpPr>
          <p:cNvPr id="8" name="content:line-46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matching results under very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an independent simulation; conceptual here.</a:t>
            </a:r>
          </a:p>
        </p:txBody>
      </p:sp>
      <p:sp>
        <p:nvSpPr>
          <p:cNvPr id="9" name="content:line-48:0"/>
          <p:cNvSpPr txBox="1"/>
          <p:nvPr/>
        </p:nvSpPr>
        <p:spPr>
          <a:xfrm>
            <a:off x="594360" y="39182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are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definitions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Later comparisons require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exact records/counts and declared tolerances for calculated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decimals.</a:t>
            </a:r>
          </a:p>
        </p:txBody>
      </p:sp>
      <p:sp>
        <p:nvSpPr>
          <p:cNvPr id="10" name="content:line-50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your bubble tea answers in mind.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23</a:t>
            </a:r>
          </a:p>
        </p:txBody>
      </p:sp>
      <p:sp>
        <p:nvSpPr>
          <p:cNvPr id="4" name="title:line-5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example: one analysis, seven stages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7</a:t>
            </a:r>
          </a:p>
        </p:txBody>
      </p:sp>
      <p:sp>
        <p:nvSpPr>
          <p:cNvPr id="6" name="content:line-56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scenario: synthetic daily measurement counts for three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medical devices. Each device can take 100,000 measurements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total.</a:t>
            </a:r>
          </a:p>
        </p:txBody>
      </p:sp>
      <p:sp>
        <p:nvSpPr>
          <p:cNvPr id="7" name="content:line-57:0"/>
          <p:cNvSpPr txBox="1"/>
          <p:nvPr/>
        </p:nvSpPr>
        <p:spPr>
          <a:xfrm>
            <a:off x="594360" y="29337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task: predict the date each device reaches its limit.</a:t>
            </a:r>
          </a:p>
        </p:txBody>
      </p:sp>
      <p:sp>
        <p:nvSpPr>
          <p:cNvPr id="8" name="content:line-58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analysis will grow up over the course, in seven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stages. Each stage shows one pain point; a later session's tool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fixes it.</a:t>
            </a:r>
          </a:p>
        </p:txBody>
      </p:sp>
      <p:sp>
        <p:nvSpPr>
          <p:cNvPr id="9" name="content:line-59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Your instructor demonstrates; the files are public if you 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curious: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device-example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folder of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Sandbox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23</a:t>
            </a:r>
          </a:p>
        </p:txBody>
      </p:sp>
      <p:sp>
        <p:nvSpPr>
          <p:cNvPr id="4" name="title:line-6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Stage 1: one notebook, copied three times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8</a:t>
            </a:r>
          </a:p>
        </p:txBody>
      </p:sp>
      <p:sp>
        <p:nvSpPr>
          <p:cNvPr id="6" name="content:line-66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analysis_v1.ipynb  DEV-C reaches the limit on 2026-01-30</a:t>
            </a:r>
          </a:p>
        </p:txBody>
      </p:sp>
      <p:sp>
        <p:nvSpPr>
          <p:cNvPr id="7" name="content:line-67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analysis_v2.ipynb  DEV-C reaches the limit on 2026-01-28</a:t>
            </a:r>
          </a:p>
        </p:txBody>
      </p:sp>
      <p:sp>
        <p:nvSpPr>
          <p:cNvPr id="8" name="content:line-68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analysis_v3.ipynb  DEV-C reaches the limit on 2026-01-26</a:t>
            </a:r>
          </a:p>
        </p:txBody>
      </p:sp>
      <p:sp>
        <p:nvSpPr>
          <p:cNvPr id="9" name="content:line-71:0"/>
          <p:cNvSpPr txBox="1"/>
          <p:nvPr/>
        </p:nvSpPr>
        <p:spPr>
          <a:xfrm>
            <a:off x="594360" y="28712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Three copies, three dates. Last month's report named one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them.</a:t>
            </a:r>
          </a:p>
        </p:txBody>
      </p:sp>
      <p:sp>
        <p:nvSpPr>
          <p:cNvPr id="10" name="content:line-72:0"/>
          <p:cNvSpPr txBox="1"/>
          <p:nvPr/>
        </p:nvSpPr>
        <p:spPr>
          <a:xfrm>
            <a:off x="594360" y="37155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copy produced it? Nothing records that.</a:t>
            </a:r>
          </a:p>
        </p:txBody>
      </p:sp>
      <p:sp>
        <p:nvSpPr>
          <p:cNvPr id="11" name="content:line-73:0"/>
          <p:cNvSpPr txBox="1"/>
          <p:nvPr/>
        </p:nvSpPr>
        <p:spPr>
          <a:xfrm>
            <a:off x="594360" y="42077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tool for this pain: Git.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23</a:t>
            </a:r>
          </a:p>
        </p:txBody>
      </p:sp>
      <p:sp>
        <p:nvSpPr>
          <p:cNvPr id="4" name="title:line-7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Stage 2: helper files, no declared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dependencies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9</a:t>
            </a:r>
          </a:p>
        </p:txBody>
      </p:sp>
      <p:sp>
        <p:nvSpPr>
          <p:cNvPr id="6" name="content:line-80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3.11 + pandas 1.5: DEV-C reaches the limit on 2026-01-30</a:t>
            </a:r>
          </a:p>
        </p:txBody>
      </p:sp>
      <p:sp>
        <p:nvSpPr>
          <p:cNvPr id="7" name="content:line-81:0"/>
          <p:cNvSpPr txBox="1"/>
          <p:nvPr/>
        </p:nvSpPr>
        <p:spPr>
          <a:xfrm>
            <a:off x="594360" y="2115312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3.12 + pandas 2.x: AttributeError: 'DataFrame' object has no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attribute 'append'</a:t>
            </a:r>
          </a:p>
        </p:txBody>
      </p:sp>
      <p:sp>
        <p:nvSpPr>
          <p:cNvPr id="8" name="content:line-84:0"/>
          <p:cNvSpPr txBox="1"/>
          <p:nvPr/>
        </p:nvSpPr>
        <p:spPr>
          <a:xfrm>
            <a:off x="594360" y="279501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notebook now imports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loader.py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model.py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reusable,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but nothing says which packages and versions they need.</a:t>
            </a:r>
          </a:p>
        </p:txBody>
      </p:sp>
      <p:sp>
        <p:nvSpPr>
          <p:cNvPr id="9" name="content:line-85:0"/>
          <p:cNvSpPr txBox="1"/>
          <p:nvPr/>
        </p:nvSpPr>
        <p:spPr>
          <a:xfrm>
            <a:off x="594360" y="36393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files work on one laptop and crash on another.</a:t>
            </a:r>
          </a:p>
        </p:txBody>
      </p:sp>
      <p:sp>
        <p:nvSpPr>
          <p:cNvPr id="10" name="content:line-86:0"/>
          <p:cNvSpPr txBox="1"/>
          <p:nvPr/>
        </p:nvSpPr>
        <p:spPr>
          <a:xfrm>
            <a:off x="594360" y="41315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tool for this pain: an isolated environment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declared dependencies.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23</a:t>
            </a:r>
          </a:p>
        </p:txBody>
      </p:sp>
      <p:sp>
        <p:nvSpPr>
          <p:cNvPr id="4" name="title:line-9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Four repositories, one job each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10</a:t>
            </a:r>
          </a:p>
        </p:txBody>
      </p:sp>
      <p:sp>
        <p:nvSpPr>
          <p:cNvPr id="6" name="content:line-9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1" i="0">
                <a:solidFill>
                  <a:srgbClr val="20344A"/>
                </a:solidFill>
                <a:latin typeface="Arial"/>
              </a:rPr>
              <a:t>3R-teaching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(this course's materials): slides, exercises, notes.</a:t>
            </a:r>
          </a:p>
        </p:txBody>
      </p:sp>
      <p:sp>
        <p:nvSpPr>
          <p:cNvPr id="7" name="content:line-93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1" i="0">
                <a:solidFill>
                  <a:srgbClr val="20344A"/>
                </a:solidFill>
                <a:latin typeface="Arial"/>
              </a:rPr>
              <a:t>Sandbox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today's practice space for all 20 of you.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protected and nothing here is graded.</a:t>
            </a:r>
          </a:p>
        </p:txBody>
      </p:sp>
      <p:sp>
        <p:nvSpPr>
          <p:cNvPr id="8" name="content:line-94:0"/>
          <p:cNvSpPr txBox="1"/>
          <p:nvPr/>
        </p:nvSpPr>
        <p:spPr>
          <a:xfrm>
            <a:off x="594360" y="307390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1" i="0">
                <a:solidFill>
                  <a:srgbClr val="20344A"/>
                </a:solidFill>
                <a:latin typeface="Arial"/>
              </a:rPr>
              <a:t>Backend repo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your group's own repository, created in Session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2. Your pull requests and reviews there are the evidence you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show at the end.</a:t>
            </a:r>
          </a:p>
        </p:txBody>
      </p:sp>
      <p:sp>
        <p:nvSpPr>
          <p:cNvPr id="9" name="content:line-95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1" i="0">
                <a:solidFill>
                  <a:srgbClr val="20344A"/>
                </a:solidFill>
                <a:latin typeface="Arial"/>
              </a:rPr>
              <a:t>Frontend repo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one page the instructor provides; you run it,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 do not edit it.</a:t>
            </a:r>
          </a:p>
        </p:txBody>
      </p:sp>
      <p:sp>
        <p:nvSpPr>
          <p:cNvPr id="10" name="content:line-98:0"/>
          <p:cNvSpPr txBox="1"/>
          <p:nvPr/>
        </p:nvSpPr>
        <p:spPr>
          <a:xfrm>
            <a:off x="594360" y="5114544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Session 1: Sandbox  →  Session 2: Backend repo  →  Session 4: +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Frontend repo</a:t>
            </a:r>
          </a:p>
        </p:txBody>
      </p:sp>
      <p:sp>
        <p:nvSpPr>
          <p:cNvPr id="11" name="content:line-101:0"/>
          <p:cNvSpPr txBox="1"/>
          <p:nvPr/>
        </p:nvSpPr>
        <p:spPr>
          <a:xfrm>
            <a:off x="594360" y="57942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words are defined in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23</a:t>
            </a:r>
          </a:p>
        </p:txBody>
      </p:sp>
      <p:sp>
        <p:nvSpPr>
          <p:cNvPr id="4" name="title:line-10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11</a:t>
            </a:r>
          </a:p>
        </p:txBody>
      </p:sp>
      <p:sp>
        <p:nvSpPr>
          <p:cNvPr id="6" name="content:line-10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 a separate Python installation area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this project's packages. It avoids mixing them with global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 or another project.</a:t>
            </a:r>
          </a:p>
        </p:txBody>
      </p:sp>
      <p:sp>
        <p:nvSpPr>
          <p:cNvPr id="7" name="content:line-109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with Python 3.12; activate it in each new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terminal.</a:t>
            </a:r>
          </a:p>
        </p:txBody>
      </p:sp>
      <p:sp>
        <p:nvSpPr>
          <p:cNvPr id="8" name="content:line-11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Install declared dependencies, rather than copying another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person's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11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Activation chooses which Python runs; it does not install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packages.</a:t>
            </a:r>
          </a:p>
        </p:txBody>
      </p:sp>
      <p:sp>
        <p:nvSpPr>
          <p:cNvPr id="10" name="content:line-11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alone does not lock dependency versions.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 versions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pip freeze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comparing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23  ·  CONTINUED 2</a:t>
            </a:r>
          </a:p>
        </p:txBody>
      </p:sp>
      <p:sp>
        <p:nvSpPr>
          <p:cNvPr id="4" name="title:line-10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12</a:t>
            </a:r>
          </a:p>
        </p:txBody>
      </p:sp>
      <p:sp>
        <p:nvSpPr>
          <p:cNvPr id="6" name="content:line-112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environments.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23</a:t>
            </a:r>
          </a:p>
        </p:txBody>
      </p:sp>
      <p:sp>
        <p:nvSpPr>
          <p:cNvPr id="4" name="title:line-1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Local configuration and shareable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examples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13</a:t>
            </a:r>
          </a:p>
        </p:txBody>
      </p:sp>
      <p:sp>
        <p:nvSpPr>
          <p:cNvPr id="6" name="content:line-1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Configuration is settings read at startup, rather than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code.</a:t>
            </a:r>
          </a:p>
        </p:txBody>
      </p:sp>
      <p:sp>
        <p:nvSpPr>
          <p:cNvPr id="7" name="content:line-120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holds your local settings; Git ignores it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21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tracked and safe to share; never put secrets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it.</a:t>
            </a:r>
          </a:p>
        </p:txBody>
      </p:sp>
      <p:sp>
        <p:nvSpPr>
          <p:cNvPr id="9" name="content:line-122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python-dotenv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reads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file; exported variables take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precedence.</a:t>
            </a:r>
          </a:p>
        </p:txBody>
      </p:sp>
      <p:sp>
        <p:nvSpPr>
          <p:cNvPr id="10" name="content:line-123:0"/>
          <p:cNvSpPr txBox="1"/>
          <p:nvPr/>
        </p:nvSpPr>
        <p:spPr>
          <a:xfrm>
            <a:off x="594360" y="47625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.gitignore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does not untrack an already committed secret.</a:t>
            </a:r>
          </a:p>
        </p:txBody>
      </p:sp>
      <p:sp>
        <p:nvSpPr>
          <p:cNvPr id="11" name="content:line-125:0"/>
          <p:cNvSpPr txBox="1"/>
          <p:nvPr/>
        </p:nvSpPr>
        <p:spPr>
          <a:xfrm>
            <a:off x="594360" y="52547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Example: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LOG_LEVEL=INFO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locally,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LOG_LEVEL=DEBUG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investigating.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23</a:t>
            </a:r>
          </a:p>
        </p:txBody>
      </p:sp>
      <p:sp>
        <p:nvSpPr>
          <p:cNvPr id="4" name="title:line-1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repositories are public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14</a:t>
            </a:r>
          </a:p>
        </p:txBody>
      </p:sp>
      <p:sp>
        <p:nvSpPr>
          <p:cNvPr id="6" name="content:line-13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Your group's Backend repo will be public, so anyone can install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your package from its git URL without an account or token.</a:t>
            </a:r>
          </a:p>
        </p:txBody>
      </p:sp>
      <p:sp>
        <p:nvSpPr>
          <p:cNvPr id="7" name="content:line-133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Never commit real data, personal information, passwords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tokens.</a:t>
            </a:r>
          </a:p>
        </p:txBody>
      </p:sp>
      <p:sp>
        <p:nvSpPr>
          <p:cNvPr id="8" name="content:line-134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only synthetic or openly licensed data in the repository.</a:t>
            </a:r>
          </a:p>
        </p:txBody>
      </p:sp>
      <p:sp>
        <p:nvSpPr>
          <p:cNvPr id="9" name="content:line-135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stays out of Git; commit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instead.</a:t>
            </a:r>
          </a:p>
        </p:txBody>
      </p:sp>
      <p:sp>
        <p:nvSpPr>
          <p:cNvPr id="10" name="content:line-136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If a secret is committed by mistake, tell the instructor;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deleting the file later does not remove it from history.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23</a:t>
            </a:r>
          </a:p>
        </p:txBody>
      </p:sp>
      <p:sp>
        <p:nvSpPr>
          <p:cNvPr id="4" name="title:line-14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Git records changes; GitHub hosts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collaboration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15</a:t>
            </a:r>
          </a:p>
        </p:txBody>
      </p:sp>
      <p:sp>
        <p:nvSpPr>
          <p:cNvPr id="6" name="content:line-14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repository contains files and their recorded history.</a:t>
            </a:r>
          </a:p>
        </p:txBody>
      </p:sp>
      <p:sp>
        <p:nvSpPr>
          <p:cNvPr id="7" name="content:line-14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feature branch names a line of work for one purpose.</a:t>
            </a:r>
          </a:p>
        </p:txBody>
      </p:sp>
      <p:sp>
        <p:nvSpPr>
          <p:cNvPr id="8" name="content:line-144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Staging selects the changes for the next commit; a commit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 that snapshot with a message.</a:t>
            </a:r>
          </a:p>
        </p:txBody>
      </p:sp>
      <p:sp>
        <p:nvSpPr>
          <p:cNvPr id="9" name="content:line-145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push sends local commits to GitHub. A pull request (PR) asks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teammates to review a branch before merging.</a:t>
            </a:r>
          </a:p>
        </p:txBody>
      </p:sp>
      <p:sp>
        <p:nvSpPr>
          <p:cNvPr id="10" name="content:line-148:0"/>
          <p:cNvSpPr txBox="1"/>
          <p:nvPr/>
        </p:nvSpPr>
        <p:spPr>
          <a:xfrm>
            <a:off x="594360" y="44104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feature branch → commit → draft PR → review + checks → main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23</a:t>
            </a:r>
          </a:p>
        </p:txBody>
      </p:sp>
      <p:sp>
        <p:nvSpPr>
          <p:cNvPr id="4" name="title:line-15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Branch rules protect main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16</a:t>
            </a:r>
          </a:p>
        </p:txBody>
      </p:sp>
      <p:sp>
        <p:nvSpPr>
          <p:cNvPr id="6" name="content:line-15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Sandbox you cannot push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Every change arrives as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pull request that a teammate reviews first.</a:t>
            </a:r>
          </a:p>
        </p:txBody>
      </p:sp>
      <p:sp>
        <p:nvSpPr>
          <p:cNvPr id="7" name="content:line-157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Branch names: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group-N/short-topic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for example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group-3/add-notes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58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review needs a specific comment about behavior or clarity.</a:t>
            </a:r>
          </a:p>
        </p:txBody>
      </p:sp>
      <p:sp>
        <p:nvSpPr>
          <p:cNvPr id="9" name="content:line-159:0"/>
          <p:cNvSpPr txBox="1"/>
          <p:nvPr/>
        </p:nvSpPr>
        <p:spPr>
          <a:xfrm>
            <a:off x="594360" y="39182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Session 2 adds automated checks (continuous integration).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repository rule can then </a:t>
            </a:r>
            <a:r>
              <a:rPr sz="2100" b="0" i="1">
                <a:solidFill>
                  <a:srgbClr val="20344A"/>
                </a:solidFill>
                <a:latin typeface="Arial"/>
              </a:rPr>
              <a:t>require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those checks before merging;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today we only preview the idea.</a:t>
            </a:r>
          </a:p>
        </p:txBody>
      </p:sp>
      <p:sp>
        <p:nvSpPr>
          <p:cNvPr id="10" name="content:line-162:0"/>
          <p:cNvSpPr txBox="1"/>
          <p:nvPr/>
        </p:nvSpPr>
        <p:spPr>
          <a:xfrm>
            <a:off x="594360" y="5114544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feature branch → commit → push → pull request → review → merge into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main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23</a:t>
            </a:r>
          </a:p>
        </p:txBody>
      </p:sp>
      <p:sp>
        <p:nvSpPr>
          <p:cNvPr id="4" name="title:line-16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17</a:t>
            </a:r>
          </a:p>
        </p:txBody>
      </p:sp>
      <p:sp>
        <p:nvSpPr>
          <p:cNvPr id="6" name="content:line-169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Files changed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the purpose. Comment on behavior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clarity: “Which line of shared-notes.md is yours, and did you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keep the other group's line?”</a:t>
            </a:r>
          </a:p>
        </p:txBody>
      </p:sp>
      <p:sp>
        <p:nvSpPr>
          <p:cNvPr id="7" name="content:line-171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Submit a review with an explanation; approval alone or “looks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good” is insufficient.</a:t>
            </a:r>
          </a:p>
        </p:txBody>
      </p:sp>
      <p:sp>
        <p:nvSpPr>
          <p:cNvPr id="8" name="content:line-172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author replies, corrects concerns, and pushes follow-up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commits.</a:t>
            </a:r>
          </a:p>
        </p:txBody>
      </p:sp>
      <p:sp>
        <p:nvSpPr>
          <p:cNvPr id="9" name="content:line-173:0"/>
          <p:cNvSpPr txBox="1"/>
          <p:nvPr/>
        </p:nvSpPr>
        <p:spPr>
          <a:xfrm>
            <a:off x="594360" y="462229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reviewer checks the update, then approves when satisfied.</a:t>
            </a:r>
          </a:p>
        </p:txBody>
      </p:sp>
      <p:sp>
        <p:nvSpPr>
          <p:cNvPr id="10" name="content:line-174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Merge through GitHub, then switch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pull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--ff-only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before new work.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23  ·  CONTINUED 2</a:t>
            </a:r>
          </a:p>
        </p:txBody>
      </p:sp>
      <p:sp>
        <p:nvSpPr>
          <p:cNvPr id="4" name="title:line-16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18</a:t>
            </a:r>
          </a:p>
        </p:txBody>
      </p:sp>
      <p:sp>
        <p:nvSpPr>
          <p:cNvPr id="6" name="content:line-17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habit counts as evidence in your Backend repo from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Session 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23</a:t>
            </a:r>
          </a:p>
        </p:txBody>
      </p:sp>
      <p:sp>
        <p:nvSpPr>
          <p:cNvPr id="4" name="title:line-18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clone the Sandbox and branch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19</a:t>
            </a:r>
          </a:p>
        </p:txBody>
      </p:sp>
      <p:sp>
        <p:nvSpPr>
          <p:cNvPr id="6" name="content:line-18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You need your SSH key from Session 0 and your group number.</a:t>
            </a:r>
          </a:p>
        </p:txBody>
      </p:sp>
      <p:sp>
        <p:nvSpPr>
          <p:cNvPr id="7" name="content:line-185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clone git@github.com:drweihungpan-lab/3R-sandbox.git</a:t>
            </a:r>
          </a:p>
        </p:txBody>
      </p:sp>
      <p:sp>
        <p:nvSpPr>
          <p:cNvPr id="8" name="content:line-186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cd 3R-sandbox</a:t>
            </a:r>
          </a:p>
        </p:txBody>
      </p:sp>
      <p:sp>
        <p:nvSpPr>
          <p:cNvPr id="9" name="content:line-187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group-3/add-notes</a:t>
            </a:r>
          </a:p>
        </p:txBody>
      </p:sp>
      <p:sp>
        <p:nvSpPr>
          <p:cNvPr id="10" name="content:line-190:0"/>
          <p:cNvSpPr txBox="1"/>
          <p:nvPr/>
        </p:nvSpPr>
        <p:spPr>
          <a:xfrm>
            <a:off x="594360" y="33634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practice/shared-notes.md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your editor.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23</a:t>
            </a:r>
          </a:p>
        </p:txBody>
      </p:sp>
      <p:sp>
        <p:nvSpPr>
          <p:cNvPr id="4" name="title:line-19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edit, commit, push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20</a:t>
            </a:r>
          </a:p>
        </p:txBody>
      </p:sp>
      <p:sp>
        <p:nvSpPr>
          <p:cNvPr id="6" name="content:line-19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Add one line under your group's heading in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practice/shared-notes.md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99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8" name="content:line-200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practice/shared-notes.md</a:t>
            </a:r>
          </a:p>
        </p:txBody>
      </p:sp>
      <p:sp>
        <p:nvSpPr>
          <p:cNvPr id="9" name="content:line-201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"Add group 3 note"</a:t>
            </a:r>
          </a:p>
        </p:txBody>
      </p:sp>
      <p:sp>
        <p:nvSpPr>
          <p:cNvPr id="10" name="content:line-202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group-3/add-notes</a:t>
            </a:r>
          </a:p>
        </p:txBody>
      </p:sp>
      <p:sp>
        <p:nvSpPr>
          <p:cNvPr id="11" name="content:line-205:0"/>
          <p:cNvSpPr txBox="1"/>
          <p:nvPr/>
        </p:nvSpPr>
        <p:spPr>
          <a:xfrm>
            <a:off x="594360" y="40934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push prints a link. Open it to create the pull request.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23</a:t>
            </a:r>
          </a:p>
        </p:txBody>
      </p:sp>
      <p:sp>
        <p:nvSpPr>
          <p:cNvPr id="4" name="title:line-20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review, merge, update main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21</a:t>
            </a:r>
          </a:p>
        </p:txBody>
      </p:sp>
      <p:sp>
        <p:nvSpPr>
          <p:cNvPr id="6" name="content:line-21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Ask a teammate for a review with at least one specific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comment. After approval, merge on GitHub.</a:t>
            </a:r>
          </a:p>
        </p:txBody>
      </p:sp>
      <p:sp>
        <p:nvSpPr>
          <p:cNvPr id="7" name="content:line-214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8" name="content:line-215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9" name="content:line-216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branch -d group-3/add-notes</a:t>
            </a:r>
          </a:p>
        </p:txBody>
      </p:sp>
      <p:sp>
        <p:nvSpPr>
          <p:cNvPr id="10" name="content:line-219:0"/>
          <p:cNvSpPr txBox="1"/>
          <p:nvPr/>
        </p:nvSpPr>
        <p:spPr>
          <a:xfrm>
            <a:off x="594360" y="37155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Then check that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log --oneline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shows your merged change.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23</a:t>
            </a:r>
          </a:p>
        </p:txBody>
      </p:sp>
      <p:sp>
        <p:nvSpPr>
          <p:cNvPr id="4" name="title:line-22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Hands-on: 40 minutes in the Sandbox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22</a:t>
            </a:r>
          </a:p>
        </p:txBody>
      </p:sp>
      <p:sp>
        <p:nvSpPr>
          <p:cNvPr id="6" name="content:line-22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clone, create your branch, add a note, push,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open a pull request.</a:t>
            </a:r>
          </a:p>
        </p:txBody>
      </p:sp>
      <p:sp>
        <p:nvSpPr>
          <p:cNvPr id="7" name="content:line-226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review a teammate's pull request with one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specific comment.</a:t>
            </a:r>
          </a:p>
        </p:txBody>
      </p:sp>
      <p:sp>
        <p:nvSpPr>
          <p:cNvPr id="8" name="content:line-227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the conflict drill on the next slides.</a:t>
            </a:r>
          </a:p>
        </p:txBody>
      </p:sp>
      <p:sp>
        <p:nvSpPr>
          <p:cNvPr id="9" name="content:line-228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5 minutes: write down what you did and where you stopped.</a:t>
            </a:r>
          </a:p>
        </p:txBody>
      </p:sp>
      <p:sp>
        <p:nvSpPr>
          <p:cNvPr id="10" name="content:line-230:0"/>
          <p:cNvSpPr txBox="1"/>
          <p:nvPr/>
        </p:nvSpPr>
        <p:spPr>
          <a:xfrm>
            <a:off x="594360" y="44104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the exercise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stuck. Nothing in the Sandbox is graded.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23</a:t>
            </a:r>
          </a:p>
        </p:txBody>
      </p:sp>
      <p:sp>
        <p:nvSpPr>
          <p:cNvPr id="4" name="title:line-23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the shared line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23</a:t>
            </a:r>
          </a:p>
        </p:txBody>
      </p:sp>
      <p:sp>
        <p:nvSpPr>
          <p:cNvPr id="6" name="content:line-23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practice/shared-notes.md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has one line every group edits: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Favourite tool this week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currently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(undecided)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38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Two groups change that line on different branches.</a:t>
            </a:r>
          </a:p>
        </p:txBody>
      </p:sp>
      <p:sp>
        <p:nvSpPr>
          <p:cNvPr id="8" name="content:line-239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first pull request merges cleanly.</a:t>
            </a:r>
          </a:p>
        </p:txBody>
      </p:sp>
      <p:sp>
        <p:nvSpPr>
          <p:cNvPr id="9" name="content:line-240:0"/>
          <p:cNvSpPr txBox="1"/>
          <p:nvPr/>
        </p:nvSpPr>
        <p:spPr>
          <a:xfrm>
            <a:off x="594360" y="35661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second now conflicts: Git cannot decide how overlapping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edits combine.</a:t>
            </a:r>
          </a:p>
        </p:txBody>
      </p:sp>
      <p:sp>
        <p:nvSpPr>
          <p:cNvPr id="10" name="content:line-242:0"/>
          <p:cNvSpPr txBox="1"/>
          <p:nvPr/>
        </p:nvSpPr>
        <p:spPr>
          <a:xfrm>
            <a:off x="594360" y="441045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Pick one line, edit it, and push your branch. Do not merge until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your partner group has pushed theirs.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23</a:t>
            </a:r>
          </a:p>
        </p:txBody>
      </p:sp>
      <p:sp>
        <p:nvSpPr>
          <p:cNvPr id="4" name="title:line-2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24</a:t>
            </a:r>
          </a:p>
        </p:txBody>
      </p:sp>
      <p:sp>
        <p:nvSpPr>
          <p:cNvPr id="6" name="content:line-24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Update your branch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look at the markers:</a:t>
            </a:r>
          </a:p>
        </p:txBody>
      </p:sp>
      <p:sp>
        <p:nvSpPr>
          <p:cNvPr id="7" name="content:line-251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fetch origin</a:t>
            </a:r>
          </a:p>
        </p:txBody>
      </p:sp>
      <p:sp>
        <p:nvSpPr>
          <p:cNvPr id="8" name="content:line-252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merge origin/main</a:t>
            </a:r>
          </a:p>
        </p:txBody>
      </p:sp>
      <p:sp>
        <p:nvSpPr>
          <p:cNvPr id="9" name="content:line-253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10" name="content:line-256:0"/>
          <p:cNvSpPr txBox="1"/>
          <p:nvPr/>
        </p:nvSpPr>
        <p:spPr>
          <a:xfrm>
            <a:off x="594360" y="3363467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practice/shared-notes.md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&lt;&lt;&lt;&lt;&lt;&lt;&lt; HEAD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starts your line;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=======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separates the incoming line;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&gt;&gt;&gt;&gt;&gt;&gt;&gt; origin/main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ends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block.</a:t>
            </a:r>
          </a:p>
        </p:txBody>
      </p:sp>
      <p:sp>
        <p:nvSpPr>
          <p:cNvPr id="11" name="content:line-258:0"/>
          <p:cNvSpPr txBox="1"/>
          <p:nvPr/>
        </p:nvSpPr>
        <p:spPr>
          <a:xfrm>
            <a:off x="594360" y="45598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Agree on one line, remove all three markers, then:</a:t>
            </a:r>
          </a:p>
        </p:txBody>
      </p:sp>
      <p:sp>
        <p:nvSpPr>
          <p:cNvPr id="12" name="content:line-261:0"/>
          <p:cNvSpPr txBox="1"/>
          <p:nvPr/>
        </p:nvSpPr>
        <p:spPr>
          <a:xfrm>
            <a:off x="594360" y="50520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practice/shared-notes.md</a:t>
            </a:r>
          </a:p>
        </p:txBody>
      </p:sp>
      <p:sp>
        <p:nvSpPr>
          <p:cNvPr id="13" name="content:line-262:0"/>
          <p:cNvSpPr txBox="1"/>
          <p:nvPr/>
        </p:nvSpPr>
        <p:spPr>
          <a:xfrm>
            <a:off x="594360" y="54300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"Resolve favourite tool line"</a:t>
            </a:r>
          </a:p>
        </p:txBody>
      </p:sp>
      <p:sp>
        <p:nvSpPr>
          <p:cNvPr id="14" name="content:line-263:0"/>
          <p:cNvSpPr txBox="1"/>
          <p:nvPr/>
        </p:nvSpPr>
        <p:spPr>
          <a:xfrm>
            <a:off x="594360" y="58079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23  ·  CONTINUED 2</a:t>
            </a:r>
          </a:p>
        </p:txBody>
      </p:sp>
      <p:sp>
        <p:nvSpPr>
          <p:cNvPr id="4" name="title:line-2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25</a:t>
            </a:r>
          </a:p>
        </p:txBody>
      </p:sp>
      <p:sp>
        <p:nvSpPr>
          <p:cNvPr id="6" name="content:line-26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If unsure before committing,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merge --abort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returns to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pre-merge state.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23</a:t>
            </a:r>
          </a:p>
        </p:txBody>
      </p:sp>
      <p:sp>
        <p:nvSpPr>
          <p:cNvPr id="4" name="title:line-27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group owns the question and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26</a:t>
            </a:r>
          </a:p>
        </p:txBody>
      </p:sp>
      <p:sp>
        <p:nvSpPr>
          <p:cNvPr id="6" name="content:line-27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Groups contain three or four students, with one public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Backend repo per group, created next session.</a:t>
            </a:r>
          </a:p>
        </p:txBody>
      </p:sp>
      <p:sp>
        <p:nvSpPr>
          <p:cNvPr id="7" name="content:line-273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Choose your own dataset and question for the final project;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topic approval is not required. Discussion with the instructor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is available.</a:t>
            </a:r>
          </a:p>
        </p:txBody>
      </p:sp>
      <p:sp>
        <p:nvSpPr>
          <p:cNvPr id="8" name="content:line-274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Modeling is optional; complexity earns no additional credit.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FastAPI, the Frontend page, and Docker Compose remain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required.</a:t>
            </a:r>
          </a:p>
        </p:txBody>
      </p:sp>
      <p:sp>
        <p:nvSpPr>
          <p:cNvPr id="9" name="content:line-275:0"/>
          <p:cNvSpPr txBox="1"/>
          <p:nvPr/>
        </p:nvSpPr>
        <p:spPr>
          <a:xfrm>
            <a:off x="594360" y="497433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student authors at least one pull request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meaningfully reviews at least one teammate's pull request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Backend repo, using their own account.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23  ·  CONTINUED 2</a:t>
            </a:r>
          </a:p>
        </p:txBody>
      </p:sp>
      <p:sp>
        <p:nvSpPr>
          <p:cNvPr id="4" name="title:line-27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group owns the question and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27</a:t>
            </a:r>
          </a:p>
        </p:txBody>
      </p:sp>
      <p:sp>
        <p:nvSpPr>
          <p:cNvPr id="6" name="content:line-27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Decide your Backend repo name before Session 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23</a:t>
            </a:r>
          </a:p>
        </p:txBody>
      </p:sp>
      <p:sp>
        <p:nvSpPr>
          <p:cNvPr id="4" name="title:line-2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28</a:t>
            </a:r>
          </a:p>
        </p:txBody>
      </p:sp>
      <p:sp>
        <p:nvSpPr>
          <p:cNvPr id="6" name="content:line-283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 after Session 1 is approximately two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hours, plus any unfinished practice. Details will be posted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separately.</a:t>
            </a:r>
          </a:p>
        </p:txBody>
      </p:sp>
      <p:sp>
        <p:nvSpPr>
          <p:cNvPr id="7" name="content:line-285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checkpoint: every student opened a pull request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gave a review in the Sandbox.</a:t>
            </a:r>
          </a:p>
        </p:txBody>
      </p:sp>
      <p:sp>
        <p:nvSpPr>
          <p:cNvPr id="8" name="content:line-286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Assessment is pass/fail, entirely at the final presentation. 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engineering requirements must be met, including tests, CI,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validation, and later output comparisons.</a:t>
            </a:r>
          </a:p>
        </p:txBody>
      </p:sp>
      <p:sp>
        <p:nvSpPr>
          <p:cNvPr id="9" name="content:line-287:0"/>
          <p:cNvSpPr txBox="1"/>
          <p:nvPr/>
        </p:nvSpPr>
        <p:spPr>
          <a:xfrm>
            <a:off x="594360" y="497433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Statistical analysis correctness is not graded. Tests still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verify the processing behavior you declare.</a:t>
            </a:r>
          </a:p>
        </p:txBody>
      </p:sp>
      <p:sp>
        <p:nvSpPr>
          <p:cNvPr id="10" name="content:line-288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There is no separate submission, resubmission, or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23  ·  CONTINUED 2</a:t>
            </a:r>
          </a:p>
        </p:txBody>
      </p:sp>
      <p:sp>
        <p:nvSpPr>
          <p:cNvPr id="4" name="title:line-2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29</a:t>
            </a:r>
          </a:p>
        </p:txBody>
      </p:sp>
      <p:sp>
        <p:nvSpPr>
          <p:cNvPr id="6" name="content:line-288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reassessment; the final result is final.</a:t>
            </a:r>
          </a:p>
        </p:txBody>
      </p:sp>
      <p:sp>
        <p:nvSpPr>
          <p:cNvPr id="7" name="content:line-290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the full requirements. Next: generate your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Backend repo and share an installable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1: Environments and Git</dc:title>
  <dc:subject>Editable slides generated from session-1.md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