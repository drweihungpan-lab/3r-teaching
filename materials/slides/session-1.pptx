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i.org/10.1371/journal.pbio.1002165" TargetMode="External"/><Relationship Id="rId3" Type="http://schemas.openxmlformats.org/officeDocument/2006/relationships/hyperlink" Target="https://doi.org/10.7554/eLife.71601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GLOSSARY.md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setup.md#configuration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template.md#administrator-protect-main-in-every-generated-repository" TargetMode="External"/><Relationship Id="rId3" Type="http://schemas.openxmlformats.org/officeDocument/2006/relationships/hyperlink" Target="../../docs/ci.md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template.md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template.md#local-setup-and-startup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ata/synthetic/dm.csv" TargetMode="External"/><Relationship Id="rId3" Type="http://schemas.openxmlformats.org/officeDocument/2006/relationships/hyperlink" Target="../../data/synthetic/lb.csv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docs/collaboration.md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../../SYLLABUS.md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 / 24</a:t>
            </a:r>
          </a:p>
        </p:txBody>
      </p:sp>
      <p:sp>
        <p:nvSpPr>
          <p:cNvPr id="4" name="title:line-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Session 1: Environments, Git, and CI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</a:t>
            </a:r>
          </a:p>
        </p:txBody>
      </p:sp>
      <p:sp>
        <p:nvSpPr>
          <p:cNvPr id="6" name="content:line-3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Make a small, explainable change to a complete working example.</a:t>
            </a:r>
          </a:p>
        </p:txBody>
      </p:sp>
      <p:sp>
        <p:nvSpPr>
          <p:cNvPr id="7" name="content:line-5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Isolate Python, keep local settings private, and run the checks.</a:t>
            </a:r>
          </a:p>
        </p:txBody>
      </p:sp>
      <p:sp>
        <p:nvSpPr>
          <p:cNvPr id="8" name="content:line-6:0"/>
          <p:cNvSpPr txBox="1"/>
          <p:nvPr/>
        </p:nvSpPr>
        <p:spPr>
          <a:xfrm>
            <a:off x="594360" y="272186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a feature branch, a pull request, and a teammate's review.</a:t>
            </a:r>
          </a:p>
        </p:txBody>
      </p:sp>
      <p:sp>
        <p:nvSpPr>
          <p:cNvPr id="9" name="content:line-7:0"/>
          <p:cNvSpPr txBox="1"/>
          <p:nvPr/>
        </p:nvSpPr>
        <p:spPr>
          <a:xfrm>
            <a:off x="594360" y="32141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automated results before merging.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 / 24</a:t>
            </a:r>
          </a:p>
        </p:txBody>
      </p:sp>
      <p:sp>
        <p:nvSpPr>
          <p:cNvPr id="4" name="title:line-1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Our three-hour route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</a:t>
            </a:r>
          </a:p>
        </p:txBody>
      </p:sp>
      <p:sp>
        <p:nvSpPr>
          <p:cNvPr id="6" name="content:line-13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00–35: Opening — introductions, a bubble tea question, and why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results must hold.</a:t>
            </a:r>
          </a:p>
        </p:txBody>
      </p:sp>
      <p:sp>
        <p:nvSpPr>
          <p:cNvPr id="7" name="content:line-14:0"/>
          <p:cNvSpPr txBox="1"/>
          <p:nvPr/>
        </p:nvSpPr>
        <p:spPr>
          <a:xfrm>
            <a:off x="594360" y="258165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35–65: Explanation — environments, configuration, Git, and CI.</a:t>
            </a:r>
          </a:p>
        </p:txBody>
      </p:sp>
      <p:sp>
        <p:nvSpPr>
          <p:cNvPr id="8" name="content:line-15:0"/>
          <p:cNvSpPr txBox="1"/>
          <p:nvPr/>
        </p:nvSpPr>
        <p:spPr>
          <a:xfrm>
            <a:off x="594360" y="3073907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65–85: Demonstration — template to a checked draft PR.</a:t>
            </a:r>
          </a:p>
        </p:txBody>
      </p:sp>
      <p:sp>
        <p:nvSpPr>
          <p:cNvPr id="9" name="content:line-16:0"/>
          <p:cNvSpPr txBox="1"/>
          <p:nvPr/>
        </p:nvSpPr>
        <p:spPr>
          <a:xfrm>
            <a:off x="594360" y="3566159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85–100: Break — 15 minutes.</a:t>
            </a:r>
          </a:p>
        </p:txBody>
      </p:sp>
      <p:sp>
        <p:nvSpPr>
          <p:cNvPr id="10" name="content:line-17:0"/>
          <p:cNvSpPr txBox="1"/>
          <p:nvPr/>
        </p:nvSpPr>
        <p:spPr>
          <a:xfrm>
            <a:off x="594360" y="4058411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100–180: Guided practice — repeat the workflow; the conflict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drill if time permits.</a:t>
            </a:r>
          </a:p>
        </p:txBody>
      </p:sp>
      <p:sp>
        <p:nvSpPr>
          <p:cNvPr id="11" name="content:line-19:0"/>
          <p:cNvSpPr txBox="1"/>
          <p:nvPr/>
        </p:nvSpPr>
        <p:spPr>
          <a:xfrm>
            <a:off x="594360" y="4902708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These flexible timings total 35 minutes opening, 30 explanation,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20 demonstration, 15 break, and 80 practice. Unfinished practice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continues at home, in addition to the homework.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3 / 24</a:t>
            </a:r>
          </a:p>
        </p:txBody>
      </p:sp>
      <p:sp>
        <p:nvSpPr>
          <p:cNvPr id="4" name="title:line-23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Your bubble tea shop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3</a:t>
            </a:r>
          </a:p>
        </p:txBody>
      </p:sp>
      <p:sp>
        <p:nvSpPr>
          <p:cNvPr id="6" name="content:line-25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At the student demo day, your bubble tea got great reviews.</a:t>
            </a:r>
          </a:p>
        </p:txBody>
      </p:sp>
      <p:sp>
        <p:nvSpPr>
          <p:cNvPr id="7" name="content:line-27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Now you want to open a shop in front of NTHU. You already have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the best location and the decor.</a:t>
            </a:r>
          </a:p>
        </p:txBody>
      </p:sp>
      <p:sp>
        <p:nvSpPr>
          <p:cNvPr id="8" name="content:line-29:0"/>
          <p:cNvSpPr txBox="1"/>
          <p:nvPr/>
        </p:nvSpPr>
        <p:spPr>
          <a:xfrm>
            <a:off x="594360" y="30739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1" i="0">
                <a:solidFill>
                  <a:srgbClr val="20344A"/>
                </a:solidFill>
                <a:latin typeface="Arial"/>
              </a:rPr>
              <a:t>What do you need to take care of so every customer gets the </a:t>
            </a:r>
            <a:br/>
            <a:r>
              <a:rPr sz="2100" b="1" i="0">
                <a:solidFill>
                  <a:srgbClr val="20344A"/>
                </a:solidFill>
                <a:latin typeface="Arial"/>
              </a:rPr>
              <a:t>tea they loved?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4 / 24</a:t>
            </a:r>
          </a:p>
        </p:txBody>
      </p:sp>
      <p:sp>
        <p:nvSpPr>
          <p:cNvPr id="4" name="title:line-33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Can we trust published biomedical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research?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4</a:t>
            </a:r>
          </a:p>
        </p:txBody>
      </p:sp>
      <p:sp>
        <p:nvSpPr>
          <p:cNvPr id="6" name="content:line-35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An estimated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&gt;50%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of preclinical biomedical research is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irreproducible, costing about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US$28 billion a year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in the US.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(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Freedman et al., PLoS Biol 2015</a:t>
            </a:r>
            <a:r>
              <a:rPr sz="2100" b="0" i="0">
                <a:solidFill>
                  <a:srgbClr val="20344A"/>
                </a:solidFill>
                <a:latin typeface="Arial"/>
              </a:rPr>
              <a:t>)</a:t>
            </a:r>
          </a:p>
        </p:txBody>
      </p:sp>
      <p:sp>
        <p:nvSpPr>
          <p:cNvPr id="7" name="content:line-36:0"/>
          <p:cNvSpPr txBox="1"/>
          <p:nvPr/>
        </p:nvSpPr>
        <p:spPr>
          <a:xfrm>
            <a:off x="594360" y="2933700"/>
            <a:ext cx="11003279" cy="148437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Cancer biology: only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46%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of replications succeeded, and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74%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of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planned experiments could not be done at all, partly because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methods were not described in enough detail. (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Errington et al., </a:t>
            </a:r>
            <a:br/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eLife 2021</a:t>
            </a:r>
            <a:r>
              <a:rPr sz="2100" b="0" i="0">
                <a:solidFill>
                  <a:srgbClr val="20344A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5 / 24</a:t>
            </a:r>
          </a:p>
        </p:txBody>
      </p:sp>
      <p:sp>
        <p:nvSpPr>
          <p:cNvPr id="4" name="title:line-4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What are we trying to preserve?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5</a:t>
            </a:r>
          </a:p>
        </p:txBody>
      </p:sp>
      <p:sp>
        <p:nvSpPr>
          <p:cNvPr id="6" name="content:line-42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Repeatability: matching results under the same conditions.</a:t>
            </a:r>
          </a:p>
        </p:txBody>
      </p:sp>
      <p:sp>
        <p:nvSpPr>
          <p:cNvPr id="7" name="content:line-43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Replicability: matching results under slightly different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conditions, such as local Python versus Docker.</a:t>
            </a:r>
          </a:p>
        </p:txBody>
      </p:sp>
      <p:sp>
        <p:nvSpPr>
          <p:cNvPr id="8" name="content:line-44:0"/>
          <p:cNvSpPr txBox="1"/>
          <p:nvPr/>
        </p:nvSpPr>
        <p:spPr>
          <a:xfrm>
            <a:off x="594360" y="30739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Reproducibility: matching results under very different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conditions, such as an independent simulation; conceptual here.</a:t>
            </a:r>
          </a:p>
        </p:txBody>
      </p:sp>
      <p:sp>
        <p:nvSpPr>
          <p:cNvPr id="9" name="content:line-46:0"/>
          <p:cNvSpPr txBox="1"/>
          <p:nvPr/>
        </p:nvSpPr>
        <p:spPr>
          <a:xfrm>
            <a:off x="594360" y="3918204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These are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course definitions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 Later comparisons require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exact records/counts and declared tolerances for calculated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decimals.</a:t>
            </a:r>
          </a:p>
        </p:txBody>
      </p:sp>
      <p:sp>
        <p:nvSpPr>
          <p:cNvPr id="10" name="content:line-48:0"/>
          <p:cNvSpPr txBox="1"/>
          <p:nvPr/>
        </p:nvSpPr>
        <p:spPr>
          <a:xfrm>
            <a:off x="594360" y="5114544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your bubble tea answers in mind.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6 / 24</a:t>
            </a:r>
          </a:p>
        </p:txBody>
      </p:sp>
      <p:sp>
        <p:nvSpPr>
          <p:cNvPr id="4" name="title:line-5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Start with a working application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6</a:t>
            </a:r>
          </a:p>
        </p:txBody>
      </p:sp>
      <p:sp>
        <p:nvSpPr>
          <p:cNvPr id="6" name="content:line-54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supplied synthetic healthcare example already joins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participant and laboratory CSVs, validates inputs, and produces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summaries.</a:t>
            </a:r>
          </a:p>
        </p:txBody>
      </p:sp>
      <p:sp>
        <p:nvSpPr>
          <p:cNvPr id="7" name="content:line-57:0"/>
          <p:cNvSpPr txBox="1"/>
          <p:nvPr/>
        </p:nvSpPr>
        <p:spPr>
          <a:xfrm>
            <a:off x="594360" y="293370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Streamlit upload → FastAPI request → stat_core processing</a:t>
            </a:r>
          </a:p>
        </p:txBody>
      </p:sp>
      <p:sp>
        <p:nvSpPr>
          <p:cNvPr id="8" name="content:line-58:0"/>
          <p:cNvSpPr txBox="1"/>
          <p:nvPr/>
        </p:nvSpPr>
        <p:spPr>
          <a:xfrm>
            <a:off x="594360" y="331165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               ← counts, records, summaries ←</a:t>
            </a:r>
          </a:p>
        </p:txBody>
      </p:sp>
      <p:sp>
        <p:nvSpPr>
          <p:cNvPr id="9" name="content:line-61:0"/>
          <p:cNvSpPr txBox="1"/>
          <p:nvPr/>
        </p:nvSpPr>
        <p:spPr>
          <a:xfrm>
            <a:off x="594360" y="3689604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Today we inspect and make a small change. Later sessions trace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packaging, tests, services, and Docker Compose. Model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complexity and interface polish are not the goal.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7 / 24</a:t>
            </a:r>
          </a:p>
        </p:txBody>
      </p:sp>
      <p:sp>
        <p:nvSpPr>
          <p:cNvPr id="4" name="title:line-6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A Python environment belongs to one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project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7</a:t>
            </a:r>
          </a:p>
        </p:txBody>
      </p:sp>
      <p:sp>
        <p:nvSpPr>
          <p:cNvPr id="6" name="content:line-67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 virtual environment is a separate Python installation area for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this project's packages. It avoids mixing them with global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packages or another project.</a:t>
            </a:r>
          </a:p>
        </p:txBody>
      </p:sp>
      <p:sp>
        <p:nvSpPr>
          <p:cNvPr id="7" name="content:line-69:0"/>
          <p:cNvSpPr txBox="1"/>
          <p:nvPr/>
        </p:nvSpPr>
        <p:spPr>
          <a:xfrm>
            <a:off x="594360" y="293370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Create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.venv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with Python 3.12; activate it in each new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terminal.</a:t>
            </a:r>
          </a:p>
        </p:txBody>
      </p:sp>
      <p:sp>
        <p:nvSpPr>
          <p:cNvPr id="8" name="content:line-70:0"/>
          <p:cNvSpPr txBox="1"/>
          <p:nvPr/>
        </p:nvSpPr>
        <p:spPr>
          <a:xfrm>
            <a:off x="594360" y="377799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Install declared dependencies, rather than copying another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person's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.venv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9" name="content:line-71:0"/>
          <p:cNvSpPr txBox="1"/>
          <p:nvPr/>
        </p:nvSpPr>
        <p:spPr>
          <a:xfrm>
            <a:off x="594360" y="462229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Activation chooses which Python runs; it does not install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packages.</a:t>
            </a:r>
          </a:p>
        </p:txBody>
      </p:sp>
      <p:sp>
        <p:nvSpPr>
          <p:cNvPr id="10" name="content:line-72:0"/>
          <p:cNvSpPr txBox="1"/>
          <p:nvPr/>
        </p:nvSpPr>
        <p:spPr>
          <a:xfrm>
            <a:off x="594360" y="546658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virtual environment alone does not lock dependency versions.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Record versions with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python -m pip freeze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when comparing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7 / 24  ·  CONTINUED 2</a:t>
            </a:r>
          </a:p>
        </p:txBody>
      </p:sp>
      <p:sp>
        <p:nvSpPr>
          <p:cNvPr id="4" name="title:line-6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A Python environment belongs to one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project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8</a:t>
            </a:r>
          </a:p>
        </p:txBody>
      </p:sp>
      <p:sp>
        <p:nvSpPr>
          <p:cNvPr id="6" name="content:line-72:2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 "/>
            </a:pPr>
            <a:r>
              <a:rPr sz="2100" b="0" i="0">
                <a:solidFill>
                  <a:srgbClr val="20344A"/>
                </a:solidFill>
                <a:latin typeface="Arial"/>
              </a:rPr>
              <a:t>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8 / 24</a:t>
            </a:r>
          </a:p>
        </p:txBody>
      </p:sp>
      <p:sp>
        <p:nvSpPr>
          <p:cNvPr id="4" name="title:line-7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Local configuration and shareable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examples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9</a:t>
            </a:r>
          </a:p>
        </p:txBody>
      </p:sp>
      <p:sp>
        <p:nvSpPr>
          <p:cNvPr id="6" name="content:line-78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Configuration is settings read at startup, rather than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processing code.</a:t>
            </a:r>
          </a:p>
        </p:txBody>
      </p:sp>
      <p:sp>
        <p:nvSpPr>
          <p:cNvPr id="7" name="content:line-80:0"/>
          <p:cNvSpPr txBox="1"/>
          <p:nvPr/>
        </p:nvSpPr>
        <p:spPr>
          <a:xfrm>
            <a:off x="594360" y="258165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.env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holds your local settings; Git ignores it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.venv/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8" name="content:line-81:0"/>
          <p:cNvSpPr txBox="1"/>
          <p:nvPr/>
        </p:nvSpPr>
        <p:spPr>
          <a:xfrm>
            <a:off x="594360" y="3073907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.env.example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is tracked and safe to share; never put secrets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 it.</a:t>
            </a:r>
          </a:p>
        </p:txBody>
      </p:sp>
      <p:sp>
        <p:nvSpPr>
          <p:cNvPr id="9" name="content:line-82:0"/>
          <p:cNvSpPr txBox="1"/>
          <p:nvPr/>
        </p:nvSpPr>
        <p:spPr>
          <a:xfrm>
            <a:off x="594360" y="391820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Courier New"/>
              </a:rPr>
              <a:t>python-dotenv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reads the root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exported variables take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precedence.</a:t>
            </a:r>
          </a:p>
        </p:txBody>
      </p:sp>
      <p:sp>
        <p:nvSpPr>
          <p:cNvPr id="10" name="content:line-83:0"/>
          <p:cNvSpPr txBox="1"/>
          <p:nvPr/>
        </p:nvSpPr>
        <p:spPr>
          <a:xfrm>
            <a:off x="594360" y="476250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Restart services after changes;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.gitignore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does not untrack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an already committed secret.</a:t>
            </a:r>
          </a:p>
        </p:txBody>
      </p:sp>
      <p:sp>
        <p:nvSpPr>
          <p:cNvPr id="11" name="content:line-85:0"/>
          <p:cNvSpPr txBox="1"/>
          <p:nvPr/>
        </p:nvSpPr>
        <p:spPr>
          <a:xfrm>
            <a:off x="594360" y="560679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LOG_LEVEL=INFO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BACKEND_URL=http://127.0.0.1:8000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8 / 24  ·  CONTINUED 2</a:t>
            </a:r>
          </a:p>
        </p:txBody>
      </p:sp>
      <p:sp>
        <p:nvSpPr>
          <p:cNvPr id="4" name="title:line-7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Local configuration and shareable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examples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10</a:t>
            </a:r>
          </a:p>
        </p:txBody>
      </p:sp>
      <p:sp>
        <p:nvSpPr>
          <p:cNvPr id="6" name="content:line-85:1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locally. See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configuration details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9 / 24</a:t>
            </a:r>
          </a:p>
        </p:txBody>
      </p:sp>
      <p:sp>
        <p:nvSpPr>
          <p:cNvPr id="4" name="title:line-89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Git records changes; GitHub hosts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collaboration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11</a:t>
            </a:r>
          </a:p>
        </p:txBody>
      </p:sp>
      <p:sp>
        <p:nvSpPr>
          <p:cNvPr id="6" name="content:line-91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repository contains files and their recorded history.</a:t>
            </a:r>
          </a:p>
        </p:txBody>
      </p:sp>
      <p:sp>
        <p:nvSpPr>
          <p:cNvPr id="7" name="content:line-92:0"/>
          <p:cNvSpPr txBox="1"/>
          <p:nvPr/>
        </p:nvSpPr>
        <p:spPr>
          <a:xfrm>
            <a:off x="594360" y="222961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feature branch names a line of work for one purpose.</a:t>
            </a:r>
          </a:p>
        </p:txBody>
      </p:sp>
      <p:sp>
        <p:nvSpPr>
          <p:cNvPr id="8" name="content:line-93:0"/>
          <p:cNvSpPr txBox="1"/>
          <p:nvPr/>
        </p:nvSpPr>
        <p:spPr>
          <a:xfrm>
            <a:off x="594360" y="272186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Staging selects the changes for the next commit; a commit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records that snapshot with a message.</a:t>
            </a:r>
          </a:p>
        </p:txBody>
      </p:sp>
      <p:sp>
        <p:nvSpPr>
          <p:cNvPr id="9" name="content:line-94:0"/>
          <p:cNvSpPr txBox="1"/>
          <p:nvPr/>
        </p:nvSpPr>
        <p:spPr>
          <a:xfrm>
            <a:off x="594360" y="35661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push sends local commits to GitHub. A pull request (PR) asks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teammates to review a branch before merging.</a:t>
            </a:r>
          </a:p>
        </p:txBody>
      </p:sp>
      <p:sp>
        <p:nvSpPr>
          <p:cNvPr id="10" name="content:line-97:0"/>
          <p:cNvSpPr txBox="1"/>
          <p:nvPr/>
        </p:nvSpPr>
        <p:spPr>
          <a:xfrm>
            <a:off x="594360" y="44104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feature branch → commit → draft PR → review + checks → 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10 / 24</a:t>
            </a:r>
          </a:p>
        </p:txBody>
      </p:sp>
      <p:sp>
        <p:nvSpPr>
          <p:cNvPr id="4" name="title:line-10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CI reports; repository rules require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12</a:t>
            </a:r>
          </a:p>
        </p:txBody>
      </p:sp>
      <p:sp>
        <p:nvSpPr>
          <p:cNvPr id="6" name="content:line-104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Continuous integration (CI) runs automated checks on proposed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changes. This template runs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Backend CI → Backend tests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including documentation PRs.</a:t>
            </a:r>
          </a:p>
        </p:txBody>
      </p:sp>
      <p:sp>
        <p:nvSpPr>
          <p:cNvPr id="7" name="content:line-106:0"/>
          <p:cNvSpPr txBox="1"/>
          <p:nvPr/>
        </p:nvSpPr>
        <p:spPr>
          <a:xfrm>
            <a:off x="594360" y="293370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green check reports success for a particular commit; it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does not prove every requirement.</a:t>
            </a:r>
          </a:p>
        </p:txBody>
      </p:sp>
      <p:sp>
        <p:nvSpPr>
          <p:cNvPr id="8" name="content:line-107:0"/>
          <p:cNvSpPr txBox="1"/>
          <p:nvPr/>
        </p:nvSpPr>
        <p:spPr>
          <a:xfrm>
            <a:off x="594360" y="3777996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Copied workflow files do not protect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main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automatically.</a:t>
            </a:r>
          </a:p>
        </p:txBody>
      </p:sp>
      <p:sp>
        <p:nvSpPr>
          <p:cNvPr id="9" name="content:line-108:0"/>
          <p:cNvSpPr txBox="1"/>
          <p:nvPr/>
        </p:nvSpPr>
        <p:spPr>
          <a:xfrm>
            <a:off x="594360" y="4270248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 group administrator separately requires PRs, teammate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approval, conversation resolution, and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Backend tests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in branch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protection.</a:t>
            </a:r>
          </a:p>
        </p:txBody>
      </p:sp>
      <p:sp>
        <p:nvSpPr>
          <p:cNvPr id="10" name="content:line-109:0"/>
          <p:cNvSpPr txBox="1"/>
          <p:nvPr/>
        </p:nvSpPr>
        <p:spPr>
          <a:xfrm>
            <a:off x="594360" y="546658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Check the merge box actually enforces the rule; inspect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latest commit's result.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10 / 24  ·  CONTINUED 2</a:t>
            </a:r>
          </a:p>
        </p:txBody>
      </p:sp>
      <p:sp>
        <p:nvSpPr>
          <p:cNvPr id="4" name="title:line-10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CI reports; repository rules require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13</a:t>
            </a:r>
          </a:p>
        </p:txBody>
      </p:sp>
      <p:sp>
        <p:nvSpPr>
          <p:cNvPr id="6" name="content:line-111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See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group protection setup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CI guidance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11 / 24</a:t>
            </a:r>
          </a:p>
        </p:txBody>
      </p:sp>
      <p:sp>
        <p:nvSpPr>
          <p:cNvPr id="4" name="title:line-11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create your group's repository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14</a:t>
            </a:r>
          </a:p>
        </p:txBody>
      </p:sp>
      <p:sp>
        <p:nvSpPr>
          <p:cNvPr id="6" name="content:line-117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instructor first publishes the completed framework on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template's default branch and enables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Template repository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119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One member selects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Use this template → Create a new </a:t>
            </a:r>
            <a:br/>
            <a:r>
              <a:rPr sz="2100" b="1" i="0">
                <a:solidFill>
                  <a:srgbClr val="20344A"/>
                </a:solidFill>
                <a:latin typeface="Arial"/>
              </a:rPr>
              <a:t>repository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copy only the default branch, named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main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8" name="content:line-120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Invite teammates with write access and the instructor with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read access.</a:t>
            </a:r>
          </a:p>
        </p:txBody>
      </p:sp>
      <p:sp>
        <p:nvSpPr>
          <p:cNvPr id="9" name="content:line-121:0"/>
          <p:cNvSpPr txBox="1"/>
          <p:nvPr/>
        </p:nvSpPr>
        <p:spPr>
          <a:xfrm>
            <a:off x="594360" y="427024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Replace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OWNER/GROUP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below with your group's actual owner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name.</a:t>
            </a:r>
          </a:p>
        </p:txBody>
      </p:sp>
      <p:sp>
        <p:nvSpPr>
          <p:cNvPr id="10" name="content:line-124:0"/>
          <p:cNvSpPr txBox="1"/>
          <p:nvPr/>
        </p:nvSpPr>
        <p:spPr>
          <a:xfrm>
            <a:off x="594360" y="511454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clone git@github.com:OWNER/GROUP.git</a:t>
            </a:r>
          </a:p>
        </p:txBody>
      </p:sp>
      <p:sp>
        <p:nvSpPr>
          <p:cNvPr id="11" name="content:line-125:0"/>
          <p:cNvSpPr txBox="1"/>
          <p:nvPr/>
        </p:nvSpPr>
        <p:spPr>
          <a:xfrm>
            <a:off x="594360" y="549249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cd GROUP</a:t>
            </a:r>
          </a:p>
        </p:txBody>
      </p:sp>
      <p:sp>
        <p:nvSpPr>
          <p:cNvPr id="12" name="content:line-128:0"/>
          <p:cNvSpPr txBox="1"/>
          <p:nvPr/>
        </p:nvSpPr>
        <p:spPr>
          <a:xfrm>
            <a:off x="594360" y="587044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Follow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template setup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 Template updates do not synchronize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11 / 24  ·  CONTINUED 2</a:t>
            </a:r>
          </a:p>
        </p:txBody>
      </p:sp>
      <p:sp>
        <p:nvSpPr>
          <p:cNvPr id="4" name="title:line-11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create your group's repository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15</a:t>
            </a:r>
          </a:p>
        </p:txBody>
      </p:sp>
      <p:sp>
        <p:nvSpPr>
          <p:cNvPr id="6" name="content:line-128:1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automatically.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12 / 24</a:t>
            </a:r>
          </a:p>
        </p:txBody>
      </p:sp>
      <p:sp>
        <p:nvSpPr>
          <p:cNvPr id="4" name="title:line-132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prepare Python and check the </a:t>
            </a:r>
            <a:br/>
            <a:r>
              <a:rPr sz="3200" b="0" i="0">
                <a:solidFill>
                  <a:srgbClr val="20344A"/>
                </a:solidFill>
                <a:latin typeface="Arial"/>
              </a:rPr>
              <a:t>baseline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16</a:t>
            </a:r>
          </a:p>
        </p:txBody>
      </p:sp>
      <p:sp>
        <p:nvSpPr>
          <p:cNvPr id="6" name="content:line-134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Run from the group repository root on macOS/Linux:</a:t>
            </a:r>
          </a:p>
        </p:txBody>
      </p:sp>
      <p:sp>
        <p:nvSpPr>
          <p:cNvPr id="7" name="content:line-137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python3.12 -m venv .venv</a:t>
            </a:r>
          </a:p>
        </p:txBody>
      </p:sp>
      <p:sp>
        <p:nvSpPr>
          <p:cNvPr id="8" name="content:line-138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source .venv/bin/activate</a:t>
            </a:r>
          </a:p>
        </p:txBody>
      </p:sp>
      <p:sp>
        <p:nvSpPr>
          <p:cNvPr id="9" name="content:line-139:0"/>
          <p:cNvSpPr txBox="1"/>
          <p:nvPr/>
        </p:nvSpPr>
        <p:spPr>
          <a:xfrm>
            <a:off x="594360" y="29855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pip install --upgrade pip</a:t>
            </a:r>
          </a:p>
        </p:txBody>
      </p:sp>
      <p:sp>
        <p:nvSpPr>
          <p:cNvPr id="10" name="content:line-140:0"/>
          <p:cNvSpPr txBox="1"/>
          <p:nvPr/>
        </p:nvSpPr>
        <p:spPr>
          <a:xfrm>
            <a:off x="594360" y="33634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pip install -e './backend[dev]'</a:t>
            </a:r>
          </a:p>
        </p:txBody>
      </p:sp>
      <p:sp>
        <p:nvSpPr>
          <p:cNvPr id="11" name="content:line-141:0"/>
          <p:cNvSpPr txBox="1"/>
          <p:nvPr/>
        </p:nvSpPr>
        <p:spPr>
          <a:xfrm>
            <a:off x="594360" y="37414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pip install -r frontend/requirements.txt</a:t>
            </a:r>
          </a:p>
        </p:txBody>
      </p:sp>
      <p:sp>
        <p:nvSpPr>
          <p:cNvPr id="12" name="content:line-142:0"/>
          <p:cNvSpPr txBox="1"/>
          <p:nvPr/>
        </p:nvSpPr>
        <p:spPr>
          <a:xfrm>
            <a:off x="594360" y="41193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test -e .env || cp .env.example .env</a:t>
            </a:r>
          </a:p>
        </p:txBody>
      </p:sp>
      <p:sp>
        <p:nvSpPr>
          <p:cNvPr id="13" name="content:line-143:0"/>
          <p:cNvSpPr txBox="1"/>
          <p:nvPr/>
        </p:nvSpPr>
        <p:spPr>
          <a:xfrm>
            <a:off x="594360" y="449732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pytest backend/tests</a:t>
            </a:r>
          </a:p>
        </p:txBody>
      </p:sp>
      <p:sp>
        <p:nvSpPr>
          <p:cNvPr id="14" name="content:line-146:0"/>
          <p:cNvSpPr txBox="1"/>
          <p:nvPr/>
        </p:nvSpPr>
        <p:spPr>
          <a:xfrm>
            <a:off x="594360" y="4875275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working example has 175+ tests; the count may grow.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Expect all tests to pass; read failures and warnings. For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PowerShell equivalents, see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setup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13 / 24</a:t>
            </a:r>
          </a:p>
        </p:txBody>
      </p:sp>
      <p:sp>
        <p:nvSpPr>
          <p:cNvPr id="4" name="title:line-15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see the example work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17</a:t>
            </a:r>
          </a:p>
        </p:txBody>
      </p:sp>
      <p:sp>
        <p:nvSpPr>
          <p:cNvPr id="6" name="content:line-152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In the activated environment at the root, start the API:</a:t>
            </a:r>
          </a:p>
        </p:txBody>
      </p:sp>
      <p:sp>
        <p:nvSpPr>
          <p:cNvPr id="7" name="content:line-155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uvicorn app.main:app --app-dir backend \</a:t>
            </a:r>
          </a:p>
        </p:txBody>
      </p:sp>
      <p:sp>
        <p:nvSpPr>
          <p:cNvPr id="8" name="content:line-156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--host 127.0.0.1 --port 8000</a:t>
            </a:r>
          </a:p>
        </p:txBody>
      </p:sp>
      <p:sp>
        <p:nvSpPr>
          <p:cNvPr id="9" name="content:line-159:0"/>
          <p:cNvSpPr txBox="1"/>
          <p:nvPr/>
        </p:nvSpPr>
        <p:spPr>
          <a:xfrm>
            <a:off x="594360" y="2985515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it running. In a second terminal at the root:</a:t>
            </a:r>
          </a:p>
        </p:txBody>
      </p:sp>
      <p:sp>
        <p:nvSpPr>
          <p:cNvPr id="10" name="content:line-162:0"/>
          <p:cNvSpPr txBox="1"/>
          <p:nvPr/>
        </p:nvSpPr>
        <p:spPr>
          <a:xfrm>
            <a:off x="594360" y="34777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source .venv/bin/activate</a:t>
            </a:r>
          </a:p>
        </p:txBody>
      </p:sp>
      <p:sp>
        <p:nvSpPr>
          <p:cNvPr id="11" name="content:line-163:0"/>
          <p:cNvSpPr txBox="1"/>
          <p:nvPr/>
        </p:nvSpPr>
        <p:spPr>
          <a:xfrm>
            <a:off x="594360" y="38557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streamlit run frontend/app.py \</a:t>
            </a:r>
          </a:p>
        </p:txBody>
      </p:sp>
      <p:sp>
        <p:nvSpPr>
          <p:cNvPr id="12" name="content:line-164:0"/>
          <p:cNvSpPr txBox="1"/>
          <p:nvPr/>
        </p:nvSpPr>
        <p:spPr>
          <a:xfrm>
            <a:off x="594360" y="42336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  --server.address 127.0.0.1 --server.port 8501</a:t>
            </a:r>
          </a:p>
        </p:txBody>
      </p:sp>
      <p:sp>
        <p:nvSpPr>
          <p:cNvPr id="13" name="content:line-167:0"/>
          <p:cNvSpPr txBox="1"/>
          <p:nvPr/>
        </p:nvSpPr>
        <p:spPr>
          <a:xfrm>
            <a:off x="594360" y="4611623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http://127.0.0.1:8501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upload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dm.csv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007F82"/>
                </a:solidFill>
                <a:latin typeface="Arial"/>
                <a:hlinkClick r:id="rId3"/>
              </a:rPr>
              <a:t>lb.csv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 Select </a:t>
            </a:r>
            <a:br/>
            <a:r>
              <a:rPr sz="2100" b="1" i="0">
                <a:solidFill>
                  <a:srgbClr val="20344A"/>
                </a:solidFill>
                <a:latin typeface="Arial"/>
              </a:rPr>
              <a:t>Process CSVs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expect 24 participants, 96 records, 95 observed,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one missing. Stop servers with Ctrl-C afterward.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14 / 24</a:t>
            </a:r>
          </a:p>
        </p:txBody>
      </p:sp>
      <p:sp>
        <p:nvSpPr>
          <p:cNvPr id="4" name="title:line-17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one small README change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18</a:t>
            </a:r>
          </a:p>
        </p:txBody>
      </p:sp>
      <p:sp>
        <p:nvSpPr>
          <p:cNvPr id="6" name="content:line-173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With a clean working tree, start a feature branch:</a:t>
            </a:r>
          </a:p>
        </p:txBody>
      </p:sp>
      <p:sp>
        <p:nvSpPr>
          <p:cNvPr id="7" name="content:line-176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status</a:t>
            </a:r>
          </a:p>
        </p:txBody>
      </p:sp>
      <p:sp>
        <p:nvSpPr>
          <p:cNvPr id="8" name="content:line-177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switch main</a:t>
            </a:r>
          </a:p>
        </p:txBody>
      </p:sp>
      <p:sp>
        <p:nvSpPr>
          <p:cNvPr id="9" name="content:line-178:0"/>
          <p:cNvSpPr txBox="1"/>
          <p:nvPr/>
        </p:nvSpPr>
        <p:spPr>
          <a:xfrm>
            <a:off x="594360" y="29855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pull --ff-only origin main</a:t>
            </a:r>
          </a:p>
        </p:txBody>
      </p:sp>
      <p:sp>
        <p:nvSpPr>
          <p:cNvPr id="10" name="content:line-179:0"/>
          <p:cNvSpPr txBox="1"/>
          <p:nvPr/>
        </p:nvSpPr>
        <p:spPr>
          <a:xfrm>
            <a:off x="594360" y="33634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switch -c feature/group-purpose</a:t>
            </a:r>
          </a:p>
        </p:txBody>
      </p:sp>
      <p:sp>
        <p:nvSpPr>
          <p:cNvPr id="11" name="content:line-182:0"/>
          <p:cNvSpPr txBox="1"/>
          <p:nvPr/>
        </p:nvSpPr>
        <p:spPr>
          <a:xfrm>
            <a:off x="594360" y="3741419"/>
            <a:ext cx="11003279" cy="148437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README.md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add a short group-purpose paragraph: who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project serves, your chosen dataset, and the question it will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explore. Keep the synthetic example clearly labeled as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current demonstration.</a:t>
            </a:r>
          </a:p>
        </p:txBody>
      </p:sp>
      <p:sp>
        <p:nvSpPr>
          <p:cNvPr id="12" name="content:line-184:0"/>
          <p:cNvSpPr txBox="1"/>
          <p:nvPr/>
        </p:nvSpPr>
        <p:spPr>
          <a:xfrm>
            <a:off x="594360" y="5289803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Inspect the edit with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git diff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 The purpose is readable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documentation; processing behavior should still pass its checks.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15 / 24</a:t>
            </a:r>
          </a:p>
        </p:txBody>
      </p:sp>
      <p:sp>
        <p:nvSpPr>
          <p:cNvPr id="4" name="title:line-188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record and publish the change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19</a:t>
            </a:r>
          </a:p>
        </p:txBody>
      </p:sp>
      <p:sp>
        <p:nvSpPr>
          <p:cNvPr id="6" name="content:line-191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pytest backend/tests</a:t>
            </a:r>
          </a:p>
        </p:txBody>
      </p:sp>
      <p:sp>
        <p:nvSpPr>
          <p:cNvPr id="7" name="content:line-192:0"/>
          <p:cNvSpPr txBox="1"/>
          <p:nvPr/>
        </p:nvSpPr>
        <p:spPr>
          <a:xfrm>
            <a:off x="594360" y="21153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diff --check</a:t>
            </a:r>
          </a:p>
        </p:txBody>
      </p:sp>
      <p:sp>
        <p:nvSpPr>
          <p:cNvPr id="8" name="content:line-193:0"/>
          <p:cNvSpPr txBox="1"/>
          <p:nvPr/>
        </p:nvSpPr>
        <p:spPr>
          <a:xfrm>
            <a:off x="594360" y="24932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diff -- README.md</a:t>
            </a:r>
          </a:p>
        </p:txBody>
      </p:sp>
      <p:sp>
        <p:nvSpPr>
          <p:cNvPr id="9" name="content:line-194:0"/>
          <p:cNvSpPr txBox="1"/>
          <p:nvPr/>
        </p:nvSpPr>
        <p:spPr>
          <a:xfrm>
            <a:off x="594360" y="287121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add README.md</a:t>
            </a:r>
          </a:p>
        </p:txBody>
      </p:sp>
      <p:sp>
        <p:nvSpPr>
          <p:cNvPr id="10" name="content:line-195:0"/>
          <p:cNvSpPr txBox="1"/>
          <p:nvPr/>
        </p:nvSpPr>
        <p:spPr>
          <a:xfrm>
            <a:off x="594360" y="324916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diff --cached</a:t>
            </a:r>
          </a:p>
        </p:txBody>
      </p:sp>
      <p:sp>
        <p:nvSpPr>
          <p:cNvPr id="11" name="content:line-196:0"/>
          <p:cNvSpPr txBox="1"/>
          <p:nvPr/>
        </p:nvSpPr>
        <p:spPr>
          <a:xfrm>
            <a:off x="594360" y="362711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commit -m "Document our group's dataset and question"</a:t>
            </a:r>
          </a:p>
        </p:txBody>
      </p:sp>
      <p:sp>
        <p:nvSpPr>
          <p:cNvPr id="12" name="content:line-197:0"/>
          <p:cNvSpPr txBox="1"/>
          <p:nvPr/>
        </p:nvSpPr>
        <p:spPr>
          <a:xfrm>
            <a:off x="594360" y="400507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push -u origin feature/group-purpose</a:t>
            </a:r>
          </a:p>
        </p:txBody>
      </p:sp>
      <p:sp>
        <p:nvSpPr>
          <p:cNvPr id="13" name="content:line-200:0"/>
          <p:cNvSpPr txBox="1"/>
          <p:nvPr/>
        </p:nvSpPr>
        <p:spPr>
          <a:xfrm>
            <a:off x="594360" y="4383023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Check README links and wording too. Stage only the intended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file; confirm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.venv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are absent. A descriptive message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explains the purpose of the change.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16 / 24</a:t>
            </a:r>
          </a:p>
        </p:txBody>
      </p:sp>
      <p:sp>
        <p:nvSpPr>
          <p:cNvPr id="4" name="title:line-204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open a draft PR and inspect checks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20</a:t>
            </a:r>
          </a:p>
        </p:txBody>
      </p:sp>
      <p:sp>
        <p:nvSpPr>
          <p:cNvPr id="6" name="content:line-206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In the group repository, select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Compare &amp; pull request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base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main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compare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feature/group-purpose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choose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Create draft </a:t>
            </a:r>
            <a:br/>
            <a:r>
              <a:rPr sz="2100" b="1" i="0">
                <a:solidFill>
                  <a:srgbClr val="20344A"/>
                </a:solidFill>
                <a:latin typeface="Arial"/>
              </a:rPr>
              <a:t>pull request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207:0"/>
          <p:cNvSpPr txBox="1"/>
          <p:nvPr/>
        </p:nvSpPr>
        <p:spPr>
          <a:xfrm>
            <a:off x="594360" y="293370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Fill in the supplied PR template: purpose, before/after, actual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commands, results, and limits.</a:t>
            </a:r>
          </a:p>
        </p:txBody>
      </p:sp>
      <p:sp>
        <p:nvSpPr>
          <p:cNvPr id="8" name="content:line-208:0"/>
          <p:cNvSpPr txBox="1"/>
          <p:nvPr/>
        </p:nvSpPr>
        <p:spPr>
          <a:xfrm>
            <a:off x="594360" y="377799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Checks → Backend tests → Run backend tests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 Confirm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branch and commit SHA, the identifier of the version checked.</a:t>
            </a:r>
          </a:p>
        </p:txBody>
      </p:sp>
      <p:sp>
        <p:nvSpPr>
          <p:cNvPr id="9" name="content:line-209:0"/>
          <p:cNvSpPr txBox="1"/>
          <p:nvPr/>
        </p:nvSpPr>
        <p:spPr>
          <a:xfrm>
            <a:off x="594360" y="4622292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failing logs at the first failed step; correct the cause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and push to the same branch. A rerun of an older commit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cannot check a new correction.</a:t>
            </a:r>
          </a:p>
        </p:txBody>
      </p:sp>
      <p:sp>
        <p:nvSpPr>
          <p:cNvPr id="10" name="content:line-211:0"/>
          <p:cNvSpPr txBox="1"/>
          <p:nvPr/>
        </p:nvSpPr>
        <p:spPr>
          <a:xfrm>
            <a:off x="594360" y="5818632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 draft signals work in progress. Mark ready for review and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16 / 24  ·  CONTINUED 2</a:t>
            </a:r>
          </a:p>
        </p:txBody>
      </p:sp>
      <p:sp>
        <p:nvSpPr>
          <p:cNvPr id="4" name="title:line-204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Demo: open a draft PR and inspect checks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21</a:t>
            </a:r>
          </a:p>
        </p:txBody>
      </p:sp>
      <p:sp>
        <p:nvSpPr>
          <p:cNvPr id="6" name="content:line-211:1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request a teammate when the change and evidence are ready.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17 / 24</a:t>
            </a:r>
          </a:p>
        </p:txBody>
      </p:sp>
      <p:sp>
        <p:nvSpPr>
          <p:cNvPr id="4" name="title:line-21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A meaningful review helps the next reader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22</a:t>
            </a:r>
          </a:p>
        </p:txBody>
      </p:sp>
      <p:sp>
        <p:nvSpPr>
          <p:cNvPr id="6" name="content:line-217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Read </a:t>
            </a:r>
            <a:r>
              <a:rPr sz="2100" b="1" i="0">
                <a:solidFill>
                  <a:srgbClr val="20344A"/>
                </a:solidFill>
                <a:latin typeface="Arial"/>
              </a:rPr>
              <a:t>Files changed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the purpose, and check evidence. Comment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on behavior, tests, or clarity: “Which file contains your chosen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dataset, and is the synthetic demo still distinguishable?”</a:t>
            </a:r>
          </a:p>
        </p:txBody>
      </p:sp>
      <p:sp>
        <p:nvSpPr>
          <p:cNvPr id="7" name="content:line-219:0"/>
          <p:cNvSpPr txBox="1"/>
          <p:nvPr/>
        </p:nvSpPr>
        <p:spPr>
          <a:xfrm>
            <a:off x="594360" y="293370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Submit a review with an explanation; approval alone or “looks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good” is insufficient.</a:t>
            </a:r>
          </a:p>
        </p:txBody>
      </p:sp>
      <p:sp>
        <p:nvSpPr>
          <p:cNvPr id="8" name="content:line-220:0"/>
          <p:cNvSpPr txBox="1"/>
          <p:nvPr/>
        </p:nvSpPr>
        <p:spPr>
          <a:xfrm>
            <a:off x="594360" y="377799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author replies, corrects concerns, and pushes follow-up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commits.</a:t>
            </a:r>
          </a:p>
        </p:txBody>
      </p:sp>
      <p:sp>
        <p:nvSpPr>
          <p:cNvPr id="9" name="content:line-221:0"/>
          <p:cNvSpPr txBox="1"/>
          <p:nvPr/>
        </p:nvSpPr>
        <p:spPr>
          <a:xfrm>
            <a:off x="594360" y="462229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 reviewer checks the update and latest CI, then approves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when satisfied.</a:t>
            </a:r>
          </a:p>
        </p:txBody>
      </p:sp>
      <p:sp>
        <p:nvSpPr>
          <p:cNvPr id="10" name="content:line-222:0"/>
          <p:cNvSpPr txBox="1"/>
          <p:nvPr/>
        </p:nvSpPr>
        <p:spPr>
          <a:xfrm>
            <a:off x="594360" y="546658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Merge the PR through GitHub only after passing required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checks, teammate approval, and resolved discussions.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17 / 24  ·  CONTINUED 2</a:t>
            </a:r>
          </a:p>
        </p:txBody>
      </p:sp>
      <p:sp>
        <p:nvSpPr>
          <p:cNvPr id="4" name="title:line-215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A meaningful review helps the next reader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23</a:t>
            </a:r>
          </a:p>
        </p:txBody>
      </p:sp>
      <p:sp>
        <p:nvSpPr>
          <p:cNvPr id="6" name="content:line-224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See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collaboration guidance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 After merging, switch to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main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pull with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--ff-only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before new work.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18 / 24</a:t>
            </a:r>
          </a:p>
        </p:txBody>
      </p:sp>
      <p:sp>
        <p:nvSpPr>
          <p:cNvPr id="4" name="title:line-228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Break, then 80 minutes of practice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24</a:t>
            </a:r>
          </a:p>
        </p:txBody>
      </p:sp>
      <p:sp>
        <p:nvSpPr>
          <p:cNvPr id="6" name="content:line-230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Take a 15-minute break after the demonstration.</a:t>
            </a:r>
          </a:p>
        </p:txBody>
      </p:sp>
      <p:sp>
        <p:nvSpPr>
          <p:cNvPr id="7" name="content:line-232:0"/>
          <p:cNvSpPr txBox="1"/>
          <p:nvPr/>
        </p:nvSpPr>
        <p:spPr>
          <a:xfrm>
            <a:off x="594360" y="22296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First 45 minutes: create the group repository, prepare each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environment, run the example and baseline checks.</a:t>
            </a:r>
          </a:p>
        </p:txBody>
      </p:sp>
      <p:sp>
        <p:nvSpPr>
          <p:cNvPr id="8" name="content:line-233:0"/>
          <p:cNvSpPr txBox="1"/>
          <p:nvPr/>
        </p:nvSpPr>
        <p:spPr>
          <a:xfrm>
            <a:off x="594360" y="307390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Next 30 minutes: each student makes a small purposeful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change, opens a draft PR, and reviews a teammate's PR.</a:t>
            </a:r>
          </a:p>
        </p:txBody>
      </p:sp>
      <p:sp>
        <p:nvSpPr>
          <p:cNvPr id="9" name="content:line-234:0"/>
          <p:cNvSpPr txBox="1"/>
          <p:nvPr/>
        </p:nvSpPr>
        <p:spPr>
          <a:xfrm>
            <a:off x="594360" y="391820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Last 5 minutes: record evidence and your stopping point.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Rehearse the controlled conflict below only if time permits.</a:t>
            </a:r>
          </a:p>
        </p:txBody>
      </p:sp>
      <p:sp>
        <p:nvSpPr>
          <p:cNvPr id="10" name="content:line-236:0"/>
          <p:cNvSpPr txBox="1"/>
          <p:nvPr/>
        </p:nvSpPr>
        <p:spPr>
          <a:xfrm>
            <a:off x="594360" y="4762500"/>
            <a:ext cx="11003279" cy="148437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Finish any unfinished practice at home, in addition to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homework. Use the setup and collaboration guides when stuck.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Work in the group's repository and keep changes small enough to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explain.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19 / 24</a:t>
            </a:r>
          </a:p>
        </p:txBody>
      </p:sp>
      <p:sp>
        <p:nvSpPr>
          <p:cNvPr id="4" name="title:line-24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Controlled conflict: seed a disposable file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25</a:t>
            </a:r>
          </a:p>
        </p:txBody>
      </p:sp>
      <p:sp>
        <p:nvSpPr>
          <p:cNvPr id="6" name="content:line-242:0"/>
          <p:cNvSpPr txBox="1"/>
          <p:nvPr/>
        </p:nvSpPr>
        <p:spPr>
          <a:xfrm>
            <a:off x="594360" y="173736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 conflict means Git cannot decide how overlapping edits should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combine. Rehearse locally after committing other work; use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unused branch names and a new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conflict-demo.txt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7" name="content:line-245:0"/>
          <p:cNvSpPr txBox="1"/>
          <p:nvPr/>
        </p:nvSpPr>
        <p:spPr>
          <a:xfrm>
            <a:off x="594360" y="293370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switch main</a:t>
            </a:r>
          </a:p>
        </p:txBody>
      </p:sp>
      <p:sp>
        <p:nvSpPr>
          <p:cNvPr id="8" name="content:line-246:0"/>
          <p:cNvSpPr txBox="1"/>
          <p:nvPr/>
        </p:nvSpPr>
        <p:spPr>
          <a:xfrm>
            <a:off x="594360" y="331165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pull --ff-only origin main</a:t>
            </a:r>
          </a:p>
        </p:txBody>
      </p:sp>
      <p:sp>
        <p:nvSpPr>
          <p:cNvPr id="9" name="content:line-247:0"/>
          <p:cNvSpPr txBox="1"/>
          <p:nvPr/>
        </p:nvSpPr>
        <p:spPr>
          <a:xfrm>
            <a:off x="594360" y="368960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switch -c practice/conflict-base</a:t>
            </a:r>
          </a:p>
        </p:txBody>
      </p:sp>
      <p:sp>
        <p:nvSpPr>
          <p:cNvPr id="10" name="content:line-250:0"/>
          <p:cNvSpPr txBox="1"/>
          <p:nvPr/>
        </p:nvSpPr>
        <p:spPr>
          <a:xfrm>
            <a:off x="594360" y="40675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Create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conflict-demo.txt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in your editor with exactly one line: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Session plan: draft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  <p:sp>
        <p:nvSpPr>
          <p:cNvPr id="11" name="content:line-253:0"/>
          <p:cNvSpPr txBox="1"/>
          <p:nvPr/>
        </p:nvSpPr>
        <p:spPr>
          <a:xfrm>
            <a:off x="594360" y="491185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add conflict-demo.txt</a:t>
            </a:r>
          </a:p>
        </p:txBody>
      </p:sp>
      <p:sp>
        <p:nvSpPr>
          <p:cNvPr id="12" name="content:line-254:0"/>
          <p:cNvSpPr txBox="1"/>
          <p:nvPr/>
        </p:nvSpPr>
        <p:spPr>
          <a:xfrm>
            <a:off x="594360" y="528980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commit -m "Seed disposable conflict example"</a:t>
            </a:r>
          </a:p>
        </p:txBody>
      </p:sp>
      <p:sp>
        <p:nvSpPr>
          <p:cNvPr id="13" name="content:line-255:0"/>
          <p:cNvSpPr txBox="1"/>
          <p:nvPr/>
        </p:nvSpPr>
        <p:spPr>
          <a:xfrm>
            <a:off x="594360" y="5667755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switch -c practice/conflict-a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20 / 24</a:t>
            </a:r>
          </a:p>
        </p:txBody>
      </p:sp>
      <p:sp>
        <p:nvSpPr>
          <p:cNvPr id="4" name="title:line-26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Controlled conflict: two feature branches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26</a:t>
            </a:r>
          </a:p>
        </p:txBody>
      </p:sp>
      <p:sp>
        <p:nvSpPr>
          <p:cNvPr id="6" name="content:line-262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On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practice/conflict-a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replace the line with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Session plan: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test first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save, then run:</a:t>
            </a:r>
          </a:p>
        </p:txBody>
      </p:sp>
      <p:sp>
        <p:nvSpPr>
          <p:cNvPr id="7" name="content:line-265:0"/>
          <p:cNvSpPr txBox="1"/>
          <p:nvPr/>
        </p:nvSpPr>
        <p:spPr>
          <a:xfrm>
            <a:off x="594360" y="258165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add conflict-demo.txt</a:t>
            </a:r>
          </a:p>
        </p:txBody>
      </p:sp>
      <p:sp>
        <p:nvSpPr>
          <p:cNvPr id="8" name="content:line-266:0"/>
          <p:cNvSpPr txBox="1"/>
          <p:nvPr/>
        </p:nvSpPr>
        <p:spPr>
          <a:xfrm>
            <a:off x="594360" y="2959607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commit -m "Suggest testing first"</a:t>
            </a:r>
          </a:p>
        </p:txBody>
      </p:sp>
      <p:sp>
        <p:nvSpPr>
          <p:cNvPr id="9" name="content:line-267:0"/>
          <p:cNvSpPr txBox="1"/>
          <p:nvPr/>
        </p:nvSpPr>
        <p:spPr>
          <a:xfrm>
            <a:off x="594360" y="333755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switch practice/conflict-base</a:t>
            </a:r>
          </a:p>
        </p:txBody>
      </p:sp>
      <p:sp>
        <p:nvSpPr>
          <p:cNvPr id="10" name="content:line-268:0"/>
          <p:cNvSpPr txBox="1"/>
          <p:nvPr/>
        </p:nvSpPr>
        <p:spPr>
          <a:xfrm>
            <a:off x="594360" y="371551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switch -c practice/conflict-b</a:t>
            </a:r>
          </a:p>
        </p:txBody>
      </p:sp>
      <p:sp>
        <p:nvSpPr>
          <p:cNvPr id="11" name="content:line-271:0"/>
          <p:cNvSpPr txBox="1"/>
          <p:nvPr/>
        </p:nvSpPr>
        <p:spPr>
          <a:xfrm>
            <a:off x="594360" y="4093463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On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practice/conflict-b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replace the original line with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Session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plan: review first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save, then run:</a:t>
            </a:r>
          </a:p>
        </p:txBody>
      </p:sp>
      <p:sp>
        <p:nvSpPr>
          <p:cNvPr id="12" name="content:line-274:0"/>
          <p:cNvSpPr txBox="1"/>
          <p:nvPr/>
        </p:nvSpPr>
        <p:spPr>
          <a:xfrm>
            <a:off x="594360" y="4937759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add conflict-demo.txt</a:t>
            </a:r>
          </a:p>
        </p:txBody>
      </p:sp>
      <p:sp>
        <p:nvSpPr>
          <p:cNvPr id="13" name="content:line-275:0"/>
          <p:cNvSpPr txBox="1"/>
          <p:nvPr/>
        </p:nvSpPr>
        <p:spPr>
          <a:xfrm>
            <a:off x="594360" y="5315711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commit -m "Suggest reviewing first"</a:t>
            </a:r>
          </a:p>
        </p:txBody>
      </p:sp>
      <p:sp>
        <p:nvSpPr>
          <p:cNvPr id="14" name="content:line-276:0"/>
          <p:cNvSpPr txBox="1"/>
          <p:nvPr/>
        </p:nvSpPr>
        <p:spPr>
          <a:xfrm>
            <a:off x="594360" y="5693663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merge practice/conflict-a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20 / 24  ·  CONTINUED 2</a:t>
            </a:r>
          </a:p>
        </p:txBody>
      </p:sp>
      <p:sp>
        <p:nvSpPr>
          <p:cNvPr id="4" name="title:line-260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Controlled conflict: two feature branches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27</a:t>
            </a:r>
          </a:p>
        </p:txBody>
      </p:sp>
      <p:sp>
        <p:nvSpPr>
          <p:cNvPr id="6" name="content:line-277:0"/>
          <p:cNvSpPr txBox="1"/>
          <p:nvPr/>
        </p:nvSpPr>
        <p:spPr>
          <a:xfrm>
            <a:off x="594360" y="173736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status</a:t>
            </a:r>
          </a:p>
        </p:txBody>
      </p:sp>
      <p:sp>
        <p:nvSpPr>
          <p:cNvPr id="7" name="content:line-280:0"/>
          <p:cNvSpPr txBox="1"/>
          <p:nvPr/>
        </p:nvSpPr>
        <p:spPr>
          <a:xfrm>
            <a:off x="594360" y="211531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Expect a content conflict: both feature branches changed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same original 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21 / 24</a:t>
            </a:r>
          </a:p>
        </p:txBody>
      </p:sp>
      <p:sp>
        <p:nvSpPr>
          <p:cNvPr id="4" name="title:line-284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Resolve deliberately, or abort the merge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28</a:t>
            </a:r>
          </a:p>
        </p:txBody>
      </p:sp>
      <p:sp>
        <p:nvSpPr>
          <p:cNvPr id="6" name="content:line-286:0"/>
          <p:cNvSpPr txBox="1"/>
          <p:nvPr/>
        </p:nvSpPr>
        <p:spPr>
          <a:xfrm>
            <a:off x="594360" y="1737360"/>
            <a:ext cx="11003279" cy="148437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Open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conflict-demo.txt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: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&lt;&lt;&lt;&lt;&lt;&lt;&lt; HEAD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starts the current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branch's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Session plan: review first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=======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separates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incoming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Session plan: test first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;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&gt;&gt;&gt;&gt;&gt;&gt;&gt; </a:t>
            </a:r>
            <a:br/>
            <a:r>
              <a:rPr sz="2100" b="0" i="0">
                <a:solidFill>
                  <a:srgbClr val="20344A"/>
                </a:solidFill>
                <a:latin typeface="Courier New"/>
              </a:rPr>
              <a:t>practice/conflict-a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ends the block.</a:t>
            </a:r>
          </a:p>
        </p:txBody>
      </p:sp>
      <p:sp>
        <p:nvSpPr>
          <p:cNvPr id="7" name="content:line-288:0"/>
          <p:cNvSpPr txBox="1"/>
          <p:nvPr/>
        </p:nvSpPr>
        <p:spPr>
          <a:xfrm>
            <a:off x="594360" y="328574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Agree on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Session plan: test, then review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 Replace the entire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marked block with that line; save, then run:</a:t>
            </a:r>
          </a:p>
        </p:txBody>
      </p:sp>
      <p:sp>
        <p:nvSpPr>
          <p:cNvPr id="8" name="content:line-291:0"/>
          <p:cNvSpPr txBox="1"/>
          <p:nvPr/>
        </p:nvSpPr>
        <p:spPr>
          <a:xfrm>
            <a:off x="594360" y="4130040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add conflict-demo.txt</a:t>
            </a:r>
          </a:p>
        </p:txBody>
      </p:sp>
      <p:sp>
        <p:nvSpPr>
          <p:cNvPr id="9" name="content:line-292:0"/>
          <p:cNvSpPr txBox="1"/>
          <p:nvPr/>
        </p:nvSpPr>
        <p:spPr>
          <a:xfrm>
            <a:off x="594360" y="450799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commit -m "Resolve plan: test then review"</a:t>
            </a:r>
          </a:p>
        </p:txBody>
      </p:sp>
      <p:sp>
        <p:nvSpPr>
          <p:cNvPr id="10" name="content:line-293:0"/>
          <p:cNvSpPr txBox="1"/>
          <p:nvPr/>
        </p:nvSpPr>
        <p:spPr>
          <a:xfrm>
            <a:off x="594360" y="488594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diff --check</a:t>
            </a:r>
          </a:p>
        </p:txBody>
      </p:sp>
      <p:sp>
        <p:nvSpPr>
          <p:cNvPr id="11" name="content:line-294:0"/>
          <p:cNvSpPr txBox="1"/>
          <p:nvPr/>
        </p:nvSpPr>
        <p:spPr>
          <a:xfrm>
            <a:off x="594360" y="5263896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python -m pytest backend/tests</a:t>
            </a:r>
          </a:p>
        </p:txBody>
      </p:sp>
      <p:sp>
        <p:nvSpPr>
          <p:cNvPr id="12" name="content:line-297:0"/>
          <p:cNvSpPr txBox="1"/>
          <p:nvPr/>
        </p:nvSpPr>
        <p:spPr>
          <a:xfrm>
            <a:off x="594360" y="5641848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If unsure before committing the resolution,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git merge --abort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21 / 24  ·  CONTINUED 2</a:t>
            </a:r>
          </a:p>
        </p:txBody>
      </p:sp>
      <p:sp>
        <p:nvSpPr>
          <p:cNvPr id="4" name="title:line-284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Resolve deliberately, or abort the merge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29</a:t>
            </a:r>
          </a:p>
        </p:txBody>
      </p:sp>
      <p:sp>
        <p:nvSpPr>
          <p:cNvPr id="6" name="content:line-297:1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returns to the pre-merge state. Keep this rehearsal local;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switch back to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main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when done.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22 / 24</a:t>
            </a:r>
          </a:p>
        </p:txBody>
      </p:sp>
      <p:sp>
        <p:nvSpPr>
          <p:cNvPr id="4" name="title:line-301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Use the same recovery on real PRs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30</a:t>
            </a:r>
          </a:p>
        </p:txBody>
      </p:sp>
      <p:sp>
        <p:nvSpPr>
          <p:cNvPr id="6" name="content:line-303:0"/>
          <p:cNvSpPr txBox="1"/>
          <p:nvPr/>
        </p:nvSpPr>
        <p:spPr>
          <a:xfrm>
            <a:off x="594360" y="1737360"/>
            <a:ext cx="11003279" cy="428244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Commit your work first. On your real feature branch:</a:t>
            </a:r>
          </a:p>
        </p:txBody>
      </p:sp>
      <p:sp>
        <p:nvSpPr>
          <p:cNvPr id="7" name="content:line-306:0"/>
          <p:cNvSpPr txBox="1"/>
          <p:nvPr/>
        </p:nvSpPr>
        <p:spPr>
          <a:xfrm>
            <a:off x="594360" y="2229612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fetch origin</a:t>
            </a:r>
          </a:p>
        </p:txBody>
      </p:sp>
      <p:sp>
        <p:nvSpPr>
          <p:cNvPr id="8" name="content:line-307:0"/>
          <p:cNvSpPr txBox="1"/>
          <p:nvPr/>
        </p:nvSpPr>
        <p:spPr>
          <a:xfrm>
            <a:off x="594360" y="2607564"/>
            <a:ext cx="11003279" cy="377952"/>
          </a:xfrm>
          <a:prstGeom prst="rect">
            <a:avLst/>
          </a:prstGeom>
          <a:solidFill>
            <a:srgbClr val="EDF3F6"/>
          </a:solidFill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376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20344A"/>
                </a:solidFill>
                <a:latin typeface="Arial"/>
              </a:defRPr>
            </a:pPr>
            <a:r>
              <a:rPr sz="1800" b="0" i="0">
                <a:solidFill>
                  <a:srgbClr val="20344A"/>
                </a:solidFill>
                <a:latin typeface="Courier New"/>
              </a:rPr>
              <a:t>git merge origin/main</a:t>
            </a:r>
          </a:p>
        </p:txBody>
      </p:sp>
      <p:sp>
        <p:nvSpPr>
          <p:cNvPr id="9" name="content:line-310:0"/>
          <p:cNvSpPr txBox="1"/>
          <p:nvPr/>
        </p:nvSpPr>
        <p:spPr>
          <a:xfrm>
            <a:off x="594360" y="2985515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If Git reports conflicts, use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git status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, discuss both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intentions, edit out markers, stage the resolved files,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commit. Rerun relevant checks and push the feature branch.</a:t>
            </a:r>
          </a:p>
        </p:txBody>
      </p:sp>
      <p:sp>
        <p:nvSpPr>
          <p:cNvPr id="10" name="content:line-312:0"/>
          <p:cNvSpPr txBox="1"/>
          <p:nvPr/>
        </p:nvSpPr>
        <p:spPr>
          <a:xfrm>
            <a:off x="594360" y="4181856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Request another review when the change needs it; new commits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may dismiss old approvals. Confirm CI belongs to the latest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commit before the reviewed PR is merged into </a:t>
            </a:r>
            <a:r>
              <a:rPr sz="2100" b="0" i="0">
                <a:solidFill>
                  <a:srgbClr val="20344A"/>
                </a:solidFill>
                <a:latin typeface="Courier New"/>
              </a:rPr>
              <a:t>main</a:t>
            </a:r>
            <a:r>
              <a:rPr sz="2100" b="0" i="0">
                <a:solidFill>
                  <a:srgbClr val="20344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23 / 24</a:t>
            </a:r>
          </a:p>
        </p:txBody>
      </p:sp>
      <p:sp>
        <p:nvSpPr>
          <p:cNvPr id="4" name="title:line-316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Your group owns the question and evidence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31</a:t>
            </a:r>
          </a:p>
        </p:txBody>
      </p:sp>
      <p:sp>
        <p:nvSpPr>
          <p:cNvPr id="6" name="content:line-318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Groups contain three or four students, with one repository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per group.</a:t>
            </a:r>
          </a:p>
        </p:txBody>
      </p:sp>
      <p:sp>
        <p:nvSpPr>
          <p:cNvPr id="7" name="content:line-319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Choose your own dataset and question; topic approval is not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required. Discussion with the instructor is available.</a:t>
            </a:r>
          </a:p>
        </p:txBody>
      </p:sp>
      <p:sp>
        <p:nvSpPr>
          <p:cNvPr id="8" name="content:line-320:0"/>
          <p:cNvSpPr txBox="1"/>
          <p:nvPr/>
        </p:nvSpPr>
        <p:spPr>
          <a:xfrm>
            <a:off x="594360" y="3425952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Modeling is optional; complexity earns no additional credit.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FastAPI, Streamlit, and Docker Compose remain required.</a:t>
            </a:r>
          </a:p>
        </p:txBody>
      </p:sp>
      <p:sp>
        <p:nvSpPr>
          <p:cNvPr id="9" name="content:line-321:0"/>
          <p:cNvSpPr txBox="1"/>
          <p:nvPr/>
        </p:nvSpPr>
        <p:spPr>
          <a:xfrm>
            <a:off x="594360" y="4270248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Each student authors at least one PR and meaningfully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reviews at least one teammate's PR using their own account.</a:t>
            </a:r>
          </a:p>
        </p:txBody>
      </p:sp>
      <p:sp>
        <p:nvSpPr>
          <p:cNvPr id="10" name="content:line-323:0"/>
          <p:cNvSpPr txBox="1"/>
          <p:nvPr/>
        </p:nvSpPr>
        <p:spPr>
          <a:xfrm>
            <a:off x="594360" y="5114544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Keep authored PR links, submitted review permalinks, and CI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links with commit SHAs in the group README as real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participation occurs.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24 / 24</a:t>
            </a:r>
          </a:p>
        </p:txBody>
      </p:sp>
      <p:sp>
        <p:nvSpPr>
          <p:cNvPr id="4" name="title:line-327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Prepare for the final presentation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32</a:t>
            </a:r>
          </a:p>
        </p:txBody>
      </p:sp>
      <p:sp>
        <p:nvSpPr>
          <p:cNvPr id="6" name="content:line-329:0"/>
          <p:cNvSpPr txBox="1"/>
          <p:nvPr/>
        </p:nvSpPr>
        <p:spPr>
          <a:xfrm>
            <a:off x="594360" y="1737360"/>
            <a:ext cx="11003279" cy="148437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Mandatory homework after Session 1 is approximately two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hours, plus any unfinished guided practice: continue the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PR/review workflow and document the group's dataset and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question.</a:t>
            </a:r>
          </a:p>
        </p:txBody>
      </p:sp>
      <p:sp>
        <p:nvSpPr>
          <p:cNvPr id="7" name="content:line-331:0"/>
          <p:cNvSpPr txBox="1"/>
          <p:nvPr/>
        </p:nvSpPr>
        <p:spPr>
          <a:xfrm>
            <a:off x="594360" y="3285744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Today's checkpoint is preparation: isolated environment,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configuration hygiene, and visible branch/PR history.</a:t>
            </a:r>
          </a:p>
        </p:txBody>
      </p:sp>
      <p:sp>
        <p:nvSpPr>
          <p:cNvPr id="8" name="content:line-332:0"/>
          <p:cNvSpPr txBox="1"/>
          <p:nvPr/>
        </p:nvSpPr>
        <p:spPr>
          <a:xfrm>
            <a:off x="594360" y="4130040"/>
            <a:ext cx="11003279" cy="11323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Assessment is pass/fail, entirely at the final presentation. All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engineering requirements must be met, including tests, CI,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validation, and later output comparisons.</a:t>
            </a:r>
          </a:p>
        </p:txBody>
      </p:sp>
      <p:sp>
        <p:nvSpPr>
          <p:cNvPr id="9" name="content:line-333:0"/>
          <p:cNvSpPr txBox="1"/>
          <p:nvPr/>
        </p:nvSpPr>
        <p:spPr>
          <a:xfrm>
            <a:off x="594360" y="532638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Statistical analysis correctness is not graded. Tests still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verify the processing behavior you declare.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tion"/>
          <p:cNvSpPr txBox="1"/>
          <p:nvPr/>
        </p:nvSpPr>
        <p:spPr>
          <a:xfrm>
            <a:off x="594360" y="201168"/>
            <a:ext cx="11003279" cy="256032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452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53677A"/>
                </a:solidFill>
                <a:latin typeface="Arial"/>
              </a:defRPr>
            </a:pPr>
            <a:r>
              <a:t>SOURCE 24 / 24  ·  CONTINUED 2</a:t>
            </a:r>
          </a:p>
        </p:txBody>
      </p:sp>
      <p:sp>
        <p:nvSpPr>
          <p:cNvPr id="4" name="title:line-327"/>
          <p:cNvSpPr txBox="1"/>
          <p:nvPr/>
        </p:nvSpPr>
        <p:spPr>
          <a:xfrm>
            <a:off x="594360" y="530352"/>
            <a:ext cx="11003279" cy="1161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0344A"/>
                </a:solidFill>
                <a:latin typeface="Arial"/>
              </a:defRPr>
            </a:pPr>
            <a:r>
              <a:rPr sz="3200" b="0" i="0">
                <a:solidFill>
                  <a:srgbClr val="20344A"/>
                </a:solidFill>
                <a:latin typeface="Arial"/>
              </a:rPr>
              <a:t>Prepare for the final presentation</a:t>
            </a:r>
          </a:p>
        </p:txBody>
      </p:sp>
      <p:sp>
        <p:nvSpPr>
          <p:cNvPr id="5" name="footer"/>
          <p:cNvSpPr txBox="1"/>
          <p:nvPr/>
        </p:nvSpPr>
        <p:spPr>
          <a:xfrm>
            <a:off x="594360" y="6510528"/>
            <a:ext cx="11003279" cy="219456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53677A"/>
                </a:solidFill>
                <a:latin typeface="Arial"/>
              </a:defRPr>
            </a:pPr>
            <a:r>
              <a:t>session-1.md   ·   33</a:t>
            </a:r>
          </a:p>
        </p:txBody>
      </p:sp>
      <p:sp>
        <p:nvSpPr>
          <p:cNvPr id="6" name="content:line-334:0"/>
          <p:cNvSpPr txBox="1"/>
          <p:nvPr/>
        </p:nvSpPr>
        <p:spPr>
          <a:xfrm>
            <a:off x="594360" y="1737360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 marL="279400" indent="-215900"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  <a:buChar char="•"/>
            </a:pPr>
            <a:r>
              <a:rPr sz="2100" b="0" i="0">
                <a:solidFill>
                  <a:srgbClr val="20344A"/>
                </a:solidFill>
                <a:latin typeface="Arial"/>
              </a:rPr>
              <a:t>There is no separate submission, resubmission, or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reassessment; the final result is final.</a:t>
            </a:r>
          </a:p>
        </p:txBody>
      </p:sp>
      <p:sp>
        <p:nvSpPr>
          <p:cNvPr id="7" name="content:line-336:0"/>
          <p:cNvSpPr txBox="1"/>
          <p:nvPr/>
        </p:nvSpPr>
        <p:spPr>
          <a:xfrm>
            <a:off x="594360" y="2581656"/>
            <a:ext cx="11003279" cy="780288"/>
          </a:xfrm>
          <a:prstGeom prst="rect">
            <a:avLst/>
          </a:prstGeom>
          <a:noFill/>
        </p:spPr>
        <p:txBody>
          <a:bodyPr wrap="none" anchor="t" lIns="88900" rIns="88900" tIns="38100" bIns="38100">
            <a:noAutofit/>
          </a:bodyPr>
          <a:lstStyle/>
          <a:p>
            <a:pPr>
              <a:lnSpc>
                <a:spcPts val="2772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20344A"/>
                </a:solidFill>
                <a:latin typeface="Arial"/>
              </a:defRPr>
            </a:pPr>
            <a:r>
              <a:rPr sz="2100" b="0" i="0">
                <a:solidFill>
                  <a:srgbClr val="20344A"/>
                </a:solidFill>
                <a:latin typeface="Arial"/>
              </a:rPr>
              <a:t>Use the </a:t>
            </a:r>
            <a:r>
              <a:rPr sz="2100" b="0" i="0">
                <a:solidFill>
                  <a:srgbClr val="007F82"/>
                </a:solidFill>
                <a:latin typeface="Arial"/>
                <a:hlinkClick r:id="rId2"/>
              </a:rPr>
              <a:t>syllabus</a:t>
            </a:r>
            <a:r>
              <a:rPr sz="2100" b="0" i="0">
                <a:solidFill>
                  <a:srgbClr val="20344A"/>
                </a:solidFill>
                <a:latin typeface="Arial"/>
              </a:rPr>
              <a:t> for the full requirements. Next: trace reusable </a:t>
            </a:r>
            <a:br/>
            <a:r>
              <a:rPr sz="2100" b="0" i="0">
                <a:solidFill>
                  <a:srgbClr val="20344A"/>
                </a:solidFill>
                <a:latin typeface="Arial"/>
              </a:rPr>
              <a:t>processing modules and package metadata.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1: Environments, Git, and CI</dc:title>
  <dc:subject>Editable slides generated from session-1.md</dc:subject>
  <dc:creator>Three-R course</dc:creator>
  <cp:keywords>editable, Markdown, course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