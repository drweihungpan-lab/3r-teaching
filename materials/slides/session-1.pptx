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371/journal.pbio.1002165" TargetMode="External"/><Relationship Id="rId3" Type="http://schemas.openxmlformats.org/officeDocument/2006/relationships/hyperlink" Target="https://doi.org/10.7554/eLife.7160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#configur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mplate.md#administrator-protect-main-in-every-generated-repository" TargetMode="External"/><Relationship Id="rId3" Type="http://schemas.openxmlformats.org/officeDocument/2006/relationships/hyperlink" Target="../../docs/ci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mplate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ssion-0.md#step-2-windows-install-wsl-and-open-ubuntu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ata/synthetic/dm.csv" TargetMode="External"/><Relationship Id="rId3" Type="http://schemas.openxmlformats.org/officeDocument/2006/relationships/hyperlink" Target="../../data/synthetic/lb.csv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llaboration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24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1: Environments, Git, and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Make a small, explainable change to a complete working example.</a:t>
            </a:r>
          </a:p>
        </p:txBody>
      </p:sp>
      <p:sp>
        <p:nvSpPr>
          <p:cNvPr id="7" name="content:line-5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Isolate Python, keep local settings private, and run the checks.</a:t>
            </a:r>
          </a:p>
        </p:txBody>
      </p:sp>
      <p:sp>
        <p:nvSpPr>
          <p:cNvPr id="8" name="content:line-6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a feature branch, a pull request, and a teammate's review.</a:t>
            </a:r>
          </a:p>
        </p:txBody>
      </p:sp>
      <p:sp>
        <p:nvSpPr>
          <p:cNvPr id="9" name="content:line-7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automated results before merging.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24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three-hour route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</a:t>
            </a:r>
          </a:p>
        </p:txBody>
      </p:sp>
      <p:sp>
        <p:nvSpPr>
          <p:cNvPr id="6" name="content:line-1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00–35: Opening — introductions, a bubble tea question, and why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results must hold.</a:t>
            </a:r>
          </a:p>
        </p:txBody>
      </p:sp>
      <p:sp>
        <p:nvSpPr>
          <p:cNvPr id="7" name="content:line-14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35–65: Explanation — environments, configuration, Git, and CI.</a:t>
            </a:r>
          </a:p>
        </p:txBody>
      </p:sp>
      <p:sp>
        <p:nvSpPr>
          <p:cNvPr id="8" name="content:line-15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65–85: Demonstration — template to a checked draft PR.</a:t>
            </a:r>
          </a:p>
        </p:txBody>
      </p:sp>
      <p:sp>
        <p:nvSpPr>
          <p:cNvPr id="9" name="content:line-16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85–100: Break — 15 minutes.</a:t>
            </a:r>
          </a:p>
        </p:txBody>
      </p:sp>
      <p:sp>
        <p:nvSpPr>
          <p:cNvPr id="10" name="content:line-17:0"/>
          <p:cNvSpPr txBox="1"/>
          <p:nvPr/>
        </p:nvSpPr>
        <p:spPr>
          <a:xfrm>
            <a:off x="594360" y="40584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100–180: Guided practice — repeat the workflow; the conflict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drill if time permits.</a:t>
            </a:r>
          </a:p>
        </p:txBody>
      </p:sp>
      <p:sp>
        <p:nvSpPr>
          <p:cNvPr id="11" name="content:line-19:0"/>
          <p:cNvSpPr txBox="1"/>
          <p:nvPr/>
        </p:nvSpPr>
        <p:spPr>
          <a:xfrm>
            <a:off x="594360" y="4902708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flexible timings total 35 minutes opening, 30 explanation,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20 demonstration, 15 break, and 80 practice. Unfinished practice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continues at home, in addition to the homework.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24</a:t>
            </a:r>
          </a:p>
        </p:txBody>
      </p:sp>
      <p:sp>
        <p:nvSpPr>
          <p:cNvPr id="4" name="title:line-2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</a:t>
            </a:r>
          </a:p>
        </p:txBody>
      </p:sp>
      <p:sp>
        <p:nvSpPr>
          <p:cNvPr id="6" name="content:line-2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At the student demo day, your bubble tea got great reviews.</a:t>
            </a:r>
          </a:p>
        </p:txBody>
      </p:sp>
      <p:sp>
        <p:nvSpPr>
          <p:cNvPr id="7" name="content:line-27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Now you want to open a shop in front of NTHU. You already have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best location and the decor.</a:t>
            </a:r>
          </a:p>
        </p:txBody>
      </p:sp>
      <p:sp>
        <p:nvSpPr>
          <p:cNvPr id="8" name="content:line-29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What do you need to take care of so every customer gets the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tea they loved?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24</a:t>
            </a:r>
          </a:p>
        </p:txBody>
      </p:sp>
      <p:sp>
        <p:nvSpPr>
          <p:cNvPr id="4" name="title:line-3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Can we trust published biomedical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research?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4</a:t>
            </a:r>
          </a:p>
        </p:txBody>
      </p:sp>
      <p:sp>
        <p:nvSpPr>
          <p:cNvPr id="6" name="content:line-35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 estimated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&gt;50%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preclinical biomedical research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irreproducible, costing about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US$28 billion a year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the US.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(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Freedman et al., PLoS Biol 2015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</a:t>
            </a:r>
          </a:p>
        </p:txBody>
      </p:sp>
      <p:sp>
        <p:nvSpPr>
          <p:cNvPr id="7" name="content:line-36:0"/>
          <p:cNvSpPr txBox="1"/>
          <p:nvPr/>
        </p:nvSpPr>
        <p:spPr>
          <a:xfrm>
            <a:off x="594360" y="293370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Cancer biology: only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46%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replications succeeded, and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74%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planned experiments could not be done at all, partly because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methods were not described in enough detail. (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Errington et al.,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eLife 2021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24</a:t>
            </a:r>
          </a:p>
        </p:txBody>
      </p:sp>
      <p:sp>
        <p:nvSpPr>
          <p:cNvPr id="4" name="title:line-4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What are we trying to preserve?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5</a:t>
            </a:r>
          </a:p>
        </p:txBody>
      </p:sp>
      <p:sp>
        <p:nvSpPr>
          <p:cNvPr id="6" name="content:line-4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matching results under the same conditions.</a:t>
            </a:r>
          </a:p>
        </p:txBody>
      </p:sp>
      <p:sp>
        <p:nvSpPr>
          <p:cNvPr id="7" name="content:line-43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matching results under slightly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conditions, such as local Python versus Docker.</a:t>
            </a:r>
          </a:p>
        </p:txBody>
      </p:sp>
      <p:sp>
        <p:nvSpPr>
          <p:cNvPr id="8" name="content:line-44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matching results under very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conditions, such as an independent simulation; conceptual here.</a:t>
            </a:r>
          </a:p>
        </p:txBody>
      </p:sp>
      <p:sp>
        <p:nvSpPr>
          <p:cNvPr id="9" name="content:line-46:0"/>
          <p:cNvSpPr txBox="1"/>
          <p:nvPr/>
        </p:nvSpPr>
        <p:spPr>
          <a:xfrm>
            <a:off x="594360" y="391820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are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course definitions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Later comparisons require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exact records/counts and declared tolerances for calculated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decimals.</a:t>
            </a:r>
          </a:p>
        </p:txBody>
      </p:sp>
      <p:sp>
        <p:nvSpPr>
          <p:cNvPr id="10" name="content:line-48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your bubble tea answers in mind.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24</a:t>
            </a:r>
          </a:p>
        </p:txBody>
      </p:sp>
      <p:sp>
        <p:nvSpPr>
          <p:cNvPr id="4" name="title:line-5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Start with a working application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6</a:t>
            </a:r>
          </a:p>
        </p:txBody>
      </p:sp>
      <p:sp>
        <p:nvSpPr>
          <p:cNvPr id="6" name="content:line-54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supplied synthetic healthcare example already joins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participant and laboratory CSVs, validates inputs, and produces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summaries.</a:t>
            </a:r>
          </a:p>
        </p:txBody>
      </p:sp>
      <p:sp>
        <p:nvSpPr>
          <p:cNvPr id="7" name="content:line-57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Streamlit upload → FastAPI request → stat_core processing</a:t>
            </a:r>
          </a:p>
        </p:txBody>
      </p:sp>
      <p:sp>
        <p:nvSpPr>
          <p:cNvPr id="8" name="content:line-58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         ← counts, records, summaries ←</a:t>
            </a:r>
          </a:p>
        </p:txBody>
      </p:sp>
      <p:sp>
        <p:nvSpPr>
          <p:cNvPr id="9" name="content:line-61:0"/>
          <p:cNvSpPr txBox="1"/>
          <p:nvPr/>
        </p:nvSpPr>
        <p:spPr>
          <a:xfrm>
            <a:off x="594360" y="368960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 we inspect and make a small change. Later sessions trace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packaging, tests, services, and Docker Compose. Model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complexity and interface polish are not the goal.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24</a:t>
            </a:r>
          </a:p>
        </p:txBody>
      </p:sp>
      <p:sp>
        <p:nvSpPr>
          <p:cNvPr id="4" name="title:line-6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Python environment belongs to one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project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7</a:t>
            </a:r>
          </a:p>
        </p:txBody>
      </p:sp>
      <p:sp>
        <p:nvSpPr>
          <p:cNvPr id="6" name="content:line-6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is a separate Python installation area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this project's packages. It avoids mixing them with global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packages or another project.</a:t>
            </a:r>
          </a:p>
        </p:txBody>
      </p:sp>
      <p:sp>
        <p:nvSpPr>
          <p:cNvPr id="7" name="content:line-69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Create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with Python 3.12; activate it in each new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terminal.</a:t>
            </a:r>
          </a:p>
        </p:txBody>
      </p:sp>
      <p:sp>
        <p:nvSpPr>
          <p:cNvPr id="8" name="content:line-7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Install declared dependencies, rather than copying another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person's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71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Activation chooses which Python runs; it does not install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packages.</a:t>
            </a:r>
          </a:p>
        </p:txBody>
      </p:sp>
      <p:sp>
        <p:nvSpPr>
          <p:cNvPr id="10" name="content:line-72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alone does not lock dependency versions.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 versions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 -m pip freeze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comparing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24  ·  CONTINUED 2</a:t>
            </a:r>
          </a:p>
        </p:txBody>
      </p:sp>
      <p:sp>
        <p:nvSpPr>
          <p:cNvPr id="4" name="title:line-6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Python environment belongs to one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project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8</a:t>
            </a:r>
          </a:p>
        </p:txBody>
      </p:sp>
      <p:sp>
        <p:nvSpPr>
          <p:cNvPr id="6" name="content:line-72:2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environments.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24</a:t>
            </a:r>
          </a:p>
        </p:txBody>
      </p:sp>
      <p:sp>
        <p:nvSpPr>
          <p:cNvPr id="4" name="title:line-7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Local configuration and shareable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examples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9</a:t>
            </a:r>
          </a:p>
        </p:txBody>
      </p:sp>
      <p:sp>
        <p:nvSpPr>
          <p:cNvPr id="6" name="content:line-7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Configuration is settings read at startup, rather than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code.</a:t>
            </a:r>
          </a:p>
        </p:txBody>
      </p:sp>
      <p:sp>
        <p:nvSpPr>
          <p:cNvPr id="7" name="content:line-80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holds your local settings; Git ignores it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81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tracked and safe to share; never put secrets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 it.</a:t>
            </a:r>
          </a:p>
        </p:txBody>
      </p:sp>
      <p:sp>
        <p:nvSpPr>
          <p:cNvPr id="9" name="content:line-82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python-dotenv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reads the root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exported variables take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precedence.</a:t>
            </a:r>
          </a:p>
        </p:txBody>
      </p:sp>
      <p:sp>
        <p:nvSpPr>
          <p:cNvPr id="10" name="content:line-83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Restart services after changes;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.gitignore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does not untrack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 already committed secret.</a:t>
            </a:r>
          </a:p>
        </p:txBody>
      </p:sp>
      <p:sp>
        <p:nvSpPr>
          <p:cNvPr id="11" name="content:line-85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LOG_LEVEL=INFO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BACKEND_URL=http://127.0.0.1:8000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24  ·  CONTINUED 2</a:t>
            </a:r>
          </a:p>
        </p:txBody>
      </p:sp>
      <p:sp>
        <p:nvSpPr>
          <p:cNvPr id="4" name="title:line-7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Local configuration and shareable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examples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10</a:t>
            </a:r>
          </a:p>
        </p:txBody>
      </p:sp>
      <p:sp>
        <p:nvSpPr>
          <p:cNvPr id="6" name="content:line-85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locally.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configuration details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24</a:t>
            </a:r>
          </a:p>
        </p:txBody>
      </p:sp>
      <p:sp>
        <p:nvSpPr>
          <p:cNvPr id="4" name="title:line-8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Git records changes; GitHub hosts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collaboration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11</a:t>
            </a:r>
          </a:p>
        </p:txBody>
      </p:sp>
      <p:sp>
        <p:nvSpPr>
          <p:cNvPr id="6" name="content:line-9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repository contains files and their recorded history.</a:t>
            </a:r>
          </a:p>
        </p:txBody>
      </p:sp>
      <p:sp>
        <p:nvSpPr>
          <p:cNvPr id="7" name="content:line-92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feature branch names a line of work for one purpose.</a:t>
            </a:r>
          </a:p>
        </p:txBody>
      </p:sp>
      <p:sp>
        <p:nvSpPr>
          <p:cNvPr id="8" name="content:line-93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Staging selects the changes for the next commit; a commit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records that snapshot with a message.</a:t>
            </a:r>
          </a:p>
        </p:txBody>
      </p:sp>
      <p:sp>
        <p:nvSpPr>
          <p:cNvPr id="9" name="content:line-94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push sends local commits to GitHub. A pull request (PR) asks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teammates to review a branch before merging.</a:t>
            </a:r>
          </a:p>
        </p:txBody>
      </p:sp>
      <p:sp>
        <p:nvSpPr>
          <p:cNvPr id="10" name="content:line-97:0"/>
          <p:cNvSpPr txBox="1"/>
          <p:nvPr/>
        </p:nvSpPr>
        <p:spPr>
          <a:xfrm>
            <a:off x="594360" y="44104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feature branch → commit → draft PR → review + checks → main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24</a:t>
            </a:r>
          </a:p>
        </p:txBody>
      </p:sp>
      <p:sp>
        <p:nvSpPr>
          <p:cNvPr id="4" name="title:line-10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CI reports; repository rules require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12</a:t>
            </a:r>
          </a:p>
        </p:txBody>
      </p:sp>
      <p:sp>
        <p:nvSpPr>
          <p:cNvPr id="6" name="content:line-104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Continuous integration (CI) runs automated checks on proposed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changes. This template runs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Backend CI → 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including documentation PRs.</a:t>
            </a:r>
          </a:p>
        </p:txBody>
      </p:sp>
      <p:sp>
        <p:nvSpPr>
          <p:cNvPr id="7" name="content:line-106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green check reports success for a particular commit; 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does not prove every requirement.</a:t>
            </a:r>
          </a:p>
        </p:txBody>
      </p:sp>
      <p:sp>
        <p:nvSpPr>
          <p:cNvPr id="8" name="content:line-107:0"/>
          <p:cNvSpPr txBox="1"/>
          <p:nvPr/>
        </p:nvSpPr>
        <p:spPr>
          <a:xfrm>
            <a:off x="594360" y="37779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Copied workflow files do not protect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automatically.</a:t>
            </a:r>
          </a:p>
        </p:txBody>
      </p:sp>
      <p:sp>
        <p:nvSpPr>
          <p:cNvPr id="9" name="content:line-108:0"/>
          <p:cNvSpPr txBox="1"/>
          <p:nvPr/>
        </p:nvSpPr>
        <p:spPr>
          <a:xfrm>
            <a:off x="594360" y="4270248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group administrator separately requires PRs, teammate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approval, conversation resolution, and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branch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protection.</a:t>
            </a:r>
          </a:p>
        </p:txBody>
      </p:sp>
      <p:sp>
        <p:nvSpPr>
          <p:cNvPr id="10" name="content:line-109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the merge box actually enforces the rule; inspect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latest commit's result.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24  ·  CONTINUED 2</a:t>
            </a:r>
          </a:p>
        </p:txBody>
      </p:sp>
      <p:sp>
        <p:nvSpPr>
          <p:cNvPr id="4" name="title:line-10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CI reports; repository rules require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13</a:t>
            </a:r>
          </a:p>
        </p:txBody>
      </p:sp>
      <p:sp>
        <p:nvSpPr>
          <p:cNvPr id="6" name="content:line-11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group protection 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CI guidance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24</a:t>
            </a:r>
          </a:p>
        </p:txBody>
      </p:sp>
      <p:sp>
        <p:nvSpPr>
          <p:cNvPr id="4" name="title:line-1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create your group's repository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14</a:t>
            </a:r>
          </a:p>
        </p:txBody>
      </p:sp>
      <p:sp>
        <p:nvSpPr>
          <p:cNvPr id="6" name="content:line-11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instructor first publishes the completed framework on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template's default branch and enables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Template repository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1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One member selects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Use this template → Create a new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repository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copy only the default branch, named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20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Invite teammates with write access and the instructor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read access.</a:t>
            </a:r>
          </a:p>
        </p:txBody>
      </p:sp>
      <p:sp>
        <p:nvSpPr>
          <p:cNvPr id="9" name="content:line-121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Replace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OWNER/GROUP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below with your group's actual owner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name.</a:t>
            </a:r>
          </a:p>
        </p:txBody>
      </p:sp>
      <p:sp>
        <p:nvSpPr>
          <p:cNvPr id="10" name="content:line-124:0"/>
          <p:cNvSpPr txBox="1"/>
          <p:nvPr/>
        </p:nvSpPr>
        <p:spPr>
          <a:xfrm>
            <a:off x="594360" y="511454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clone git@github.com:OWNER/GROUP.git</a:t>
            </a:r>
          </a:p>
        </p:txBody>
      </p:sp>
      <p:sp>
        <p:nvSpPr>
          <p:cNvPr id="11" name="content:line-125:0"/>
          <p:cNvSpPr txBox="1"/>
          <p:nvPr/>
        </p:nvSpPr>
        <p:spPr>
          <a:xfrm>
            <a:off x="594360" y="54924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cd GROUP</a:t>
            </a:r>
          </a:p>
        </p:txBody>
      </p:sp>
      <p:sp>
        <p:nvSpPr>
          <p:cNvPr id="12" name="content:line-128:0"/>
          <p:cNvSpPr txBox="1"/>
          <p:nvPr/>
        </p:nvSpPr>
        <p:spPr>
          <a:xfrm>
            <a:off x="594360" y="58704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template 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Template updates do not synchronize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24  ·  CONTINUED 2</a:t>
            </a:r>
          </a:p>
        </p:txBody>
      </p:sp>
      <p:sp>
        <p:nvSpPr>
          <p:cNvPr id="4" name="title:line-1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create your group's repository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15</a:t>
            </a:r>
          </a:p>
        </p:txBody>
      </p:sp>
      <p:sp>
        <p:nvSpPr>
          <p:cNvPr id="6" name="content:line-128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automatically.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24</a:t>
            </a:r>
          </a:p>
        </p:txBody>
      </p:sp>
      <p:sp>
        <p:nvSpPr>
          <p:cNvPr id="4" name="title:line-13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prepare Python and check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baseline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16</a:t>
            </a:r>
          </a:p>
        </p:txBody>
      </p:sp>
      <p:sp>
        <p:nvSpPr>
          <p:cNvPr id="6" name="content:line-13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from the group repository root on macOS/Linux:</a:t>
            </a:r>
          </a:p>
        </p:txBody>
      </p:sp>
      <p:sp>
        <p:nvSpPr>
          <p:cNvPr id="7" name="content:line-13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python3.12 -m venv .venv</a:t>
            </a:r>
          </a:p>
        </p:txBody>
      </p:sp>
      <p:sp>
        <p:nvSpPr>
          <p:cNvPr id="8" name="content:line-13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9" name="content:line-139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--upgrade pip</a:t>
            </a:r>
          </a:p>
        </p:txBody>
      </p:sp>
      <p:sp>
        <p:nvSpPr>
          <p:cNvPr id="10" name="content:line-140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-e './backend[dev]'</a:t>
            </a:r>
          </a:p>
        </p:txBody>
      </p:sp>
      <p:sp>
        <p:nvSpPr>
          <p:cNvPr id="11" name="content:line-141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-r frontend/requirements.txt</a:t>
            </a:r>
          </a:p>
        </p:txBody>
      </p:sp>
      <p:sp>
        <p:nvSpPr>
          <p:cNvPr id="12" name="content:line-142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test -e .env || cp .env.example .env</a:t>
            </a:r>
          </a:p>
        </p:txBody>
      </p:sp>
      <p:sp>
        <p:nvSpPr>
          <p:cNvPr id="13" name="content:line-143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14" name="content:line-146:0"/>
          <p:cNvSpPr txBox="1"/>
          <p:nvPr/>
        </p:nvSpPr>
        <p:spPr>
          <a:xfrm>
            <a:off x="594360" y="4875275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working example has 175+ tests; the count may grow.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Expect all tests to pass; read failures and warnings. 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Windows, run in the WSL Ubuntu terminal: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Session 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24</a:t>
            </a:r>
          </a:p>
        </p:txBody>
      </p:sp>
      <p:sp>
        <p:nvSpPr>
          <p:cNvPr id="4" name="title:line-15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see the example work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17</a:t>
            </a:r>
          </a:p>
        </p:txBody>
      </p:sp>
      <p:sp>
        <p:nvSpPr>
          <p:cNvPr id="6" name="content:line-15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activated environment at the root, start the API:</a:t>
            </a:r>
          </a:p>
        </p:txBody>
      </p:sp>
      <p:sp>
        <p:nvSpPr>
          <p:cNvPr id="7" name="content:line-155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8" name="content:line-156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9" name="content:line-159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it running. In a second terminal at the root:</a:t>
            </a:r>
          </a:p>
        </p:txBody>
      </p:sp>
      <p:sp>
        <p:nvSpPr>
          <p:cNvPr id="10" name="content:line-162:0"/>
          <p:cNvSpPr txBox="1"/>
          <p:nvPr/>
        </p:nvSpPr>
        <p:spPr>
          <a:xfrm>
            <a:off x="594360" y="34777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11" name="content:line-163:0"/>
          <p:cNvSpPr txBox="1"/>
          <p:nvPr/>
        </p:nvSpPr>
        <p:spPr>
          <a:xfrm>
            <a:off x="594360" y="38557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streamlit run frontend/app.py \</a:t>
            </a:r>
          </a:p>
        </p:txBody>
      </p:sp>
      <p:sp>
        <p:nvSpPr>
          <p:cNvPr id="12" name="content:line-164:0"/>
          <p:cNvSpPr txBox="1"/>
          <p:nvPr/>
        </p:nvSpPr>
        <p:spPr>
          <a:xfrm>
            <a:off x="594360" y="42336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--server.address 127.0.0.1 --server.port 8501</a:t>
            </a:r>
          </a:p>
        </p:txBody>
      </p:sp>
      <p:sp>
        <p:nvSpPr>
          <p:cNvPr id="13" name="content:line-167:0"/>
          <p:cNvSpPr txBox="1"/>
          <p:nvPr/>
        </p:nvSpPr>
        <p:spPr>
          <a:xfrm>
            <a:off x="594360" y="4611623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upload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dm.csv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lb.csv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Select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Process CSVs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expect 24 participants, 96 records, 95 observed,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one missing. Stop servers with Ctrl-C afterward.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24</a:t>
            </a:r>
          </a:p>
        </p:txBody>
      </p:sp>
      <p:sp>
        <p:nvSpPr>
          <p:cNvPr id="4" name="title:line-17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one small README change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18</a:t>
            </a:r>
          </a:p>
        </p:txBody>
      </p:sp>
      <p:sp>
        <p:nvSpPr>
          <p:cNvPr id="6" name="content:line-17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With a clean working tree, start a feature branch:</a:t>
            </a:r>
          </a:p>
        </p:txBody>
      </p:sp>
      <p:sp>
        <p:nvSpPr>
          <p:cNvPr id="7" name="content:line-176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</a:t>
            </a:r>
          </a:p>
        </p:txBody>
      </p:sp>
      <p:sp>
        <p:nvSpPr>
          <p:cNvPr id="8" name="content:line-177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main</a:t>
            </a:r>
          </a:p>
        </p:txBody>
      </p:sp>
      <p:sp>
        <p:nvSpPr>
          <p:cNvPr id="9" name="content:line-178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pull --ff-only origin main</a:t>
            </a:r>
          </a:p>
        </p:txBody>
      </p:sp>
      <p:sp>
        <p:nvSpPr>
          <p:cNvPr id="10" name="content:line-179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feature/group-purpose</a:t>
            </a:r>
          </a:p>
        </p:txBody>
      </p:sp>
      <p:sp>
        <p:nvSpPr>
          <p:cNvPr id="11" name="content:line-182:0"/>
          <p:cNvSpPr txBox="1"/>
          <p:nvPr/>
        </p:nvSpPr>
        <p:spPr>
          <a:xfrm>
            <a:off x="594360" y="3741419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README.md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add a short group-purpose paragraph: who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project serves, your chosen dataset, and the question it will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explore. Keep the synthetic example clearly labeled as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current demonstration.</a:t>
            </a:r>
          </a:p>
        </p:txBody>
      </p:sp>
      <p:sp>
        <p:nvSpPr>
          <p:cNvPr id="12" name="content:line-184:0"/>
          <p:cNvSpPr txBox="1"/>
          <p:nvPr/>
        </p:nvSpPr>
        <p:spPr>
          <a:xfrm>
            <a:off x="594360" y="528980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the edit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diff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The purpose is readable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documentation; processing behavior should still pass its checks.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24</a:t>
            </a:r>
          </a:p>
        </p:txBody>
      </p:sp>
      <p:sp>
        <p:nvSpPr>
          <p:cNvPr id="4" name="title:line-18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record and publish the change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19</a:t>
            </a:r>
          </a:p>
        </p:txBody>
      </p:sp>
      <p:sp>
        <p:nvSpPr>
          <p:cNvPr id="6" name="content:line-191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7" name="content:line-192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--check</a:t>
            </a:r>
          </a:p>
        </p:txBody>
      </p:sp>
      <p:sp>
        <p:nvSpPr>
          <p:cNvPr id="8" name="content:line-193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 README.md</a:t>
            </a:r>
          </a:p>
        </p:txBody>
      </p:sp>
      <p:sp>
        <p:nvSpPr>
          <p:cNvPr id="9" name="content:line-194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README.md</a:t>
            </a:r>
          </a:p>
        </p:txBody>
      </p:sp>
      <p:sp>
        <p:nvSpPr>
          <p:cNvPr id="10" name="content:line-195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--cached</a:t>
            </a:r>
          </a:p>
        </p:txBody>
      </p:sp>
      <p:sp>
        <p:nvSpPr>
          <p:cNvPr id="11" name="content:line-196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"Document our group's dataset and question"</a:t>
            </a:r>
          </a:p>
        </p:txBody>
      </p:sp>
      <p:sp>
        <p:nvSpPr>
          <p:cNvPr id="12" name="content:line-197:0"/>
          <p:cNvSpPr txBox="1"/>
          <p:nvPr/>
        </p:nvSpPr>
        <p:spPr>
          <a:xfrm>
            <a:off x="594360" y="40050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 -u origin feature/group-purpose</a:t>
            </a:r>
          </a:p>
        </p:txBody>
      </p:sp>
      <p:sp>
        <p:nvSpPr>
          <p:cNvPr id="13" name="content:line-200:0"/>
          <p:cNvSpPr txBox="1"/>
          <p:nvPr/>
        </p:nvSpPr>
        <p:spPr>
          <a:xfrm>
            <a:off x="594360" y="4383023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README links and wording too. Stage only the intended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file; confirm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are absent. A descriptive message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explains the purpose of the change.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24</a:t>
            </a:r>
          </a:p>
        </p:txBody>
      </p:sp>
      <p:sp>
        <p:nvSpPr>
          <p:cNvPr id="4" name="title:line-20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open a draft PR and inspect checks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20</a:t>
            </a:r>
          </a:p>
        </p:txBody>
      </p:sp>
      <p:sp>
        <p:nvSpPr>
          <p:cNvPr id="6" name="content:line-206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group repository, select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Compare &amp; pull request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base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compare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feature/group-purpose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choose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Create draft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pull request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07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Fill in the supplied PR template: purpose, before/after, actual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commands, results, and limits.</a:t>
            </a:r>
          </a:p>
        </p:txBody>
      </p:sp>
      <p:sp>
        <p:nvSpPr>
          <p:cNvPr id="8" name="content:line-208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Checks → Backend tests → Run 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Confirm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 and commit SHA, the identifier of the version checked.</a:t>
            </a:r>
          </a:p>
        </p:txBody>
      </p:sp>
      <p:sp>
        <p:nvSpPr>
          <p:cNvPr id="9" name="content:line-209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failing logs at the first failed step; correct the cause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push to the same branch. A rerun of an older commit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cannot check a new correction.</a:t>
            </a:r>
          </a:p>
        </p:txBody>
      </p:sp>
      <p:sp>
        <p:nvSpPr>
          <p:cNvPr id="10" name="content:line-211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draft signals work in progress. Mark ready for review and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24  ·  CONTINUED 2</a:t>
            </a:r>
          </a:p>
        </p:txBody>
      </p:sp>
      <p:sp>
        <p:nvSpPr>
          <p:cNvPr id="4" name="title:line-20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open a draft PR and inspect checks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21</a:t>
            </a:r>
          </a:p>
        </p:txBody>
      </p:sp>
      <p:sp>
        <p:nvSpPr>
          <p:cNvPr id="6" name="content:line-211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request a teammate when the change and evidence are ready.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24</a:t>
            </a:r>
          </a:p>
        </p:txBody>
      </p:sp>
      <p:sp>
        <p:nvSpPr>
          <p:cNvPr id="4" name="title:line-2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meaningful review helps the next reader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22</a:t>
            </a:r>
          </a:p>
        </p:txBody>
      </p:sp>
      <p:sp>
        <p:nvSpPr>
          <p:cNvPr id="6" name="content:line-21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Files changed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the purpose, and check evidence. Comment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 behavior, tests, or clarity: “Which file contains your chosen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dataset, and is the synthetic demo still distinguishable?”</a:t>
            </a:r>
          </a:p>
        </p:txBody>
      </p:sp>
      <p:sp>
        <p:nvSpPr>
          <p:cNvPr id="7" name="content:line-219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Submit a review with an explanation; approval alone or “looks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good” is insufficient.</a:t>
            </a:r>
          </a:p>
        </p:txBody>
      </p:sp>
      <p:sp>
        <p:nvSpPr>
          <p:cNvPr id="8" name="content:line-22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author replies, corrects concerns, and pushes follow-up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commits.</a:t>
            </a:r>
          </a:p>
        </p:txBody>
      </p:sp>
      <p:sp>
        <p:nvSpPr>
          <p:cNvPr id="9" name="content:line-221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reviewer checks the update and latest CI, then approves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when satisfied.</a:t>
            </a:r>
          </a:p>
        </p:txBody>
      </p:sp>
      <p:sp>
        <p:nvSpPr>
          <p:cNvPr id="10" name="content:line-222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Merge the PR through GitHub only after passing required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checks, teammate approval, and resolved discussions.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24  ·  CONTINUED 2</a:t>
            </a:r>
          </a:p>
        </p:txBody>
      </p:sp>
      <p:sp>
        <p:nvSpPr>
          <p:cNvPr id="4" name="title:line-2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meaningful review helps the next reader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23</a:t>
            </a:r>
          </a:p>
        </p:txBody>
      </p:sp>
      <p:sp>
        <p:nvSpPr>
          <p:cNvPr id="6" name="content:line-22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collaboration guidance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After merging, switch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pull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--ff-only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before new work.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24</a:t>
            </a:r>
          </a:p>
        </p:txBody>
      </p:sp>
      <p:sp>
        <p:nvSpPr>
          <p:cNvPr id="4" name="title:line-22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Break, then 80 minutes of practice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24</a:t>
            </a:r>
          </a:p>
        </p:txBody>
      </p:sp>
      <p:sp>
        <p:nvSpPr>
          <p:cNvPr id="6" name="content:line-23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Take a 15-minute break after the demonstration.</a:t>
            </a:r>
          </a:p>
        </p:txBody>
      </p:sp>
      <p:sp>
        <p:nvSpPr>
          <p:cNvPr id="7" name="content:line-232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45 minutes: create the group repository, prepare each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environment, run the example and baseline checks.</a:t>
            </a:r>
          </a:p>
        </p:txBody>
      </p:sp>
      <p:sp>
        <p:nvSpPr>
          <p:cNvPr id="8" name="content:line-233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30 minutes: each student makes a small purposeful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change, opens a draft PR, and reviews a teammate's PR.</a:t>
            </a:r>
          </a:p>
        </p:txBody>
      </p:sp>
      <p:sp>
        <p:nvSpPr>
          <p:cNvPr id="9" name="content:line-234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Last 5 minutes: record evidence and your stopping point.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Rehearse the controlled conflict below only if time permits.</a:t>
            </a:r>
          </a:p>
        </p:txBody>
      </p:sp>
      <p:sp>
        <p:nvSpPr>
          <p:cNvPr id="10" name="content:line-236:0"/>
          <p:cNvSpPr txBox="1"/>
          <p:nvPr/>
        </p:nvSpPr>
        <p:spPr>
          <a:xfrm>
            <a:off x="594360" y="476250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Finish any unfinished practice at home, in addition to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homework. Use the setup and collaboration guides when stuck.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 in the group's repository and keep changes small enough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explain.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24</a:t>
            </a:r>
          </a:p>
        </p:txBody>
      </p:sp>
      <p:sp>
        <p:nvSpPr>
          <p:cNvPr id="4" name="title:line-24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seed a disposable file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25</a:t>
            </a:r>
          </a:p>
        </p:txBody>
      </p:sp>
      <p:sp>
        <p:nvSpPr>
          <p:cNvPr id="6" name="content:line-242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conflict means Git cannot decide how overlapping edits should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combine. Rehearse locally after committing other work; 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unused branch names and a new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conflict-demo.txt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45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main</a:t>
            </a:r>
          </a:p>
        </p:txBody>
      </p:sp>
      <p:sp>
        <p:nvSpPr>
          <p:cNvPr id="8" name="content:line-246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pull --ff-only origin main</a:t>
            </a:r>
          </a:p>
        </p:txBody>
      </p:sp>
      <p:sp>
        <p:nvSpPr>
          <p:cNvPr id="9" name="content:line-247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practice/conflict-base</a:t>
            </a:r>
          </a:p>
        </p:txBody>
      </p:sp>
      <p:sp>
        <p:nvSpPr>
          <p:cNvPr id="10" name="content:line-250:0"/>
          <p:cNvSpPr txBox="1"/>
          <p:nvPr/>
        </p:nvSpPr>
        <p:spPr>
          <a:xfrm>
            <a:off x="594360" y="40675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Create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conflict-demo.txt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your editor with exactly one line: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Session plan: draft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253:0"/>
          <p:cNvSpPr txBox="1"/>
          <p:nvPr/>
        </p:nvSpPr>
        <p:spPr>
          <a:xfrm>
            <a:off x="594360" y="491185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12" name="content:line-254:0"/>
          <p:cNvSpPr txBox="1"/>
          <p:nvPr/>
        </p:nvSpPr>
        <p:spPr>
          <a:xfrm>
            <a:off x="594360" y="528980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"Seed disposable conflict example"</a:t>
            </a:r>
          </a:p>
        </p:txBody>
      </p:sp>
      <p:sp>
        <p:nvSpPr>
          <p:cNvPr id="13" name="content:line-255:0"/>
          <p:cNvSpPr txBox="1"/>
          <p:nvPr/>
        </p:nvSpPr>
        <p:spPr>
          <a:xfrm>
            <a:off x="594360" y="566775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practice/conflict-a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24</a:t>
            </a:r>
          </a:p>
        </p:txBody>
      </p:sp>
      <p:sp>
        <p:nvSpPr>
          <p:cNvPr id="4" name="title:line-26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two feature branches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26</a:t>
            </a:r>
          </a:p>
        </p:txBody>
      </p:sp>
      <p:sp>
        <p:nvSpPr>
          <p:cNvPr id="6" name="content:line-26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practice/conflict-a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replace the line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test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save, then run:</a:t>
            </a:r>
          </a:p>
        </p:txBody>
      </p:sp>
      <p:sp>
        <p:nvSpPr>
          <p:cNvPr id="7" name="content:line-265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8" name="content:line-266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"Suggest testing first"</a:t>
            </a:r>
          </a:p>
        </p:txBody>
      </p:sp>
      <p:sp>
        <p:nvSpPr>
          <p:cNvPr id="9" name="content:line-267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practice/conflict-base</a:t>
            </a:r>
          </a:p>
        </p:txBody>
      </p:sp>
      <p:sp>
        <p:nvSpPr>
          <p:cNvPr id="10" name="content:line-268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practice/conflict-b</a:t>
            </a:r>
          </a:p>
        </p:txBody>
      </p:sp>
      <p:sp>
        <p:nvSpPr>
          <p:cNvPr id="11" name="content:line-271:0"/>
          <p:cNvSpPr txBox="1"/>
          <p:nvPr/>
        </p:nvSpPr>
        <p:spPr>
          <a:xfrm>
            <a:off x="594360" y="40934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practice/conflict-b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replace the original line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plan: review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save, then run:</a:t>
            </a:r>
          </a:p>
        </p:txBody>
      </p:sp>
      <p:sp>
        <p:nvSpPr>
          <p:cNvPr id="12" name="content:line-274:0"/>
          <p:cNvSpPr txBox="1"/>
          <p:nvPr/>
        </p:nvSpPr>
        <p:spPr>
          <a:xfrm>
            <a:off x="594360" y="49377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13" name="content:line-275:0"/>
          <p:cNvSpPr txBox="1"/>
          <p:nvPr/>
        </p:nvSpPr>
        <p:spPr>
          <a:xfrm>
            <a:off x="594360" y="53157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"Suggest reviewing first"</a:t>
            </a:r>
          </a:p>
        </p:txBody>
      </p:sp>
      <p:sp>
        <p:nvSpPr>
          <p:cNvPr id="14" name="content:line-276:0"/>
          <p:cNvSpPr txBox="1"/>
          <p:nvPr/>
        </p:nvSpPr>
        <p:spPr>
          <a:xfrm>
            <a:off x="594360" y="56936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merge practice/conflict-a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24  ·  CONTINUED 2</a:t>
            </a:r>
          </a:p>
        </p:txBody>
      </p:sp>
      <p:sp>
        <p:nvSpPr>
          <p:cNvPr id="4" name="title:line-26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two feature branches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27</a:t>
            </a:r>
          </a:p>
        </p:txBody>
      </p:sp>
      <p:sp>
        <p:nvSpPr>
          <p:cNvPr id="6" name="content:line-277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</a:t>
            </a:r>
          </a:p>
        </p:txBody>
      </p:sp>
      <p:sp>
        <p:nvSpPr>
          <p:cNvPr id="7" name="content:line-280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a content conflict: both feature branches changed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same original 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24</a:t>
            </a:r>
          </a:p>
        </p:txBody>
      </p:sp>
      <p:sp>
        <p:nvSpPr>
          <p:cNvPr id="4" name="title:line-28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Resolve deliberately, or abort the merge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28</a:t>
            </a:r>
          </a:p>
        </p:txBody>
      </p:sp>
      <p:sp>
        <p:nvSpPr>
          <p:cNvPr id="6" name="content:line-286:0"/>
          <p:cNvSpPr txBox="1"/>
          <p:nvPr/>
        </p:nvSpPr>
        <p:spPr>
          <a:xfrm>
            <a:off x="594360" y="173736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conflict-demo.txt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&lt;&lt;&lt;&lt;&lt;&lt;&lt; HEAD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starts the current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review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=======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separates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incoming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test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&gt;&gt;&gt;&gt;&gt;&gt;&gt;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practice/conflict-a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ends the block.</a:t>
            </a:r>
          </a:p>
        </p:txBody>
      </p:sp>
      <p:sp>
        <p:nvSpPr>
          <p:cNvPr id="7" name="content:line-288:0"/>
          <p:cNvSpPr txBox="1"/>
          <p:nvPr/>
        </p:nvSpPr>
        <p:spPr>
          <a:xfrm>
            <a:off x="594360" y="32857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Agree 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test, then review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Replace the entire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marked block with that line; save, then run:</a:t>
            </a:r>
          </a:p>
        </p:txBody>
      </p:sp>
      <p:sp>
        <p:nvSpPr>
          <p:cNvPr id="8" name="content:line-291:0"/>
          <p:cNvSpPr txBox="1"/>
          <p:nvPr/>
        </p:nvSpPr>
        <p:spPr>
          <a:xfrm>
            <a:off x="594360" y="413004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9" name="content:line-292:0"/>
          <p:cNvSpPr txBox="1"/>
          <p:nvPr/>
        </p:nvSpPr>
        <p:spPr>
          <a:xfrm>
            <a:off x="594360" y="450799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"Resolve plan: test then review"</a:t>
            </a:r>
          </a:p>
        </p:txBody>
      </p:sp>
      <p:sp>
        <p:nvSpPr>
          <p:cNvPr id="10" name="content:line-293:0"/>
          <p:cNvSpPr txBox="1"/>
          <p:nvPr/>
        </p:nvSpPr>
        <p:spPr>
          <a:xfrm>
            <a:off x="594360" y="488594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--check</a:t>
            </a:r>
          </a:p>
        </p:txBody>
      </p:sp>
      <p:sp>
        <p:nvSpPr>
          <p:cNvPr id="11" name="content:line-294:0"/>
          <p:cNvSpPr txBox="1"/>
          <p:nvPr/>
        </p:nvSpPr>
        <p:spPr>
          <a:xfrm>
            <a:off x="594360" y="52638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12" name="content:line-297:0"/>
          <p:cNvSpPr txBox="1"/>
          <p:nvPr/>
        </p:nvSpPr>
        <p:spPr>
          <a:xfrm>
            <a:off x="594360" y="56418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If unsure before committing the resolution,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merge --abort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24  ·  CONTINUED 2</a:t>
            </a:r>
          </a:p>
        </p:txBody>
      </p:sp>
      <p:sp>
        <p:nvSpPr>
          <p:cNvPr id="4" name="title:line-28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Resolve deliberately, or abort the merge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29</a:t>
            </a:r>
          </a:p>
        </p:txBody>
      </p:sp>
      <p:sp>
        <p:nvSpPr>
          <p:cNvPr id="6" name="content:line-297:1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returns to the pre-merge state. Keep this rehearsal local;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switch back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done.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24</a:t>
            </a:r>
          </a:p>
        </p:txBody>
      </p:sp>
      <p:sp>
        <p:nvSpPr>
          <p:cNvPr id="4" name="title:line-30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Use the same recovery on real PRs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30</a:t>
            </a:r>
          </a:p>
        </p:txBody>
      </p:sp>
      <p:sp>
        <p:nvSpPr>
          <p:cNvPr id="6" name="content:line-30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Commit your work first. On your real feature branch:</a:t>
            </a:r>
          </a:p>
        </p:txBody>
      </p:sp>
      <p:sp>
        <p:nvSpPr>
          <p:cNvPr id="7" name="content:line-306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fetch origin</a:t>
            </a:r>
          </a:p>
        </p:txBody>
      </p:sp>
      <p:sp>
        <p:nvSpPr>
          <p:cNvPr id="8" name="content:line-307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merge origin/main</a:t>
            </a:r>
          </a:p>
        </p:txBody>
      </p:sp>
      <p:sp>
        <p:nvSpPr>
          <p:cNvPr id="9" name="content:line-310:0"/>
          <p:cNvSpPr txBox="1"/>
          <p:nvPr/>
        </p:nvSpPr>
        <p:spPr>
          <a:xfrm>
            <a:off x="594360" y="2985515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If Git reports conflicts, 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status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discuss both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intentions, edit out markers, stage the resolved files,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commit. Rerun relevant checks and push the feature branch.</a:t>
            </a:r>
          </a:p>
        </p:txBody>
      </p:sp>
      <p:sp>
        <p:nvSpPr>
          <p:cNvPr id="10" name="content:line-312:0"/>
          <p:cNvSpPr txBox="1"/>
          <p:nvPr/>
        </p:nvSpPr>
        <p:spPr>
          <a:xfrm>
            <a:off x="594360" y="41818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Request another review when the change needs it; new commits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may dismiss old approvals. Confirm CI belongs to the latest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 before the reviewed PR is merged into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24</a:t>
            </a:r>
          </a:p>
        </p:txBody>
      </p:sp>
      <p:sp>
        <p:nvSpPr>
          <p:cNvPr id="4" name="title:line-3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group owns the question and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31</a:t>
            </a:r>
          </a:p>
        </p:txBody>
      </p:sp>
      <p:sp>
        <p:nvSpPr>
          <p:cNvPr id="6" name="content:line-31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Groups contain three or four students, with one repository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per group.</a:t>
            </a:r>
          </a:p>
        </p:txBody>
      </p:sp>
      <p:sp>
        <p:nvSpPr>
          <p:cNvPr id="7" name="content:line-31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Choose your own dataset and question; topic approval is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required. Discussion with the instructor is available.</a:t>
            </a:r>
          </a:p>
        </p:txBody>
      </p:sp>
      <p:sp>
        <p:nvSpPr>
          <p:cNvPr id="8" name="content:line-320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Modeling is optional; complexity earns no additional credit.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FastAPI, Streamlit, and Docker Compose remain required.</a:t>
            </a:r>
          </a:p>
        </p:txBody>
      </p:sp>
      <p:sp>
        <p:nvSpPr>
          <p:cNvPr id="9" name="content:line-321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student authors at least one PR and meaningfully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reviews at least one teammate's PR using their own account.</a:t>
            </a:r>
          </a:p>
        </p:txBody>
      </p:sp>
      <p:sp>
        <p:nvSpPr>
          <p:cNvPr id="10" name="content:line-323:0"/>
          <p:cNvSpPr txBox="1"/>
          <p:nvPr/>
        </p:nvSpPr>
        <p:spPr>
          <a:xfrm>
            <a:off x="594360" y="511454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authored PR links, submitted review permalinks, and CI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links with commit SHAs in the group README as real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participation occurs.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24</a:t>
            </a:r>
          </a:p>
        </p:txBody>
      </p:sp>
      <p:sp>
        <p:nvSpPr>
          <p:cNvPr id="4" name="title:line-32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Prepare for the final presentation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32</a:t>
            </a:r>
          </a:p>
        </p:txBody>
      </p:sp>
      <p:sp>
        <p:nvSpPr>
          <p:cNvPr id="6" name="content:line-329:0"/>
          <p:cNvSpPr txBox="1"/>
          <p:nvPr/>
        </p:nvSpPr>
        <p:spPr>
          <a:xfrm>
            <a:off x="594360" y="173736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 after Session 1 is approximately two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hours, plus any unfinished guided practice: continue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PR/review workflow and document the group's dataset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question.</a:t>
            </a:r>
          </a:p>
        </p:txBody>
      </p:sp>
      <p:sp>
        <p:nvSpPr>
          <p:cNvPr id="7" name="content:line-331:0"/>
          <p:cNvSpPr txBox="1"/>
          <p:nvPr/>
        </p:nvSpPr>
        <p:spPr>
          <a:xfrm>
            <a:off x="594360" y="32857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checkpoint is preparation: isolated environment,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configuration hygiene, and visible branch/PR history.</a:t>
            </a:r>
          </a:p>
        </p:txBody>
      </p:sp>
      <p:sp>
        <p:nvSpPr>
          <p:cNvPr id="8" name="content:line-332:0"/>
          <p:cNvSpPr txBox="1"/>
          <p:nvPr/>
        </p:nvSpPr>
        <p:spPr>
          <a:xfrm>
            <a:off x="594360" y="413004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Assessment is pass/fail, entirely at the final presentation. 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engineering requirements must be met, including tests, CI,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validation, and later output comparisons.</a:t>
            </a:r>
          </a:p>
        </p:txBody>
      </p:sp>
      <p:sp>
        <p:nvSpPr>
          <p:cNvPr id="9" name="content:line-333:0"/>
          <p:cNvSpPr txBox="1"/>
          <p:nvPr/>
        </p:nvSpPr>
        <p:spPr>
          <a:xfrm>
            <a:off x="594360" y="532638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Statistical analysis correctness is not graded. Tests still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verify the processing behavior you declare.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24  ·  CONTINUED 2</a:t>
            </a:r>
          </a:p>
        </p:txBody>
      </p:sp>
      <p:sp>
        <p:nvSpPr>
          <p:cNvPr id="4" name="title:line-32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Prepare for the final presentation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33</a:t>
            </a:r>
          </a:p>
        </p:txBody>
      </p:sp>
      <p:sp>
        <p:nvSpPr>
          <p:cNvPr id="6" name="content:line-33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There is no separate submission, resubmission,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reassessment; the final result is final.</a:t>
            </a:r>
          </a:p>
        </p:txBody>
      </p:sp>
      <p:sp>
        <p:nvSpPr>
          <p:cNvPr id="7" name="content:line-336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the full requirements. Next: trace reusable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modules and package metadata.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1: Environments, Git, and CI</dc:title>
  <dc:subject>Editable slides generated from session-1.md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