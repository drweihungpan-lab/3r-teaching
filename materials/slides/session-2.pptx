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stat_core/__init__.p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stat_core/processing.p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ata/synthetic/data-dictionary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api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pyproject.to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setup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env.exampl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GLOSSARY.md" TargetMode="External"/><Relationship Id="rId3" Type="http://schemas.openxmlformats.org/officeDocument/2006/relationships/hyperlink" Target="../../SYLLABUS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 / 25</a:t>
            </a:r>
          </a:p>
        </p:txBody>
      </p:sp>
      <p:sp>
        <p:nvSpPr>
          <p:cNvPr id="4" name="title:line-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Session 2: From scripts to reusable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modules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</a:t>
            </a:r>
          </a:p>
        </p:txBody>
      </p:sp>
      <p:sp>
        <p:nvSpPr>
          <p:cNvPr id="6" name="content:line-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the supplied healthcare processing package.</a:t>
            </a:r>
          </a:p>
        </p:txBody>
      </p:sp>
      <p:sp>
        <p:nvSpPr>
          <p:cNvPr id="7" name="content:line-4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its dependencies, type hints, and logs.</a:t>
            </a:r>
          </a:p>
        </p:txBody>
      </p:sp>
      <p:sp>
        <p:nvSpPr>
          <p:cNvPr id="8" name="content:line-5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Make one small logging change through a reviewed PR.</a:t>
            </a:r>
          </a:p>
        </p:txBody>
      </p:sp>
      <p:sp>
        <p:nvSpPr>
          <p:cNvPr id="9" name="content:line-6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Start with the working example; keep its results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 / 25</a:t>
            </a:r>
          </a:p>
        </p:txBody>
      </p:sp>
      <p:sp>
        <p:nvSpPr>
          <p:cNvPr id="4" name="title:line-1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Back at the bubble tea shop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</a:t>
            </a:r>
          </a:p>
        </p:txBody>
      </p:sp>
      <p:sp>
        <p:nvSpPr>
          <p:cNvPr id="6" name="content:line-1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1" i="0">
                <a:solidFill>
                  <a:srgbClr val="20344A"/>
                </a:solidFill>
                <a:latin typeface="Arial"/>
              </a:rPr>
              <a:t>Your best staff member is sick today. Can someone else still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make your tea?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3 / 25</a:t>
            </a:r>
          </a:p>
        </p:txBody>
      </p:sp>
      <p:sp>
        <p:nvSpPr>
          <p:cNvPr id="4" name="title:line-1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Our 180-minute agenda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3</a:t>
            </a:r>
          </a:p>
        </p:txBody>
      </p:sp>
      <p:sp>
        <p:nvSpPr>
          <p:cNvPr id="6" name="content:line-18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0–45: explanation — modules, boundaries, packaging, types, logs.</a:t>
            </a:r>
          </a:p>
        </p:txBody>
      </p:sp>
      <p:sp>
        <p:nvSpPr>
          <p:cNvPr id="7" name="content:line-19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45–75: demonstration — install, trace, run, save a baseline.</a:t>
            </a:r>
          </a:p>
        </p:txBody>
      </p:sp>
      <p:sp>
        <p:nvSpPr>
          <p:cNvPr id="8" name="content:line-20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75–90: break — 15 minutes.</a:t>
            </a:r>
          </a:p>
        </p:txBody>
      </p:sp>
      <p:sp>
        <p:nvSpPr>
          <p:cNvPr id="9" name="content:line-21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90–180: guided practice — change, check, and review.</a:t>
            </a:r>
          </a:p>
        </p:txBody>
      </p:sp>
      <p:sp>
        <p:nvSpPr>
          <p:cNvPr id="10" name="content:line-22:0"/>
          <p:cNvSpPr txBox="1"/>
          <p:nvPr/>
        </p:nvSpPr>
        <p:spPr>
          <a:xfrm>
            <a:off x="594360" y="37063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Practice: trace 15 + edit 20 + check 25 + explain 15 + review 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25</a:t>
            </a:r>
          </a:p>
        </p:txBody>
      </p:sp>
      <p:sp>
        <p:nvSpPr>
          <p:cNvPr id="4" name="title:line-2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Give each processing step a home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4</a:t>
            </a:r>
          </a:p>
        </p:txBody>
      </p:sp>
      <p:sp>
        <p:nvSpPr>
          <p:cNvPr id="6" name="content:line-28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module is a Python file with a clear responsibility.</a:t>
            </a:r>
          </a:p>
        </p:txBody>
      </p:sp>
      <p:sp>
        <p:nvSpPr>
          <p:cNvPr id="7" name="content:line-29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package groups modules that can be imported together.</a:t>
            </a:r>
          </a:p>
        </p:txBody>
      </p:sp>
      <p:sp>
        <p:nvSpPr>
          <p:cNvPr id="8" name="content:line-30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exploration in a notebook; give repeated work a function.</a:t>
            </a:r>
          </a:p>
        </p:txBody>
      </p:sp>
      <p:sp>
        <p:nvSpPr>
          <p:cNvPr id="9" name="content:line-31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Pass inputs in and return results; avoid hidden notebook state.</a:t>
            </a:r>
          </a:p>
        </p:txBody>
      </p:sp>
      <p:sp>
        <p:nvSpPr>
          <p:cNvPr id="10" name="content:line-32:0"/>
          <p:cNvSpPr txBox="1"/>
          <p:nvPr/>
        </p:nvSpPr>
        <p:spPr>
          <a:xfrm>
            <a:off x="594360" y="37063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Here,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stat_core.process_csv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is the reusable entry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5 / 25</a:t>
            </a:r>
          </a:p>
        </p:txBody>
      </p:sp>
      <p:sp>
        <p:nvSpPr>
          <p:cNvPr id="4" name="title:line-3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Processing, API, and UI do different jobs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5</a:t>
            </a:r>
          </a:p>
        </p:txBody>
      </p:sp>
      <p:sp>
        <p:nvSpPr>
          <p:cNvPr id="6" name="content:line-39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UI: choose files and display results</a:t>
            </a:r>
          </a:p>
        </p:txBody>
      </p:sp>
      <p:sp>
        <p:nvSpPr>
          <p:cNvPr id="7" name="content:line-40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-&gt; API: accept uploads and report HTTP errors</a:t>
            </a:r>
          </a:p>
        </p:txBody>
      </p:sp>
      <p:sp>
        <p:nvSpPr>
          <p:cNvPr id="8" name="content:line-41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    -&gt; processing: validate, join, calculate, summarize</a:t>
            </a:r>
          </a:p>
        </p:txBody>
      </p:sp>
      <p:sp>
        <p:nvSpPr>
          <p:cNvPr id="9" name="content:line-42:0"/>
          <p:cNvSpPr txBox="1"/>
          <p:nvPr/>
        </p:nvSpPr>
        <p:spPr>
          <a:xfrm>
            <a:off x="594360" y="28712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    &lt;- result dictionary</a:t>
            </a:r>
          </a:p>
        </p:txBody>
      </p:sp>
      <p:sp>
        <p:nvSpPr>
          <p:cNvPr id="10" name="content:line-43:0"/>
          <p:cNvSpPr txBox="1"/>
          <p:nvPr/>
        </p:nvSpPr>
        <p:spPr>
          <a:xfrm>
            <a:off x="594360" y="32491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&lt;- JSON response</a:t>
            </a:r>
          </a:p>
        </p:txBody>
      </p:sp>
      <p:sp>
        <p:nvSpPr>
          <p:cNvPr id="11" name="content:line-46:0"/>
          <p:cNvSpPr txBox="1"/>
          <p:nvPr/>
        </p:nvSpPr>
        <p:spPr>
          <a:xfrm>
            <a:off x="594360" y="36271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API means a defined way for programs to communicate.</a:t>
            </a:r>
          </a:p>
        </p:txBody>
      </p:sp>
      <p:sp>
        <p:nvSpPr>
          <p:cNvPr id="12" name="content:line-47:0"/>
          <p:cNvSpPr txBox="1"/>
          <p:nvPr/>
        </p:nvSpPr>
        <p:spPr>
          <a:xfrm>
            <a:off x="594360" y="41193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UI means the screen a person uses.</a:t>
            </a:r>
          </a:p>
        </p:txBody>
      </p:sp>
      <p:sp>
        <p:nvSpPr>
          <p:cNvPr id="13" name="content:line-48:0"/>
          <p:cNvSpPr txBox="1"/>
          <p:nvPr/>
        </p:nvSpPr>
        <p:spPr>
          <a:xfrm>
            <a:off x="594360" y="4611623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UI flow is conceptual here; the supplied frontend is explored in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Session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6 / 25</a:t>
            </a:r>
          </a:p>
        </p:txBody>
      </p:sp>
      <p:sp>
        <p:nvSpPr>
          <p:cNvPr id="4" name="title:line-5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Find the actual backend modules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6</a:t>
            </a:r>
          </a:p>
        </p:txBody>
      </p:sp>
      <p:sp>
        <p:nvSpPr>
          <p:cNvPr id="6" name="content:line-55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backend/</a:t>
            </a:r>
          </a:p>
        </p:txBody>
      </p:sp>
      <p:sp>
        <p:nvSpPr>
          <p:cNvPr id="7" name="content:line-56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pyproject.toml          package and dependency metadata</a:t>
            </a:r>
          </a:p>
        </p:txBody>
      </p:sp>
      <p:sp>
        <p:nvSpPr>
          <p:cNvPr id="8" name="content:line-57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stat_core/__init__.py  public imports</a:t>
            </a:r>
          </a:p>
        </p:txBody>
      </p:sp>
      <p:sp>
        <p:nvSpPr>
          <p:cNvPr id="9" name="content:line-58:0"/>
          <p:cNvSpPr txBox="1"/>
          <p:nvPr/>
        </p:nvSpPr>
        <p:spPr>
          <a:xfrm>
            <a:off x="594360" y="28712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stat_core/processing.py  process_csv</a:t>
            </a:r>
          </a:p>
        </p:txBody>
      </p:sp>
      <p:sp>
        <p:nvSpPr>
          <p:cNvPr id="10" name="content:line-59:0"/>
          <p:cNvSpPr txBox="1"/>
          <p:nvPr/>
        </p:nvSpPr>
        <p:spPr>
          <a:xfrm>
            <a:off x="594360" y="32491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stat_core/validation.py  CSV and domain checks</a:t>
            </a:r>
          </a:p>
        </p:txBody>
      </p:sp>
      <p:sp>
        <p:nvSpPr>
          <p:cNvPr id="11" name="content:line-60:0"/>
          <p:cNvSpPr txBox="1"/>
          <p:nvPr/>
        </p:nvSpPr>
        <p:spPr>
          <a:xfrm>
            <a:off x="594360" y="36271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stat_core/schemas.py   result and error shapes</a:t>
            </a:r>
          </a:p>
        </p:txBody>
      </p:sp>
      <p:sp>
        <p:nvSpPr>
          <p:cNvPr id="12" name="content:line-61:0"/>
          <p:cNvSpPr txBox="1"/>
          <p:nvPr/>
        </p:nvSpPr>
        <p:spPr>
          <a:xfrm>
            <a:off x="594360" y="40050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stat_core/errors.py    InvalidInputError</a:t>
            </a:r>
          </a:p>
        </p:txBody>
      </p:sp>
      <p:sp>
        <p:nvSpPr>
          <p:cNvPr id="13" name="content:line-62:0"/>
          <p:cNvSpPr txBox="1"/>
          <p:nvPr/>
        </p:nvSpPr>
        <p:spPr>
          <a:xfrm>
            <a:off x="594360" y="43830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app/main.py           create_app and HTTP endpoints</a:t>
            </a:r>
          </a:p>
        </p:txBody>
      </p:sp>
      <p:sp>
        <p:nvSpPr>
          <p:cNvPr id="14" name="content:line-65:0"/>
          <p:cNvSpPr txBox="1"/>
          <p:nvPr/>
        </p:nvSpPr>
        <p:spPr>
          <a:xfrm>
            <a:off x="594360" y="476097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Trace 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public imports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25</a:t>
            </a:r>
          </a:p>
        </p:txBody>
      </p:sp>
      <p:sp>
        <p:nvSpPr>
          <p:cNvPr id="4" name="title:line-6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Follow one call through processing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7</a:t>
            </a:r>
          </a:p>
        </p:txBody>
      </p:sp>
      <p:sp>
        <p:nvSpPr>
          <p:cNvPr id="6" name="content:line-72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stat_core.process_csv(participants_csv, laboratory_csv)</a:t>
            </a:r>
          </a:p>
        </p:txBody>
      </p:sp>
      <p:sp>
        <p:nvSpPr>
          <p:cNvPr id="7" name="content:line-73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read_csv + validate_participants</a:t>
            </a:r>
          </a:p>
        </p:txBody>
      </p:sp>
      <p:sp>
        <p:nvSpPr>
          <p:cNvPr id="8" name="content:line-74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read_csv + validate_laboratory</a:t>
            </a:r>
          </a:p>
        </p:txBody>
      </p:sp>
      <p:sp>
        <p:nvSpPr>
          <p:cNvPr id="9" name="content:line-75:0"/>
          <p:cNvSpPr txBox="1"/>
          <p:nvPr/>
        </p:nvSpPr>
        <p:spPr>
          <a:xfrm>
            <a:off x="594360" y="28712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join laboratory rows to participants</a:t>
            </a:r>
          </a:p>
        </p:txBody>
      </p:sp>
      <p:sp>
        <p:nvSpPr>
          <p:cNvPr id="10" name="content:line-76:0"/>
          <p:cNvSpPr txBox="1"/>
          <p:nvPr/>
        </p:nvSpPr>
        <p:spPr>
          <a:xfrm>
            <a:off x="594360" y="32491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calculate baseline, change, percent_change</a:t>
            </a:r>
          </a:p>
        </p:txBody>
      </p:sp>
      <p:sp>
        <p:nvSpPr>
          <p:cNvPr id="11" name="content:line-77:0"/>
          <p:cNvSpPr txBox="1"/>
          <p:nvPr/>
        </p:nvSpPr>
        <p:spPr>
          <a:xfrm>
            <a:off x="594360" y="36271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build counts, arm_summaries, visit_summaries</a:t>
            </a:r>
          </a:p>
        </p:txBody>
      </p:sp>
      <p:sp>
        <p:nvSpPr>
          <p:cNvPr id="12" name="content:line-78:0"/>
          <p:cNvSpPr txBox="1"/>
          <p:nvPr/>
        </p:nvSpPr>
        <p:spPr>
          <a:xfrm>
            <a:off x="594360" y="40050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return ProcessResult.model_dump(mode="json")</a:t>
            </a:r>
          </a:p>
        </p:txBody>
      </p:sp>
      <p:sp>
        <p:nvSpPr>
          <p:cNvPr id="13" name="content:line-81:0"/>
          <p:cNvSpPr txBox="1"/>
          <p:nvPr/>
        </p:nvSpPr>
        <p:spPr>
          <a:xfrm>
            <a:off x="594360" y="438302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steps live in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processing.py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4" name="content:line-82:0"/>
          <p:cNvSpPr txBox="1"/>
          <p:nvPr/>
        </p:nvSpPr>
        <p:spPr>
          <a:xfrm>
            <a:off x="594360" y="487527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caller supplies CSV contents, not filenames or uploads.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25</a:t>
            </a:r>
          </a:p>
        </p:txBody>
      </p:sp>
      <p:sp>
        <p:nvSpPr>
          <p:cNvPr id="4" name="title:line-8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Preserve the healthcare meaning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8</a:t>
            </a:r>
          </a:p>
        </p:txBody>
      </p:sp>
      <p:sp>
        <p:nvSpPr>
          <p:cNvPr id="6" name="content:line-88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DM: 24 participants; LB: 96 laboratory records.</a:t>
            </a:r>
          </a:p>
        </p:txBody>
      </p:sp>
      <p:sp>
        <p:nvSpPr>
          <p:cNvPr id="7" name="content:line-89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Join on both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STUDYID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USUBJID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90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subject identifiers as text, including leading zeros.</a:t>
            </a:r>
          </a:p>
        </p:txBody>
      </p:sp>
      <p:sp>
        <p:nvSpPr>
          <p:cNvPr id="9" name="content:line-91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Preserve the unavailable result: 95 observed, 1 missing.</a:t>
            </a:r>
          </a:p>
        </p:txBody>
      </p:sp>
      <p:sp>
        <p:nvSpPr>
          <p:cNvPr id="10" name="content:line-92:0"/>
          <p:cNvSpPr txBox="1"/>
          <p:nvPr/>
        </p:nvSpPr>
        <p:spPr>
          <a:xfrm>
            <a:off x="594360" y="37063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Missing is not zero; means use observed values only.</a:t>
            </a:r>
          </a:p>
        </p:txBody>
      </p:sp>
      <p:sp>
        <p:nvSpPr>
          <p:cNvPr id="11" name="content:line-93:0"/>
          <p:cNvSpPr txBox="1"/>
          <p:nvPr/>
        </p:nvSpPr>
        <p:spPr>
          <a:xfrm>
            <a:off x="594360" y="41986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are invented teaching data, not clinical evidence.</a:t>
            </a:r>
          </a:p>
        </p:txBody>
      </p:sp>
      <p:sp>
        <p:nvSpPr>
          <p:cNvPr id="12" name="content:line-94:0"/>
          <p:cNvSpPr txBox="1"/>
          <p:nvPr/>
        </p:nvSpPr>
        <p:spPr>
          <a:xfrm>
            <a:off x="594360" y="46908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See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data dictionary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9 / 25</a:t>
            </a:r>
          </a:p>
        </p:txBody>
      </p:sp>
      <p:sp>
        <p:nvSpPr>
          <p:cNvPr id="4" name="title:line-9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Read a type hint as an interface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description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9</a:t>
            </a:r>
          </a:p>
        </p:txBody>
      </p:sp>
      <p:sp>
        <p:nvSpPr>
          <p:cNvPr id="6" name="content:line-10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From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backend/stat_core/processing.py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</a:t>
            </a:r>
          </a:p>
        </p:txBody>
      </p:sp>
      <p:sp>
        <p:nvSpPr>
          <p:cNvPr id="7" name="content:line-103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def process_csv(</a:t>
            </a:r>
          </a:p>
        </p:txBody>
      </p:sp>
      <p:sp>
        <p:nvSpPr>
          <p:cNvPr id="8" name="content:line-104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participants_csv: str,</a:t>
            </a:r>
          </a:p>
        </p:txBody>
      </p:sp>
      <p:sp>
        <p:nvSpPr>
          <p:cNvPr id="9" name="content:line-105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laboratory_csv: str,</a:t>
            </a:r>
          </a:p>
        </p:txBody>
      </p:sp>
      <p:sp>
        <p:nvSpPr>
          <p:cNvPr id="10" name="content:line-106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) -&gt; dict[str, Any]:</a:t>
            </a:r>
          </a:p>
        </p:txBody>
      </p:sp>
      <p:sp>
        <p:nvSpPr>
          <p:cNvPr id="11" name="content:line-109:0"/>
          <p:cNvSpPr txBox="1"/>
          <p:nvPr/>
        </p:nvSpPr>
        <p:spPr>
          <a:xfrm>
            <a:off x="594360" y="37414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str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CSV text comes in;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dict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a dictionary comes back.</a:t>
            </a:r>
          </a:p>
        </p:txBody>
      </p:sp>
      <p:sp>
        <p:nvSpPr>
          <p:cNvPr id="12" name="content:line-110:0"/>
          <p:cNvSpPr txBox="1"/>
          <p:nvPr/>
        </p:nvSpPr>
        <p:spPr>
          <a:xfrm>
            <a:off x="594360" y="42336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Any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imported from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typing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allows different value types.</a:t>
            </a:r>
          </a:p>
        </p:txBody>
      </p:sp>
      <p:sp>
        <p:nvSpPr>
          <p:cNvPr id="13" name="content:line-111:0"/>
          <p:cNvSpPr txBox="1"/>
          <p:nvPr/>
        </p:nvSpPr>
        <p:spPr>
          <a:xfrm>
            <a:off x="594360" y="472592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hint helps readers and tools; it does not check data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25</a:t>
            </a:r>
          </a:p>
        </p:txBody>
      </p:sp>
      <p:sp>
        <p:nvSpPr>
          <p:cNvPr id="4" name="title:line-1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Validation checks values while the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program runs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10</a:t>
            </a:r>
          </a:p>
        </p:txBody>
      </p:sp>
      <p:sp>
        <p:nvSpPr>
          <p:cNvPr id="6" name="content:line-117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From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backend/stat_core/schemas.py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</a:t>
            </a:r>
          </a:p>
        </p:txBody>
      </p:sp>
      <p:sp>
        <p:nvSpPr>
          <p:cNvPr id="7" name="content:line-120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value: float | None</a:t>
            </a:r>
          </a:p>
        </p:txBody>
      </p:sp>
      <p:sp>
        <p:nvSpPr>
          <p:cNvPr id="8" name="content:line-121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records: list[Record]</a:t>
            </a:r>
          </a:p>
        </p:txBody>
      </p:sp>
      <p:sp>
        <p:nvSpPr>
          <p:cNvPr id="9" name="content:line-124:0"/>
          <p:cNvSpPr txBox="1"/>
          <p:nvPr/>
        </p:nvSpPr>
        <p:spPr>
          <a:xfrm>
            <a:off x="594360" y="29855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None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means unavailable;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list[Record]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means many records.</a:t>
            </a:r>
          </a:p>
        </p:txBody>
      </p:sp>
      <p:sp>
        <p:nvSpPr>
          <p:cNvPr id="10" name="content:line-125:0"/>
          <p:cNvSpPr txBox="1"/>
          <p:nvPr/>
        </p:nvSpPr>
        <p:spPr>
          <a:xfrm>
            <a:off x="594360" y="34777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CSV checks reject invalid ages, units, keys, and dates.</a:t>
            </a:r>
          </a:p>
        </p:txBody>
      </p:sp>
      <p:sp>
        <p:nvSpPr>
          <p:cNvPr id="11" name="content:line-126:0"/>
          <p:cNvSpPr txBox="1"/>
          <p:nvPr/>
        </p:nvSpPr>
        <p:spPr>
          <a:xfrm>
            <a:off x="594360" y="39700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Pydantic models check the declared result shape.</a:t>
            </a:r>
          </a:p>
        </p:txBody>
      </p:sp>
      <p:sp>
        <p:nvSpPr>
          <p:cNvPr id="12" name="content:line-127:0"/>
          <p:cNvSpPr txBox="1"/>
          <p:nvPr/>
        </p:nvSpPr>
        <p:spPr>
          <a:xfrm>
            <a:off x="594360" y="446227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Python raises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InvalidInputError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the API maps it to HTTP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422.</a:t>
            </a:r>
          </a:p>
        </p:txBody>
      </p:sp>
      <p:sp>
        <p:nvSpPr>
          <p:cNvPr id="13" name="content:line-128:0"/>
          <p:cNvSpPr txBox="1"/>
          <p:nvPr/>
        </p:nvSpPr>
        <p:spPr>
          <a:xfrm>
            <a:off x="594360" y="53065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for exact rules and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25</a:t>
            </a:r>
          </a:p>
        </p:txBody>
      </p:sp>
      <p:sp>
        <p:nvSpPr>
          <p:cNvPr id="4" name="title:line-13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Packaging describes what gets installed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11</a:t>
            </a:r>
          </a:p>
        </p:txBody>
      </p:sp>
      <p:sp>
        <p:nvSpPr>
          <p:cNvPr id="6" name="content:line-13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Actual entries 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pyproject.toml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</a:t>
            </a:r>
          </a:p>
        </p:txBody>
      </p:sp>
      <p:sp>
        <p:nvSpPr>
          <p:cNvPr id="7" name="content:line-137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[build-system]</a:t>
            </a:r>
          </a:p>
        </p:txBody>
      </p:sp>
      <p:sp>
        <p:nvSpPr>
          <p:cNvPr id="8" name="content:line-138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requires = ["setuptools&gt;=69", "wheel"]</a:t>
            </a:r>
          </a:p>
        </p:txBody>
      </p:sp>
      <p:sp>
        <p:nvSpPr>
          <p:cNvPr id="9" name="content:line-139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build-backend = "setuptools.build_meta"</a:t>
            </a:r>
          </a:p>
        </p:txBody>
      </p:sp>
      <p:sp>
        <p:nvSpPr>
          <p:cNvPr id="10" name="content:line-140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[project]</a:t>
            </a:r>
          </a:p>
        </p:txBody>
      </p:sp>
      <p:sp>
        <p:nvSpPr>
          <p:cNvPr id="11" name="content:line-141:0"/>
          <p:cNvSpPr txBox="1"/>
          <p:nvPr/>
        </p:nvSpPr>
        <p:spPr>
          <a:xfrm>
            <a:off x="594360" y="37414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name = "three-r-backend"</a:t>
            </a:r>
          </a:p>
        </p:txBody>
      </p:sp>
      <p:sp>
        <p:nvSpPr>
          <p:cNvPr id="12" name="content:line-142:0"/>
          <p:cNvSpPr txBox="1"/>
          <p:nvPr/>
        </p:nvSpPr>
        <p:spPr>
          <a:xfrm>
            <a:off x="594360" y="41193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version = "0.1.0"</a:t>
            </a:r>
          </a:p>
        </p:txBody>
      </p:sp>
      <p:sp>
        <p:nvSpPr>
          <p:cNvPr id="13" name="content:line-143:0"/>
          <p:cNvSpPr txBox="1"/>
          <p:nvPr/>
        </p:nvSpPr>
        <p:spPr>
          <a:xfrm>
            <a:off x="594360" y="44973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requires-python = "&gt;=3.12"</a:t>
            </a:r>
          </a:p>
        </p:txBody>
      </p:sp>
      <p:sp>
        <p:nvSpPr>
          <p:cNvPr id="14" name="content:line-146:0"/>
          <p:cNvSpPr txBox="1"/>
          <p:nvPr/>
        </p:nvSpPr>
        <p:spPr>
          <a:xfrm>
            <a:off x="594360" y="487527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Metadata means the package's name, version,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requirements.</a:t>
            </a:r>
          </a:p>
        </p:txBody>
      </p:sp>
      <p:sp>
        <p:nvSpPr>
          <p:cNvPr id="15" name="content:line-147:0"/>
          <p:cNvSpPr txBox="1"/>
          <p:nvPr/>
        </p:nvSpPr>
        <p:spPr>
          <a:xfrm>
            <a:off x="594360" y="57195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Distribution name: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three-r-backend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import name: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25  ·  CONTINUED 2</a:t>
            </a:r>
          </a:p>
        </p:txBody>
      </p:sp>
      <p:sp>
        <p:nvSpPr>
          <p:cNvPr id="4" name="title:line-13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Packaging describes what gets installed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12</a:t>
            </a:r>
          </a:p>
        </p:txBody>
      </p:sp>
      <p:sp>
        <p:nvSpPr>
          <p:cNvPr id="6" name="content:line-148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Package discovery includes both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stat_core*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app*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12 / 25</a:t>
            </a:r>
          </a:p>
        </p:txBody>
      </p:sp>
      <p:sp>
        <p:nvSpPr>
          <p:cNvPr id="4" name="title:line-15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Declare dependencies instead of relying on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your laptop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13</a:t>
            </a:r>
          </a:p>
        </p:txBody>
      </p:sp>
      <p:sp>
        <p:nvSpPr>
          <p:cNvPr id="6" name="content:line-15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dependency is another package our code needs.</a:t>
            </a:r>
          </a:p>
        </p:txBody>
      </p:sp>
      <p:sp>
        <p:nvSpPr>
          <p:cNvPr id="7" name="content:line-155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Runtime: FastAPI, Pydantic, python-dotenv,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python-multipart, Uvicorn.</a:t>
            </a:r>
          </a:p>
        </p:txBody>
      </p:sp>
      <p:sp>
        <p:nvSpPr>
          <p:cNvPr id="8" name="content:line-156:0"/>
          <p:cNvSpPr txBox="1"/>
          <p:nvPr/>
        </p:nvSpPr>
        <p:spPr>
          <a:xfrm>
            <a:off x="594360" y="30739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dev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extra is an optional group: pytest and httpx for checks.</a:t>
            </a:r>
          </a:p>
        </p:txBody>
      </p:sp>
      <p:sp>
        <p:nvSpPr>
          <p:cNvPr id="9" name="content:line-157:0"/>
          <p:cNvSpPr txBox="1"/>
          <p:nvPr/>
        </p:nvSpPr>
        <p:spPr>
          <a:xfrm>
            <a:off x="594360" y="35661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Example range: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pydantic&gt;=2.9,&lt;3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allows 2.x versions from 2.9.</a:t>
            </a:r>
          </a:p>
        </p:txBody>
      </p:sp>
      <p:sp>
        <p:nvSpPr>
          <p:cNvPr id="10" name="content:line-158:0"/>
          <p:cNvSpPr txBox="1"/>
          <p:nvPr/>
        </p:nvSpPr>
        <p:spPr>
          <a:xfrm>
            <a:off x="594360" y="40584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range is not a lockfile; record resolved versions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comparisons.</a:t>
            </a:r>
          </a:p>
        </p:txBody>
      </p:sp>
      <p:sp>
        <p:nvSpPr>
          <p:cNvPr id="11" name="content:line-159:0"/>
          <p:cNvSpPr txBox="1"/>
          <p:nvPr/>
        </p:nvSpPr>
        <p:spPr>
          <a:xfrm>
            <a:off x="594360" y="49027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small CSV example uses the standard library, not pandas.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25</a:t>
            </a:r>
          </a:p>
        </p:txBody>
      </p:sp>
      <p:sp>
        <p:nvSpPr>
          <p:cNvPr id="4" name="title:line-16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Logging makes execution visible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14</a:t>
            </a:r>
          </a:p>
        </p:txBody>
      </p:sp>
      <p:sp>
        <p:nvSpPr>
          <p:cNvPr id="6" name="content:line-16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Existing module setup 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backend/stat_core/processing.py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</a:t>
            </a:r>
          </a:p>
        </p:txBody>
      </p:sp>
      <p:sp>
        <p:nvSpPr>
          <p:cNvPr id="7" name="content:line-168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import logging</a:t>
            </a:r>
          </a:p>
        </p:txBody>
      </p:sp>
      <p:sp>
        <p:nvSpPr>
          <p:cNvPr id="8" name="content:line-169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logger = logging.getLogger(__name__)</a:t>
            </a:r>
          </a:p>
        </p:txBody>
      </p:sp>
      <p:sp>
        <p:nvSpPr>
          <p:cNvPr id="9" name="content:line-172:0"/>
          <p:cNvSpPr txBox="1"/>
          <p:nvPr/>
        </p:nvSpPr>
        <p:spPr>
          <a:xfrm>
            <a:off x="594360" y="29855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logger's name is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stat_core.processing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173:0"/>
          <p:cNvSpPr txBox="1"/>
          <p:nvPr/>
        </p:nvSpPr>
        <p:spPr>
          <a:xfrm>
            <a:off x="594360" y="34777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DEBUG: diagnostic detail; INFO: normal progress.</a:t>
            </a:r>
          </a:p>
        </p:txBody>
      </p:sp>
      <p:sp>
        <p:nvSpPr>
          <p:cNvPr id="11" name="content:line-174:0"/>
          <p:cNvSpPr txBox="1"/>
          <p:nvPr/>
        </p:nvSpPr>
        <p:spPr>
          <a:xfrm>
            <a:off x="594360" y="39700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WARNING: concern; ERROR: failure; CRITICAL: severe failure.</a:t>
            </a:r>
          </a:p>
        </p:txBody>
      </p:sp>
      <p:sp>
        <p:nvSpPr>
          <p:cNvPr id="12" name="content:line-175:0"/>
          <p:cNvSpPr txBox="1"/>
          <p:nvPr/>
        </p:nvSpPr>
        <p:spPr>
          <a:xfrm>
            <a:off x="594360" y="44622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caller configures visibility; processing emits messages.</a:t>
            </a:r>
          </a:p>
        </p:txBody>
      </p:sp>
      <p:sp>
        <p:nvSpPr>
          <p:cNvPr id="13" name="content:line-176:0"/>
          <p:cNvSpPr txBox="1"/>
          <p:nvPr/>
        </p:nvSpPr>
        <p:spPr>
          <a:xfrm>
            <a:off x="594360" y="495452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Log counts and locations, never uploaded rows or identifiers.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25</a:t>
            </a:r>
          </a:p>
        </p:txBody>
      </p:sp>
      <p:sp>
        <p:nvSpPr>
          <p:cNvPr id="4" name="title:line-18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install inside an isolated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environment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15</a:t>
            </a:r>
          </a:p>
        </p:txBody>
      </p:sp>
      <p:sp>
        <p:nvSpPr>
          <p:cNvPr id="6" name="content:line-182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Run from the repository root with Python 3.12 and Git available:</a:t>
            </a:r>
          </a:p>
        </p:txBody>
      </p:sp>
      <p:sp>
        <p:nvSpPr>
          <p:cNvPr id="7" name="content:line-185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python3.12 -m venv .venv</a:t>
            </a:r>
          </a:p>
        </p:txBody>
      </p:sp>
      <p:sp>
        <p:nvSpPr>
          <p:cNvPr id="8" name="content:line-186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source .venv/bin/activate</a:t>
            </a:r>
          </a:p>
        </p:txBody>
      </p:sp>
      <p:sp>
        <p:nvSpPr>
          <p:cNvPr id="9" name="content:line-187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pip install -e './backend[dev]'</a:t>
            </a:r>
          </a:p>
        </p:txBody>
      </p:sp>
      <p:sp>
        <p:nvSpPr>
          <p:cNvPr id="10" name="content:line-188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-c 'import stat_core; print(stat_core.__file__)'</a:t>
            </a:r>
          </a:p>
        </p:txBody>
      </p:sp>
      <p:sp>
        <p:nvSpPr>
          <p:cNvPr id="11" name="content:line-191:0"/>
          <p:cNvSpPr txBox="1"/>
          <p:nvPr/>
        </p:nvSpPr>
        <p:spPr>
          <a:xfrm>
            <a:off x="594360" y="37414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printed path should end 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backend/stat_core/__init__.py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2" name="content:line-192:0"/>
          <p:cNvSpPr txBox="1"/>
          <p:nvPr/>
        </p:nvSpPr>
        <p:spPr>
          <a:xfrm>
            <a:off x="594360" y="423367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Editable means imports use this checkout's source files.</a:t>
            </a:r>
          </a:p>
        </p:txBody>
      </p:sp>
      <p:sp>
        <p:nvSpPr>
          <p:cNvPr id="13" name="content:line-193:0"/>
          <p:cNvSpPr txBox="1"/>
          <p:nvPr/>
        </p:nvSpPr>
        <p:spPr>
          <a:xfrm>
            <a:off x="594360" y="4725923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Start a new process after edits; reinstall after metadata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changes.</a:t>
            </a:r>
          </a:p>
        </p:txBody>
      </p:sp>
      <p:sp>
        <p:nvSpPr>
          <p:cNvPr id="14" name="content:line-194:0"/>
          <p:cNvSpPr txBox="1"/>
          <p:nvPr/>
        </p:nvSpPr>
        <p:spPr>
          <a:xfrm>
            <a:off x="594360" y="55702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Windows activation and setup help: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setup.md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25</a:t>
            </a:r>
          </a:p>
        </p:txBody>
      </p:sp>
      <p:sp>
        <p:nvSpPr>
          <p:cNvPr id="4" name="title:line-19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run the package without a web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server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16</a:t>
            </a:r>
          </a:p>
        </p:txBody>
      </p:sp>
      <p:sp>
        <p:nvSpPr>
          <p:cNvPr id="6" name="content:line-20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activated environment, from the repository root:</a:t>
            </a:r>
          </a:p>
        </p:txBody>
      </p:sp>
      <p:sp>
        <p:nvSpPr>
          <p:cNvPr id="7" name="content:line-203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 &lt;&lt;'PY'</a:t>
            </a:r>
          </a:p>
        </p:txBody>
      </p:sp>
      <p:sp>
        <p:nvSpPr>
          <p:cNvPr id="8" name="content:line-204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pathlib import Path</a:t>
            </a:r>
          </a:p>
        </p:txBody>
      </p:sp>
      <p:sp>
        <p:nvSpPr>
          <p:cNvPr id="9" name="content:line-205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stat_core import process_csv</a:t>
            </a:r>
          </a:p>
        </p:txBody>
      </p:sp>
      <p:sp>
        <p:nvSpPr>
          <p:cNvPr id="10" name="content:line-206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</a:p>
        </p:txBody>
      </p:sp>
      <p:sp>
        <p:nvSpPr>
          <p:cNvPr id="11" name="content:line-207:0"/>
          <p:cNvSpPr txBox="1"/>
          <p:nvPr/>
        </p:nvSpPr>
        <p:spPr>
          <a:xfrm>
            <a:off x="594360" y="37414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result = process_csv(</a:t>
            </a:r>
          </a:p>
        </p:txBody>
      </p:sp>
      <p:sp>
        <p:nvSpPr>
          <p:cNvPr id="12" name="content:line-208:0"/>
          <p:cNvSpPr txBox="1"/>
          <p:nvPr/>
        </p:nvSpPr>
        <p:spPr>
          <a:xfrm>
            <a:off x="594360" y="41193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Path("data/synthetic/dm.csv").read_text(encoding="utf-8"),</a:t>
            </a:r>
          </a:p>
        </p:txBody>
      </p:sp>
      <p:sp>
        <p:nvSpPr>
          <p:cNvPr id="13" name="content:line-209:0"/>
          <p:cNvSpPr txBox="1"/>
          <p:nvPr/>
        </p:nvSpPr>
        <p:spPr>
          <a:xfrm>
            <a:off x="594360" y="44973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Path("data/synthetic/lb.csv").read_text(encoding="utf-8"),</a:t>
            </a:r>
          </a:p>
        </p:txBody>
      </p:sp>
      <p:sp>
        <p:nvSpPr>
          <p:cNvPr id="14" name="content:line-210:0"/>
          <p:cNvSpPr txBox="1"/>
          <p:nvPr/>
        </p:nvSpPr>
        <p:spPr>
          <a:xfrm>
            <a:off x="594360" y="487527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)</a:t>
            </a:r>
          </a:p>
        </p:txBody>
      </p:sp>
      <p:sp>
        <p:nvSpPr>
          <p:cNvPr id="15" name="content:line-211:0"/>
          <p:cNvSpPr txBox="1"/>
          <p:nvPr/>
        </p:nvSpPr>
        <p:spPr>
          <a:xfrm>
            <a:off x="594360" y="525322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print(result["counts"])</a:t>
            </a:r>
          </a:p>
        </p:txBody>
      </p:sp>
      <p:sp>
        <p:nvSpPr>
          <p:cNvPr id="16" name="content:line-212:0"/>
          <p:cNvSpPr txBox="1"/>
          <p:nvPr/>
        </p:nvSpPr>
        <p:spPr>
          <a:xfrm>
            <a:off x="594360" y="563117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25  ·  CONTINUED 2</a:t>
            </a:r>
          </a:p>
        </p:txBody>
      </p:sp>
      <p:sp>
        <p:nvSpPr>
          <p:cNvPr id="4" name="title:line-19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run the package without a web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server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17</a:t>
            </a:r>
          </a:p>
        </p:txBody>
      </p:sp>
      <p:sp>
        <p:nvSpPr>
          <p:cNvPr id="6" name="content:line-215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Expected counts: participants 24, records 96, observed 95,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missing 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25</a:t>
            </a:r>
          </a:p>
        </p:txBody>
      </p:sp>
      <p:sp>
        <p:nvSpPr>
          <p:cNvPr id="4" name="title:line-21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trace the API wrapper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18</a:t>
            </a:r>
          </a:p>
        </p:txBody>
      </p:sp>
      <p:sp>
        <p:nvSpPr>
          <p:cNvPr id="6" name="content:line-221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backend/app/main.py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create_app()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registers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/process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22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It reads uploads, calls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returns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ProcessResult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225:0"/>
          <p:cNvSpPr txBox="1"/>
          <p:nvPr/>
        </p:nvSpPr>
        <p:spPr>
          <a:xfrm>
            <a:off x="594360" y="27218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uvicorn app.main:app --app-dir backend \</a:t>
            </a:r>
          </a:p>
        </p:txBody>
      </p:sp>
      <p:sp>
        <p:nvSpPr>
          <p:cNvPr id="9" name="content:line-226:0"/>
          <p:cNvSpPr txBox="1"/>
          <p:nvPr/>
        </p:nvSpPr>
        <p:spPr>
          <a:xfrm>
            <a:off x="594360" y="30998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--host 127.0.0.1 --port 8000</a:t>
            </a:r>
          </a:p>
        </p:txBody>
      </p:sp>
      <p:sp>
        <p:nvSpPr>
          <p:cNvPr id="10" name="content:line-229:0"/>
          <p:cNvSpPr txBox="1"/>
          <p:nvPr/>
        </p:nvSpPr>
        <p:spPr>
          <a:xfrm>
            <a:off x="594360" y="34777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another terminal at the repository root:</a:t>
            </a:r>
          </a:p>
        </p:txBody>
      </p:sp>
      <p:sp>
        <p:nvSpPr>
          <p:cNvPr id="11" name="content:line-232:0"/>
          <p:cNvSpPr txBox="1"/>
          <p:nvPr/>
        </p:nvSpPr>
        <p:spPr>
          <a:xfrm>
            <a:off x="594360" y="39700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http://127.0.0.1:8000/process \</a:t>
            </a:r>
          </a:p>
        </p:txBody>
      </p:sp>
      <p:sp>
        <p:nvSpPr>
          <p:cNvPr id="12" name="content:line-233:0"/>
          <p:cNvSpPr txBox="1"/>
          <p:nvPr/>
        </p:nvSpPr>
        <p:spPr>
          <a:xfrm>
            <a:off x="594360" y="43479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participants=@data/synthetic/dm.csv \</a:t>
            </a:r>
          </a:p>
        </p:txBody>
      </p:sp>
      <p:sp>
        <p:nvSpPr>
          <p:cNvPr id="13" name="content:line-234:0"/>
          <p:cNvSpPr txBox="1"/>
          <p:nvPr/>
        </p:nvSpPr>
        <p:spPr>
          <a:xfrm>
            <a:off x="594360" y="47259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laboratory=@data/synthetic/lb.csv</a:t>
            </a:r>
          </a:p>
        </p:txBody>
      </p:sp>
      <p:sp>
        <p:nvSpPr>
          <p:cNvPr id="14" name="content:line-237:0"/>
          <p:cNvSpPr txBox="1"/>
          <p:nvPr/>
        </p:nvSpPr>
        <p:spPr>
          <a:xfrm>
            <a:off x="594360" y="510387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Result keys: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counts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records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arm_summaries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visit_summaries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5" name="content:line-238:0"/>
          <p:cNvSpPr txBox="1"/>
          <p:nvPr/>
        </p:nvSpPr>
        <p:spPr>
          <a:xfrm>
            <a:off x="594360" y="559612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handles transport; the processing package owns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25  ·  CONTINUED 2</a:t>
            </a:r>
          </a:p>
        </p:txBody>
      </p:sp>
      <p:sp>
        <p:nvSpPr>
          <p:cNvPr id="4" name="title:line-21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trace the API wrapper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19</a:t>
            </a:r>
          </a:p>
        </p:txBody>
      </p:sp>
      <p:sp>
        <p:nvSpPr>
          <p:cNvPr id="6" name="content:line-238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calculations.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25</a:t>
            </a:r>
          </a:p>
        </p:txBody>
      </p:sp>
      <p:sp>
        <p:nvSpPr>
          <p:cNvPr id="4" name="title:line-24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find who configures the logs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20</a:t>
            </a:r>
          </a:p>
        </p:txBody>
      </p:sp>
      <p:sp>
        <p:nvSpPr>
          <p:cNvPr id="6" name="content:line-24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create_app()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reads root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environment variables win.</a:t>
            </a:r>
          </a:p>
        </p:txBody>
      </p:sp>
      <p:sp>
        <p:nvSpPr>
          <p:cNvPr id="7" name="content:line-245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Actual settings: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LOG_LEVEL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MAX_UPLOAD_BYTES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246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Defaults work;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.env.example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247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Restart the service after changing its settings.</a:t>
            </a:r>
          </a:p>
        </p:txBody>
      </p:sp>
      <p:sp>
        <p:nvSpPr>
          <p:cNvPr id="10" name="content:line-248:0"/>
          <p:cNvSpPr txBox="1"/>
          <p:nvPr/>
        </p:nvSpPr>
        <p:spPr>
          <a:xfrm>
            <a:off x="594360" y="37063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Direct Python callers configure logging themselves.</a:t>
            </a:r>
          </a:p>
        </p:txBody>
      </p:sp>
      <p:sp>
        <p:nvSpPr>
          <p:cNvPr id="11" name="content:line-249:0"/>
          <p:cNvSpPr txBox="1"/>
          <p:nvPr/>
        </p:nvSpPr>
        <p:spPr>
          <a:xfrm>
            <a:off x="594360" y="419861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With INFO enabled, the existing processing message is:</a:t>
            </a:r>
          </a:p>
        </p:txBody>
      </p:sp>
      <p:sp>
        <p:nvSpPr>
          <p:cNvPr id="12" name="content:line-252:0"/>
          <p:cNvSpPr txBox="1"/>
          <p:nvPr/>
        </p:nvSpPr>
        <p:spPr>
          <a:xfrm>
            <a:off x="594360" y="46908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INFO stat_core.processing: Processed participants=24</a:t>
            </a:r>
          </a:p>
        </p:txBody>
      </p:sp>
      <p:sp>
        <p:nvSpPr>
          <p:cNvPr id="13" name="content:line-253:0"/>
          <p:cNvSpPr txBox="1"/>
          <p:nvPr/>
        </p:nvSpPr>
        <p:spPr>
          <a:xfrm>
            <a:off x="594360" y="50688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records=96 observed=95 missing=1</a:t>
            </a:r>
          </a:p>
        </p:txBody>
      </p:sp>
      <p:sp>
        <p:nvSpPr>
          <p:cNvPr id="14" name="content:line-256:0"/>
          <p:cNvSpPr txBox="1"/>
          <p:nvPr/>
        </p:nvSpPr>
        <p:spPr>
          <a:xfrm>
            <a:off x="594360" y="544677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Wrapped here for readability; the real message is one 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25</a:t>
            </a:r>
          </a:p>
        </p:txBody>
      </p:sp>
      <p:sp>
        <p:nvSpPr>
          <p:cNvPr id="4" name="title:line-26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save the result before editing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21</a:t>
            </a:r>
          </a:p>
        </p:txBody>
      </p:sp>
      <p:sp>
        <p:nvSpPr>
          <p:cNvPr id="6" name="content:line-262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existing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.venv/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directory is ignored by Git.</a:t>
            </a:r>
          </a:p>
        </p:txBody>
      </p:sp>
      <p:sp>
        <p:nvSpPr>
          <p:cNvPr id="7" name="content:line-263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Save a sorted JSON snapshot there; logs use standard error.</a:t>
            </a:r>
          </a:p>
        </p:txBody>
      </p:sp>
      <p:sp>
        <p:nvSpPr>
          <p:cNvPr id="8" name="content:line-266:0"/>
          <p:cNvSpPr txBox="1"/>
          <p:nvPr/>
        </p:nvSpPr>
        <p:spPr>
          <a:xfrm>
            <a:off x="594360" y="27218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 &lt;&lt;'PY' &gt; .venv/session-2-before.json</a:t>
            </a:r>
          </a:p>
        </p:txBody>
      </p:sp>
      <p:sp>
        <p:nvSpPr>
          <p:cNvPr id="9" name="content:line-267:0"/>
          <p:cNvSpPr txBox="1"/>
          <p:nvPr/>
        </p:nvSpPr>
        <p:spPr>
          <a:xfrm>
            <a:off x="594360" y="30998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import json</a:t>
            </a:r>
          </a:p>
        </p:txBody>
      </p:sp>
      <p:sp>
        <p:nvSpPr>
          <p:cNvPr id="10" name="content:line-268:0"/>
          <p:cNvSpPr txBox="1"/>
          <p:nvPr/>
        </p:nvSpPr>
        <p:spPr>
          <a:xfrm>
            <a:off x="594360" y="34777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pathlib import Path</a:t>
            </a:r>
          </a:p>
        </p:txBody>
      </p:sp>
      <p:sp>
        <p:nvSpPr>
          <p:cNvPr id="11" name="content:line-269:0"/>
          <p:cNvSpPr txBox="1"/>
          <p:nvPr/>
        </p:nvSpPr>
        <p:spPr>
          <a:xfrm>
            <a:off x="594360" y="38557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stat_core import process_csv</a:t>
            </a:r>
          </a:p>
        </p:txBody>
      </p:sp>
      <p:sp>
        <p:nvSpPr>
          <p:cNvPr id="12" name="content:line-270:0"/>
          <p:cNvSpPr txBox="1"/>
          <p:nvPr/>
        </p:nvSpPr>
        <p:spPr>
          <a:xfrm>
            <a:off x="594360" y="42336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</a:p>
        </p:txBody>
      </p:sp>
      <p:sp>
        <p:nvSpPr>
          <p:cNvPr id="13" name="content:line-271:0"/>
          <p:cNvSpPr txBox="1"/>
          <p:nvPr/>
        </p:nvSpPr>
        <p:spPr>
          <a:xfrm>
            <a:off x="594360" y="46116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dm = Path("data/synthetic/dm.csv").read_text(encoding="utf-8")</a:t>
            </a:r>
          </a:p>
        </p:txBody>
      </p:sp>
      <p:sp>
        <p:nvSpPr>
          <p:cNvPr id="14" name="content:line-272:0"/>
          <p:cNvSpPr txBox="1"/>
          <p:nvPr/>
        </p:nvSpPr>
        <p:spPr>
          <a:xfrm>
            <a:off x="594360" y="498957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lb = Path("data/synthetic/lb.csv").read_text(encoding="utf-8")</a:t>
            </a:r>
          </a:p>
        </p:txBody>
      </p:sp>
      <p:sp>
        <p:nvSpPr>
          <p:cNvPr id="15" name="content:line-273:0"/>
          <p:cNvSpPr txBox="1"/>
          <p:nvPr/>
        </p:nvSpPr>
        <p:spPr>
          <a:xfrm>
            <a:off x="594360" y="536752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print(json.dumps(process_csv(dm, lb), sort_keys=True))</a:t>
            </a:r>
          </a:p>
        </p:txBody>
      </p:sp>
      <p:sp>
        <p:nvSpPr>
          <p:cNvPr id="16" name="content:line-274:0"/>
          <p:cNvSpPr txBox="1"/>
          <p:nvPr/>
        </p:nvSpPr>
        <p:spPr>
          <a:xfrm>
            <a:off x="594360" y="574547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25  ·  CONTINUED 2</a:t>
            </a:r>
          </a:p>
        </p:txBody>
      </p:sp>
      <p:sp>
        <p:nvSpPr>
          <p:cNvPr id="4" name="title:line-26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save the result before editing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22</a:t>
            </a:r>
          </a:p>
        </p:txBody>
      </p:sp>
      <p:sp>
        <p:nvSpPr>
          <p:cNvPr id="6" name="content:line-277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this baseline; do not overwrite it after the change.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19 / 25</a:t>
            </a:r>
          </a:p>
        </p:txBody>
      </p:sp>
      <p:sp>
        <p:nvSpPr>
          <p:cNvPr id="4" name="title:line-28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Break: 15 minutes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23</a:t>
            </a:r>
          </a:p>
        </p:txBody>
      </p:sp>
      <p:sp>
        <p:nvSpPr>
          <p:cNvPr id="6" name="content:line-28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Leave the baseline and virtual environment in place.</a:t>
            </a:r>
          </a:p>
        </p:txBody>
      </p:sp>
      <p:sp>
        <p:nvSpPr>
          <p:cNvPr id="7" name="content:line-284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Return ready to explain where processing ends and HTTP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begins.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25</a:t>
            </a:r>
          </a:p>
        </p:txBody>
      </p:sp>
      <p:sp>
        <p:nvSpPr>
          <p:cNvPr id="4" name="title:line-28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trace first, then start a branch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24</a:t>
            </a:r>
          </a:p>
        </p:txBody>
      </p:sp>
      <p:sp>
        <p:nvSpPr>
          <p:cNvPr id="6" name="content:line-29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First 15 minutes: work in your group repository.</a:t>
            </a:r>
          </a:p>
        </p:txBody>
      </p:sp>
      <p:sp>
        <p:nvSpPr>
          <p:cNvPr id="7" name="content:line-293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status --short</a:t>
            </a:r>
          </a:p>
        </p:txBody>
      </p:sp>
      <p:sp>
        <p:nvSpPr>
          <p:cNvPr id="8" name="content:line-294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-c feature/session-2-summary-log</a:t>
            </a:r>
          </a:p>
        </p:txBody>
      </p:sp>
      <p:sp>
        <p:nvSpPr>
          <p:cNvPr id="9" name="content:line-297:0"/>
          <p:cNvSpPr txBox="1"/>
          <p:nvPr/>
        </p:nvSpPr>
        <p:spPr>
          <a:xfrm>
            <a:off x="594360" y="29855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Start from the group's current default branch and clean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worktree.</a:t>
            </a:r>
          </a:p>
        </p:txBody>
      </p:sp>
      <p:sp>
        <p:nvSpPr>
          <p:cNvPr id="10" name="content:line-298:0"/>
          <p:cNvSpPr txBox="1"/>
          <p:nvPr/>
        </p:nvSpPr>
        <p:spPr>
          <a:xfrm>
            <a:off x="594360" y="382981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its existing final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logger.info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call.</a:t>
            </a:r>
          </a:p>
        </p:txBody>
      </p:sp>
      <p:sp>
        <p:nvSpPr>
          <p:cNvPr id="11" name="content:line-299:0"/>
          <p:cNvSpPr txBox="1"/>
          <p:nvPr/>
        </p:nvSpPr>
        <p:spPr>
          <a:xfrm>
            <a:off x="594360" y="432206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its input, four result keys, and callers to a teammate.</a:t>
            </a:r>
          </a:p>
        </p:txBody>
      </p:sp>
      <p:sp>
        <p:nvSpPr>
          <p:cNvPr id="12" name="content:line-300:0"/>
          <p:cNvSpPr txBox="1"/>
          <p:nvPr/>
        </p:nvSpPr>
        <p:spPr>
          <a:xfrm>
            <a:off x="594360" y="48143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Target: one DEBUG message giving the number of visit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summaries.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25</a:t>
            </a:r>
          </a:p>
        </p:txBody>
      </p:sp>
      <p:sp>
        <p:nvSpPr>
          <p:cNvPr id="4" name="title:line-30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add one diagnostic message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25</a:t>
            </a:r>
          </a:p>
        </p:txBody>
      </p:sp>
      <p:sp>
        <p:nvSpPr>
          <p:cNvPr id="6" name="content:line-306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Next 20 minutes: 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backend/stat_core/processing.py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</a:t>
            </a:r>
          </a:p>
        </p:txBody>
      </p:sp>
      <p:sp>
        <p:nvSpPr>
          <p:cNvPr id="7" name="content:line-307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insert this after the existing INFO call, before the return.</a:t>
            </a:r>
          </a:p>
        </p:txBody>
      </p:sp>
      <p:sp>
        <p:nvSpPr>
          <p:cNvPr id="8" name="content:line-308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Indent it four spaces inside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</a:t>
            </a:r>
          </a:p>
        </p:txBody>
      </p:sp>
      <p:sp>
        <p:nvSpPr>
          <p:cNvPr id="9" name="content:line-311:0"/>
          <p:cNvSpPr txBox="1"/>
          <p:nvPr/>
        </p:nvSpPr>
        <p:spPr>
          <a:xfrm>
            <a:off x="594360" y="32141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logger.debug(</a:t>
            </a:r>
          </a:p>
        </p:txBody>
      </p:sp>
      <p:sp>
        <p:nvSpPr>
          <p:cNvPr id="10" name="content:line-312:0"/>
          <p:cNvSpPr txBox="1"/>
          <p:nvPr/>
        </p:nvSpPr>
        <p:spPr>
          <a:xfrm>
            <a:off x="594360" y="35920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"Built visit summaries=%d",</a:t>
            </a:r>
          </a:p>
        </p:txBody>
      </p:sp>
      <p:sp>
        <p:nvSpPr>
          <p:cNvPr id="11" name="content:line-313:0"/>
          <p:cNvSpPr txBox="1"/>
          <p:nvPr/>
        </p:nvSpPr>
        <p:spPr>
          <a:xfrm>
            <a:off x="594360" y="39700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len(result.visit_summaries),</a:t>
            </a:r>
          </a:p>
        </p:txBody>
      </p:sp>
      <p:sp>
        <p:nvSpPr>
          <p:cNvPr id="12" name="content:line-314:0"/>
          <p:cNvSpPr txBox="1"/>
          <p:nvPr/>
        </p:nvSpPr>
        <p:spPr>
          <a:xfrm>
            <a:off x="594360" y="43479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)</a:t>
            </a:r>
          </a:p>
        </p:txBody>
      </p:sp>
      <p:sp>
        <p:nvSpPr>
          <p:cNvPr id="13" name="content:line-317:0"/>
          <p:cNvSpPr txBox="1"/>
          <p:nvPr/>
        </p:nvSpPr>
        <p:spPr>
          <a:xfrm>
            <a:off x="594360" y="472592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%d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is an integer placeholder; logging formats the value.</a:t>
            </a:r>
          </a:p>
        </p:txBody>
      </p:sp>
      <p:sp>
        <p:nvSpPr>
          <p:cNvPr id="14" name="content:line-318:0"/>
          <p:cNvSpPr txBox="1"/>
          <p:nvPr/>
        </p:nvSpPr>
        <p:spPr>
          <a:xfrm>
            <a:off x="594360" y="521817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Reuse the module logger and the already computed result.</a:t>
            </a:r>
          </a:p>
        </p:txBody>
      </p:sp>
      <p:sp>
        <p:nvSpPr>
          <p:cNvPr id="15" name="content:line-319:0"/>
          <p:cNvSpPr txBox="1"/>
          <p:nvPr/>
        </p:nvSpPr>
        <p:spPr>
          <a:xfrm>
            <a:off x="594360" y="571042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Do not put logging configuration inside the processing function.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25</a:t>
            </a:r>
          </a:p>
        </p:txBody>
      </p:sp>
      <p:sp>
        <p:nvSpPr>
          <p:cNvPr id="4" name="title:line-32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run again and compare the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complete result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26</a:t>
            </a:r>
          </a:p>
        </p:txBody>
      </p:sp>
      <p:sp>
        <p:nvSpPr>
          <p:cNvPr id="6" name="content:line-32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Next 25 minutes: enable DEBUG in this new Python process:</a:t>
            </a:r>
          </a:p>
        </p:txBody>
      </p:sp>
      <p:sp>
        <p:nvSpPr>
          <p:cNvPr id="7" name="content:line-328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 &lt;&lt;'PY' &gt; .venv/session-2-after.json</a:t>
            </a:r>
          </a:p>
        </p:txBody>
      </p:sp>
      <p:sp>
        <p:nvSpPr>
          <p:cNvPr id="8" name="content:line-329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import json</a:t>
            </a:r>
          </a:p>
        </p:txBody>
      </p:sp>
      <p:sp>
        <p:nvSpPr>
          <p:cNvPr id="9" name="content:line-330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import logging</a:t>
            </a:r>
          </a:p>
        </p:txBody>
      </p:sp>
      <p:sp>
        <p:nvSpPr>
          <p:cNvPr id="10" name="content:line-331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pathlib import Path</a:t>
            </a:r>
          </a:p>
        </p:txBody>
      </p:sp>
      <p:sp>
        <p:nvSpPr>
          <p:cNvPr id="11" name="content:line-332:0"/>
          <p:cNvSpPr txBox="1"/>
          <p:nvPr/>
        </p:nvSpPr>
        <p:spPr>
          <a:xfrm>
            <a:off x="594360" y="37414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from stat_core import process_csv</a:t>
            </a:r>
          </a:p>
        </p:txBody>
      </p:sp>
      <p:sp>
        <p:nvSpPr>
          <p:cNvPr id="12" name="content:line-333:0"/>
          <p:cNvSpPr txBox="1"/>
          <p:nvPr/>
        </p:nvSpPr>
        <p:spPr>
          <a:xfrm>
            <a:off x="594360" y="41193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</a:p>
        </p:txBody>
      </p:sp>
      <p:sp>
        <p:nvSpPr>
          <p:cNvPr id="13" name="content:line-334:0"/>
          <p:cNvSpPr txBox="1"/>
          <p:nvPr/>
        </p:nvSpPr>
        <p:spPr>
          <a:xfrm>
            <a:off x="594360" y="44973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logging.basicConfig(level=logging.DEBUG)</a:t>
            </a:r>
          </a:p>
        </p:txBody>
      </p:sp>
      <p:sp>
        <p:nvSpPr>
          <p:cNvPr id="14" name="content:line-335:0"/>
          <p:cNvSpPr txBox="1"/>
          <p:nvPr/>
        </p:nvSpPr>
        <p:spPr>
          <a:xfrm>
            <a:off x="594360" y="487527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dm = Path("data/synthetic/dm.csv").read_text(encoding="utf-8")</a:t>
            </a:r>
          </a:p>
        </p:txBody>
      </p:sp>
      <p:sp>
        <p:nvSpPr>
          <p:cNvPr id="15" name="content:line-336:0"/>
          <p:cNvSpPr txBox="1"/>
          <p:nvPr/>
        </p:nvSpPr>
        <p:spPr>
          <a:xfrm>
            <a:off x="594360" y="525322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lb = Path("data/synthetic/lb.csv").read_text(encoding="utf-8")</a:t>
            </a:r>
          </a:p>
        </p:txBody>
      </p:sp>
      <p:sp>
        <p:nvSpPr>
          <p:cNvPr id="16" name="content:line-337:0"/>
          <p:cNvSpPr txBox="1"/>
          <p:nvPr/>
        </p:nvSpPr>
        <p:spPr>
          <a:xfrm>
            <a:off x="594360" y="563117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print(json.dumps(process_csv(dm, lb), sort_keys=True))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25  ·  CONTINUED 2</a:t>
            </a:r>
          </a:p>
        </p:txBody>
      </p:sp>
      <p:sp>
        <p:nvSpPr>
          <p:cNvPr id="4" name="title:line-32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run again and compare the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complete result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27</a:t>
            </a:r>
          </a:p>
        </p:txBody>
      </p:sp>
      <p:sp>
        <p:nvSpPr>
          <p:cNvPr id="6" name="content:line-338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</a:t>
            </a:r>
          </a:p>
        </p:txBody>
      </p:sp>
      <p:sp>
        <p:nvSpPr>
          <p:cNvPr id="7" name="content:line-339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cmp .venv/session-2-before.json .venv/session-2-after.json</a:t>
            </a:r>
          </a:p>
        </p:txBody>
      </p:sp>
      <p:sp>
        <p:nvSpPr>
          <p:cNvPr id="8" name="content:line-342:0"/>
          <p:cNvSpPr txBox="1"/>
          <p:nvPr/>
        </p:nvSpPr>
        <p:spPr>
          <a:xfrm>
            <a:off x="594360" y="24932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DEBUG:stat_core.processing:Built visit summaries=8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343:0"/>
          <p:cNvSpPr txBox="1"/>
          <p:nvPr/>
        </p:nvSpPr>
        <p:spPr>
          <a:xfrm>
            <a:off x="594360" y="29855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cmp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no output and exit code 0 means identical saved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23 / 25</a:t>
            </a:r>
          </a:p>
        </p:txBody>
      </p:sp>
      <p:sp>
        <p:nvSpPr>
          <p:cNvPr id="4" name="title:line-34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explain the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28</a:t>
            </a:r>
          </a:p>
        </p:txBody>
      </p:sp>
      <p:sp>
        <p:nvSpPr>
          <p:cNvPr id="6" name="content:line-349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Next 15 minutes: discuss with a teammate.</a:t>
            </a:r>
          </a:p>
        </p:txBody>
      </p:sp>
      <p:sp>
        <p:nvSpPr>
          <p:cNvPr id="7" name="content:line-351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Run the previous Python block again: same input, same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environment.</a:t>
            </a:r>
          </a:p>
        </p:txBody>
      </p:sp>
      <p:sp>
        <p:nvSpPr>
          <p:cNvPr id="8" name="content:line-352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saved result must still match; the DEBUG message stays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separate.</a:t>
            </a:r>
          </a:p>
        </p:txBody>
      </p:sp>
      <p:sp>
        <p:nvSpPr>
          <p:cNvPr id="9" name="content:line-353:0"/>
          <p:cNvSpPr txBox="1"/>
          <p:nvPr/>
        </p:nvSpPr>
        <p:spPr>
          <a:xfrm>
            <a:off x="594360" y="391820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At INFO level, the new DEBUG message should disappear.</a:t>
            </a:r>
          </a:p>
        </p:txBody>
      </p:sp>
      <p:sp>
        <p:nvSpPr>
          <p:cNvPr id="10" name="content:line-354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No message? Check log level, insertion point, and imported file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path.</a:t>
            </a:r>
          </a:p>
        </p:txBody>
      </p:sp>
      <p:sp>
        <p:nvSpPr>
          <p:cNvPr id="11" name="content:line-355:0"/>
          <p:cNvSpPr txBox="1"/>
          <p:nvPr/>
        </p:nvSpPr>
        <p:spPr>
          <a:xfrm>
            <a:off x="594360" y="525475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Import fails? Check environment, editable install, and working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folder.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23 / 25  ·  CONTINUED 2</a:t>
            </a:r>
          </a:p>
        </p:txBody>
      </p:sp>
      <p:sp>
        <p:nvSpPr>
          <p:cNvPr id="4" name="title:line-34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explain the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29</a:t>
            </a:r>
          </a:p>
        </p:txBody>
      </p:sp>
      <p:sp>
        <p:nvSpPr>
          <p:cNvPr id="6" name="content:line-356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changed result needs investigation before review.</a:t>
            </a:r>
          </a:p>
        </p:txBody>
      </p:sp>
      <p:sp>
        <p:nvSpPr>
          <p:cNvPr id="7" name="content:line-357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logging change uses exact JSON equality, with no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tolerance.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24 / 25</a:t>
            </a:r>
          </a:p>
        </p:txBody>
      </p:sp>
      <p:sp>
        <p:nvSpPr>
          <p:cNvPr id="4" name="title:line-36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open a PR and give meaningful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review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30</a:t>
            </a:r>
          </a:p>
        </p:txBody>
      </p:sp>
      <p:sp>
        <p:nvSpPr>
          <p:cNvPr id="6" name="content:line-36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Final 15 minutes: inspect and publish only the small source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change.</a:t>
            </a:r>
          </a:p>
        </p:txBody>
      </p:sp>
      <p:sp>
        <p:nvSpPr>
          <p:cNvPr id="7" name="content:line-366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--check</a:t>
            </a:r>
          </a:p>
        </p:txBody>
      </p:sp>
      <p:sp>
        <p:nvSpPr>
          <p:cNvPr id="8" name="content:line-367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 backend/stat_core/processing.py</a:t>
            </a:r>
          </a:p>
        </p:txBody>
      </p:sp>
      <p:sp>
        <p:nvSpPr>
          <p:cNvPr id="9" name="content:line-368:0"/>
          <p:cNvSpPr txBox="1"/>
          <p:nvPr/>
        </p:nvSpPr>
        <p:spPr>
          <a:xfrm>
            <a:off x="594360" y="33375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backend/stat_core/processing.py</a:t>
            </a:r>
          </a:p>
        </p:txBody>
      </p:sp>
      <p:sp>
        <p:nvSpPr>
          <p:cNvPr id="10" name="content:line-369:0"/>
          <p:cNvSpPr txBox="1"/>
          <p:nvPr/>
        </p:nvSpPr>
        <p:spPr>
          <a:xfrm>
            <a:off x="594360" y="37155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"Log visit summary count at debug level"</a:t>
            </a:r>
          </a:p>
        </p:txBody>
      </p:sp>
      <p:sp>
        <p:nvSpPr>
          <p:cNvPr id="11" name="content:line-370:0"/>
          <p:cNvSpPr txBox="1"/>
          <p:nvPr/>
        </p:nvSpPr>
        <p:spPr>
          <a:xfrm>
            <a:off x="594360" y="40934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push -u origin feature/session-2-summary-log</a:t>
            </a:r>
          </a:p>
        </p:txBody>
      </p:sp>
      <p:sp>
        <p:nvSpPr>
          <p:cNvPr id="12" name="content:line-373:0"/>
          <p:cNvSpPr txBox="1"/>
          <p:nvPr/>
        </p:nvSpPr>
        <p:spPr>
          <a:xfrm>
            <a:off x="594360" y="44714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a pull request to the group repository's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on GitHub.</a:t>
            </a:r>
          </a:p>
        </p:txBody>
      </p:sp>
      <p:sp>
        <p:nvSpPr>
          <p:cNvPr id="13" name="content:line-374:0"/>
          <p:cNvSpPr txBox="1"/>
          <p:nvPr/>
        </p:nvSpPr>
        <p:spPr>
          <a:xfrm>
            <a:off x="594360" y="496366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Describe the message, DEBUG output, and identical JSON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evidence.</a:t>
            </a:r>
          </a:p>
        </p:txBody>
      </p:sp>
      <p:sp>
        <p:nvSpPr>
          <p:cNvPr id="14" name="content:line-375:0"/>
          <p:cNvSpPr txBox="1"/>
          <p:nvPr/>
        </p:nvSpPr>
        <p:spPr>
          <a:xfrm>
            <a:off x="594360" y="580796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teammate checks placement, clarity, and absence of row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24 / 25  ·  CONTINUED 2</a:t>
            </a:r>
          </a:p>
        </p:txBody>
      </p:sp>
      <p:sp>
        <p:nvSpPr>
          <p:cNvPr id="4" name="title:line-36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Practice: open a PR and give meaningful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review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31</a:t>
            </a:r>
          </a:p>
        </p:txBody>
      </p:sp>
      <p:sp>
        <p:nvSpPr>
          <p:cNvPr id="6" name="content:line-375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data.</a:t>
            </a:r>
          </a:p>
        </p:txBody>
      </p:sp>
      <p:sp>
        <p:nvSpPr>
          <p:cNvPr id="7" name="content:line-376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Inspect available PR checks; address review before merging.</a:t>
            </a:r>
          </a:p>
        </p:txBody>
      </p:sp>
      <p:sp>
        <p:nvSpPr>
          <p:cNvPr id="8" name="content:line-377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an authored PR and a meaningful teammate review per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student.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25 / 25</a:t>
            </a:r>
          </a:p>
        </p:txBody>
      </p:sp>
      <p:sp>
        <p:nvSpPr>
          <p:cNvPr id="4" name="title:line-38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Checkpoint: explain the framework in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plain English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32</a:t>
            </a:r>
          </a:p>
        </p:txBody>
      </p:sp>
      <p:sp>
        <p:nvSpPr>
          <p:cNvPr id="6" name="content:line-38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Module: one file's job; package: reusable imports plus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metadata.</a:t>
            </a:r>
          </a:p>
        </p:txBody>
      </p:sp>
      <p:sp>
        <p:nvSpPr>
          <p:cNvPr id="7" name="content:line-384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Processing owns calculations; API owns HTTP; UI owns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interaction.</a:t>
            </a:r>
          </a:p>
        </p:txBody>
      </p:sp>
      <p:sp>
        <p:nvSpPr>
          <p:cNvPr id="8" name="content:line-385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Editable install connects the environment to your source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checkout.</a:t>
            </a:r>
          </a:p>
        </p:txBody>
      </p:sp>
      <p:sp>
        <p:nvSpPr>
          <p:cNvPr id="9" name="content:line-386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Type hints describe values; validation checks them; logs explain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runs.</a:t>
            </a:r>
          </a:p>
        </p:txBody>
      </p:sp>
      <p:sp>
        <p:nvSpPr>
          <p:cNvPr id="10" name="content:line-387:0"/>
          <p:cNvSpPr txBox="1"/>
          <p:nvPr/>
        </p:nvSpPr>
        <p:spPr>
          <a:xfrm>
            <a:off x="594360" y="511454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Repeatability: agreement under the same conditions.</a:t>
            </a:r>
          </a:p>
        </p:txBody>
      </p:sp>
      <p:sp>
        <p:nvSpPr>
          <p:cNvPr id="11" name="content:line-388:0"/>
          <p:cNvSpPr txBox="1"/>
          <p:nvPr/>
        </p:nvSpPr>
        <p:spPr>
          <a:xfrm>
            <a:off x="594360" y="56067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Replicability: same process under slightly different conditions.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25 / 25  ·  CONTINUED 2</a:t>
            </a:r>
          </a:p>
        </p:txBody>
      </p:sp>
      <p:sp>
        <p:nvSpPr>
          <p:cNvPr id="4" name="title:line-38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Checkpoint: explain the framework in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plain English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session-2.md   ·   33</a:t>
            </a:r>
          </a:p>
        </p:txBody>
      </p:sp>
      <p:sp>
        <p:nvSpPr>
          <p:cNvPr id="6" name="content:line-38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Reproducibility: very different conditions, such as independent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simulation.</a:t>
            </a:r>
          </a:p>
        </p:txBody>
      </p:sp>
      <p:sp>
        <p:nvSpPr>
          <p:cNvPr id="7" name="content:line-390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Local/Docker comparison comes later; decimals need declared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tolerances.</a:t>
            </a:r>
          </a:p>
        </p:txBody>
      </p:sp>
      <p:sp>
        <p:nvSpPr>
          <p:cNvPr id="8" name="content:line-391:0"/>
          <p:cNvSpPr txBox="1"/>
          <p:nvPr/>
        </p:nvSpPr>
        <p:spPr>
          <a:xfrm>
            <a:off x="594360" y="342595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Course meanings and next session: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glossary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From scripts to reusable modules</dc:title>
  <dc:subject>Editable slides generated from session-2.md</dc:subject>
  <dc:creator>Three-R course</dc:creator>
  <cp:keywords>editable, Markdown, course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