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</p:sldIdLst>
  <p:sldSz cx="12191999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github.com/drweihungpan-lab/3R-device-example" TargetMode="Externa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../../backend/stat_core/__init__.py" TargetMode="Externa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../../backend/stat_core/processing.py" TargetMode="Externa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../../data/synthetic/data-dictionary.md" TargetMode="Externa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../../docs/api.md" TargetMode="Externa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../../backend/pyproject.toml" TargetMode="Externa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../../docs/session-0.md#step-2-windows-install-wsl-and-open-ubuntu" TargetMode="Externa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../../docs/setup.md" TargetMode="Externa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../../.env.example" TargetMode="Externa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../../GLOSSARY.md" TargetMode="External"/><Relationship Id="rId3" Type="http://schemas.openxmlformats.org/officeDocument/2006/relationships/hyperlink" Target="../../SYLLABUS.md" TargetMode="Externa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C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accent"/>
          <p:cNvSpPr/>
          <p:nvPr/>
        </p:nvSpPr>
        <p:spPr>
          <a:xfrm>
            <a:off x="0" y="0"/>
            <a:ext cx="12191999" cy="64008"/>
          </a:xfrm>
          <a:prstGeom prst="rect">
            <a:avLst/>
          </a:prstGeom>
          <a:solidFill>
            <a:srgbClr val="007F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section"/>
          <p:cNvSpPr txBox="1"/>
          <p:nvPr/>
        </p:nvSpPr>
        <p:spPr>
          <a:xfrm>
            <a:off x="594360" y="201168"/>
            <a:ext cx="11003279" cy="256032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1452"/>
              </a:lnSpc>
              <a:spcBef>
                <a:spcPts val="0"/>
              </a:spcBef>
              <a:spcAft>
                <a:spcPts val="0"/>
              </a:spcAft>
              <a:defRPr sz="1100">
                <a:solidFill>
                  <a:srgbClr val="53677A"/>
                </a:solidFill>
                <a:latin typeface="Arial"/>
              </a:defRPr>
            </a:pPr>
            <a:r>
              <a:t>SOURCE 1 / 27</a:t>
            </a:r>
          </a:p>
        </p:txBody>
      </p:sp>
      <p:sp>
        <p:nvSpPr>
          <p:cNvPr id="4" name="title:line-1"/>
          <p:cNvSpPr txBox="1"/>
          <p:nvPr/>
        </p:nvSpPr>
        <p:spPr>
          <a:xfrm>
            <a:off x="594360" y="530352"/>
            <a:ext cx="11003279" cy="1161288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4000"/>
              </a:lnSpc>
              <a:spcBef>
                <a:spcPts val="0"/>
              </a:spcBef>
              <a:spcAft>
                <a:spcPts val="0"/>
              </a:spcAft>
              <a:defRPr sz="3200">
                <a:solidFill>
                  <a:srgbClr val="20344A"/>
                </a:solidFill>
                <a:latin typeface="Arial"/>
              </a:defRPr>
            </a:pPr>
            <a:r>
              <a:rPr sz="3200" b="0" i="0">
                <a:solidFill>
                  <a:srgbClr val="20344A"/>
                </a:solidFill>
                <a:latin typeface="Arial"/>
              </a:rPr>
              <a:t>Session 2: From scripts to reusable </a:t>
            </a:r>
            <a:br/>
            <a:r>
              <a:rPr sz="3200" b="0" i="0">
                <a:solidFill>
                  <a:srgbClr val="20344A"/>
                </a:solidFill>
                <a:latin typeface="Arial"/>
              </a:rPr>
              <a:t>modules</a:t>
            </a:r>
          </a:p>
        </p:txBody>
      </p:sp>
      <p:sp>
        <p:nvSpPr>
          <p:cNvPr id="5" name="footer"/>
          <p:cNvSpPr txBox="1"/>
          <p:nvPr/>
        </p:nvSpPr>
        <p:spPr>
          <a:xfrm>
            <a:off x="594360" y="6510528"/>
            <a:ext cx="11003279" cy="219456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1320"/>
              </a:lnSpc>
              <a:spcBef>
                <a:spcPts val="0"/>
              </a:spcBef>
              <a:spcAft>
                <a:spcPts val="0"/>
              </a:spcAft>
              <a:defRPr sz="1000">
                <a:solidFill>
                  <a:srgbClr val="53677A"/>
                </a:solidFill>
                <a:latin typeface="Arial"/>
              </a:defRPr>
            </a:pPr>
            <a:r>
              <a:t>session-2.md   ·   1</a:t>
            </a:r>
          </a:p>
        </p:txBody>
      </p:sp>
      <p:sp>
        <p:nvSpPr>
          <p:cNvPr id="6" name="content:line-3:0"/>
          <p:cNvSpPr txBox="1"/>
          <p:nvPr/>
        </p:nvSpPr>
        <p:spPr>
          <a:xfrm>
            <a:off x="594360" y="1737360"/>
            <a:ext cx="11003279" cy="428244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 marL="279400" indent="-215900">
              <a:lnSpc>
                <a:spcPts val="2772"/>
              </a:lnSpc>
              <a:spcBef>
                <a:spcPts val="0"/>
              </a:spcBef>
              <a:spcAft>
                <a:spcPts val="0"/>
              </a:spcAft>
              <a:defRPr sz="2100">
                <a:solidFill>
                  <a:srgbClr val="20344A"/>
                </a:solidFill>
                <a:latin typeface="Arial"/>
              </a:defRPr>
              <a:buChar char="•"/>
            </a:pPr>
            <a:r>
              <a:rPr sz="2100" b="0" i="0">
                <a:solidFill>
                  <a:srgbClr val="20344A"/>
                </a:solidFill>
                <a:latin typeface="Arial"/>
              </a:rPr>
              <a:t>Follow the supplied healthcare processing package.</a:t>
            </a:r>
          </a:p>
        </p:txBody>
      </p:sp>
      <p:sp>
        <p:nvSpPr>
          <p:cNvPr id="7" name="content:line-4:0"/>
          <p:cNvSpPr txBox="1"/>
          <p:nvPr/>
        </p:nvSpPr>
        <p:spPr>
          <a:xfrm>
            <a:off x="594360" y="2229612"/>
            <a:ext cx="11003279" cy="428244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 marL="279400" indent="-215900">
              <a:lnSpc>
                <a:spcPts val="2772"/>
              </a:lnSpc>
              <a:spcBef>
                <a:spcPts val="0"/>
              </a:spcBef>
              <a:spcAft>
                <a:spcPts val="0"/>
              </a:spcAft>
              <a:defRPr sz="2100">
                <a:solidFill>
                  <a:srgbClr val="20344A"/>
                </a:solidFill>
                <a:latin typeface="Arial"/>
              </a:defRPr>
              <a:buChar char="•"/>
            </a:pPr>
            <a:r>
              <a:rPr sz="2100" b="0" i="0">
                <a:solidFill>
                  <a:srgbClr val="20344A"/>
                </a:solidFill>
                <a:latin typeface="Arial"/>
              </a:rPr>
              <a:t>Read its dependencies, type hints, and logs.</a:t>
            </a:r>
          </a:p>
        </p:txBody>
      </p:sp>
      <p:sp>
        <p:nvSpPr>
          <p:cNvPr id="8" name="content:line-5:0"/>
          <p:cNvSpPr txBox="1"/>
          <p:nvPr/>
        </p:nvSpPr>
        <p:spPr>
          <a:xfrm>
            <a:off x="594360" y="2721864"/>
            <a:ext cx="11003279" cy="428244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 marL="279400" indent="-215900">
              <a:lnSpc>
                <a:spcPts val="2772"/>
              </a:lnSpc>
              <a:spcBef>
                <a:spcPts val="0"/>
              </a:spcBef>
              <a:spcAft>
                <a:spcPts val="0"/>
              </a:spcAft>
              <a:defRPr sz="2100">
                <a:solidFill>
                  <a:srgbClr val="20344A"/>
                </a:solidFill>
                <a:latin typeface="Arial"/>
              </a:defRPr>
              <a:buChar char="•"/>
            </a:pPr>
            <a:r>
              <a:rPr sz="2100" b="0" i="0">
                <a:solidFill>
                  <a:srgbClr val="20344A"/>
                </a:solidFill>
                <a:latin typeface="Arial"/>
              </a:rPr>
              <a:t>Make one small logging change through a reviewed PR.</a:t>
            </a:r>
          </a:p>
        </p:txBody>
      </p:sp>
      <p:sp>
        <p:nvSpPr>
          <p:cNvPr id="9" name="content:line-6:0"/>
          <p:cNvSpPr txBox="1"/>
          <p:nvPr/>
        </p:nvSpPr>
        <p:spPr>
          <a:xfrm>
            <a:off x="594360" y="3214115"/>
            <a:ext cx="11003279" cy="428244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 marL="279400" indent="-215900">
              <a:lnSpc>
                <a:spcPts val="2772"/>
              </a:lnSpc>
              <a:spcBef>
                <a:spcPts val="0"/>
              </a:spcBef>
              <a:spcAft>
                <a:spcPts val="0"/>
              </a:spcAft>
              <a:defRPr sz="2100">
                <a:solidFill>
                  <a:srgbClr val="20344A"/>
                </a:solidFill>
                <a:latin typeface="Arial"/>
              </a:defRPr>
              <a:buChar char="•"/>
            </a:pPr>
            <a:r>
              <a:rPr sz="2100" b="0" i="0">
                <a:solidFill>
                  <a:srgbClr val="20344A"/>
                </a:solidFill>
                <a:latin typeface="Arial"/>
              </a:rPr>
              <a:t>Start with the working example; keep its results unchanged.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C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accent"/>
          <p:cNvSpPr/>
          <p:nvPr/>
        </p:nvSpPr>
        <p:spPr>
          <a:xfrm>
            <a:off x="0" y="0"/>
            <a:ext cx="12191999" cy="64008"/>
          </a:xfrm>
          <a:prstGeom prst="rect">
            <a:avLst/>
          </a:prstGeom>
          <a:solidFill>
            <a:srgbClr val="007F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section"/>
          <p:cNvSpPr txBox="1"/>
          <p:nvPr/>
        </p:nvSpPr>
        <p:spPr>
          <a:xfrm>
            <a:off x="594360" y="201168"/>
            <a:ext cx="11003279" cy="256032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1452"/>
              </a:lnSpc>
              <a:spcBef>
                <a:spcPts val="0"/>
              </a:spcBef>
              <a:spcAft>
                <a:spcPts val="0"/>
              </a:spcAft>
              <a:defRPr sz="1100">
                <a:solidFill>
                  <a:srgbClr val="53677A"/>
                </a:solidFill>
                <a:latin typeface="Arial"/>
              </a:defRPr>
            </a:pPr>
            <a:r>
              <a:t>SOURCE 2 / 27</a:t>
            </a:r>
          </a:p>
        </p:txBody>
      </p:sp>
      <p:sp>
        <p:nvSpPr>
          <p:cNvPr id="4" name="title:line-10"/>
          <p:cNvSpPr txBox="1"/>
          <p:nvPr/>
        </p:nvSpPr>
        <p:spPr>
          <a:xfrm>
            <a:off x="594360" y="530352"/>
            <a:ext cx="11003279" cy="1161288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4000"/>
              </a:lnSpc>
              <a:spcBef>
                <a:spcPts val="0"/>
              </a:spcBef>
              <a:spcAft>
                <a:spcPts val="0"/>
              </a:spcAft>
              <a:defRPr sz="3200">
                <a:solidFill>
                  <a:srgbClr val="20344A"/>
                </a:solidFill>
                <a:latin typeface="Arial"/>
              </a:defRPr>
            </a:pPr>
            <a:r>
              <a:rPr sz="3200" b="0" i="0">
                <a:solidFill>
                  <a:srgbClr val="20344A"/>
                </a:solidFill>
                <a:latin typeface="Arial"/>
              </a:rPr>
              <a:t>Back at the bubble tea shop</a:t>
            </a:r>
          </a:p>
        </p:txBody>
      </p:sp>
      <p:sp>
        <p:nvSpPr>
          <p:cNvPr id="5" name="footer"/>
          <p:cNvSpPr txBox="1"/>
          <p:nvPr/>
        </p:nvSpPr>
        <p:spPr>
          <a:xfrm>
            <a:off x="594360" y="6510528"/>
            <a:ext cx="11003279" cy="219456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1320"/>
              </a:lnSpc>
              <a:spcBef>
                <a:spcPts val="0"/>
              </a:spcBef>
              <a:spcAft>
                <a:spcPts val="0"/>
              </a:spcAft>
              <a:defRPr sz="1000">
                <a:solidFill>
                  <a:srgbClr val="53677A"/>
                </a:solidFill>
                <a:latin typeface="Arial"/>
              </a:defRPr>
            </a:pPr>
            <a:r>
              <a:t>session-2.md   ·   2</a:t>
            </a:r>
          </a:p>
        </p:txBody>
      </p:sp>
      <p:sp>
        <p:nvSpPr>
          <p:cNvPr id="6" name="content:line-12:0"/>
          <p:cNvSpPr txBox="1"/>
          <p:nvPr/>
        </p:nvSpPr>
        <p:spPr>
          <a:xfrm>
            <a:off x="594360" y="1737360"/>
            <a:ext cx="11003279" cy="780288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2772"/>
              </a:lnSpc>
              <a:spcBef>
                <a:spcPts val="0"/>
              </a:spcBef>
              <a:spcAft>
                <a:spcPts val="0"/>
              </a:spcAft>
              <a:defRPr sz="2100">
                <a:solidFill>
                  <a:srgbClr val="20344A"/>
                </a:solidFill>
                <a:latin typeface="Arial"/>
              </a:defRPr>
            </a:pPr>
            <a:r>
              <a:rPr sz="2100" b="1" i="0">
                <a:solidFill>
                  <a:srgbClr val="20344A"/>
                </a:solidFill>
                <a:latin typeface="Arial"/>
              </a:rPr>
              <a:t>Your best staff member is sick today. Can someone else still </a:t>
            </a:r>
            <a:br/>
            <a:r>
              <a:rPr sz="2100" b="1" i="0">
                <a:solidFill>
                  <a:srgbClr val="20344A"/>
                </a:solidFill>
                <a:latin typeface="Arial"/>
              </a:rPr>
              <a:t>make your tea?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C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accent"/>
          <p:cNvSpPr/>
          <p:nvPr/>
        </p:nvSpPr>
        <p:spPr>
          <a:xfrm>
            <a:off x="0" y="0"/>
            <a:ext cx="12191999" cy="64008"/>
          </a:xfrm>
          <a:prstGeom prst="rect">
            <a:avLst/>
          </a:prstGeom>
          <a:solidFill>
            <a:srgbClr val="007F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section"/>
          <p:cNvSpPr txBox="1"/>
          <p:nvPr/>
        </p:nvSpPr>
        <p:spPr>
          <a:xfrm>
            <a:off x="594360" y="201168"/>
            <a:ext cx="11003279" cy="256032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1452"/>
              </a:lnSpc>
              <a:spcBef>
                <a:spcPts val="0"/>
              </a:spcBef>
              <a:spcAft>
                <a:spcPts val="0"/>
              </a:spcAft>
              <a:defRPr sz="1100">
                <a:solidFill>
                  <a:srgbClr val="53677A"/>
                </a:solidFill>
                <a:latin typeface="Arial"/>
              </a:defRPr>
            </a:pPr>
            <a:r>
              <a:t>SOURCE 3 / 27</a:t>
            </a:r>
          </a:p>
        </p:txBody>
      </p:sp>
      <p:sp>
        <p:nvSpPr>
          <p:cNvPr id="4" name="title:line-16"/>
          <p:cNvSpPr txBox="1"/>
          <p:nvPr/>
        </p:nvSpPr>
        <p:spPr>
          <a:xfrm>
            <a:off x="594360" y="530352"/>
            <a:ext cx="11003279" cy="1161288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4000"/>
              </a:lnSpc>
              <a:spcBef>
                <a:spcPts val="0"/>
              </a:spcBef>
              <a:spcAft>
                <a:spcPts val="0"/>
              </a:spcAft>
              <a:defRPr sz="3200">
                <a:solidFill>
                  <a:srgbClr val="20344A"/>
                </a:solidFill>
                <a:latin typeface="Arial"/>
              </a:defRPr>
            </a:pPr>
            <a:r>
              <a:rPr sz="3200" b="0" i="0">
                <a:solidFill>
                  <a:srgbClr val="20344A"/>
                </a:solidFill>
                <a:latin typeface="Arial"/>
              </a:rPr>
              <a:t>Device example, Stage 3: dependencies </a:t>
            </a:r>
            <a:br/>
            <a:r>
              <a:rPr sz="3200" b="0" i="0">
                <a:solidFill>
                  <a:srgbClr val="20344A"/>
                </a:solidFill>
                <a:latin typeface="Arial"/>
              </a:rPr>
              <a:t>declared</a:t>
            </a:r>
          </a:p>
        </p:txBody>
      </p:sp>
      <p:sp>
        <p:nvSpPr>
          <p:cNvPr id="5" name="footer"/>
          <p:cNvSpPr txBox="1"/>
          <p:nvPr/>
        </p:nvSpPr>
        <p:spPr>
          <a:xfrm>
            <a:off x="594360" y="6510528"/>
            <a:ext cx="11003279" cy="219456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1320"/>
              </a:lnSpc>
              <a:spcBef>
                <a:spcPts val="0"/>
              </a:spcBef>
              <a:spcAft>
                <a:spcPts val="0"/>
              </a:spcAft>
              <a:defRPr sz="1000">
                <a:solidFill>
                  <a:srgbClr val="53677A"/>
                </a:solidFill>
                <a:latin typeface="Arial"/>
              </a:defRPr>
            </a:pPr>
            <a:r>
              <a:t>session-2.md   ·   3</a:t>
            </a:r>
          </a:p>
        </p:txBody>
      </p:sp>
      <p:sp>
        <p:nvSpPr>
          <p:cNvPr id="6" name="content:line-18:0"/>
          <p:cNvSpPr txBox="1"/>
          <p:nvPr/>
        </p:nvSpPr>
        <p:spPr>
          <a:xfrm>
            <a:off x="594360" y="1737360"/>
            <a:ext cx="11003279" cy="780288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 marL="279400" indent="-215900">
              <a:lnSpc>
                <a:spcPts val="2772"/>
              </a:lnSpc>
              <a:spcBef>
                <a:spcPts val="0"/>
              </a:spcBef>
              <a:spcAft>
                <a:spcPts val="0"/>
              </a:spcAft>
              <a:defRPr sz="2100">
                <a:solidFill>
                  <a:srgbClr val="20344A"/>
                </a:solidFill>
                <a:latin typeface="Arial"/>
              </a:defRPr>
              <a:buChar char="•"/>
            </a:pPr>
            <a:r>
              <a:rPr sz="2100" b="0" i="0">
                <a:solidFill>
                  <a:srgbClr val="20344A"/>
                </a:solidFill>
                <a:latin typeface="Arial"/>
              </a:rPr>
              <a:t>Last time, Stage 2 crashed on a newer pandas. Stage 3 adds </a:t>
            </a:r>
            <a:br/>
            <a:r>
              <a:rPr sz="2100" b="0" i="0">
                <a:solidFill>
                  <a:srgbClr val="20344A"/>
                </a:solidFill>
                <a:latin typeface="Courier New"/>
              </a:rPr>
              <a:t>requirements.txt</a:t>
            </a:r>
            <a:r>
              <a:rPr sz="2100" b="0" i="0">
                <a:solidFill>
                  <a:srgbClr val="20344A"/>
                </a:solidFill>
                <a:latin typeface="Arial"/>
              </a:rPr>
              <a:t>, and the crash is gone.</a:t>
            </a:r>
          </a:p>
        </p:txBody>
      </p:sp>
      <p:sp>
        <p:nvSpPr>
          <p:cNvPr id="7" name="content:line-19:0"/>
          <p:cNvSpPr txBox="1"/>
          <p:nvPr/>
        </p:nvSpPr>
        <p:spPr>
          <a:xfrm>
            <a:off x="594360" y="2581656"/>
            <a:ext cx="11003279" cy="428244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 marL="279400" indent="-215900">
              <a:lnSpc>
                <a:spcPts val="2772"/>
              </a:lnSpc>
              <a:spcBef>
                <a:spcPts val="0"/>
              </a:spcBef>
              <a:spcAft>
                <a:spcPts val="0"/>
              </a:spcAft>
              <a:defRPr sz="2100">
                <a:solidFill>
                  <a:srgbClr val="20344A"/>
                </a:solidFill>
                <a:latin typeface="Arial"/>
              </a:defRPr>
              <a:buChar char="•"/>
            </a:pPr>
            <a:r>
              <a:rPr sz="2100" b="0" i="0">
                <a:solidFill>
                  <a:srgbClr val="20344A"/>
                </a:solidFill>
                <a:latin typeface="Arial"/>
              </a:rPr>
              <a:t>It is still a notebook plus helper files. Run once, in order:</a:t>
            </a:r>
          </a:p>
        </p:txBody>
      </p:sp>
      <p:sp>
        <p:nvSpPr>
          <p:cNvPr id="8" name="content:line-22:0"/>
          <p:cNvSpPr txBox="1"/>
          <p:nvPr/>
        </p:nvSpPr>
        <p:spPr>
          <a:xfrm>
            <a:off x="594360" y="3073907"/>
            <a:ext cx="11003279" cy="377952"/>
          </a:xfrm>
          <a:prstGeom prst="rect">
            <a:avLst/>
          </a:prstGeom>
          <a:solidFill>
            <a:srgbClr val="EDF3F6"/>
          </a:solidFill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2376"/>
              </a:lnSpc>
              <a:spcBef>
                <a:spcPts val="0"/>
              </a:spcBef>
              <a:spcAft>
                <a:spcPts val="0"/>
              </a:spcAft>
              <a:defRPr sz="1800">
                <a:solidFill>
                  <a:srgbClr val="20344A"/>
                </a:solidFill>
                <a:latin typeface="Arial"/>
              </a:defRPr>
            </a:pPr>
            <a:r>
              <a:rPr sz="1800" b="0" i="0">
                <a:solidFill>
                  <a:srgbClr val="20344A"/>
                </a:solidFill>
                <a:latin typeface="Courier New"/>
              </a:rPr>
              <a:t>DEV-C reaches the limit on 2026-01-16</a:t>
            </a:r>
          </a:p>
        </p:txBody>
      </p:sp>
      <p:sp>
        <p:nvSpPr>
          <p:cNvPr id="9" name="content:line-25:0"/>
          <p:cNvSpPr txBox="1"/>
          <p:nvPr/>
        </p:nvSpPr>
        <p:spPr>
          <a:xfrm>
            <a:off x="594360" y="3451859"/>
            <a:ext cx="11003279" cy="780288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 marL="279400" indent="-215900">
              <a:lnSpc>
                <a:spcPts val="2772"/>
              </a:lnSpc>
              <a:spcBef>
                <a:spcPts val="0"/>
              </a:spcBef>
              <a:spcAft>
                <a:spcPts val="0"/>
              </a:spcAft>
              <a:defRPr sz="2100">
                <a:solidFill>
                  <a:srgbClr val="20344A"/>
                </a:solidFill>
                <a:latin typeface="Arial"/>
              </a:defRPr>
              <a:buChar char="•"/>
            </a:pPr>
            <a:r>
              <a:rPr sz="2100" b="0" i="0">
                <a:solidFill>
                  <a:srgbClr val="20344A"/>
                </a:solidFill>
                <a:latin typeface="Arial"/>
              </a:rPr>
              <a:t>Rerun one cell that updates the data in place, and no error </a:t>
            </a:r>
            <a:br/>
            <a:r>
              <a:rPr sz="2100" b="0" i="0">
                <a:solidFill>
                  <a:srgbClr val="20344A"/>
                </a:solidFill>
                <a:latin typeface="Arial"/>
              </a:rPr>
              <a:t>appears:</a:t>
            </a:r>
          </a:p>
        </p:txBody>
      </p:sp>
      <p:sp>
        <p:nvSpPr>
          <p:cNvPr id="10" name="content:line-28:0"/>
          <p:cNvSpPr txBox="1"/>
          <p:nvPr/>
        </p:nvSpPr>
        <p:spPr>
          <a:xfrm>
            <a:off x="594360" y="4296155"/>
            <a:ext cx="11003279" cy="377952"/>
          </a:xfrm>
          <a:prstGeom prst="rect">
            <a:avLst/>
          </a:prstGeom>
          <a:solidFill>
            <a:srgbClr val="EDF3F6"/>
          </a:solidFill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2376"/>
              </a:lnSpc>
              <a:spcBef>
                <a:spcPts val="0"/>
              </a:spcBef>
              <a:spcAft>
                <a:spcPts val="0"/>
              </a:spcAft>
              <a:defRPr sz="1800">
                <a:solidFill>
                  <a:srgbClr val="20344A"/>
                </a:solidFill>
                <a:latin typeface="Arial"/>
              </a:defRPr>
            </a:pPr>
            <a:r>
              <a:rPr sz="1800" b="0" i="0">
                <a:solidFill>
                  <a:srgbClr val="20344A"/>
                </a:solidFill>
                <a:latin typeface="Courier New"/>
              </a:rPr>
              <a:t>DEV-C reaches the limit on 2026-01-04</a:t>
            </a:r>
          </a:p>
        </p:txBody>
      </p:sp>
      <p:sp>
        <p:nvSpPr>
          <p:cNvPr id="11" name="content:line-31:0"/>
          <p:cNvSpPr txBox="1"/>
          <p:nvPr/>
        </p:nvSpPr>
        <p:spPr>
          <a:xfrm>
            <a:off x="594360" y="4674107"/>
            <a:ext cx="11003279" cy="428244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 marL="279400" indent="-215900">
              <a:lnSpc>
                <a:spcPts val="2772"/>
              </a:lnSpc>
              <a:spcBef>
                <a:spcPts val="0"/>
              </a:spcBef>
              <a:spcAft>
                <a:spcPts val="0"/>
              </a:spcAft>
              <a:defRPr sz="2100">
                <a:solidFill>
                  <a:srgbClr val="20344A"/>
                </a:solidFill>
                <a:latin typeface="Arial"/>
              </a:defRPr>
              <a:buChar char="•"/>
            </a:pPr>
            <a:r>
              <a:rPr sz="2100" b="0" i="0">
                <a:solidFill>
                  <a:srgbClr val="20344A"/>
                </a:solidFill>
                <a:latin typeface="Arial"/>
              </a:rPr>
              <a:t>The answer depends on which cells ran, and in what order.</a:t>
            </a:r>
          </a:p>
        </p:txBody>
      </p:sp>
      <p:sp>
        <p:nvSpPr>
          <p:cNvPr id="12" name="content:line-32:0"/>
          <p:cNvSpPr txBox="1"/>
          <p:nvPr/>
        </p:nvSpPr>
        <p:spPr>
          <a:xfrm>
            <a:off x="594360" y="5166359"/>
            <a:ext cx="11003279" cy="780288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 marL="279400" indent="-215900">
              <a:lnSpc>
                <a:spcPts val="2772"/>
              </a:lnSpc>
              <a:spcBef>
                <a:spcPts val="0"/>
              </a:spcBef>
              <a:spcAft>
                <a:spcPts val="0"/>
              </a:spcAft>
              <a:defRPr sz="2100">
                <a:solidFill>
                  <a:srgbClr val="20344A"/>
                </a:solidFill>
                <a:latin typeface="Arial"/>
              </a:defRPr>
              <a:buChar char="•"/>
            </a:pPr>
            <a:r>
              <a:rPr sz="2100" b="0" i="0">
                <a:solidFill>
                  <a:srgbClr val="20344A"/>
                </a:solidFill>
                <a:latin typeface="Arial"/>
              </a:rPr>
              <a:t>Today's tool for this pain: functions with inputs and outputs, </a:t>
            </a:r>
            <a:br/>
            <a:r>
              <a:rPr sz="2100" b="0" i="0">
                <a:solidFill>
                  <a:srgbClr val="20344A"/>
                </a:solidFill>
                <a:latin typeface="Arial"/>
              </a:rPr>
              <a:t>in a package.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C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accent"/>
          <p:cNvSpPr/>
          <p:nvPr/>
        </p:nvSpPr>
        <p:spPr>
          <a:xfrm>
            <a:off x="0" y="0"/>
            <a:ext cx="12191999" cy="64008"/>
          </a:xfrm>
          <a:prstGeom prst="rect">
            <a:avLst/>
          </a:prstGeom>
          <a:solidFill>
            <a:srgbClr val="007F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section"/>
          <p:cNvSpPr txBox="1"/>
          <p:nvPr/>
        </p:nvSpPr>
        <p:spPr>
          <a:xfrm>
            <a:off x="594360" y="201168"/>
            <a:ext cx="11003279" cy="256032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1452"/>
              </a:lnSpc>
              <a:spcBef>
                <a:spcPts val="0"/>
              </a:spcBef>
              <a:spcAft>
                <a:spcPts val="0"/>
              </a:spcAft>
              <a:defRPr sz="1100">
                <a:solidFill>
                  <a:srgbClr val="53677A"/>
                </a:solidFill>
                <a:latin typeface="Arial"/>
              </a:defRPr>
            </a:pPr>
            <a:r>
              <a:t>SOURCE 4 / 27</a:t>
            </a:r>
          </a:p>
        </p:txBody>
      </p:sp>
      <p:sp>
        <p:nvSpPr>
          <p:cNvPr id="4" name="title:line-36"/>
          <p:cNvSpPr txBox="1"/>
          <p:nvPr/>
        </p:nvSpPr>
        <p:spPr>
          <a:xfrm>
            <a:off x="594360" y="530352"/>
            <a:ext cx="11003279" cy="1161288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4000"/>
              </a:lnSpc>
              <a:spcBef>
                <a:spcPts val="0"/>
              </a:spcBef>
              <a:spcAft>
                <a:spcPts val="0"/>
              </a:spcAft>
              <a:defRPr sz="3200">
                <a:solidFill>
                  <a:srgbClr val="20344A"/>
                </a:solidFill>
                <a:latin typeface="Arial"/>
              </a:defRPr>
            </a:pPr>
            <a:r>
              <a:rPr sz="3200" b="0" i="0">
                <a:solidFill>
                  <a:srgbClr val="20344A"/>
                </a:solidFill>
                <a:latin typeface="Arial"/>
              </a:rPr>
              <a:t>Device example, Stage 4: an installable </a:t>
            </a:r>
            <a:br/>
            <a:r>
              <a:rPr sz="3200" b="0" i="0">
                <a:solidFill>
                  <a:srgbClr val="20344A"/>
                </a:solidFill>
                <a:latin typeface="Arial"/>
              </a:rPr>
              <a:t>package</a:t>
            </a:r>
          </a:p>
        </p:txBody>
      </p:sp>
      <p:sp>
        <p:nvSpPr>
          <p:cNvPr id="5" name="footer"/>
          <p:cNvSpPr txBox="1"/>
          <p:nvPr/>
        </p:nvSpPr>
        <p:spPr>
          <a:xfrm>
            <a:off x="594360" y="6510528"/>
            <a:ext cx="11003279" cy="219456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1320"/>
              </a:lnSpc>
              <a:spcBef>
                <a:spcPts val="0"/>
              </a:spcBef>
              <a:spcAft>
                <a:spcPts val="0"/>
              </a:spcAft>
              <a:defRPr sz="1000">
                <a:solidFill>
                  <a:srgbClr val="53677A"/>
                </a:solidFill>
                <a:latin typeface="Arial"/>
              </a:defRPr>
            </a:pPr>
            <a:r>
              <a:t>session-2.md   ·   4</a:t>
            </a:r>
          </a:p>
        </p:txBody>
      </p:sp>
      <p:sp>
        <p:nvSpPr>
          <p:cNvPr id="6" name="content:line-38:0"/>
          <p:cNvSpPr txBox="1"/>
          <p:nvPr/>
        </p:nvSpPr>
        <p:spPr>
          <a:xfrm>
            <a:off x="594360" y="1737360"/>
            <a:ext cx="11003279" cy="780288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 marL="279400" indent="-215900">
              <a:lnSpc>
                <a:spcPts val="2772"/>
              </a:lnSpc>
              <a:spcBef>
                <a:spcPts val="0"/>
              </a:spcBef>
              <a:spcAft>
                <a:spcPts val="0"/>
              </a:spcAft>
              <a:defRPr sz="2100">
                <a:solidFill>
                  <a:srgbClr val="20344A"/>
                </a:solidFill>
                <a:latin typeface="Arial"/>
              </a:defRPr>
              <a:buChar char="•"/>
            </a:pPr>
            <a:r>
              <a:rPr sz="2100" b="0" i="0">
                <a:solidFill>
                  <a:srgbClr val="20344A"/>
                </a:solidFill>
                <a:latin typeface="Arial"/>
              </a:rPr>
              <a:t>The analysis is now the package </a:t>
            </a:r>
            <a:r>
              <a:rPr sz="2100" b="0" i="0">
                <a:solidFill>
                  <a:srgbClr val="20344A"/>
                </a:solidFill>
                <a:latin typeface="Courier New"/>
              </a:rPr>
              <a:t>device_limit</a:t>
            </a:r>
            <a:r>
              <a:rPr sz="2100" b="0" i="0">
                <a:solidFill>
                  <a:srgbClr val="20344A"/>
                </a:solidFill>
                <a:latin typeface="Arial"/>
              </a:rPr>
              <a:t>: </a:t>
            </a:r>
            <a:br/>
            <a:r>
              <a:rPr sz="2100" b="0" i="0">
                <a:solidFill>
                  <a:srgbClr val="20344A"/>
                </a:solidFill>
                <a:latin typeface="Courier New"/>
              </a:rPr>
              <a:t>predict_limit_dates(counts)</a:t>
            </a:r>
            <a:r>
              <a:rPr sz="2100" b="0" i="0">
                <a:solidFill>
                  <a:srgbClr val="20344A"/>
                </a:solidFill>
                <a:latin typeface="Arial"/>
              </a:rPr>
              <a:t> takes a table and returns dates.</a:t>
            </a:r>
          </a:p>
        </p:txBody>
      </p:sp>
      <p:sp>
        <p:nvSpPr>
          <p:cNvPr id="7" name="content:line-39:0"/>
          <p:cNvSpPr txBox="1"/>
          <p:nvPr/>
        </p:nvSpPr>
        <p:spPr>
          <a:xfrm>
            <a:off x="594360" y="2581656"/>
            <a:ext cx="11003279" cy="1132332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 marL="279400" indent="-215900">
              <a:lnSpc>
                <a:spcPts val="2772"/>
              </a:lnSpc>
              <a:spcBef>
                <a:spcPts val="0"/>
              </a:spcBef>
              <a:spcAft>
                <a:spcPts val="0"/>
              </a:spcAft>
              <a:defRPr sz="2100">
                <a:solidFill>
                  <a:srgbClr val="20344A"/>
                </a:solidFill>
                <a:latin typeface="Arial"/>
              </a:defRPr>
              <a:buChar char="•"/>
            </a:pPr>
            <a:r>
              <a:rPr sz="2100" b="0" i="0">
                <a:solidFill>
                  <a:srgbClr val="20344A"/>
                </a:solidFill>
                <a:latin typeface="Arial"/>
              </a:rPr>
              <a:t>Run from another folder, it fails: </a:t>
            </a:r>
            <a:r>
              <a:rPr sz="2100" b="0" i="0">
                <a:solidFill>
                  <a:srgbClr val="20344A"/>
                </a:solidFill>
                <a:latin typeface="Courier New"/>
              </a:rPr>
              <a:t>FileNotFoundError: </a:t>
            </a:r>
            <a:br/>
            <a:r>
              <a:rPr sz="2100" b="0" i="0">
                <a:solidFill>
                  <a:srgbClr val="20344A"/>
                </a:solidFill>
                <a:latin typeface="Courier New"/>
              </a:rPr>
              <a:t>'data/device_counts.csv'</a:t>
            </a:r>
            <a:r>
              <a:rPr sz="2100" b="0" i="0">
                <a:solidFill>
                  <a:srgbClr val="20344A"/>
                </a:solidFill>
                <a:latin typeface="Arial"/>
              </a:rPr>
              <a:t>. The data path is relative to where </a:t>
            </a:r>
            <a:br/>
            <a:r>
              <a:rPr sz="2100" b="0" i="0">
                <a:solidFill>
                  <a:srgbClr val="20344A"/>
                </a:solidFill>
                <a:latin typeface="Arial"/>
              </a:rPr>
              <a:t>you stand.</a:t>
            </a:r>
          </a:p>
        </p:txBody>
      </p:sp>
      <p:sp>
        <p:nvSpPr>
          <p:cNvPr id="8" name="content:line-40:0"/>
          <p:cNvSpPr txBox="1"/>
          <p:nvPr/>
        </p:nvSpPr>
        <p:spPr>
          <a:xfrm>
            <a:off x="594360" y="3777996"/>
            <a:ext cx="11003279" cy="1132332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 marL="279400" indent="-215900">
              <a:lnSpc>
                <a:spcPts val="2772"/>
              </a:lnSpc>
              <a:spcBef>
                <a:spcPts val="0"/>
              </a:spcBef>
              <a:spcAft>
                <a:spcPts val="0"/>
              </a:spcAft>
              <a:defRPr sz="2100">
                <a:solidFill>
                  <a:srgbClr val="20344A"/>
                </a:solidFill>
                <a:latin typeface="Arial"/>
              </a:defRPr>
              <a:buChar char="•"/>
            </a:pPr>
            <a:r>
              <a:rPr sz="2100" b="0" i="0">
                <a:solidFill>
                  <a:srgbClr val="20344A"/>
                </a:solidFill>
                <a:latin typeface="Arial"/>
              </a:rPr>
              <a:t>A harmless-looking cleanup (drop days with zero </a:t>
            </a:r>
            <a:br/>
            <a:r>
              <a:rPr sz="2100" b="0" i="0">
                <a:solidFill>
                  <a:srgbClr val="20344A"/>
                </a:solidFill>
                <a:latin typeface="Arial"/>
              </a:rPr>
              <a:t>measurements) moves </a:t>
            </a:r>
            <a:r>
              <a:rPr sz="2100" b="0" i="0">
                <a:solidFill>
                  <a:srgbClr val="20344A"/>
                </a:solidFill>
                <a:latin typeface="Courier New"/>
              </a:rPr>
              <a:t>DEV-C</a:t>
            </a:r>
            <a:r>
              <a:rPr sz="2100" b="0" i="0">
                <a:solidFill>
                  <a:srgbClr val="20344A"/>
                </a:solidFill>
                <a:latin typeface="Arial"/>
              </a:rPr>
              <a:t> from 2026-01-16 to 2026-01-06, </a:t>
            </a:r>
            <a:br/>
            <a:r>
              <a:rPr sz="2100" b="0" i="0">
                <a:solidFill>
                  <a:srgbClr val="20344A"/>
                </a:solidFill>
                <a:latin typeface="Arial"/>
              </a:rPr>
              <a:t>with no error or warning.</a:t>
            </a:r>
          </a:p>
        </p:txBody>
      </p:sp>
      <p:sp>
        <p:nvSpPr>
          <p:cNvPr id="9" name="content:line-41:0"/>
          <p:cNvSpPr txBox="1"/>
          <p:nvPr/>
        </p:nvSpPr>
        <p:spPr>
          <a:xfrm>
            <a:off x="594360" y="4974336"/>
            <a:ext cx="11003279" cy="428244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 marL="279400" indent="-215900">
              <a:lnSpc>
                <a:spcPts val="2772"/>
              </a:lnSpc>
              <a:spcBef>
                <a:spcPts val="0"/>
              </a:spcBef>
              <a:spcAft>
                <a:spcPts val="0"/>
              </a:spcAft>
              <a:defRPr sz="2100">
                <a:solidFill>
                  <a:srgbClr val="20344A"/>
                </a:solidFill>
                <a:latin typeface="Arial"/>
              </a:defRPr>
              <a:buChar char="•"/>
            </a:pPr>
            <a:r>
              <a:rPr sz="2100" b="0" i="0">
                <a:solidFill>
                  <a:srgbClr val="20344A"/>
                </a:solidFill>
                <a:latin typeface="Arial"/>
              </a:rPr>
              <a:t>Nothing checks the answer. Next session's tool: tests.</a:t>
            </a:r>
          </a:p>
        </p:txBody>
      </p:sp>
      <p:sp>
        <p:nvSpPr>
          <p:cNvPr id="10" name="content:line-42:0"/>
          <p:cNvSpPr txBox="1"/>
          <p:nvPr/>
        </p:nvSpPr>
        <p:spPr>
          <a:xfrm>
            <a:off x="594360" y="5466588"/>
            <a:ext cx="11003279" cy="428244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 marL="279400" indent="-215900">
              <a:lnSpc>
                <a:spcPts val="2772"/>
              </a:lnSpc>
              <a:spcBef>
                <a:spcPts val="0"/>
              </a:spcBef>
              <a:spcAft>
                <a:spcPts val="0"/>
              </a:spcAft>
              <a:defRPr sz="2100">
                <a:solidFill>
                  <a:srgbClr val="20344A"/>
                </a:solidFill>
                <a:latin typeface="Arial"/>
              </a:defRPr>
              <a:buChar char="•"/>
            </a:pPr>
            <a:r>
              <a:rPr sz="2100" b="0" i="0">
                <a:solidFill>
                  <a:srgbClr val="20344A"/>
                </a:solidFill>
                <a:latin typeface="Arial"/>
              </a:rPr>
              <a:t>Files: </a:t>
            </a:r>
            <a:r>
              <a:rPr sz="2100" b="0" i="0">
                <a:solidFill>
                  <a:srgbClr val="007F82"/>
                </a:solidFill>
                <a:latin typeface="Arial"/>
                <a:hlinkClick r:id="rId2"/>
              </a:rPr>
              <a:t>3R-device-example</a:t>
            </a:r>
            <a:r>
              <a:rPr sz="2100" b="0" i="0">
                <a:solidFill>
                  <a:srgbClr val="20344A"/>
                </a:solidFill>
                <a:latin typeface="Arial"/>
              </a:rPr>
              <a:t>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C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accent"/>
          <p:cNvSpPr/>
          <p:nvPr/>
        </p:nvSpPr>
        <p:spPr>
          <a:xfrm>
            <a:off x="0" y="0"/>
            <a:ext cx="12191999" cy="64008"/>
          </a:xfrm>
          <a:prstGeom prst="rect">
            <a:avLst/>
          </a:prstGeom>
          <a:solidFill>
            <a:srgbClr val="007F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section"/>
          <p:cNvSpPr txBox="1"/>
          <p:nvPr/>
        </p:nvSpPr>
        <p:spPr>
          <a:xfrm>
            <a:off x="594360" y="201168"/>
            <a:ext cx="11003279" cy="256032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1452"/>
              </a:lnSpc>
              <a:spcBef>
                <a:spcPts val="0"/>
              </a:spcBef>
              <a:spcAft>
                <a:spcPts val="0"/>
              </a:spcAft>
              <a:defRPr sz="1100">
                <a:solidFill>
                  <a:srgbClr val="53677A"/>
                </a:solidFill>
                <a:latin typeface="Arial"/>
              </a:defRPr>
            </a:pPr>
            <a:r>
              <a:t>SOURCE 5 / 27</a:t>
            </a:r>
          </a:p>
        </p:txBody>
      </p:sp>
      <p:sp>
        <p:nvSpPr>
          <p:cNvPr id="4" name="title:line-46"/>
          <p:cNvSpPr txBox="1"/>
          <p:nvPr/>
        </p:nvSpPr>
        <p:spPr>
          <a:xfrm>
            <a:off x="594360" y="530352"/>
            <a:ext cx="11003279" cy="1161288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4000"/>
              </a:lnSpc>
              <a:spcBef>
                <a:spcPts val="0"/>
              </a:spcBef>
              <a:spcAft>
                <a:spcPts val="0"/>
              </a:spcAft>
              <a:defRPr sz="3200">
                <a:solidFill>
                  <a:srgbClr val="20344A"/>
                </a:solidFill>
                <a:latin typeface="Arial"/>
              </a:defRPr>
            </a:pPr>
            <a:r>
              <a:rPr sz="3200" b="0" i="0">
                <a:solidFill>
                  <a:srgbClr val="20344A"/>
                </a:solidFill>
                <a:latin typeface="Arial"/>
              </a:rPr>
              <a:t>Our 180-minute agenda</a:t>
            </a:r>
          </a:p>
        </p:txBody>
      </p:sp>
      <p:sp>
        <p:nvSpPr>
          <p:cNvPr id="5" name="footer"/>
          <p:cNvSpPr txBox="1"/>
          <p:nvPr/>
        </p:nvSpPr>
        <p:spPr>
          <a:xfrm>
            <a:off x="594360" y="6510528"/>
            <a:ext cx="11003279" cy="219456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1320"/>
              </a:lnSpc>
              <a:spcBef>
                <a:spcPts val="0"/>
              </a:spcBef>
              <a:spcAft>
                <a:spcPts val="0"/>
              </a:spcAft>
              <a:defRPr sz="1000">
                <a:solidFill>
                  <a:srgbClr val="53677A"/>
                </a:solidFill>
                <a:latin typeface="Arial"/>
              </a:defRPr>
            </a:pPr>
            <a:r>
              <a:t>session-2.md   ·   5</a:t>
            </a:r>
          </a:p>
        </p:txBody>
      </p:sp>
      <p:sp>
        <p:nvSpPr>
          <p:cNvPr id="6" name="content:line-48:0"/>
          <p:cNvSpPr txBox="1"/>
          <p:nvPr/>
        </p:nvSpPr>
        <p:spPr>
          <a:xfrm>
            <a:off x="594360" y="1737360"/>
            <a:ext cx="11003279" cy="428244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 marL="279400" indent="-215900">
              <a:lnSpc>
                <a:spcPts val="2772"/>
              </a:lnSpc>
              <a:spcBef>
                <a:spcPts val="0"/>
              </a:spcBef>
              <a:spcAft>
                <a:spcPts val="0"/>
              </a:spcAft>
              <a:defRPr sz="2100">
                <a:solidFill>
                  <a:srgbClr val="20344A"/>
                </a:solidFill>
                <a:latin typeface="Arial"/>
              </a:defRPr>
              <a:buChar char="•"/>
            </a:pPr>
            <a:r>
              <a:rPr sz="2100" b="0" i="0">
                <a:solidFill>
                  <a:srgbClr val="20344A"/>
                </a:solidFill>
                <a:latin typeface="Arial"/>
              </a:rPr>
              <a:t>0–10: device example — Stages 3 to 4.</a:t>
            </a:r>
          </a:p>
        </p:txBody>
      </p:sp>
      <p:sp>
        <p:nvSpPr>
          <p:cNvPr id="7" name="content:line-49:0"/>
          <p:cNvSpPr txBox="1"/>
          <p:nvPr/>
        </p:nvSpPr>
        <p:spPr>
          <a:xfrm>
            <a:off x="594360" y="2229612"/>
            <a:ext cx="11003279" cy="428244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 marL="279400" indent="-215900">
              <a:lnSpc>
                <a:spcPts val="2772"/>
              </a:lnSpc>
              <a:spcBef>
                <a:spcPts val="0"/>
              </a:spcBef>
              <a:spcAft>
                <a:spcPts val="0"/>
              </a:spcAft>
              <a:defRPr sz="2100">
                <a:solidFill>
                  <a:srgbClr val="20344A"/>
                </a:solidFill>
                <a:latin typeface="Arial"/>
              </a:defRPr>
              <a:buChar char="•"/>
            </a:pPr>
            <a:r>
              <a:rPr sz="2100" b="0" i="0">
                <a:solidFill>
                  <a:srgbClr val="20344A"/>
                </a:solidFill>
                <a:latin typeface="Arial"/>
              </a:rPr>
              <a:t>10–45: explanation — modules, boundaries, packaging, types, logs.</a:t>
            </a:r>
          </a:p>
        </p:txBody>
      </p:sp>
      <p:sp>
        <p:nvSpPr>
          <p:cNvPr id="8" name="content:line-50:0"/>
          <p:cNvSpPr txBox="1"/>
          <p:nvPr/>
        </p:nvSpPr>
        <p:spPr>
          <a:xfrm>
            <a:off x="594360" y="2721864"/>
            <a:ext cx="11003279" cy="428244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 marL="279400" indent="-215900">
              <a:lnSpc>
                <a:spcPts val="2772"/>
              </a:lnSpc>
              <a:spcBef>
                <a:spcPts val="0"/>
              </a:spcBef>
              <a:spcAft>
                <a:spcPts val="0"/>
              </a:spcAft>
              <a:defRPr sz="2100">
                <a:solidFill>
                  <a:srgbClr val="20344A"/>
                </a:solidFill>
                <a:latin typeface="Arial"/>
              </a:defRPr>
              <a:buChar char="•"/>
            </a:pPr>
            <a:r>
              <a:rPr sz="2100" b="0" i="0">
                <a:solidFill>
                  <a:srgbClr val="20344A"/>
                </a:solidFill>
                <a:latin typeface="Arial"/>
              </a:rPr>
              <a:t>45–75: demonstration — install, trace, run, save a baseline.</a:t>
            </a:r>
          </a:p>
        </p:txBody>
      </p:sp>
      <p:sp>
        <p:nvSpPr>
          <p:cNvPr id="9" name="content:line-51:0"/>
          <p:cNvSpPr txBox="1"/>
          <p:nvPr/>
        </p:nvSpPr>
        <p:spPr>
          <a:xfrm>
            <a:off x="594360" y="3214115"/>
            <a:ext cx="11003279" cy="428244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 marL="279400" indent="-215900">
              <a:lnSpc>
                <a:spcPts val="2772"/>
              </a:lnSpc>
              <a:spcBef>
                <a:spcPts val="0"/>
              </a:spcBef>
              <a:spcAft>
                <a:spcPts val="0"/>
              </a:spcAft>
              <a:defRPr sz="2100">
                <a:solidFill>
                  <a:srgbClr val="20344A"/>
                </a:solidFill>
                <a:latin typeface="Arial"/>
              </a:defRPr>
              <a:buChar char="•"/>
            </a:pPr>
            <a:r>
              <a:rPr sz="2100" b="0" i="0">
                <a:solidFill>
                  <a:srgbClr val="20344A"/>
                </a:solidFill>
                <a:latin typeface="Arial"/>
              </a:rPr>
              <a:t>75–90: break — 15 minutes.</a:t>
            </a:r>
          </a:p>
        </p:txBody>
      </p:sp>
      <p:sp>
        <p:nvSpPr>
          <p:cNvPr id="10" name="content:line-52:0"/>
          <p:cNvSpPr txBox="1"/>
          <p:nvPr/>
        </p:nvSpPr>
        <p:spPr>
          <a:xfrm>
            <a:off x="594360" y="3706367"/>
            <a:ext cx="11003279" cy="428244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 marL="279400" indent="-215900">
              <a:lnSpc>
                <a:spcPts val="2772"/>
              </a:lnSpc>
              <a:spcBef>
                <a:spcPts val="0"/>
              </a:spcBef>
              <a:spcAft>
                <a:spcPts val="0"/>
              </a:spcAft>
              <a:defRPr sz="2100">
                <a:solidFill>
                  <a:srgbClr val="20344A"/>
                </a:solidFill>
                <a:latin typeface="Arial"/>
              </a:defRPr>
              <a:buChar char="•"/>
            </a:pPr>
            <a:r>
              <a:rPr sz="2100" b="0" i="0">
                <a:solidFill>
                  <a:srgbClr val="20344A"/>
                </a:solidFill>
                <a:latin typeface="Arial"/>
              </a:rPr>
              <a:t>90–180: guided practice — change, check, and review.</a:t>
            </a:r>
          </a:p>
        </p:txBody>
      </p:sp>
      <p:sp>
        <p:nvSpPr>
          <p:cNvPr id="11" name="content:line-53:0"/>
          <p:cNvSpPr txBox="1"/>
          <p:nvPr/>
        </p:nvSpPr>
        <p:spPr>
          <a:xfrm>
            <a:off x="594360" y="4198619"/>
            <a:ext cx="11003279" cy="428244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 marL="279400" indent="-215900">
              <a:lnSpc>
                <a:spcPts val="2772"/>
              </a:lnSpc>
              <a:spcBef>
                <a:spcPts val="0"/>
              </a:spcBef>
              <a:spcAft>
                <a:spcPts val="0"/>
              </a:spcAft>
              <a:defRPr sz="2100">
                <a:solidFill>
                  <a:srgbClr val="20344A"/>
                </a:solidFill>
                <a:latin typeface="Arial"/>
              </a:defRPr>
              <a:buChar char="•"/>
            </a:pPr>
            <a:r>
              <a:rPr sz="2100" b="0" i="0">
                <a:solidFill>
                  <a:srgbClr val="20344A"/>
                </a:solidFill>
                <a:latin typeface="Arial"/>
              </a:rPr>
              <a:t>Practice: trace 15 + edit 20 + check 25 + explain 15 + review 15.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C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accent"/>
          <p:cNvSpPr/>
          <p:nvPr/>
        </p:nvSpPr>
        <p:spPr>
          <a:xfrm>
            <a:off x="0" y="0"/>
            <a:ext cx="12191999" cy="64008"/>
          </a:xfrm>
          <a:prstGeom prst="rect">
            <a:avLst/>
          </a:prstGeom>
          <a:solidFill>
            <a:srgbClr val="007F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section"/>
          <p:cNvSpPr txBox="1"/>
          <p:nvPr/>
        </p:nvSpPr>
        <p:spPr>
          <a:xfrm>
            <a:off x="594360" y="201168"/>
            <a:ext cx="11003279" cy="256032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1452"/>
              </a:lnSpc>
              <a:spcBef>
                <a:spcPts val="0"/>
              </a:spcBef>
              <a:spcAft>
                <a:spcPts val="0"/>
              </a:spcAft>
              <a:defRPr sz="1100">
                <a:solidFill>
                  <a:srgbClr val="53677A"/>
                </a:solidFill>
                <a:latin typeface="Arial"/>
              </a:defRPr>
            </a:pPr>
            <a:r>
              <a:t>SOURCE 6 / 27</a:t>
            </a:r>
          </a:p>
        </p:txBody>
      </p:sp>
      <p:sp>
        <p:nvSpPr>
          <p:cNvPr id="4" name="title:line-57"/>
          <p:cNvSpPr txBox="1"/>
          <p:nvPr/>
        </p:nvSpPr>
        <p:spPr>
          <a:xfrm>
            <a:off x="594360" y="530352"/>
            <a:ext cx="11003279" cy="1161288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4000"/>
              </a:lnSpc>
              <a:spcBef>
                <a:spcPts val="0"/>
              </a:spcBef>
              <a:spcAft>
                <a:spcPts val="0"/>
              </a:spcAft>
              <a:defRPr sz="3200">
                <a:solidFill>
                  <a:srgbClr val="20344A"/>
                </a:solidFill>
                <a:latin typeface="Arial"/>
              </a:defRPr>
            </a:pPr>
            <a:r>
              <a:rPr sz="3200" b="0" i="0">
                <a:solidFill>
                  <a:srgbClr val="20344A"/>
                </a:solidFill>
                <a:latin typeface="Arial"/>
              </a:rPr>
              <a:t>Give each processing step a home</a:t>
            </a:r>
          </a:p>
        </p:txBody>
      </p:sp>
      <p:sp>
        <p:nvSpPr>
          <p:cNvPr id="5" name="footer"/>
          <p:cNvSpPr txBox="1"/>
          <p:nvPr/>
        </p:nvSpPr>
        <p:spPr>
          <a:xfrm>
            <a:off x="594360" y="6510528"/>
            <a:ext cx="11003279" cy="219456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1320"/>
              </a:lnSpc>
              <a:spcBef>
                <a:spcPts val="0"/>
              </a:spcBef>
              <a:spcAft>
                <a:spcPts val="0"/>
              </a:spcAft>
              <a:defRPr sz="1000">
                <a:solidFill>
                  <a:srgbClr val="53677A"/>
                </a:solidFill>
                <a:latin typeface="Arial"/>
              </a:defRPr>
            </a:pPr>
            <a:r>
              <a:t>session-2.md   ·   6</a:t>
            </a:r>
          </a:p>
        </p:txBody>
      </p:sp>
      <p:sp>
        <p:nvSpPr>
          <p:cNvPr id="6" name="content:line-59:0"/>
          <p:cNvSpPr txBox="1"/>
          <p:nvPr/>
        </p:nvSpPr>
        <p:spPr>
          <a:xfrm>
            <a:off x="594360" y="1737360"/>
            <a:ext cx="11003279" cy="428244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 marL="279400" indent="-215900">
              <a:lnSpc>
                <a:spcPts val="2772"/>
              </a:lnSpc>
              <a:spcBef>
                <a:spcPts val="0"/>
              </a:spcBef>
              <a:spcAft>
                <a:spcPts val="0"/>
              </a:spcAft>
              <a:defRPr sz="2100">
                <a:solidFill>
                  <a:srgbClr val="20344A"/>
                </a:solidFill>
                <a:latin typeface="Arial"/>
              </a:defRPr>
              <a:buChar char="•"/>
            </a:pPr>
            <a:r>
              <a:rPr sz="2100" b="0" i="0">
                <a:solidFill>
                  <a:srgbClr val="20344A"/>
                </a:solidFill>
                <a:latin typeface="Arial"/>
              </a:rPr>
              <a:t>A module is a Python file with a clear responsibility.</a:t>
            </a:r>
          </a:p>
        </p:txBody>
      </p:sp>
      <p:sp>
        <p:nvSpPr>
          <p:cNvPr id="7" name="content:line-60:0"/>
          <p:cNvSpPr txBox="1"/>
          <p:nvPr/>
        </p:nvSpPr>
        <p:spPr>
          <a:xfrm>
            <a:off x="594360" y="2229612"/>
            <a:ext cx="11003279" cy="428244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 marL="279400" indent="-215900">
              <a:lnSpc>
                <a:spcPts val="2772"/>
              </a:lnSpc>
              <a:spcBef>
                <a:spcPts val="0"/>
              </a:spcBef>
              <a:spcAft>
                <a:spcPts val="0"/>
              </a:spcAft>
              <a:defRPr sz="2100">
                <a:solidFill>
                  <a:srgbClr val="20344A"/>
                </a:solidFill>
                <a:latin typeface="Arial"/>
              </a:defRPr>
              <a:buChar char="•"/>
            </a:pPr>
            <a:r>
              <a:rPr sz="2100" b="0" i="0">
                <a:solidFill>
                  <a:srgbClr val="20344A"/>
                </a:solidFill>
                <a:latin typeface="Arial"/>
              </a:rPr>
              <a:t>A package groups modules that can be imported together.</a:t>
            </a:r>
          </a:p>
        </p:txBody>
      </p:sp>
      <p:sp>
        <p:nvSpPr>
          <p:cNvPr id="8" name="content:line-61:0"/>
          <p:cNvSpPr txBox="1"/>
          <p:nvPr/>
        </p:nvSpPr>
        <p:spPr>
          <a:xfrm>
            <a:off x="594360" y="2721864"/>
            <a:ext cx="11003279" cy="428244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 marL="279400" indent="-215900">
              <a:lnSpc>
                <a:spcPts val="2772"/>
              </a:lnSpc>
              <a:spcBef>
                <a:spcPts val="0"/>
              </a:spcBef>
              <a:spcAft>
                <a:spcPts val="0"/>
              </a:spcAft>
              <a:defRPr sz="2100">
                <a:solidFill>
                  <a:srgbClr val="20344A"/>
                </a:solidFill>
                <a:latin typeface="Arial"/>
              </a:defRPr>
              <a:buChar char="•"/>
            </a:pPr>
            <a:r>
              <a:rPr sz="2100" b="0" i="0">
                <a:solidFill>
                  <a:srgbClr val="20344A"/>
                </a:solidFill>
                <a:latin typeface="Arial"/>
              </a:rPr>
              <a:t>Keep exploration in a notebook; give repeated work a function.</a:t>
            </a:r>
          </a:p>
        </p:txBody>
      </p:sp>
      <p:sp>
        <p:nvSpPr>
          <p:cNvPr id="9" name="content:line-62:0"/>
          <p:cNvSpPr txBox="1"/>
          <p:nvPr/>
        </p:nvSpPr>
        <p:spPr>
          <a:xfrm>
            <a:off x="594360" y="3214115"/>
            <a:ext cx="11003279" cy="428244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 marL="279400" indent="-215900">
              <a:lnSpc>
                <a:spcPts val="2772"/>
              </a:lnSpc>
              <a:spcBef>
                <a:spcPts val="0"/>
              </a:spcBef>
              <a:spcAft>
                <a:spcPts val="0"/>
              </a:spcAft>
              <a:defRPr sz="2100">
                <a:solidFill>
                  <a:srgbClr val="20344A"/>
                </a:solidFill>
                <a:latin typeface="Arial"/>
              </a:defRPr>
              <a:buChar char="•"/>
            </a:pPr>
            <a:r>
              <a:rPr sz="2100" b="0" i="0">
                <a:solidFill>
                  <a:srgbClr val="20344A"/>
                </a:solidFill>
                <a:latin typeface="Arial"/>
              </a:rPr>
              <a:t>Pass inputs in and return results; avoid hidden notebook state.</a:t>
            </a:r>
          </a:p>
        </p:txBody>
      </p:sp>
      <p:sp>
        <p:nvSpPr>
          <p:cNvPr id="10" name="content:line-63:0"/>
          <p:cNvSpPr txBox="1"/>
          <p:nvPr/>
        </p:nvSpPr>
        <p:spPr>
          <a:xfrm>
            <a:off x="594360" y="3706367"/>
            <a:ext cx="11003279" cy="428244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 marL="279400" indent="-215900">
              <a:lnSpc>
                <a:spcPts val="2772"/>
              </a:lnSpc>
              <a:spcBef>
                <a:spcPts val="0"/>
              </a:spcBef>
              <a:spcAft>
                <a:spcPts val="0"/>
              </a:spcAft>
              <a:defRPr sz="2100">
                <a:solidFill>
                  <a:srgbClr val="20344A"/>
                </a:solidFill>
                <a:latin typeface="Arial"/>
              </a:defRPr>
              <a:buChar char="•"/>
            </a:pPr>
            <a:r>
              <a:rPr sz="2100" b="0" i="0">
                <a:solidFill>
                  <a:srgbClr val="20344A"/>
                </a:solidFill>
                <a:latin typeface="Arial"/>
              </a:rPr>
              <a:t>Here, </a:t>
            </a:r>
            <a:r>
              <a:rPr sz="2100" b="0" i="0">
                <a:solidFill>
                  <a:srgbClr val="20344A"/>
                </a:solidFill>
                <a:latin typeface="Courier New"/>
              </a:rPr>
              <a:t>stat_core.process_csv</a:t>
            </a:r>
            <a:r>
              <a:rPr sz="2100" b="0" i="0">
                <a:solidFill>
                  <a:srgbClr val="20344A"/>
                </a:solidFill>
                <a:latin typeface="Arial"/>
              </a:rPr>
              <a:t> is the reusable entry point.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C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accent"/>
          <p:cNvSpPr/>
          <p:nvPr/>
        </p:nvSpPr>
        <p:spPr>
          <a:xfrm>
            <a:off x="0" y="0"/>
            <a:ext cx="12191999" cy="64008"/>
          </a:xfrm>
          <a:prstGeom prst="rect">
            <a:avLst/>
          </a:prstGeom>
          <a:solidFill>
            <a:srgbClr val="007F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section"/>
          <p:cNvSpPr txBox="1"/>
          <p:nvPr/>
        </p:nvSpPr>
        <p:spPr>
          <a:xfrm>
            <a:off x="594360" y="201168"/>
            <a:ext cx="11003279" cy="256032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1452"/>
              </a:lnSpc>
              <a:spcBef>
                <a:spcPts val="0"/>
              </a:spcBef>
              <a:spcAft>
                <a:spcPts val="0"/>
              </a:spcAft>
              <a:defRPr sz="1100">
                <a:solidFill>
                  <a:srgbClr val="53677A"/>
                </a:solidFill>
                <a:latin typeface="Arial"/>
              </a:defRPr>
            </a:pPr>
            <a:r>
              <a:t>SOURCE 7 / 27</a:t>
            </a:r>
          </a:p>
        </p:txBody>
      </p:sp>
      <p:sp>
        <p:nvSpPr>
          <p:cNvPr id="4" name="title:line-67"/>
          <p:cNvSpPr txBox="1"/>
          <p:nvPr/>
        </p:nvSpPr>
        <p:spPr>
          <a:xfrm>
            <a:off x="594360" y="530352"/>
            <a:ext cx="11003279" cy="1161288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4000"/>
              </a:lnSpc>
              <a:spcBef>
                <a:spcPts val="0"/>
              </a:spcBef>
              <a:spcAft>
                <a:spcPts val="0"/>
              </a:spcAft>
              <a:defRPr sz="3200">
                <a:solidFill>
                  <a:srgbClr val="20344A"/>
                </a:solidFill>
                <a:latin typeface="Arial"/>
              </a:defRPr>
            </a:pPr>
            <a:r>
              <a:rPr sz="3200" b="0" i="0">
                <a:solidFill>
                  <a:srgbClr val="20344A"/>
                </a:solidFill>
                <a:latin typeface="Arial"/>
              </a:rPr>
              <a:t>Processing, API, and UI do different jobs</a:t>
            </a:r>
          </a:p>
        </p:txBody>
      </p:sp>
      <p:sp>
        <p:nvSpPr>
          <p:cNvPr id="5" name="footer"/>
          <p:cNvSpPr txBox="1"/>
          <p:nvPr/>
        </p:nvSpPr>
        <p:spPr>
          <a:xfrm>
            <a:off x="594360" y="6510528"/>
            <a:ext cx="11003279" cy="219456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1320"/>
              </a:lnSpc>
              <a:spcBef>
                <a:spcPts val="0"/>
              </a:spcBef>
              <a:spcAft>
                <a:spcPts val="0"/>
              </a:spcAft>
              <a:defRPr sz="1000">
                <a:solidFill>
                  <a:srgbClr val="53677A"/>
                </a:solidFill>
                <a:latin typeface="Arial"/>
              </a:defRPr>
            </a:pPr>
            <a:r>
              <a:t>session-2.md   ·   7</a:t>
            </a:r>
          </a:p>
        </p:txBody>
      </p:sp>
      <p:sp>
        <p:nvSpPr>
          <p:cNvPr id="6" name="content:line-70:0"/>
          <p:cNvSpPr txBox="1"/>
          <p:nvPr/>
        </p:nvSpPr>
        <p:spPr>
          <a:xfrm>
            <a:off x="594360" y="1737360"/>
            <a:ext cx="11003279" cy="377952"/>
          </a:xfrm>
          <a:prstGeom prst="rect">
            <a:avLst/>
          </a:prstGeom>
          <a:solidFill>
            <a:srgbClr val="EDF3F6"/>
          </a:solidFill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2376"/>
              </a:lnSpc>
              <a:spcBef>
                <a:spcPts val="0"/>
              </a:spcBef>
              <a:spcAft>
                <a:spcPts val="0"/>
              </a:spcAft>
              <a:defRPr sz="1800">
                <a:solidFill>
                  <a:srgbClr val="20344A"/>
                </a:solidFill>
                <a:latin typeface="Arial"/>
              </a:defRPr>
            </a:pPr>
            <a:r>
              <a:rPr sz="1800" b="0" i="0">
                <a:solidFill>
                  <a:srgbClr val="20344A"/>
                </a:solidFill>
                <a:latin typeface="Courier New"/>
              </a:rPr>
              <a:t>UI: choose files and display results</a:t>
            </a:r>
          </a:p>
        </p:txBody>
      </p:sp>
      <p:sp>
        <p:nvSpPr>
          <p:cNvPr id="7" name="content:line-71:0"/>
          <p:cNvSpPr txBox="1"/>
          <p:nvPr/>
        </p:nvSpPr>
        <p:spPr>
          <a:xfrm>
            <a:off x="594360" y="2115312"/>
            <a:ext cx="11003279" cy="377952"/>
          </a:xfrm>
          <a:prstGeom prst="rect">
            <a:avLst/>
          </a:prstGeom>
          <a:solidFill>
            <a:srgbClr val="EDF3F6"/>
          </a:solidFill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2376"/>
              </a:lnSpc>
              <a:spcBef>
                <a:spcPts val="0"/>
              </a:spcBef>
              <a:spcAft>
                <a:spcPts val="0"/>
              </a:spcAft>
              <a:defRPr sz="1800">
                <a:solidFill>
                  <a:srgbClr val="20344A"/>
                </a:solidFill>
                <a:latin typeface="Arial"/>
              </a:defRPr>
            </a:pPr>
            <a:r>
              <a:rPr sz="1800" b="0" i="0">
                <a:solidFill>
                  <a:srgbClr val="20344A"/>
                </a:solidFill>
                <a:latin typeface="Courier New"/>
              </a:rPr>
              <a:t>    -&gt; API: accept uploads and report HTTP errors</a:t>
            </a:r>
          </a:p>
        </p:txBody>
      </p:sp>
      <p:sp>
        <p:nvSpPr>
          <p:cNvPr id="8" name="content:line-72:0"/>
          <p:cNvSpPr txBox="1"/>
          <p:nvPr/>
        </p:nvSpPr>
        <p:spPr>
          <a:xfrm>
            <a:off x="594360" y="2493264"/>
            <a:ext cx="11003279" cy="377952"/>
          </a:xfrm>
          <a:prstGeom prst="rect">
            <a:avLst/>
          </a:prstGeom>
          <a:solidFill>
            <a:srgbClr val="EDF3F6"/>
          </a:solidFill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2376"/>
              </a:lnSpc>
              <a:spcBef>
                <a:spcPts val="0"/>
              </a:spcBef>
              <a:spcAft>
                <a:spcPts val="0"/>
              </a:spcAft>
              <a:defRPr sz="1800">
                <a:solidFill>
                  <a:srgbClr val="20344A"/>
                </a:solidFill>
                <a:latin typeface="Arial"/>
              </a:defRPr>
            </a:pPr>
            <a:r>
              <a:rPr sz="1800" b="0" i="0">
                <a:solidFill>
                  <a:srgbClr val="20344A"/>
                </a:solidFill>
                <a:latin typeface="Courier New"/>
              </a:rPr>
              <a:t>        -&gt; processing: validate, join, calculate, summarize</a:t>
            </a:r>
          </a:p>
        </p:txBody>
      </p:sp>
      <p:sp>
        <p:nvSpPr>
          <p:cNvPr id="9" name="content:line-73:0"/>
          <p:cNvSpPr txBox="1"/>
          <p:nvPr/>
        </p:nvSpPr>
        <p:spPr>
          <a:xfrm>
            <a:off x="594360" y="2871215"/>
            <a:ext cx="11003279" cy="377952"/>
          </a:xfrm>
          <a:prstGeom prst="rect">
            <a:avLst/>
          </a:prstGeom>
          <a:solidFill>
            <a:srgbClr val="EDF3F6"/>
          </a:solidFill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2376"/>
              </a:lnSpc>
              <a:spcBef>
                <a:spcPts val="0"/>
              </a:spcBef>
              <a:spcAft>
                <a:spcPts val="0"/>
              </a:spcAft>
              <a:defRPr sz="1800">
                <a:solidFill>
                  <a:srgbClr val="20344A"/>
                </a:solidFill>
                <a:latin typeface="Arial"/>
              </a:defRPr>
            </a:pPr>
            <a:r>
              <a:rPr sz="1800" b="0" i="0">
                <a:solidFill>
                  <a:srgbClr val="20344A"/>
                </a:solidFill>
                <a:latin typeface="Courier New"/>
              </a:rPr>
              <a:t>        &lt;- result dictionary</a:t>
            </a:r>
          </a:p>
        </p:txBody>
      </p:sp>
      <p:sp>
        <p:nvSpPr>
          <p:cNvPr id="10" name="content:line-74:0"/>
          <p:cNvSpPr txBox="1"/>
          <p:nvPr/>
        </p:nvSpPr>
        <p:spPr>
          <a:xfrm>
            <a:off x="594360" y="3249167"/>
            <a:ext cx="11003279" cy="377952"/>
          </a:xfrm>
          <a:prstGeom prst="rect">
            <a:avLst/>
          </a:prstGeom>
          <a:solidFill>
            <a:srgbClr val="EDF3F6"/>
          </a:solidFill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2376"/>
              </a:lnSpc>
              <a:spcBef>
                <a:spcPts val="0"/>
              </a:spcBef>
              <a:spcAft>
                <a:spcPts val="0"/>
              </a:spcAft>
              <a:defRPr sz="1800">
                <a:solidFill>
                  <a:srgbClr val="20344A"/>
                </a:solidFill>
                <a:latin typeface="Arial"/>
              </a:defRPr>
            </a:pPr>
            <a:r>
              <a:rPr sz="1800" b="0" i="0">
                <a:solidFill>
                  <a:srgbClr val="20344A"/>
                </a:solidFill>
                <a:latin typeface="Courier New"/>
              </a:rPr>
              <a:t>    &lt;- JSON response</a:t>
            </a:r>
          </a:p>
        </p:txBody>
      </p:sp>
      <p:sp>
        <p:nvSpPr>
          <p:cNvPr id="11" name="content:line-77:0"/>
          <p:cNvSpPr txBox="1"/>
          <p:nvPr/>
        </p:nvSpPr>
        <p:spPr>
          <a:xfrm>
            <a:off x="594360" y="3627119"/>
            <a:ext cx="11003279" cy="428244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 marL="279400" indent="-215900">
              <a:lnSpc>
                <a:spcPts val="2772"/>
              </a:lnSpc>
              <a:spcBef>
                <a:spcPts val="0"/>
              </a:spcBef>
              <a:spcAft>
                <a:spcPts val="0"/>
              </a:spcAft>
              <a:defRPr sz="2100">
                <a:solidFill>
                  <a:srgbClr val="20344A"/>
                </a:solidFill>
                <a:latin typeface="Arial"/>
              </a:defRPr>
              <a:buChar char="•"/>
            </a:pPr>
            <a:r>
              <a:rPr sz="2100" b="0" i="0">
                <a:solidFill>
                  <a:srgbClr val="20344A"/>
                </a:solidFill>
                <a:latin typeface="Arial"/>
              </a:rPr>
              <a:t>API means a defined way for programs to communicate.</a:t>
            </a:r>
          </a:p>
        </p:txBody>
      </p:sp>
      <p:sp>
        <p:nvSpPr>
          <p:cNvPr id="12" name="content:line-78:0"/>
          <p:cNvSpPr txBox="1"/>
          <p:nvPr/>
        </p:nvSpPr>
        <p:spPr>
          <a:xfrm>
            <a:off x="594360" y="4119371"/>
            <a:ext cx="11003279" cy="428244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 marL="279400" indent="-215900">
              <a:lnSpc>
                <a:spcPts val="2772"/>
              </a:lnSpc>
              <a:spcBef>
                <a:spcPts val="0"/>
              </a:spcBef>
              <a:spcAft>
                <a:spcPts val="0"/>
              </a:spcAft>
              <a:defRPr sz="2100">
                <a:solidFill>
                  <a:srgbClr val="20344A"/>
                </a:solidFill>
                <a:latin typeface="Arial"/>
              </a:defRPr>
              <a:buChar char="•"/>
            </a:pPr>
            <a:r>
              <a:rPr sz="2100" b="0" i="0">
                <a:solidFill>
                  <a:srgbClr val="20344A"/>
                </a:solidFill>
                <a:latin typeface="Arial"/>
              </a:rPr>
              <a:t>UI means the screen a person uses.</a:t>
            </a:r>
          </a:p>
        </p:txBody>
      </p:sp>
      <p:sp>
        <p:nvSpPr>
          <p:cNvPr id="13" name="content:line-79:0"/>
          <p:cNvSpPr txBox="1"/>
          <p:nvPr/>
        </p:nvSpPr>
        <p:spPr>
          <a:xfrm>
            <a:off x="594360" y="4611623"/>
            <a:ext cx="11003279" cy="780288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 marL="279400" indent="-215900">
              <a:lnSpc>
                <a:spcPts val="2772"/>
              </a:lnSpc>
              <a:spcBef>
                <a:spcPts val="0"/>
              </a:spcBef>
              <a:spcAft>
                <a:spcPts val="0"/>
              </a:spcAft>
              <a:defRPr sz="2100">
                <a:solidFill>
                  <a:srgbClr val="20344A"/>
                </a:solidFill>
                <a:latin typeface="Arial"/>
              </a:defRPr>
              <a:buChar char="•"/>
            </a:pPr>
            <a:r>
              <a:rPr sz="2100" b="0" i="0">
                <a:solidFill>
                  <a:srgbClr val="20344A"/>
                </a:solidFill>
                <a:latin typeface="Arial"/>
              </a:rPr>
              <a:t>UI flow is conceptual here; the supplied frontend is explored in </a:t>
            </a:r>
            <a:br/>
            <a:r>
              <a:rPr sz="2100" b="0" i="0">
                <a:solidFill>
                  <a:srgbClr val="20344A"/>
                </a:solidFill>
                <a:latin typeface="Arial"/>
              </a:rPr>
              <a:t>Session 4.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C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accent"/>
          <p:cNvSpPr/>
          <p:nvPr/>
        </p:nvSpPr>
        <p:spPr>
          <a:xfrm>
            <a:off x="0" y="0"/>
            <a:ext cx="12191999" cy="64008"/>
          </a:xfrm>
          <a:prstGeom prst="rect">
            <a:avLst/>
          </a:prstGeom>
          <a:solidFill>
            <a:srgbClr val="007F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section"/>
          <p:cNvSpPr txBox="1"/>
          <p:nvPr/>
        </p:nvSpPr>
        <p:spPr>
          <a:xfrm>
            <a:off x="594360" y="201168"/>
            <a:ext cx="11003279" cy="256032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1452"/>
              </a:lnSpc>
              <a:spcBef>
                <a:spcPts val="0"/>
              </a:spcBef>
              <a:spcAft>
                <a:spcPts val="0"/>
              </a:spcAft>
              <a:defRPr sz="1100">
                <a:solidFill>
                  <a:srgbClr val="53677A"/>
                </a:solidFill>
                <a:latin typeface="Arial"/>
              </a:defRPr>
            </a:pPr>
            <a:r>
              <a:t>SOURCE 8 / 27</a:t>
            </a:r>
          </a:p>
        </p:txBody>
      </p:sp>
      <p:sp>
        <p:nvSpPr>
          <p:cNvPr id="4" name="title:line-83"/>
          <p:cNvSpPr txBox="1"/>
          <p:nvPr/>
        </p:nvSpPr>
        <p:spPr>
          <a:xfrm>
            <a:off x="594360" y="530352"/>
            <a:ext cx="11003279" cy="1161288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4000"/>
              </a:lnSpc>
              <a:spcBef>
                <a:spcPts val="0"/>
              </a:spcBef>
              <a:spcAft>
                <a:spcPts val="0"/>
              </a:spcAft>
              <a:defRPr sz="3200">
                <a:solidFill>
                  <a:srgbClr val="20344A"/>
                </a:solidFill>
                <a:latin typeface="Arial"/>
              </a:defRPr>
            </a:pPr>
            <a:r>
              <a:rPr sz="3200" b="0" i="0">
                <a:solidFill>
                  <a:srgbClr val="20344A"/>
                </a:solidFill>
                <a:latin typeface="Arial"/>
              </a:rPr>
              <a:t>Find the actual backend modules</a:t>
            </a:r>
          </a:p>
        </p:txBody>
      </p:sp>
      <p:sp>
        <p:nvSpPr>
          <p:cNvPr id="5" name="footer"/>
          <p:cNvSpPr txBox="1"/>
          <p:nvPr/>
        </p:nvSpPr>
        <p:spPr>
          <a:xfrm>
            <a:off x="594360" y="6510528"/>
            <a:ext cx="11003279" cy="219456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1320"/>
              </a:lnSpc>
              <a:spcBef>
                <a:spcPts val="0"/>
              </a:spcBef>
              <a:spcAft>
                <a:spcPts val="0"/>
              </a:spcAft>
              <a:defRPr sz="1000">
                <a:solidFill>
                  <a:srgbClr val="53677A"/>
                </a:solidFill>
                <a:latin typeface="Arial"/>
              </a:defRPr>
            </a:pPr>
            <a:r>
              <a:t>session-2.md   ·   8</a:t>
            </a:r>
          </a:p>
        </p:txBody>
      </p:sp>
      <p:sp>
        <p:nvSpPr>
          <p:cNvPr id="6" name="content:line-86:0"/>
          <p:cNvSpPr txBox="1"/>
          <p:nvPr/>
        </p:nvSpPr>
        <p:spPr>
          <a:xfrm>
            <a:off x="594360" y="1737360"/>
            <a:ext cx="11003279" cy="377952"/>
          </a:xfrm>
          <a:prstGeom prst="rect">
            <a:avLst/>
          </a:prstGeom>
          <a:solidFill>
            <a:srgbClr val="EDF3F6"/>
          </a:solidFill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2376"/>
              </a:lnSpc>
              <a:spcBef>
                <a:spcPts val="0"/>
              </a:spcBef>
              <a:spcAft>
                <a:spcPts val="0"/>
              </a:spcAft>
              <a:defRPr sz="1800">
                <a:solidFill>
                  <a:srgbClr val="20344A"/>
                </a:solidFill>
                <a:latin typeface="Arial"/>
              </a:defRPr>
            </a:pPr>
            <a:r>
              <a:rPr sz="1800" b="0" i="0">
                <a:solidFill>
                  <a:srgbClr val="20344A"/>
                </a:solidFill>
                <a:latin typeface="Courier New"/>
              </a:rPr>
              <a:t>backend/</a:t>
            </a:r>
          </a:p>
        </p:txBody>
      </p:sp>
      <p:sp>
        <p:nvSpPr>
          <p:cNvPr id="7" name="content:line-87:0"/>
          <p:cNvSpPr txBox="1"/>
          <p:nvPr/>
        </p:nvSpPr>
        <p:spPr>
          <a:xfrm>
            <a:off x="594360" y="2115312"/>
            <a:ext cx="11003279" cy="377952"/>
          </a:xfrm>
          <a:prstGeom prst="rect">
            <a:avLst/>
          </a:prstGeom>
          <a:solidFill>
            <a:srgbClr val="EDF3F6"/>
          </a:solidFill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2376"/>
              </a:lnSpc>
              <a:spcBef>
                <a:spcPts val="0"/>
              </a:spcBef>
              <a:spcAft>
                <a:spcPts val="0"/>
              </a:spcAft>
              <a:defRPr sz="1800">
                <a:solidFill>
                  <a:srgbClr val="20344A"/>
                </a:solidFill>
                <a:latin typeface="Arial"/>
              </a:defRPr>
            </a:pPr>
            <a:r>
              <a:rPr sz="1800" b="0" i="0">
                <a:solidFill>
                  <a:srgbClr val="20344A"/>
                </a:solidFill>
                <a:latin typeface="Courier New"/>
              </a:rPr>
              <a:t>  pyproject.toml          package and dependency metadata</a:t>
            </a:r>
          </a:p>
        </p:txBody>
      </p:sp>
      <p:sp>
        <p:nvSpPr>
          <p:cNvPr id="8" name="content:line-88:0"/>
          <p:cNvSpPr txBox="1"/>
          <p:nvPr/>
        </p:nvSpPr>
        <p:spPr>
          <a:xfrm>
            <a:off x="594360" y="2493264"/>
            <a:ext cx="11003279" cy="377952"/>
          </a:xfrm>
          <a:prstGeom prst="rect">
            <a:avLst/>
          </a:prstGeom>
          <a:solidFill>
            <a:srgbClr val="EDF3F6"/>
          </a:solidFill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2376"/>
              </a:lnSpc>
              <a:spcBef>
                <a:spcPts val="0"/>
              </a:spcBef>
              <a:spcAft>
                <a:spcPts val="0"/>
              </a:spcAft>
              <a:defRPr sz="1800">
                <a:solidFill>
                  <a:srgbClr val="20344A"/>
                </a:solidFill>
                <a:latin typeface="Arial"/>
              </a:defRPr>
            </a:pPr>
            <a:r>
              <a:rPr sz="1800" b="0" i="0">
                <a:solidFill>
                  <a:srgbClr val="20344A"/>
                </a:solidFill>
                <a:latin typeface="Courier New"/>
              </a:rPr>
              <a:t>  stat_core/__init__.py  public imports</a:t>
            </a:r>
          </a:p>
        </p:txBody>
      </p:sp>
      <p:sp>
        <p:nvSpPr>
          <p:cNvPr id="9" name="content:line-89:0"/>
          <p:cNvSpPr txBox="1"/>
          <p:nvPr/>
        </p:nvSpPr>
        <p:spPr>
          <a:xfrm>
            <a:off x="594360" y="2871215"/>
            <a:ext cx="11003279" cy="377952"/>
          </a:xfrm>
          <a:prstGeom prst="rect">
            <a:avLst/>
          </a:prstGeom>
          <a:solidFill>
            <a:srgbClr val="EDF3F6"/>
          </a:solidFill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2376"/>
              </a:lnSpc>
              <a:spcBef>
                <a:spcPts val="0"/>
              </a:spcBef>
              <a:spcAft>
                <a:spcPts val="0"/>
              </a:spcAft>
              <a:defRPr sz="1800">
                <a:solidFill>
                  <a:srgbClr val="20344A"/>
                </a:solidFill>
                <a:latin typeface="Arial"/>
              </a:defRPr>
            </a:pPr>
            <a:r>
              <a:rPr sz="1800" b="0" i="0">
                <a:solidFill>
                  <a:srgbClr val="20344A"/>
                </a:solidFill>
                <a:latin typeface="Courier New"/>
              </a:rPr>
              <a:t>  stat_core/processing.py  process_csv</a:t>
            </a:r>
          </a:p>
        </p:txBody>
      </p:sp>
      <p:sp>
        <p:nvSpPr>
          <p:cNvPr id="10" name="content:line-90:0"/>
          <p:cNvSpPr txBox="1"/>
          <p:nvPr/>
        </p:nvSpPr>
        <p:spPr>
          <a:xfrm>
            <a:off x="594360" y="3249167"/>
            <a:ext cx="11003279" cy="377952"/>
          </a:xfrm>
          <a:prstGeom prst="rect">
            <a:avLst/>
          </a:prstGeom>
          <a:solidFill>
            <a:srgbClr val="EDF3F6"/>
          </a:solidFill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2376"/>
              </a:lnSpc>
              <a:spcBef>
                <a:spcPts val="0"/>
              </a:spcBef>
              <a:spcAft>
                <a:spcPts val="0"/>
              </a:spcAft>
              <a:defRPr sz="1800">
                <a:solidFill>
                  <a:srgbClr val="20344A"/>
                </a:solidFill>
                <a:latin typeface="Arial"/>
              </a:defRPr>
            </a:pPr>
            <a:r>
              <a:rPr sz="1800" b="0" i="0">
                <a:solidFill>
                  <a:srgbClr val="20344A"/>
                </a:solidFill>
                <a:latin typeface="Courier New"/>
              </a:rPr>
              <a:t>  stat_core/validation.py  CSV and domain checks</a:t>
            </a:r>
          </a:p>
        </p:txBody>
      </p:sp>
      <p:sp>
        <p:nvSpPr>
          <p:cNvPr id="11" name="content:line-91:0"/>
          <p:cNvSpPr txBox="1"/>
          <p:nvPr/>
        </p:nvSpPr>
        <p:spPr>
          <a:xfrm>
            <a:off x="594360" y="3627119"/>
            <a:ext cx="11003279" cy="377952"/>
          </a:xfrm>
          <a:prstGeom prst="rect">
            <a:avLst/>
          </a:prstGeom>
          <a:solidFill>
            <a:srgbClr val="EDF3F6"/>
          </a:solidFill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2376"/>
              </a:lnSpc>
              <a:spcBef>
                <a:spcPts val="0"/>
              </a:spcBef>
              <a:spcAft>
                <a:spcPts val="0"/>
              </a:spcAft>
              <a:defRPr sz="1800">
                <a:solidFill>
                  <a:srgbClr val="20344A"/>
                </a:solidFill>
                <a:latin typeface="Arial"/>
              </a:defRPr>
            </a:pPr>
            <a:r>
              <a:rPr sz="1800" b="0" i="0">
                <a:solidFill>
                  <a:srgbClr val="20344A"/>
                </a:solidFill>
                <a:latin typeface="Courier New"/>
              </a:rPr>
              <a:t>  stat_core/schemas.py   result and error shapes</a:t>
            </a:r>
          </a:p>
        </p:txBody>
      </p:sp>
      <p:sp>
        <p:nvSpPr>
          <p:cNvPr id="12" name="content:line-92:0"/>
          <p:cNvSpPr txBox="1"/>
          <p:nvPr/>
        </p:nvSpPr>
        <p:spPr>
          <a:xfrm>
            <a:off x="594360" y="4005071"/>
            <a:ext cx="11003279" cy="377952"/>
          </a:xfrm>
          <a:prstGeom prst="rect">
            <a:avLst/>
          </a:prstGeom>
          <a:solidFill>
            <a:srgbClr val="EDF3F6"/>
          </a:solidFill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2376"/>
              </a:lnSpc>
              <a:spcBef>
                <a:spcPts val="0"/>
              </a:spcBef>
              <a:spcAft>
                <a:spcPts val="0"/>
              </a:spcAft>
              <a:defRPr sz="1800">
                <a:solidFill>
                  <a:srgbClr val="20344A"/>
                </a:solidFill>
                <a:latin typeface="Arial"/>
              </a:defRPr>
            </a:pPr>
            <a:r>
              <a:rPr sz="1800" b="0" i="0">
                <a:solidFill>
                  <a:srgbClr val="20344A"/>
                </a:solidFill>
                <a:latin typeface="Courier New"/>
              </a:rPr>
              <a:t>  stat_core/errors.py    InvalidInputError</a:t>
            </a:r>
          </a:p>
        </p:txBody>
      </p:sp>
      <p:sp>
        <p:nvSpPr>
          <p:cNvPr id="13" name="content:line-93:0"/>
          <p:cNvSpPr txBox="1"/>
          <p:nvPr/>
        </p:nvSpPr>
        <p:spPr>
          <a:xfrm>
            <a:off x="594360" y="4383023"/>
            <a:ext cx="11003279" cy="377952"/>
          </a:xfrm>
          <a:prstGeom prst="rect">
            <a:avLst/>
          </a:prstGeom>
          <a:solidFill>
            <a:srgbClr val="EDF3F6"/>
          </a:solidFill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2376"/>
              </a:lnSpc>
              <a:spcBef>
                <a:spcPts val="0"/>
              </a:spcBef>
              <a:spcAft>
                <a:spcPts val="0"/>
              </a:spcAft>
              <a:defRPr sz="1800">
                <a:solidFill>
                  <a:srgbClr val="20344A"/>
                </a:solidFill>
                <a:latin typeface="Arial"/>
              </a:defRPr>
            </a:pPr>
            <a:r>
              <a:rPr sz="1800" b="0" i="0">
                <a:solidFill>
                  <a:srgbClr val="20344A"/>
                </a:solidFill>
                <a:latin typeface="Courier New"/>
              </a:rPr>
              <a:t>  app/main.py           create_app and HTTP endpoints</a:t>
            </a:r>
          </a:p>
        </p:txBody>
      </p:sp>
      <p:sp>
        <p:nvSpPr>
          <p:cNvPr id="14" name="content:line-96:0"/>
          <p:cNvSpPr txBox="1"/>
          <p:nvPr/>
        </p:nvSpPr>
        <p:spPr>
          <a:xfrm>
            <a:off x="594360" y="4760975"/>
            <a:ext cx="11003279" cy="428244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 marL="279400" indent="-215900">
              <a:lnSpc>
                <a:spcPts val="2772"/>
              </a:lnSpc>
              <a:spcBef>
                <a:spcPts val="0"/>
              </a:spcBef>
              <a:spcAft>
                <a:spcPts val="0"/>
              </a:spcAft>
              <a:defRPr sz="2100">
                <a:solidFill>
                  <a:srgbClr val="20344A"/>
                </a:solidFill>
                <a:latin typeface="Arial"/>
              </a:defRPr>
              <a:buChar char="•"/>
            </a:pPr>
            <a:r>
              <a:rPr sz="2100" b="0" i="0">
                <a:solidFill>
                  <a:srgbClr val="20344A"/>
                </a:solidFill>
                <a:latin typeface="Arial"/>
              </a:rPr>
              <a:t>Trace from </a:t>
            </a:r>
            <a:r>
              <a:rPr sz="2100" b="0" i="0">
                <a:solidFill>
                  <a:srgbClr val="007F82"/>
                </a:solidFill>
                <a:latin typeface="Arial"/>
                <a:hlinkClick r:id="rId2"/>
              </a:rPr>
              <a:t>public imports</a:t>
            </a:r>
            <a:r>
              <a:rPr sz="2100" b="0" i="0">
                <a:solidFill>
                  <a:srgbClr val="20344A"/>
                </a:solidFill>
                <a:latin typeface="Arial"/>
              </a:rPr>
              <a:t>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C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accent"/>
          <p:cNvSpPr/>
          <p:nvPr/>
        </p:nvSpPr>
        <p:spPr>
          <a:xfrm>
            <a:off x="0" y="0"/>
            <a:ext cx="12191999" cy="64008"/>
          </a:xfrm>
          <a:prstGeom prst="rect">
            <a:avLst/>
          </a:prstGeom>
          <a:solidFill>
            <a:srgbClr val="007F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section"/>
          <p:cNvSpPr txBox="1"/>
          <p:nvPr/>
        </p:nvSpPr>
        <p:spPr>
          <a:xfrm>
            <a:off x="594360" y="201168"/>
            <a:ext cx="11003279" cy="256032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1452"/>
              </a:lnSpc>
              <a:spcBef>
                <a:spcPts val="0"/>
              </a:spcBef>
              <a:spcAft>
                <a:spcPts val="0"/>
              </a:spcAft>
              <a:defRPr sz="1100">
                <a:solidFill>
                  <a:srgbClr val="53677A"/>
                </a:solidFill>
                <a:latin typeface="Arial"/>
              </a:defRPr>
            </a:pPr>
            <a:r>
              <a:t>SOURCE 9 / 27</a:t>
            </a:r>
          </a:p>
        </p:txBody>
      </p:sp>
      <p:sp>
        <p:nvSpPr>
          <p:cNvPr id="4" name="title:line-100"/>
          <p:cNvSpPr txBox="1"/>
          <p:nvPr/>
        </p:nvSpPr>
        <p:spPr>
          <a:xfrm>
            <a:off x="594360" y="530352"/>
            <a:ext cx="11003279" cy="1161288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4000"/>
              </a:lnSpc>
              <a:spcBef>
                <a:spcPts val="0"/>
              </a:spcBef>
              <a:spcAft>
                <a:spcPts val="0"/>
              </a:spcAft>
              <a:defRPr sz="3200">
                <a:solidFill>
                  <a:srgbClr val="20344A"/>
                </a:solidFill>
                <a:latin typeface="Arial"/>
              </a:defRPr>
            </a:pPr>
            <a:r>
              <a:rPr sz="3200" b="0" i="0">
                <a:solidFill>
                  <a:srgbClr val="20344A"/>
                </a:solidFill>
                <a:latin typeface="Arial"/>
              </a:rPr>
              <a:t>Follow one call through processing</a:t>
            </a:r>
          </a:p>
        </p:txBody>
      </p:sp>
      <p:sp>
        <p:nvSpPr>
          <p:cNvPr id="5" name="footer"/>
          <p:cNvSpPr txBox="1"/>
          <p:nvPr/>
        </p:nvSpPr>
        <p:spPr>
          <a:xfrm>
            <a:off x="594360" y="6510528"/>
            <a:ext cx="11003279" cy="219456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1320"/>
              </a:lnSpc>
              <a:spcBef>
                <a:spcPts val="0"/>
              </a:spcBef>
              <a:spcAft>
                <a:spcPts val="0"/>
              </a:spcAft>
              <a:defRPr sz="1000">
                <a:solidFill>
                  <a:srgbClr val="53677A"/>
                </a:solidFill>
                <a:latin typeface="Arial"/>
              </a:defRPr>
            </a:pPr>
            <a:r>
              <a:t>session-2.md   ·   9</a:t>
            </a:r>
          </a:p>
        </p:txBody>
      </p:sp>
      <p:sp>
        <p:nvSpPr>
          <p:cNvPr id="6" name="content:line-103:0"/>
          <p:cNvSpPr txBox="1"/>
          <p:nvPr/>
        </p:nvSpPr>
        <p:spPr>
          <a:xfrm>
            <a:off x="594360" y="1737360"/>
            <a:ext cx="11003279" cy="377952"/>
          </a:xfrm>
          <a:prstGeom prst="rect">
            <a:avLst/>
          </a:prstGeom>
          <a:solidFill>
            <a:srgbClr val="EDF3F6"/>
          </a:solidFill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2376"/>
              </a:lnSpc>
              <a:spcBef>
                <a:spcPts val="0"/>
              </a:spcBef>
              <a:spcAft>
                <a:spcPts val="0"/>
              </a:spcAft>
              <a:defRPr sz="1800">
                <a:solidFill>
                  <a:srgbClr val="20344A"/>
                </a:solidFill>
                <a:latin typeface="Arial"/>
              </a:defRPr>
            </a:pPr>
            <a:r>
              <a:rPr sz="1800" b="0" i="0">
                <a:solidFill>
                  <a:srgbClr val="20344A"/>
                </a:solidFill>
                <a:latin typeface="Courier New"/>
              </a:rPr>
              <a:t>stat_core.process_csv(participants_csv, laboratory_csv)</a:t>
            </a:r>
          </a:p>
        </p:txBody>
      </p:sp>
      <p:sp>
        <p:nvSpPr>
          <p:cNvPr id="7" name="content:line-104:0"/>
          <p:cNvSpPr txBox="1"/>
          <p:nvPr/>
        </p:nvSpPr>
        <p:spPr>
          <a:xfrm>
            <a:off x="594360" y="2115312"/>
            <a:ext cx="11003279" cy="377952"/>
          </a:xfrm>
          <a:prstGeom prst="rect">
            <a:avLst/>
          </a:prstGeom>
          <a:solidFill>
            <a:srgbClr val="EDF3F6"/>
          </a:solidFill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2376"/>
              </a:lnSpc>
              <a:spcBef>
                <a:spcPts val="0"/>
              </a:spcBef>
              <a:spcAft>
                <a:spcPts val="0"/>
              </a:spcAft>
              <a:defRPr sz="1800">
                <a:solidFill>
                  <a:srgbClr val="20344A"/>
                </a:solidFill>
                <a:latin typeface="Arial"/>
              </a:defRPr>
            </a:pPr>
            <a:r>
              <a:rPr sz="1800" b="0" i="0">
                <a:solidFill>
                  <a:srgbClr val="20344A"/>
                </a:solidFill>
                <a:latin typeface="Courier New"/>
              </a:rPr>
              <a:t>  read_csv + validate_participants</a:t>
            </a:r>
          </a:p>
        </p:txBody>
      </p:sp>
      <p:sp>
        <p:nvSpPr>
          <p:cNvPr id="8" name="content:line-105:0"/>
          <p:cNvSpPr txBox="1"/>
          <p:nvPr/>
        </p:nvSpPr>
        <p:spPr>
          <a:xfrm>
            <a:off x="594360" y="2493264"/>
            <a:ext cx="11003279" cy="377952"/>
          </a:xfrm>
          <a:prstGeom prst="rect">
            <a:avLst/>
          </a:prstGeom>
          <a:solidFill>
            <a:srgbClr val="EDF3F6"/>
          </a:solidFill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2376"/>
              </a:lnSpc>
              <a:spcBef>
                <a:spcPts val="0"/>
              </a:spcBef>
              <a:spcAft>
                <a:spcPts val="0"/>
              </a:spcAft>
              <a:defRPr sz="1800">
                <a:solidFill>
                  <a:srgbClr val="20344A"/>
                </a:solidFill>
                <a:latin typeface="Arial"/>
              </a:defRPr>
            </a:pPr>
            <a:r>
              <a:rPr sz="1800" b="0" i="0">
                <a:solidFill>
                  <a:srgbClr val="20344A"/>
                </a:solidFill>
                <a:latin typeface="Courier New"/>
              </a:rPr>
              <a:t>  read_csv + validate_laboratory</a:t>
            </a:r>
          </a:p>
        </p:txBody>
      </p:sp>
      <p:sp>
        <p:nvSpPr>
          <p:cNvPr id="9" name="content:line-106:0"/>
          <p:cNvSpPr txBox="1"/>
          <p:nvPr/>
        </p:nvSpPr>
        <p:spPr>
          <a:xfrm>
            <a:off x="594360" y="2871215"/>
            <a:ext cx="11003279" cy="377952"/>
          </a:xfrm>
          <a:prstGeom prst="rect">
            <a:avLst/>
          </a:prstGeom>
          <a:solidFill>
            <a:srgbClr val="EDF3F6"/>
          </a:solidFill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2376"/>
              </a:lnSpc>
              <a:spcBef>
                <a:spcPts val="0"/>
              </a:spcBef>
              <a:spcAft>
                <a:spcPts val="0"/>
              </a:spcAft>
              <a:defRPr sz="1800">
                <a:solidFill>
                  <a:srgbClr val="20344A"/>
                </a:solidFill>
                <a:latin typeface="Arial"/>
              </a:defRPr>
            </a:pPr>
            <a:r>
              <a:rPr sz="1800" b="0" i="0">
                <a:solidFill>
                  <a:srgbClr val="20344A"/>
                </a:solidFill>
                <a:latin typeface="Courier New"/>
              </a:rPr>
              <a:t>  join laboratory rows to participants</a:t>
            </a:r>
          </a:p>
        </p:txBody>
      </p:sp>
      <p:sp>
        <p:nvSpPr>
          <p:cNvPr id="10" name="content:line-107:0"/>
          <p:cNvSpPr txBox="1"/>
          <p:nvPr/>
        </p:nvSpPr>
        <p:spPr>
          <a:xfrm>
            <a:off x="594360" y="3249167"/>
            <a:ext cx="11003279" cy="377952"/>
          </a:xfrm>
          <a:prstGeom prst="rect">
            <a:avLst/>
          </a:prstGeom>
          <a:solidFill>
            <a:srgbClr val="EDF3F6"/>
          </a:solidFill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2376"/>
              </a:lnSpc>
              <a:spcBef>
                <a:spcPts val="0"/>
              </a:spcBef>
              <a:spcAft>
                <a:spcPts val="0"/>
              </a:spcAft>
              <a:defRPr sz="1800">
                <a:solidFill>
                  <a:srgbClr val="20344A"/>
                </a:solidFill>
                <a:latin typeface="Arial"/>
              </a:defRPr>
            </a:pPr>
            <a:r>
              <a:rPr sz="1800" b="0" i="0">
                <a:solidFill>
                  <a:srgbClr val="20344A"/>
                </a:solidFill>
                <a:latin typeface="Courier New"/>
              </a:rPr>
              <a:t>  calculate baseline, change, percent_change</a:t>
            </a:r>
          </a:p>
        </p:txBody>
      </p:sp>
      <p:sp>
        <p:nvSpPr>
          <p:cNvPr id="11" name="content:line-108:0"/>
          <p:cNvSpPr txBox="1"/>
          <p:nvPr/>
        </p:nvSpPr>
        <p:spPr>
          <a:xfrm>
            <a:off x="594360" y="3627119"/>
            <a:ext cx="11003279" cy="377952"/>
          </a:xfrm>
          <a:prstGeom prst="rect">
            <a:avLst/>
          </a:prstGeom>
          <a:solidFill>
            <a:srgbClr val="EDF3F6"/>
          </a:solidFill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2376"/>
              </a:lnSpc>
              <a:spcBef>
                <a:spcPts val="0"/>
              </a:spcBef>
              <a:spcAft>
                <a:spcPts val="0"/>
              </a:spcAft>
              <a:defRPr sz="1800">
                <a:solidFill>
                  <a:srgbClr val="20344A"/>
                </a:solidFill>
                <a:latin typeface="Arial"/>
              </a:defRPr>
            </a:pPr>
            <a:r>
              <a:rPr sz="1800" b="0" i="0">
                <a:solidFill>
                  <a:srgbClr val="20344A"/>
                </a:solidFill>
                <a:latin typeface="Courier New"/>
              </a:rPr>
              <a:t>  build counts, arm_summaries, visit_summaries</a:t>
            </a:r>
          </a:p>
        </p:txBody>
      </p:sp>
      <p:sp>
        <p:nvSpPr>
          <p:cNvPr id="12" name="content:line-109:0"/>
          <p:cNvSpPr txBox="1"/>
          <p:nvPr/>
        </p:nvSpPr>
        <p:spPr>
          <a:xfrm>
            <a:off x="594360" y="4005071"/>
            <a:ext cx="11003279" cy="377952"/>
          </a:xfrm>
          <a:prstGeom prst="rect">
            <a:avLst/>
          </a:prstGeom>
          <a:solidFill>
            <a:srgbClr val="EDF3F6"/>
          </a:solidFill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2376"/>
              </a:lnSpc>
              <a:spcBef>
                <a:spcPts val="0"/>
              </a:spcBef>
              <a:spcAft>
                <a:spcPts val="0"/>
              </a:spcAft>
              <a:defRPr sz="1800">
                <a:solidFill>
                  <a:srgbClr val="20344A"/>
                </a:solidFill>
                <a:latin typeface="Arial"/>
              </a:defRPr>
            </a:pPr>
            <a:r>
              <a:rPr sz="1800" b="0" i="0">
                <a:solidFill>
                  <a:srgbClr val="20344A"/>
                </a:solidFill>
                <a:latin typeface="Courier New"/>
              </a:rPr>
              <a:t>  return ProcessResult.model_dump(mode="json")</a:t>
            </a:r>
          </a:p>
        </p:txBody>
      </p:sp>
      <p:sp>
        <p:nvSpPr>
          <p:cNvPr id="13" name="content:line-112:0"/>
          <p:cNvSpPr txBox="1"/>
          <p:nvPr/>
        </p:nvSpPr>
        <p:spPr>
          <a:xfrm>
            <a:off x="594360" y="4383023"/>
            <a:ext cx="11003279" cy="428244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 marL="279400" indent="-215900">
              <a:lnSpc>
                <a:spcPts val="2772"/>
              </a:lnSpc>
              <a:spcBef>
                <a:spcPts val="0"/>
              </a:spcBef>
              <a:spcAft>
                <a:spcPts val="0"/>
              </a:spcAft>
              <a:defRPr sz="2100">
                <a:solidFill>
                  <a:srgbClr val="20344A"/>
                </a:solidFill>
                <a:latin typeface="Arial"/>
              </a:defRPr>
              <a:buChar char="•"/>
            </a:pPr>
            <a:r>
              <a:rPr sz="2100" b="0" i="0">
                <a:solidFill>
                  <a:srgbClr val="20344A"/>
                </a:solidFill>
                <a:latin typeface="Arial"/>
              </a:rPr>
              <a:t>These steps live in </a:t>
            </a:r>
            <a:r>
              <a:rPr sz="2100" b="0" i="0">
                <a:solidFill>
                  <a:srgbClr val="007F82"/>
                </a:solidFill>
                <a:latin typeface="Arial"/>
                <a:hlinkClick r:id="rId2"/>
              </a:rPr>
              <a:t>processing.py</a:t>
            </a:r>
            <a:r>
              <a:rPr sz="2100" b="0" i="0">
                <a:solidFill>
                  <a:srgbClr val="20344A"/>
                </a:solidFill>
                <a:latin typeface="Arial"/>
              </a:rPr>
              <a:t>.</a:t>
            </a:r>
          </a:p>
        </p:txBody>
      </p:sp>
      <p:sp>
        <p:nvSpPr>
          <p:cNvPr id="14" name="content:line-113:0"/>
          <p:cNvSpPr txBox="1"/>
          <p:nvPr/>
        </p:nvSpPr>
        <p:spPr>
          <a:xfrm>
            <a:off x="594360" y="4875275"/>
            <a:ext cx="11003279" cy="428244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 marL="279400" indent="-215900">
              <a:lnSpc>
                <a:spcPts val="2772"/>
              </a:lnSpc>
              <a:spcBef>
                <a:spcPts val="0"/>
              </a:spcBef>
              <a:spcAft>
                <a:spcPts val="0"/>
              </a:spcAft>
              <a:defRPr sz="2100">
                <a:solidFill>
                  <a:srgbClr val="20344A"/>
                </a:solidFill>
                <a:latin typeface="Arial"/>
              </a:defRPr>
              <a:buChar char="•"/>
            </a:pPr>
            <a:r>
              <a:rPr sz="2100" b="0" i="0">
                <a:solidFill>
                  <a:srgbClr val="20344A"/>
                </a:solidFill>
                <a:latin typeface="Arial"/>
              </a:rPr>
              <a:t>The caller supplies CSV contents, not filenames or uploads.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C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accent"/>
          <p:cNvSpPr/>
          <p:nvPr/>
        </p:nvSpPr>
        <p:spPr>
          <a:xfrm>
            <a:off x="0" y="0"/>
            <a:ext cx="12191999" cy="64008"/>
          </a:xfrm>
          <a:prstGeom prst="rect">
            <a:avLst/>
          </a:prstGeom>
          <a:solidFill>
            <a:srgbClr val="007F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section"/>
          <p:cNvSpPr txBox="1"/>
          <p:nvPr/>
        </p:nvSpPr>
        <p:spPr>
          <a:xfrm>
            <a:off x="594360" y="201168"/>
            <a:ext cx="11003279" cy="256032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1452"/>
              </a:lnSpc>
              <a:spcBef>
                <a:spcPts val="0"/>
              </a:spcBef>
              <a:spcAft>
                <a:spcPts val="0"/>
              </a:spcAft>
              <a:defRPr sz="1100">
                <a:solidFill>
                  <a:srgbClr val="53677A"/>
                </a:solidFill>
                <a:latin typeface="Arial"/>
              </a:defRPr>
            </a:pPr>
            <a:r>
              <a:t>SOURCE 10 / 27</a:t>
            </a:r>
          </a:p>
        </p:txBody>
      </p:sp>
      <p:sp>
        <p:nvSpPr>
          <p:cNvPr id="4" name="title:line-117"/>
          <p:cNvSpPr txBox="1"/>
          <p:nvPr/>
        </p:nvSpPr>
        <p:spPr>
          <a:xfrm>
            <a:off x="594360" y="530352"/>
            <a:ext cx="11003279" cy="1161288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4000"/>
              </a:lnSpc>
              <a:spcBef>
                <a:spcPts val="0"/>
              </a:spcBef>
              <a:spcAft>
                <a:spcPts val="0"/>
              </a:spcAft>
              <a:defRPr sz="3200">
                <a:solidFill>
                  <a:srgbClr val="20344A"/>
                </a:solidFill>
                <a:latin typeface="Arial"/>
              </a:defRPr>
            </a:pPr>
            <a:r>
              <a:rPr sz="3200" b="0" i="0">
                <a:solidFill>
                  <a:srgbClr val="20344A"/>
                </a:solidFill>
                <a:latin typeface="Arial"/>
              </a:rPr>
              <a:t>Preserve the healthcare meaning</a:t>
            </a:r>
          </a:p>
        </p:txBody>
      </p:sp>
      <p:sp>
        <p:nvSpPr>
          <p:cNvPr id="5" name="footer"/>
          <p:cNvSpPr txBox="1"/>
          <p:nvPr/>
        </p:nvSpPr>
        <p:spPr>
          <a:xfrm>
            <a:off x="594360" y="6510528"/>
            <a:ext cx="11003279" cy="219456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1320"/>
              </a:lnSpc>
              <a:spcBef>
                <a:spcPts val="0"/>
              </a:spcBef>
              <a:spcAft>
                <a:spcPts val="0"/>
              </a:spcAft>
              <a:defRPr sz="1000">
                <a:solidFill>
                  <a:srgbClr val="53677A"/>
                </a:solidFill>
                <a:latin typeface="Arial"/>
              </a:defRPr>
            </a:pPr>
            <a:r>
              <a:t>session-2.md   ·   10</a:t>
            </a:r>
          </a:p>
        </p:txBody>
      </p:sp>
      <p:sp>
        <p:nvSpPr>
          <p:cNvPr id="6" name="content:line-119:0"/>
          <p:cNvSpPr txBox="1"/>
          <p:nvPr/>
        </p:nvSpPr>
        <p:spPr>
          <a:xfrm>
            <a:off x="594360" y="1737360"/>
            <a:ext cx="11003279" cy="428244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 marL="279400" indent="-215900">
              <a:lnSpc>
                <a:spcPts val="2772"/>
              </a:lnSpc>
              <a:spcBef>
                <a:spcPts val="0"/>
              </a:spcBef>
              <a:spcAft>
                <a:spcPts val="0"/>
              </a:spcAft>
              <a:defRPr sz="2100">
                <a:solidFill>
                  <a:srgbClr val="20344A"/>
                </a:solidFill>
                <a:latin typeface="Arial"/>
              </a:defRPr>
              <a:buChar char="•"/>
            </a:pPr>
            <a:r>
              <a:rPr sz="2100" b="0" i="0">
                <a:solidFill>
                  <a:srgbClr val="20344A"/>
                </a:solidFill>
                <a:latin typeface="Arial"/>
              </a:rPr>
              <a:t>DM: 24 participants; LB: 96 laboratory records.</a:t>
            </a:r>
          </a:p>
        </p:txBody>
      </p:sp>
      <p:sp>
        <p:nvSpPr>
          <p:cNvPr id="7" name="content:line-120:0"/>
          <p:cNvSpPr txBox="1"/>
          <p:nvPr/>
        </p:nvSpPr>
        <p:spPr>
          <a:xfrm>
            <a:off x="594360" y="2229612"/>
            <a:ext cx="11003279" cy="428244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 marL="279400" indent="-215900">
              <a:lnSpc>
                <a:spcPts val="2772"/>
              </a:lnSpc>
              <a:spcBef>
                <a:spcPts val="0"/>
              </a:spcBef>
              <a:spcAft>
                <a:spcPts val="0"/>
              </a:spcAft>
              <a:defRPr sz="2100">
                <a:solidFill>
                  <a:srgbClr val="20344A"/>
                </a:solidFill>
                <a:latin typeface="Arial"/>
              </a:defRPr>
              <a:buChar char="•"/>
            </a:pPr>
            <a:r>
              <a:rPr sz="2100" b="0" i="0">
                <a:solidFill>
                  <a:srgbClr val="20344A"/>
                </a:solidFill>
                <a:latin typeface="Arial"/>
              </a:rPr>
              <a:t>Join on both </a:t>
            </a:r>
            <a:r>
              <a:rPr sz="2100" b="0" i="0">
                <a:solidFill>
                  <a:srgbClr val="20344A"/>
                </a:solidFill>
                <a:latin typeface="Courier New"/>
              </a:rPr>
              <a:t>STUDYID</a:t>
            </a:r>
            <a:r>
              <a:rPr sz="2100" b="0" i="0">
                <a:solidFill>
                  <a:srgbClr val="20344A"/>
                </a:solidFill>
                <a:latin typeface="Arial"/>
              </a:rPr>
              <a:t> and </a:t>
            </a:r>
            <a:r>
              <a:rPr sz="2100" b="0" i="0">
                <a:solidFill>
                  <a:srgbClr val="20344A"/>
                </a:solidFill>
                <a:latin typeface="Courier New"/>
              </a:rPr>
              <a:t>USUBJID</a:t>
            </a:r>
            <a:r>
              <a:rPr sz="2100" b="0" i="0">
                <a:solidFill>
                  <a:srgbClr val="20344A"/>
                </a:solidFill>
                <a:latin typeface="Arial"/>
              </a:rPr>
              <a:t>.</a:t>
            </a:r>
          </a:p>
        </p:txBody>
      </p:sp>
      <p:sp>
        <p:nvSpPr>
          <p:cNvPr id="8" name="content:line-121:0"/>
          <p:cNvSpPr txBox="1"/>
          <p:nvPr/>
        </p:nvSpPr>
        <p:spPr>
          <a:xfrm>
            <a:off x="594360" y="2721864"/>
            <a:ext cx="11003279" cy="428244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 marL="279400" indent="-215900">
              <a:lnSpc>
                <a:spcPts val="2772"/>
              </a:lnSpc>
              <a:spcBef>
                <a:spcPts val="0"/>
              </a:spcBef>
              <a:spcAft>
                <a:spcPts val="0"/>
              </a:spcAft>
              <a:defRPr sz="2100">
                <a:solidFill>
                  <a:srgbClr val="20344A"/>
                </a:solidFill>
                <a:latin typeface="Arial"/>
              </a:defRPr>
              <a:buChar char="•"/>
            </a:pPr>
            <a:r>
              <a:rPr sz="2100" b="0" i="0">
                <a:solidFill>
                  <a:srgbClr val="20344A"/>
                </a:solidFill>
                <a:latin typeface="Arial"/>
              </a:rPr>
              <a:t>Keep subject identifiers as text, including leading zeros.</a:t>
            </a:r>
          </a:p>
        </p:txBody>
      </p:sp>
      <p:sp>
        <p:nvSpPr>
          <p:cNvPr id="9" name="content:line-122:0"/>
          <p:cNvSpPr txBox="1"/>
          <p:nvPr/>
        </p:nvSpPr>
        <p:spPr>
          <a:xfrm>
            <a:off x="594360" y="3214115"/>
            <a:ext cx="11003279" cy="428244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 marL="279400" indent="-215900">
              <a:lnSpc>
                <a:spcPts val="2772"/>
              </a:lnSpc>
              <a:spcBef>
                <a:spcPts val="0"/>
              </a:spcBef>
              <a:spcAft>
                <a:spcPts val="0"/>
              </a:spcAft>
              <a:defRPr sz="2100">
                <a:solidFill>
                  <a:srgbClr val="20344A"/>
                </a:solidFill>
                <a:latin typeface="Arial"/>
              </a:defRPr>
              <a:buChar char="•"/>
            </a:pPr>
            <a:r>
              <a:rPr sz="2100" b="0" i="0">
                <a:solidFill>
                  <a:srgbClr val="20344A"/>
                </a:solidFill>
                <a:latin typeface="Arial"/>
              </a:rPr>
              <a:t>Preserve the unavailable result: 95 observed, 1 missing.</a:t>
            </a:r>
          </a:p>
        </p:txBody>
      </p:sp>
      <p:sp>
        <p:nvSpPr>
          <p:cNvPr id="10" name="content:line-123:0"/>
          <p:cNvSpPr txBox="1"/>
          <p:nvPr/>
        </p:nvSpPr>
        <p:spPr>
          <a:xfrm>
            <a:off x="594360" y="3706367"/>
            <a:ext cx="11003279" cy="428244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 marL="279400" indent="-215900">
              <a:lnSpc>
                <a:spcPts val="2772"/>
              </a:lnSpc>
              <a:spcBef>
                <a:spcPts val="0"/>
              </a:spcBef>
              <a:spcAft>
                <a:spcPts val="0"/>
              </a:spcAft>
              <a:defRPr sz="2100">
                <a:solidFill>
                  <a:srgbClr val="20344A"/>
                </a:solidFill>
                <a:latin typeface="Arial"/>
              </a:defRPr>
              <a:buChar char="•"/>
            </a:pPr>
            <a:r>
              <a:rPr sz="2100" b="0" i="0">
                <a:solidFill>
                  <a:srgbClr val="20344A"/>
                </a:solidFill>
                <a:latin typeface="Arial"/>
              </a:rPr>
              <a:t>Missing is not zero; means use observed values only.</a:t>
            </a:r>
          </a:p>
        </p:txBody>
      </p:sp>
      <p:sp>
        <p:nvSpPr>
          <p:cNvPr id="11" name="content:line-124:0"/>
          <p:cNvSpPr txBox="1"/>
          <p:nvPr/>
        </p:nvSpPr>
        <p:spPr>
          <a:xfrm>
            <a:off x="594360" y="4198619"/>
            <a:ext cx="11003279" cy="428244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 marL="279400" indent="-215900">
              <a:lnSpc>
                <a:spcPts val="2772"/>
              </a:lnSpc>
              <a:spcBef>
                <a:spcPts val="0"/>
              </a:spcBef>
              <a:spcAft>
                <a:spcPts val="0"/>
              </a:spcAft>
              <a:defRPr sz="2100">
                <a:solidFill>
                  <a:srgbClr val="20344A"/>
                </a:solidFill>
                <a:latin typeface="Arial"/>
              </a:defRPr>
              <a:buChar char="•"/>
            </a:pPr>
            <a:r>
              <a:rPr sz="2100" b="0" i="0">
                <a:solidFill>
                  <a:srgbClr val="20344A"/>
                </a:solidFill>
                <a:latin typeface="Arial"/>
              </a:rPr>
              <a:t>These are invented teaching data, not clinical evidence.</a:t>
            </a:r>
          </a:p>
        </p:txBody>
      </p:sp>
      <p:sp>
        <p:nvSpPr>
          <p:cNvPr id="12" name="content:line-125:0"/>
          <p:cNvSpPr txBox="1"/>
          <p:nvPr/>
        </p:nvSpPr>
        <p:spPr>
          <a:xfrm>
            <a:off x="594360" y="4690871"/>
            <a:ext cx="11003279" cy="428244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 marL="279400" indent="-215900">
              <a:lnSpc>
                <a:spcPts val="2772"/>
              </a:lnSpc>
              <a:spcBef>
                <a:spcPts val="0"/>
              </a:spcBef>
              <a:spcAft>
                <a:spcPts val="0"/>
              </a:spcAft>
              <a:defRPr sz="2100">
                <a:solidFill>
                  <a:srgbClr val="20344A"/>
                </a:solidFill>
                <a:latin typeface="Arial"/>
              </a:defRPr>
              <a:buChar char="•"/>
            </a:pPr>
            <a:r>
              <a:rPr sz="2100" b="0" i="0">
                <a:solidFill>
                  <a:srgbClr val="20344A"/>
                </a:solidFill>
                <a:latin typeface="Arial"/>
              </a:rPr>
              <a:t>See the </a:t>
            </a:r>
            <a:r>
              <a:rPr sz="2100" b="0" i="0">
                <a:solidFill>
                  <a:srgbClr val="007F82"/>
                </a:solidFill>
                <a:latin typeface="Arial"/>
                <a:hlinkClick r:id="rId2"/>
              </a:rPr>
              <a:t>data dictionary</a:t>
            </a:r>
            <a:r>
              <a:rPr sz="2100" b="0" i="0">
                <a:solidFill>
                  <a:srgbClr val="20344A"/>
                </a:solidFill>
                <a:latin typeface="Arial"/>
              </a:rPr>
              <a:t>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C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accent"/>
          <p:cNvSpPr/>
          <p:nvPr/>
        </p:nvSpPr>
        <p:spPr>
          <a:xfrm>
            <a:off x="0" y="0"/>
            <a:ext cx="12191999" cy="64008"/>
          </a:xfrm>
          <a:prstGeom prst="rect">
            <a:avLst/>
          </a:prstGeom>
          <a:solidFill>
            <a:srgbClr val="007F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section"/>
          <p:cNvSpPr txBox="1"/>
          <p:nvPr/>
        </p:nvSpPr>
        <p:spPr>
          <a:xfrm>
            <a:off x="594360" y="201168"/>
            <a:ext cx="11003279" cy="256032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1452"/>
              </a:lnSpc>
              <a:spcBef>
                <a:spcPts val="0"/>
              </a:spcBef>
              <a:spcAft>
                <a:spcPts val="0"/>
              </a:spcAft>
              <a:defRPr sz="1100">
                <a:solidFill>
                  <a:srgbClr val="53677A"/>
                </a:solidFill>
                <a:latin typeface="Arial"/>
              </a:defRPr>
            </a:pPr>
            <a:r>
              <a:t>SOURCE 11 / 27</a:t>
            </a:r>
          </a:p>
        </p:txBody>
      </p:sp>
      <p:sp>
        <p:nvSpPr>
          <p:cNvPr id="4" name="title:line-129"/>
          <p:cNvSpPr txBox="1"/>
          <p:nvPr/>
        </p:nvSpPr>
        <p:spPr>
          <a:xfrm>
            <a:off x="594360" y="530352"/>
            <a:ext cx="11003279" cy="1161288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4000"/>
              </a:lnSpc>
              <a:spcBef>
                <a:spcPts val="0"/>
              </a:spcBef>
              <a:spcAft>
                <a:spcPts val="0"/>
              </a:spcAft>
              <a:defRPr sz="3200">
                <a:solidFill>
                  <a:srgbClr val="20344A"/>
                </a:solidFill>
                <a:latin typeface="Arial"/>
              </a:defRPr>
            </a:pPr>
            <a:r>
              <a:rPr sz="3200" b="0" i="0">
                <a:solidFill>
                  <a:srgbClr val="20344A"/>
                </a:solidFill>
                <a:latin typeface="Arial"/>
              </a:rPr>
              <a:t>Read a type hint as an interface </a:t>
            </a:r>
            <a:br/>
            <a:r>
              <a:rPr sz="3200" b="0" i="0">
                <a:solidFill>
                  <a:srgbClr val="20344A"/>
                </a:solidFill>
                <a:latin typeface="Arial"/>
              </a:rPr>
              <a:t>description</a:t>
            </a:r>
          </a:p>
        </p:txBody>
      </p:sp>
      <p:sp>
        <p:nvSpPr>
          <p:cNvPr id="5" name="footer"/>
          <p:cNvSpPr txBox="1"/>
          <p:nvPr/>
        </p:nvSpPr>
        <p:spPr>
          <a:xfrm>
            <a:off x="594360" y="6510528"/>
            <a:ext cx="11003279" cy="219456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1320"/>
              </a:lnSpc>
              <a:spcBef>
                <a:spcPts val="0"/>
              </a:spcBef>
              <a:spcAft>
                <a:spcPts val="0"/>
              </a:spcAft>
              <a:defRPr sz="1000">
                <a:solidFill>
                  <a:srgbClr val="53677A"/>
                </a:solidFill>
                <a:latin typeface="Arial"/>
              </a:defRPr>
            </a:pPr>
            <a:r>
              <a:t>session-2.md   ·   11</a:t>
            </a:r>
          </a:p>
        </p:txBody>
      </p:sp>
      <p:sp>
        <p:nvSpPr>
          <p:cNvPr id="6" name="content:line-131:0"/>
          <p:cNvSpPr txBox="1"/>
          <p:nvPr/>
        </p:nvSpPr>
        <p:spPr>
          <a:xfrm>
            <a:off x="594360" y="1737360"/>
            <a:ext cx="11003279" cy="428244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2772"/>
              </a:lnSpc>
              <a:spcBef>
                <a:spcPts val="0"/>
              </a:spcBef>
              <a:spcAft>
                <a:spcPts val="0"/>
              </a:spcAft>
              <a:defRPr sz="2100">
                <a:solidFill>
                  <a:srgbClr val="20344A"/>
                </a:solidFill>
                <a:latin typeface="Arial"/>
              </a:defRPr>
            </a:pPr>
            <a:r>
              <a:rPr sz="2100" b="0" i="0">
                <a:solidFill>
                  <a:srgbClr val="20344A"/>
                </a:solidFill>
                <a:latin typeface="Arial"/>
              </a:rPr>
              <a:t>From </a:t>
            </a:r>
            <a:r>
              <a:rPr sz="2100" b="0" i="0">
                <a:solidFill>
                  <a:srgbClr val="20344A"/>
                </a:solidFill>
                <a:latin typeface="Courier New"/>
              </a:rPr>
              <a:t>backend/stat_core/processing.py</a:t>
            </a:r>
            <a:r>
              <a:rPr sz="2100" b="0" i="0">
                <a:solidFill>
                  <a:srgbClr val="20344A"/>
                </a:solidFill>
                <a:latin typeface="Arial"/>
              </a:rPr>
              <a:t>:</a:t>
            </a:r>
          </a:p>
        </p:txBody>
      </p:sp>
      <p:sp>
        <p:nvSpPr>
          <p:cNvPr id="7" name="content:line-134:0"/>
          <p:cNvSpPr txBox="1"/>
          <p:nvPr/>
        </p:nvSpPr>
        <p:spPr>
          <a:xfrm>
            <a:off x="594360" y="2229612"/>
            <a:ext cx="11003279" cy="377952"/>
          </a:xfrm>
          <a:prstGeom prst="rect">
            <a:avLst/>
          </a:prstGeom>
          <a:solidFill>
            <a:srgbClr val="EDF3F6"/>
          </a:solidFill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2376"/>
              </a:lnSpc>
              <a:spcBef>
                <a:spcPts val="0"/>
              </a:spcBef>
              <a:spcAft>
                <a:spcPts val="0"/>
              </a:spcAft>
              <a:defRPr sz="1800">
                <a:solidFill>
                  <a:srgbClr val="20344A"/>
                </a:solidFill>
                <a:latin typeface="Arial"/>
              </a:defRPr>
            </a:pPr>
            <a:r>
              <a:rPr sz="1800" b="0" i="0">
                <a:solidFill>
                  <a:srgbClr val="20344A"/>
                </a:solidFill>
                <a:latin typeface="Courier New"/>
              </a:rPr>
              <a:t>def process_csv(</a:t>
            </a:r>
          </a:p>
        </p:txBody>
      </p:sp>
      <p:sp>
        <p:nvSpPr>
          <p:cNvPr id="8" name="content:line-135:0"/>
          <p:cNvSpPr txBox="1"/>
          <p:nvPr/>
        </p:nvSpPr>
        <p:spPr>
          <a:xfrm>
            <a:off x="594360" y="2607564"/>
            <a:ext cx="11003279" cy="377952"/>
          </a:xfrm>
          <a:prstGeom prst="rect">
            <a:avLst/>
          </a:prstGeom>
          <a:solidFill>
            <a:srgbClr val="EDF3F6"/>
          </a:solidFill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2376"/>
              </a:lnSpc>
              <a:spcBef>
                <a:spcPts val="0"/>
              </a:spcBef>
              <a:spcAft>
                <a:spcPts val="0"/>
              </a:spcAft>
              <a:defRPr sz="1800">
                <a:solidFill>
                  <a:srgbClr val="20344A"/>
                </a:solidFill>
                <a:latin typeface="Arial"/>
              </a:defRPr>
            </a:pPr>
            <a:r>
              <a:rPr sz="1800" b="0" i="0">
                <a:solidFill>
                  <a:srgbClr val="20344A"/>
                </a:solidFill>
                <a:latin typeface="Courier New"/>
              </a:rPr>
              <a:t>    participants_csv: str,</a:t>
            </a:r>
          </a:p>
        </p:txBody>
      </p:sp>
      <p:sp>
        <p:nvSpPr>
          <p:cNvPr id="9" name="content:line-136:0"/>
          <p:cNvSpPr txBox="1"/>
          <p:nvPr/>
        </p:nvSpPr>
        <p:spPr>
          <a:xfrm>
            <a:off x="594360" y="2985515"/>
            <a:ext cx="11003279" cy="377952"/>
          </a:xfrm>
          <a:prstGeom prst="rect">
            <a:avLst/>
          </a:prstGeom>
          <a:solidFill>
            <a:srgbClr val="EDF3F6"/>
          </a:solidFill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2376"/>
              </a:lnSpc>
              <a:spcBef>
                <a:spcPts val="0"/>
              </a:spcBef>
              <a:spcAft>
                <a:spcPts val="0"/>
              </a:spcAft>
              <a:defRPr sz="1800">
                <a:solidFill>
                  <a:srgbClr val="20344A"/>
                </a:solidFill>
                <a:latin typeface="Arial"/>
              </a:defRPr>
            </a:pPr>
            <a:r>
              <a:rPr sz="1800" b="0" i="0">
                <a:solidFill>
                  <a:srgbClr val="20344A"/>
                </a:solidFill>
                <a:latin typeface="Courier New"/>
              </a:rPr>
              <a:t>    laboratory_csv: str,</a:t>
            </a:r>
          </a:p>
        </p:txBody>
      </p:sp>
      <p:sp>
        <p:nvSpPr>
          <p:cNvPr id="10" name="content:line-137:0"/>
          <p:cNvSpPr txBox="1"/>
          <p:nvPr/>
        </p:nvSpPr>
        <p:spPr>
          <a:xfrm>
            <a:off x="594360" y="3363467"/>
            <a:ext cx="11003279" cy="377952"/>
          </a:xfrm>
          <a:prstGeom prst="rect">
            <a:avLst/>
          </a:prstGeom>
          <a:solidFill>
            <a:srgbClr val="EDF3F6"/>
          </a:solidFill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2376"/>
              </a:lnSpc>
              <a:spcBef>
                <a:spcPts val="0"/>
              </a:spcBef>
              <a:spcAft>
                <a:spcPts val="0"/>
              </a:spcAft>
              <a:defRPr sz="1800">
                <a:solidFill>
                  <a:srgbClr val="20344A"/>
                </a:solidFill>
                <a:latin typeface="Arial"/>
              </a:defRPr>
            </a:pPr>
            <a:r>
              <a:rPr sz="1800" b="0" i="0">
                <a:solidFill>
                  <a:srgbClr val="20344A"/>
                </a:solidFill>
                <a:latin typeface="Courier New"/>
              </a:rPr>
              <a:t>) -&gt; dict[str, Any]:</a:t>
            </a:r>
          </a:p>
        </p:txBody>
      </p:sp>
      <p:sp>
        <p:nvSpPr>
          <p:cNvPr id="11" name="content:line-140:0"/>
          <p:cNvSpPr txBox="1"/>
          <p:nvPr/>
        </p:nvSpPr>
        <p:spPr>
          <a:xfrm>
            <a:off x="594360" y="3741419"/>
            <a:ext cx="11003279" cy="428244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 marL="279400" indent="-215900">
              <a:lnSpc>
                <a:spcPts val="2772"/>
              </a:lnSpc>
              <a:spcBef>
                <a:spcPts val="0"/>
              </a:spcBef>
              <a:spcAft>
                <a:spcPts val="0"/>
              </a:spcAft>
              <a:defRPr sz="2100">
                <a:solidFill>
                  <a:srgbClr val="20344A"/>
                </a:solidFill>
                <a:latin typeface="Arial"/>
              </a:defRPr>
              <a:buChar char="•"/>
            </a:pPr>
            <a:r>
              <a:rPr sz="2100" b="0" i="0">
                <a:solidFill>
                  <a:srgbClr val="20344A"/>
                </a:solidFill>
                <a:latin typeface="Courier New"/>
              </a:rPr>
              <a:t>str</a:t>
            </a:r>
            <a:r>
              <a:rPr sz="2100" b="0" i="0">
                <a:solidFill>
                  <a:srgbClr val="20344A"/>
                </a:solidFill>
                <a:latin typeface="Arial"/>
              </a:rPr>
              <a:t>: CSV text comes in; </a:t>
            </a:r>
            <a:r>
              <a:rPr sz="2100" b="0" i="0">
                <a:solidFill>
                  <a:srgbClr val="20344A"/>
                </a:solidFill>
                <a:latin typeface="Courier New"/>
              </a:rPr>
              <a:t>dict</a:t>
            </a:r>
            <a:r>
              <a:rPr sz="2100" b="0" i="0">
                <a:solidFill>
                  <a:srgbClr val="20344A"/>
                </a:solidFill>
                <a:latin typeface="Arial"/>
              </a:rPr>
              <a:t>: a dictionary comes back.</a:t>
            </a:r>
          </a:p>
        </p:txBody>
      </p:sp>
      <p:sp>
        <p:nvSpPr>
          <p:cNvPr id="12" name="content:line-141:0"/>
          <p:cNvSpPr txBox="1"/>
          <p:nvPr/>
        </p:nvSpPr>
        <p:spPr>
          <a:xfrm>
            <a:off x="594360" y="4233671"/>
            <a:ext cx="11003279" cy="428244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 marL="279400" indent="-215900">
              <a:lnSpc>
                <a:spcPts val="2772"/>
              </a:lnSpc>
              <a:spcBef>
                <a:spcPts val="0"/>
              </a:spcBef>
              <a:spcAft>
                <a:spcPts val="0"/>
              </a:spcAft>
              <a:defRPr sz="2100">
                <a:solidFill>
                  <a:srgbClr val="20344A"/>
                </a:solidFill>
                <a:latin typeface="Arial"/>
              </a:defRPr>
              <a:buChar char="•"/>
            </a:pPr>
            <a:r>
              <a:rPr sz="2100" b="0" i="0">
                <a:solidFill>
                  <a:srgbClr val="20344A"/>
                </a:solidFill>
                <a:latin typeface="Courier New"/>
              </a:rPr>
              <a:t>Any</a:t>
            </a:r>
            <a:r>
              <a:rPr sz="2100" b="0" i="0">
                <a:solidFill>
                  <a:srgbClr val="20344A"/>
                </a:solidFill>
                <a:latin typeface="Arial"/>
              </a:rPr>
              <a:t>, imported from </a:t>
            </a:r>
            <a:r>
              <a:rPr sz="2100" b="0" i="0">
                <a:solidFill>
                  <a:srgbClr val="20344A"/>
                </a:solidFill>
                <a:latin typeface="Courier New"/>
              </a:rPr>
              <a:t>typing</a:t>
            </a:r>
            <a:r>
              <a:rPr sz="2100" b="0" i="0">
                <a:solidFill>
                  <a:srgbClr val="20344A"/>
                </a:solidFill>
                <a:latin typeface="Arial"/>
              </a:rPr>
              <a:t>, allows different value types.</a:t>
            </a:r>
          </a:p>
        </p:txBody>
      </p:sp>
      <p:sp>
        <p:nvSpPr>
          <p:cNvPr id="13" name="content:line-142:0"/>
          <p:cNvSpPr txBox="1"/>
          <p:nvPr/>
        </p:nvSpPr>
        <p:spPr>
          <a:xfrm>
            <a:off x="594360" y="4725923"/>
            <a:ext cx="11003279" cy="428244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 marL="279400" indent="-215900">
              <a:lnSpc>
                <a:spcPts val="2772"/>
              </a:lnSpc>
              <a:spcBef>
                <a:spcPts val="0"/>
              </a:spcBef>
              <a:spcAft>
                <a:spcPts val="0"/>
              </a:spcAft>
              <a:defRPr sz="2100">
                <a:solidFill>
                  <a:srgbClr val="20344A"/>
                </a:solidFill>
                <a:latin typeface="Arial"/>
              </a:defRPr>
              <a:buChar char="•"/>
            </a:pPr>
            <a:r>
              <a:rPr sz="2100" b="0" i="0">
                <a:solidFill>
                  <a:srgbClr val="20344A"/>
                </a:solidFill>
                <a:latin typeface="Arial"/>
              </a:rPr>
              <a:t>A hint helps readers and tools; it does not check data itself.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C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accent"/>
          <p:cNvSpPr/>
          <p:nvPr/>
        </p:nvSpPr>
        <p:spPr>
          <a:xfrm>
            <a:off x="0" y="0"/>
            <a:ext cx="12191999" cy="64008"/>
          </a:xfrm>
          <a:prstGeom prst="rect">
            <a:avLst/>
          </a:prstGeom>
          <a:solidFill>
            <a:srgbClr val="007F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section"/>
          <p:cNvSpPr txBox="1"/>
          <p:nvPr/>
        </p:nvSpPr>
        <p:spPr>
          <a:xfrm>
            <a:off x="594360" y="201168"/>
            <a:ext cx="11003279" cy="256032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1452"/>
              </a:lnSpc>
              <a:spcBef>
                <a:spcPts val="0"/>
              </a:spcBef>
              <a:spcAft>
                <a:spcPts val="0"/>
              </a:spcAft>
              <a:defRPr sz="1100">
                <a:solidFill>
                  <a:srgbClr val="53677A"/>
                </a:solidFill>
                <a:latin typeface="Arial"/>
              </a:defRPr>
            </a:pPr>
            <a:r>
              <a:t>SOURCE 12 / 27</a:t>
            </a:r>
          </a:p>
        </p:txBody>
      </p:sp>
      <p:sp>
        <p:nvSpPr>
          <p:cNvPr id="4" name="title:line-146"/>
          <p:cNvSpPr txBox="1"/>
          <p:nvPr/>
        </p:nvSpPr>
        <p:spPr>
          <a:xfrm>
            <a:off x="594360" y="530352"/>
            <a:ext cx="11003279" cy="1161288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4000"/>
              </a:lnSpc>
              <a:spcBef>
                <a:spcPts val="0"/>
              </a:spcBef>
              <a:spcAft>
                <a:spcPts val="0"/>
              </a:spcAft>
              <a:defRPr sz="3200">
                <a:solidFill>
                  <a:srgbClr val="20344A"/>
                </a:solidFill>
                <a:latin typeface="Arial"/>
              </a:defRPr>
            </a:pPr>
            <a:r>
              <a:rPr sz="3200" b="0" i="0">
                <a:solidFill>
                  <a:srgbClr val="20344A"/>
                </a:solidFill>
                <a:latin typeface="Arial"/>
              </a:rPr>
              <a:t>Validation checks values while the </a:t>
            </a:r>
            <a:br/>
            <a:r>
              <a:rPr sz="3200" b="0" i="0">
                <a:solidFill>
                  <a:srgbClr val="20344A"/>
                </a:solidFill>
                <a:latin typeface="Arial"/>
              </a:rPr>
              <a:t>program runs</a:t>
            </a:r>
          </a:p>
        </p:txBody>
      </p:sp>
      <p:sp>
        <p:nvSpPr>
          <p:cNvPr id="5" name="footer"/>
          <p:cNvSpPr txBox="1"/>
          <p:nvPr/>
        </p:nvSpPr>
        <p:spPr>
          <a:xfrm>
            <a:off x="594360" y="6510528"/>
            <a:ext cx="11003279" cy="219456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1320"/>
              </a:lnSpc>
              <a:spcBef>
                <a:spcPts val="0"/>
              </a:spcBef>
              <a:spcAft>
                <a:spcPts val="0"/>
              </a:spcAft>
              <a:defRPr sz="1000">
                <a:solidFill>
                  <a:srgbClr val="53677A"/>
                </a:solidFill>
                <a:latin typeface="Arial"/>
              </a:defRPr>
            </a:pPr>
            <a:r>
              <a:t>session-2.md   ·   12</a:t>
            </a:r>
          </a:p>
        </p:txBody>
      </p:sp>
      <p:sp>
        <p:nvSpPr>
          <p:cNvPr id="6" name="content:line-148:0"/>
          <p:cNvSpPr txBox="1"/>
          <p:nvPr/>
        </p:nvSpPr>
        <p:spPr>
          <a:xfrm>
            <a:off x="594360" y="1737360"/>
            <a:ext cx="11003279" cy="428244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2772"/>
              </a:lnSpc>
              <a:spcBef>
                <a:spcPts val="0"/>
              </a:spcBef>
              <a:spcAft>
                <a:spcPts val="0"/>
              </a:spcAft>
              <a:defRPr sz="2100">
                <a:solidFill>
                  <a:srgbClr val="20344A"/>
                </a:solidFill>
                <a:latin typeface="Arial"/>
              </a:defRPr>
            </a:pPr>
            <a:r>
              <a:rPr sz="2100" b="0" i="0">
                <a:solidFill>
                  <a:srgbClr val="20344A"/>
                </a:solidFill>
                <a:latin typeface="Arial"/>
              </a:rPr>
              <a:t>From </a:t>
            </a:r>
            <a:r>
              <a:rPr sz="2100" b="0" i="0">
                <a:solidFill>
                  <a:srgbClr val="20344A"/>
                </a:solidFill>
                <a:latin typeface="Courier New"/>
              </a:rPr>
              <a:t>backend/stat_core/schemas.py</a:t>
            </a:r>
            <a:r>
              <a:rPr sz="2100" b="0" i="0">
                <a:solidFill>
                  <a:srgbClr val="20344A"/>
                </a:solidFill>
                <a:latin typeface="Arial"/>
              </a:rPr>
              <a:t>:</a:t>
            </a:r>
          </a:p>
        </p:txBody>
      </p:sp>
      <p:sp>
        <p:nvSpPr>
          <p:cNvPr id="7" name="content:line-151:0"/>
          <p:cNvSpPr txBox="1"/>
          <p:nvPr/>
        </p:nvSpPr>
        <p:spPr>
          <a:xfrm>
            <a:off x="594360" y="2229612"/>
            <a:ext cx="11003279" cy="377952"/>
          </a:xfrm>
          <a:prstGeom prst="rect">
            <a:avLst/>
          </a:prstGeom>
          <a:solidFill>
            <a:srgbClr val="EDF3F6"/>
          </a:solidFill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2376"/>
              </a:lnSpc>
              <a:spcBef>
                <a:spcPts val="0"/>
              </a:spcBef>
              <a:spcAft>
                <a:spcPts val="0"/>
              </a:spcAft>
              <a:defRPr sz="1800">
                <a:solidFill>
                  <a:srgbClr val="20344A"/>
                </a:solidFill>
                <a:latin typeface="Arial"/>
              </a:defRPr>
            </a:pPr>
            <a:r>
              <a:rPr sz="1800" b="0" i="0">
                <a:solidFill>
                  <a:srgbClr val="20344A"/>
                </a:solidFill>
                <a:latin typeface="Courier New"/>
              </a:rPr>
              <a:t>value: float | None</a:t>
            </a:r>
          </a:p>
        </p:txBody>
      </p:sp>
      <p:sp>
        <p:nvSpPr>
          <p:cNvPr id="8" name="content:line-152:0"/>
          <p:cNvSpPr txBox="1"/>
          <p:nvPr/>
        </p:nvSpPr>
        <p:spPr>
          <a:xfrm>
            <a:off x="594360" y="2607564"/>
            <a:ext cx="11003279" cy="377952"/>
          </a:xfrm>
          <a:prstGeom prst="rect">
            <a:avLst/>
          </a:prstGeom>
          <a:solidFill>
            <a:srgbClr val="EDF3F6"/>
          </a:solidFill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2376"/>
              </a:lnSpc>
              <a:spcBef>
                <a:spcPts val="0"/>
              </a:spcBef>
              <a:spcAft>
                <a:spcPts val="0"/>
              </a:spcAft>
              <a:defRPr sz="1800">
                <a:solidFill>
                  <a:srgbClr val="20344A"/>
                </a:solidFill>
                <a:latin typeface="Arial"/>
              </a:defRPr>
            </a:pPr>
            <a:r>
              <a:rPr sz="1800" b="0" i="0">
                <a:solidFill>
                  <a:srgbClr val="20344A"/>
                </a:solidFill>
                <a:latin typeface="Courier New"/>
              </a:rPr>
              <a:t>records: list[Record]</a:t>
            </a:r>
          </a:p>
        </p:txBody>
      </p:sp>
      <p:sp>
        <p:nvSpPr>
          <p:cNvPr id="9" name="content:line-155:0"/>
          <p:cNvSpPr txBox="1"/>
          <p:nvPr/>
        </p:nvSpPr>
        <p:spPr>
          <a:xfrm>
            <a:off x="594360" y="2985515"/>
            <a:ext cx="11003279" cy="428244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 marL="279400" indent="-215900">
              <a:lnSpc>
                <a:spcPts val="2772"/>
              </a:lnSpc>
              <a:spcBef>
                <a:spcPts val="0"/>
              </a:spcBef>
              <a:spcAft>
                <a:spcPts val="0"/>
              </a:spcAft>
              <a:defRPr sz="2100">
                <a:solidFill>
                  <a:srgbClr val="20344A"/>
                </a:solidFill>
                <a:latin typeface="Arial"/>
              </a:defRPr>
              <a:buChar char="•"/>
            </a:pPr>
            <a:r>
              <a:rPr sz="2100" b="0" i="0">
                <a:solidFill>
                  <a:srgbClr val="20344A"/>
                </a:solidFill>
                <a:latin typeface="Courier New"/>
              </a:rPr>
              <a:t>None</a:t>
            </a:r>
            <a:r>
              <a:rPr sz="2100" b="0" i="0">
                <a:solidFill>
                  <a:srgbClr val="20344A"/>
                </a:solidFill>
                <a:latin typeface="Arial"/>
              </a:rPr>
              <a:t> means unavailable; </a:t>
            </a:r>
            <a:r>
              <a:rPr sz="2100" b="0" i="0">
                <a:solidFill>
                  <a:srgbClr val="20344A"/>
                </a:solidFill>
                <a:latin typeface="Courier New"/>
              </a:rPr>
              <a:t>list[Record]</a:t>
            </a:r>
            <a:r>
              <a:rPr sz="2100" b="0" i="0">
                <a:solidFill>
                  <a:srgbClr val="20344A"/>
                </a:solidFill>
                <a:latin typeface="Arial"/>
              </a:rPr>
              <a:t> means many records.</a:t>
            </a:r>
          </a:p>
        </p:txBody>
      </p:sp>
      <p:sp>
        <p:nvSpPr>
          <p:cNvPr id="10" name="content:line-156:0"/>
          <p:cNvSpPr txBox="1"/>
          <p:nvPr/>
        </p:nvSpPr>
        <p:spPr>
          <a:xfrm>
            <a:off x="594360" y="3477767"/>
            <a:ext cx="11003279" cy="428244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 marL="279400" indent="-215900">
              <a:lnSpc>
                <a:spcPts val="2772"/>
              </a:lnSpc>
              <a:spcBef>
                <a:spcPts val="0"/>
              </a:spcBef>
              <a:spcAft>
                <a:spcPts val="0"/>
              </a:spcAft>
              <a:defRPr sz="2100">
                <a:solidFill>
                  <a:srgbClr val="20344A"/>
                </a:solidFill>
                <a:latin typeface="Arial"/>
              </a:defRPr>
              <a:buChar char="•"/>
            </a:pPr>
            <a:r>
              <a:rPr sz="2100" b="0" i="0">
                <a:solidFill>
                  <a:srgbClr val="20344A"/>
                </a:solidFill>
                <a:latin typeface="Arial"/>
              </a:rPr>
              <a:t>CSV checks reject invalid ages, units, keys, and dates.</a:t>
            </a:r>
          </a:p>
        </p:txBody>
      </p:sp>
      <p:sp>
        <p:nvSpPr>
          <p:cNvPr id="11" name="content:line-157:0"/>
          <p:cNvSpPr txBox="1"/>
          <p:nvPr/>
        </p:nvSpPr>
        <p:spPr>
          <a:xfrm>
            <a:off x="594360" y="3970019"/>
            <a:ext cx="11003279" cy="428244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 marL="279400" indent="-215900">
              <a:lnSpc>
                <a:spcPts val="2772"/>
              </a:lnSpc>
              <a:spcBef>
                <a:spcPts val="0"/>
              </a:spcBef>
              <a:spcAft>
                <a:spcPts val="0"/>
              </a:spcAft>
              <a:defRPr sz="2100">
                <a:solidFill>
                  <a:srgbClr val="20344A"/>
                </a:solidFill>
                <a:latin typeface="Arial"/>
              </a:defRPr>
              <a:buChar char="•"/>
            </a:pPr>
            <a:r>
              <a:rPr sz="2100" b="0" i="0">
                <a:solidFill>
                  <a:srgbClr val="20344A"/>
                </a:solidFill>
                <a:latin typeface="Arial"/>
              </a:rPr>
              <a:t>Pydantic models check the declared result shape.</a:t>
            </a:r>
          </a:p>
        </p:txBody>
      </p:sp>
      <p:sp>
        <p:nvSpPr>
          <p:cNvPr id="12" name="content:line-158:0"/>
          <p:cNvSpPr txBox="1"/>
          <p:nvPr/>
        </p:nvSpPr>
        <p:spPr>
          <a:xfrm>
            <a:off x="594360" y="4462271"/>
            <a:ext cx="11003279" cy="780288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 marL="279400" indent="-215900">
              <a:lnSpc>
                <a:spcPts val="2772"/>
              </a:lnSpc>
              <a:spcBef>
                <a:spcPts val="0"/>
              </a:spcBef>
              <a:spcAft>
                <a:spcPts val="0"/>
              </a:spcAft>
              <a:defRPr sz="2100">
                <a:solidFill>
                  <a:srgbClr val="20344A"/>
                </a:solidFill>
                <a:latin typeface="Arial"/>
              </a:defRPr>
              <a:buChar char="•"/>
            </a:pPr>
            <a:r>
              <a:rPr sz="2100" b="0" i="0">
                <a:solidFill>
                  <a:srgbClr val="20344A"/>
                </a:solidFill>
                <a:latin typeface="Arial"/>
              </a:rPr>
              <a:t>Python raises </a:t>
            </a:r>
            <a:r>
              <a:rPr sz="2100" b="0" i="0">
                <a:solidFill>
                  <a:srgbClr val="20344A"/>
                </a:solidFill>
                <a:latin typeface="Courier New"/>
              </a:rPr>
              <a:t>InvalidInputError</a:t>
            </a:r>
            <a:r>
              <a:rPr sz="2100" b="0" i="0">
                <a:solidFill>
                  <a:srgbClr val="20344A"/>
                </a:solidFill>
                <a:latin typeface="Arial"/>
              </a:rPr>
              <a:t>; the API maps it to HTTP </a:t>
            </a:r>
            <a:br/>
            <a:r>
              <a:rPr sz="2100" b="0" i="0">
                <a:solidFill>
                  <a:srgbClr val="20344A"/>
                </a:solidFill>
                <a:latin typeface="Arial"/>
              </a:rPr>
              <a:t>422.</a:t>
            </a:r>
          </a:p>
        </p:txBody>
      </p:sp>
      <p:sp>
        <p:nvSpPr>
          <p:cNvPr id="13" name="content:line-159:0"/>
          <p:cNvSpPr txBox="1"/>
          <p:nvPr/>
        </p:nvSpPr>
        <p:spPr>
          <a:xfrm>
            <a:off x="594360" y="5306567"/>
            <a:ext cx="11003279" cy="428244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 marL="279400" indent="-215900">
              <a:lnSpc>
                <a:spcPts val="2772"/>
              </a:lnSpc>
              <a:spcBef>
                <a:spcPts val="0"/>
              </a:spcBef>
              <a:spcAft>
                <a:spcPts val="0"/>
              </a:spcAft>
              <a:defRPr sz="2100">
                <a:solidFill>
                  <a:srgbClr val="20344A"/>
                </a:solidFill>
                <a:latin typeface="Arial"/>
              </a:defRPr>
              <a:buChar char="•"/>
            </a:pPr>
            <a:r>
              <a:rPr sz="2100" b="0" i="0">
                <a:solidFill>
                  <a:srgbClr val="20344A"/>
                </a:solidFill>
                <a:latin typeface="Arial"/>
              </a:rPr>
              <a:t>Read the </a:t>
            </a:r>
            <a:r>
              <a:rPr sz="2100" b="0" i="0">
                <a:solidFill>
                  <a:srgbClr val="007F82"/>
                </a:solidFill>
                <a:latin typeface="Arial"/>
                <a:hlinkClick r:id="rId2"/>
              </a:rPr>
              <a:t>contract</a:t>
            </a:r>
            <a:r>
              <a:rPr sz="2100" b="0" i="0">
                <a:solidFill>
                  <a:srgbClr val="20344A"/>
                </a:solidFill>
                <a:latin typeface="Arial"/>
              </a:rPr>
              <a:t> for exact rules and errors.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C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accent"/>
          <p:cNvSpPr/>
          <p:nvPr/>
        </p:nvSpPr>
        <p:spPr>
          <a:xfrm>
            <a:off x="0" y="0"/>
            <a:ext cx="12191999" cy="64008"/>
          </a:xfrm>
          <a:prstGeom prst="rect">
            <a:avLst/>
          </a:prstGeom>
          <a:solidFill>
            <a:srgbClr val="007F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section"/>
          <p:cNvSpPr txBox="1"/>
          <p:nvPr/>
        </p:nvSpPr>
        <p:spPr>
          <a:xfrm>
            <a:off x="594360" y="201168"/>
            <a:ext cx="11003279" cy="256032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1452"/>
              </a:lnSpc>
              <a:spcBef>
                <a:spcPts val="0"/>
              </a:spcBef>
              <a:spcAft>
                <a:spcPts val="0"/>
              </a:spcAft>
              <a:defRPr sz="1100">
                <a:solidFill>
                  <a:srgbClr val="53677A"/>
                </a:solidFill>
                <a:latin typeface="Arial"/>
              </a:defRPr>
            </a:pPr>
            <a:r>
              <a:t>SOURCE 13 / 27</a:t>
            </a:r>
          </a:p>
        </p:txBody>
      </p:sp>
      <p:sp>
        <p:nvSpPr>
          <p:cNvPr id="4" name="title:line-163"/>
          <p:cNvSpPr txBox="1"/>
          <p:nvPr/>
        </p:nvSpPr>
        <p:spPr>
          <a:xfrm>
            <a:off x="594360" y="530352"/>
            <a:ext cx="11003279" cy="1161288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4000"/>
              </a:lnSpc>
              <a:spcBef>
                <a:spcPts val="0"/>
              </a:spcBef>
              <a:spcAft>
                <a:spcPts val="0"/>
              </a:spcAft>
              <a:defRPr sz="3200">
                <a:solidFill>
                  <a:srgbClr val="20344A"/>
                </a:solidFill>
                <a:latin typeface="Arial"/>
              </a:defRPr>
            </a:pPr>
            <a:r>
              <a:rPr sz="3200" b="0" i="0">
                <a:solidFill>
                  <a:srgbClr val="20344A"/>
                </a:solidFill>
                <a:latin typeface="Arial"/>
              </a:rPr>
              <a:t>Packaging describes what gets installed</a:t>
            </a:r>
          </a:p>
        </p:txBody>
      </p:sp>
      <p:sp>
        <p:nvSpPr>
          <p:cNvPr id="5" name="footer"/>
          <p:cNvSpPr txBox="1"/>
          <p:nvPr/>
        </p:nvSpPr>
        <p:spPr>
          <a:xfrm>
            <a:off x="594360" y="6510528"/>
            <a:ext cx="11003279" cy="219456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1320"/>
              </a:lnSpc>
              <a:spcBef>
                <a:spcPts val="0"/>
              </a:spcBef>
              <a:spcAft>
                <a:spcPts val="0"/>
              </a:spcAft>
              <a:defRPr sz="1000">
                <a:solidFill>
                  <a:srgbClr val="53677A"/>
                </a:solidFill>
                <a:latin typeface="Arial"/>
              </a:defRPr>
            </a:pPr>
            <a:r>
              <a:t>session-2.md   ·   13</a:t>
            </a:r>
          </a:p>
        </p:txBody>
      </p:sp>
      <p:sp>
        <p:nvSpPr>
          <p:cNvPr id="6" name="content:line-165:0"/>
          <p:cNvSpPr txBox="1"/>
          <p:nvPr/>
        </p:nvSpPr>
        <p:spPr>
          <a:xfrm>
            <a:off x="594360" y="1737360"/>
            <a:ext cx="11003279" cy="428244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2772"/>
              </a:lnSpc>
              <a:spcBef>
                <a:spcPts val="0"/>
              </a:spcBef>
              <a:spcAft>
                <a:spcPts val="0"/>
              </a:spcAft>
              <a:defRPr sz="2100">
                <a:solidFill>
                  <a:srgbClr val="20344A"/>
                </a:solidFill>
                <a:latin typeface="Arial"/>
              </a:defRPr>
            </a:pPr>
            <a:r>
              <a:rPr sz="2100" b="0" i="0">
                <a:solidFill>
                  <a:srgbClr val="20344A"/>
                </a:solidFill>
                <a:latin typeface="Arial"/>
              </a:rPr>
              <a:t>Actual entries from </a:t>
            </a:r>
            <a:r>
              <a:rPr sz="2100" b="0" i="0">
                <a:solidFill>
                  <a:srgbClr val="007F82"/>
                </a:solidFill>
                <a:latin typeface="Arial"/>
                <a:hlinkClick r:id="rId2"/>
              </a:rPr>
              <a:t>pyproject.toml</a:t>
            </a:r>
            <a:r>
              <a:rPr sz="2100" b="0" i="0">
                <a:solidFill>
                  <a:srgbClr val="20344A"/>
                </a:solidFill>
                <a:latin typeface="Arial"/>
              </a:rPr>
              <a:t>:</a:t>
            </a:r>
          </a:p>
        </p:txBody>
      </p:sp>
      <p:sp>
        <p:nvSpPr>
          <p:cNvPr id="7" name="content:line-168:0"/>
          <p:cNvSpPr txBox="1"/>
          <p:nvPr/>
        </p:nvSpPr>
        <p:spPr>
          <a:xfrm>
            <a:off x="594360" y="2229612"/>
            <a:ext cx="11003279" cy="377952"/>
          </a:xfrm>
          <a:prstGeom prst="rect">
            <a:avLst/>
          </a:prstGeom>
          <a:solidFill>
            <a:srgbClr val="EDF3F6"/>
          </a:solidFill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2376"/>
              </a:lnSpc>
              <a:spcBef>
                <a:spcPts val="0"/>
              </a:spcBef>
              <a:spcAft>
                <a:spcPts val="0"/>
              </a:spcAft>
              <a:defRPr sz="1800">
                <a:solidFill>
                  <a:srgbClr val="20344A"/>
                </a:solidFill>
                <a:latin typeface="Arial"/>
              </a:defRPr>
            </a:pPr>
            <a:r>
              <a:rPr sz="1800" b="0" i="0">
                <a:solidFill>
                  <a:srgbClr val="20344A"/>
                </a:solidFill>
                <a:latin typeface="Courier New"/>
              </a:rPr>
              <a:t>[build-system]</a:t>
            </a:r>
          </a:p>
        </p:txBody>
      </p:sp>
      <p:sp>
        <p:nvSpPr>
          <p:cNvPr id="8" name="content:line-169:0"/>
          <p:cNvSpPr txBox="1"/>
          <p:nvPr/>
        </p:nvSpPr>
        <p:spPr>
          <a:xfrm>
            <a:off x="594360" y="2607564"/>
            <a:ext cx="11003279" cy="377952"/>
          </a:xfrm>
          <a:prstGeom prst="rect">
            <a:avLst/>
          </a:prstGeom>
          <a:solidFill>
            <a:srgbClr val="EDF3F6"/>
          </a:solidFill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2376"/>
              </a:lnSpc>
              <a:spcBef>
                <a:spcPts val="0"/>
              </a:spcBef>
              <a:spcAft>
                <a:spcPts val="0"/>
              </a:spcAft>
              <a:defRPr sz="1800">
                <a:solidFill>
                  <a:srgbClr val="20344A"/>
                </a:solidFill>
                <a:latin typeface="Arial"/>
              </a:defRPr>
            </a:pPr>
            <a:r>
              <a:rPr sz="1800" b="0" i="0">
                <a:solidFill>
                  <a:srgbClr val="20344A"/>
                </a:solidFill>
                <a:latin typeface="Courier New"/>
              </a:rPr>
              <a:t>requires = ["setuptools&gt;=69", "wheel"]</a:t>
            </a:r>
          </a:p>
        </p:txBody>
      </p:sp>
      <p:sp>
        <p:nvSpPr>
          <p:cNvPr id="9" name="content:line-170:0"/>
          <p:cNvSpPr txBox="1"/>
          <p:nvPr/>
        </p:nvSpPr>
        <p:spPr>
          <a:xfrm>
            <a:off x="594360" y="2985515"/>
            <a:ext cx="11003279" cy="377952"/>
          </a:xfrm>
          <a:prstGeom prst="rect">
            <a:avLst/>
          </a:prstGeom>
          <a:solidFill>
            <a:srgbClr val="EDF3F6"/>
          </a:solidFill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2376"/>
              </a:lnSpc>
              <a:spcBef>
                <a:spcPts val="0"/>
              </a:spcBef>
              <a:spcAft>
                <a:spcPts val="0"/>
              </a:spcAft>
              <a:defRPr sz="1800">
                <a:solidFill>
                  <a:srgbClr val="20344A"/>
                </a:solidFill>
                <a:latin typeface="Arial"/>
              </a:defRPr>
            </a:pPr>
            <a:r>
              <a:rPr sz="1800" b="0" i="0">
                <a:solidFill>
                  <a:srgbClr val="20344A"/>
                </a:solidFill>
                <a:latin typeface="Courier New"/>
              </a:rPr>
              <a:t>build-backend = "setuptools.build_meta"</a:t>
            </a:r>
          </a:p>
        </p:txBody>
      </p:sp>
      <p:sp>
        <p:nvSpPr>
          <p:cNvPr id="10" name="content:line-171:0"/>
          <p:cNvSpPr txBox="1"/>
          <p:nvPr/>
        </p:nvSpPr>
        <p:spPr>
          <a:xfrm>
            <a:off x="594360" y="3363467"/>
            <a:ext cx="11003279" cy="377952"/>
          </a:xfrm>
          <a:prstGeom prst="rect">
            <a:avLst/>
          </a:prstGeom>
          <a:solidFill>
            <a:srgbClr val="EDF3F6"/>
          </a:solidFill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2376"/>
              </a:lnSpc>
              <a:spcBef>
                <a:spcPts val="0"/>
              </a:spcBef>
              <a:spcAft>
                <a:spcPts val="0"/>
              </a:spcAft>
              <a:defRPr sz="1800">
                <a:solidFill>
                  <a:srgbClr val="20344A"/>
                </a:solidFill>
                <a:latin typeface="Arial"/>
              </a:defRPr>
            </a:pPr>
            <a:r>
              <a:rPr sz="1800" b="0" i="0">
                <a:solidFill>
                  <a:srgbClr val="20344A"/>
                </a:solidFill>
                <a:latin typeface="Courier New"/>
              </a:rPr>
              <a:t>[project]</a:t>
            </a:r>
          </a:p>
        </p:txBody>
      </p:sp>
      <p:sp>
        <p:nvSpPr>
          <p:cNvPr id="11" name="content:line-172:0"/>
          <p:cNvSpPr txBox="1"/>
          <p:nvPr/>
        </p:nvSpPr>
        <p:spPr>
          <a:xfrm>
            <a:off x="594360" y="3741419"/>
            <a:ext cx="11003279" cy="377952"/>
          </a:xfrm>
          <a:prstGeom prst="rect">
            <a:avLst/>
          </a:prstGeom>
          <a:solidFill>
            <a:srgbClr val="EDF3F6"/>
          </a:solidFill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2376"/>
              </a:lnSpc>
              <a:spcBef>
                <a:spcPts val="0"/>
              </a:spcBef>
              <a:spcAft>
                <a:spcPts val="0"/>
              </a:spcAft>
              <a:defRPr sz="1800">
                <a:solidFill>
                  <a:srgbClr val="20344A"/>
                </a:solidFill>
                <a:latin typeface="Arial"/>
              </a:defRPr>
            </a:pPr>
            <a:r>
              <a:rPr sz="1800" b="0" i="0">
                <a:solidFill>
                  <a:srgbClr val="20344A"/>
                </a:solidFill>
                <a:latin typeface="Courier New"/>
              </a:rPr>
              <a:t>name = "three-r-backend"</a:t>
            </a:r>
          </a:p>
        </p:txBody>
      </p:sp>
      <p:sp>
        <p:nvSpPr>
          <p:cNvPr id="12" name="content:line-173:0"/>
          <p:cNvSpPr txBox="1"/>
          <p:nvPr/>
        </p:nvSpPr>
        <p:spPr>
          <a:xfrm>
            <a:off x="594360" y="4119371"/>
            <a:ext cx="11003279" cy="377952"/>
          </a:xfrm>
          <a:prstGeom prst="rect">
            <a:avLst/>
          </a:prstGeom>
          <a:solidFill>
            <a:srgbClr val="EDF3F6"/>
          </a:solidFill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2376"/>
              </a:lnSpc>
              <a:spcBef>
                <a:spcPts val="0"/>
              </a:spcBef>
              <a:spcAft>
                <a:spcPts val="0"/>
              </a:spcAft>
              <a:defRPr sz="1800">
                <a:solidFill>
                  <a:srgbClr val="20344A"/>
                </a:solidFill>
                <a:latin typeface="Arial"/>
              </a:defRPr>
            </a:pPr>
            <a:r>
              <a:rPr sz="1800" b="0" i="0">
                <a:solidFill>
                  <a:srgbClr val="20344A"/>
                </a:solidFill>
                <a:latin typeface="Courier New"/>
              </a:rPr>
              <a:t>version = "0.1.0"</a:t>
            </a:r>
          </a:p>
        </p:txBody>
      </p:sp>
      <p:sp>
        <p:nvSpPr>
          <p:cNvPr id="13" name="content:line-174:0"/>
          <p:cNvSpPr txBox="1"/>
          <p:nvPr/>
        </p:nvSpPr>
        <p:spPr>
          <a:xfrm>
            <a:off x="594360" y="4497323"/>
            <a:ext cx="11003279" cy="377952"/>
          </a:xfrm>
          <a:prstGeom prst="rect">
            <a:avLst/>
          </a:prstGeom>
          <a:solidFill>
            <a:srgbClr val="EDF3F6"/>
          </a:solidFill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2376"/>
              </a:lnSpc>
              <a:spcBef>
                <a:spcPts val="0"/>
              </a:spcBef>
              <a:spcAft>
                <a:spcPts val="0"/>
              </a:spcAft>
              <a:defRPr sz="1800">
                <a:solidFill>
                  <a:srgbClr val="20344A"/>
                </a:solidFill>
                <a:latin typeface="Arial"/>
              </a:defRPr>
            </a:pPr>
            <a:r>
              <a:rPr sz="1800" b="0" i="0">
                <a:solidFill>
                  <a:srgbClr val="20344A"/>
                </a:solidFill>
                <a:latin typeface="Courier New"/>
              </a:rPr>
              <a:t>requires-python = "&gt;=3.12"</a:t>
            </a:r>
          </a:p>
        </p:txBody>
      </p:sp>
      <p:sp>
        <p:nvSpPr>
          <p:cNvPr id="14" name="content:line-177:0"/>
          <p:cNvSpPr txBox="1"/>
          <p:nvPr/>
        </p:nvSpPr>
        <p:spPr>
          <a:xfrm>
            <a:off x="594360" y="4875275"/>
            <a:ext cx="11003279" cy="780288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 marL="279400" indent="-215900">
              <a:lnSpc>
                <a:spcPts val="2772"/>
              </a:lnSpc>
              <a:spcBef>
                <a:spcPts val="0"/>
              </a:spcBef>
              <a:spcAft>
                <a:spcPts val="0"/>
              </a:spcAft>
              <a:defRPr sz="2100">
                <a:solidFill>
                  <a:srgbClr val="20344A"/>
                </a:solidFill>
                <a:latin typeface="Arial"/>
              </a:defRPr>
              <a:buChar char="•"/>
            </a:pPr>
            <a:r>
              <a:rPr sz="2100" b="0" i="0">
                <a:solidFill>
                  <a:srgbClr val="20344A"/>
                </a:solidFill>
                <a:latin typeface="Arial"/>
              </a:rPr>
              <a:t>Metadata means the package's name, version, and </a:t>
            </a:r>
            <a:br/>
            <a:r>
              <a:rPr sz="2100" b="0" i="0">
                <a:solidFill>
                  <a:srgbClr val="20344A"/>
                </a:solidFill>
                <a:latin typeface="Arial"/>
              </a:rPr>
              <a:t>requirements.</a:t>
            </a:r>
          </a:p>
        </p:txBody>
      </p:sp>
      <p:sp>
        <p:nvSpPr>
          <p:cNvPr id="15" name="content:line-178:0"/>
          <p:cNvSpPr txBox="1"/>
          <p:nvPr/>
        </p:nvSpPr>
        <p:spPr>
          <a:xfrm>
            <a:off x="594360" y="5719571"/>
            <a:ext cx="11003279" cy="428244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 marL="279400" indent="-215900">
              <a:lnSpc>
                <a:spcPts val="2772"/>
              </a:lnSpc>
              <a:spcBef>
                <a:spcPts val="0"/>
              </a:spcBef>
              <a:spcAft>
                <a:spcPts val="0"/>
              </a:spcAft>
              <a:defRPr sz="2100">
                <a:solidFill>
                  <a:srgbClr val="20344A"/>
                </a:solidFill>
                <a:latin typeface="Arial"/>
              </a:defRPr>
              <a:buChar char="•"/>
            </a:pPr>
            <a:r>
              <a:rPr sz="2100" b="0" i="0">
                <a:solidFill>
                  <a:srgbClr val="20344A"/>
                </a:solidFill>
                <a:latin typeface="Arial"/>
              </a:rPr>
              <a:t>Distribution name: </a:t>
            </a:r>
            <a:r>
              <a:rPr sz="2100" b="0" i="0">
                <a:solidFill>
                  <a:srgbClr val="20344A"/>
                </a:solidFill>
                <a:latin typeface="Courier New"/>
              </a:rPr>
              <a:t>three-r-backend</a:t>
            </a:r>
            <a:r>
              <a:rPr sz="2100" b="0" i="0">
                <a:solidFill>
                  <a:srgbClr val="20344A"/>
                </a:solidFill>
                <a:latin typeface="Arial"/>
              </a:rPr>
              <a:t>; import name: </a:t>
            </a:r>
            <a:r>
              <a:rPr sz="2100" b="0" i="0">
                <a:solidFill>
                  <a:srgbClr val="20344A"/>
                </a:solidFill>
                <a:latin typeface="Courier New"/>
              </a:rPr>
              <a:t>stat_core</a:t>
            </a:r>
            <a:r>
              <a:rPr sz="2100" b="0" i="0">
                <a:solidFill>
                  <a:srgbClr val="20344A"/>
                </a:solidFill>
                <a:latin typeface="Arial"/>
              </a:rPr>
              <a:t>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C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accent"/>
          <p:cNvSpPr/>
          <p:nvPr/>
        </p:nvSpPr>
        <p:spPr>
          <a:xfrm>
            <a:off x="0" y="0"/>
            <a:ext cx="12191999" cy="64008"/>
          </a:xfrm>
          <a:prstGeom prst="rect">
            <a:avLst/>
          </a:prstGeom>
          <a:solidFill>
            <a:srgbClr val="007F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section"/>
          <p:cNvSpPr txBox="1"/>
          <p:nvPr/>
        </p:nvSpPr>
        <p:spPr>
          <a:xfrm>
            <a:off x="594360" y="201168"/>
            <a:ext cx="11003279" cy="256032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1452"/>
              </a:lnSpc>
              <a:spcBef>
                <a:spcPts val="0"/>
              </a:spcBef>
              <a:spcAft>
                <a:spcPts val="0"/>
              </a:spcAft>
              <a:defRPr sz="1100">
                <a:solidFill>
                  <a:srgbClr val="53677A"/>
                </a:solidFill>
                <a:latin typeface="Arial"/>
              </a:defRPr>
            </a:pPr>
            <a:r>
              <a:t>SOURCE 13 / 27  ·  CONTINUED 2</a:t>
            </a:r>
          </a:p>
        </p:txBody>
      </p:sp>
      <p:sp>
        <p:nvSpPr>
          <p:cNvPr id="4" name="title:line-163"/>
          <p:cNvSpPr txBox="1"/>
          <p:nvPr/>
        </p:nvSpPr>
        <p:spPr>
          <a:xfrm>
            <a:off x="594360" y="530352"/>
            <a:ext cx="11003279" cy="1161288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4000"/>
              </a:lnSpc>
              <a:spcBef>
                <a:spcPts val="0"/>
              </a:spcBef>
              <a:spcAft>
                <a:spcPts val="0"/>
              </a:spcAft>
              <a:defRPr sz="3200">
                <a:solidFill>
                  <a:srgbClr val="20344A"/>
                </a:solidFill>
                <a:latin typeface="Arial"/>
              </a:defRPr>
            </a:pPr>
            <a:r>
              <a:rPr sz="3200" b="0" i="0">
                <a:solidFill>
                  <a:srgbClr val="20344A"/>
                </a:solidFill>
                <a:latin typeface="Arial"/>
              </a:rPr>
              <a:t>Packaging describes what gets installed</a:t>
            </a:r>
          </a:p>
        </p:txBody>
      </p:sp>
      <p:sp>
        <p:nvSpPr>
          <p:cNvPr id="5" name="footer"/>
          <p:cNvSpPr txBox="1"/>
          <p:nvPr/>
        </p:nvSpPr>
        <p:spPr>
          <a:xfrm>
            <a:off x="594360" y="6510528"/>
            <a:ext cx="11003279" cy="219456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1320"/>
              </a:lnSpc>
              <a:spcBef>
                <a:spcPts val="0"/>
              </a:spcBef>
              <a:spcAft>
                <a:spcPts val="0"/>
              </a:spcAft>
              <a:defRPr sz="1000">
                <a:solidFill>
                  <a:srgbClr val="53677A"/>
                </a:solidFill>
                <a:latin typeface="Arial"/>
              </a:defRPr>
            </a:pPr>
            <a:r>
              <a:t>session-2.md   ·   14</a:t>
            </a:r>
          </a:p>
        </p:txBody>
      </p:sp>
      <p:sp>
        <p:nvSpPr>
          <p:cNvPr id="6" name="content:line-179:0"/>
          <p:cNvSpPr txBox="1"/>
          <p:nvPr/>
        </p:nvSpPr>
        <p:spPr>
          <a:xfrm>
            <a:off x="594360" y="1737360"/>
            <a:ext cx="11003279" cy="428244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 marL="279400" indent="-215900">
              <a:lnSpc>
                <a:spcPts val="2772"/>
              </a:lnSpc>
              <a:spcBef>
                <a:spcPts val="0"/>
              </a:spcBef>
              <a:spcAft>
                <a:spcPts val="0"/>
              </a:spcAft>
              <a:defRPr sz="2100">
                <a:solidFill>
                  <a:srgbClr val="20344A"/>
                </a:solidFill>
                <a:latin typeface="Arial"/>
              </a:defRPr>
              <a:buChar char="•"/>
            </a:pPr>
            <a:r>
              <a:rPr sz="2100" b="0" i="0">
                <a:solidFill>
                  <a:srgbClr val="20344A"/>
                </a:solidFill>
                <a:latin typeface="Arial"/>
              </a:rPr>
              <a:t>Package discovery includes both </a:t>
            </a:r>
            <a:r>
              <a:rPr sz="2100" b="0" i="0">
                <a:solidFill>
                  <a:srgbClr val="20344A"/>
                </a:solidFill>
                <a:latin typeface="Courier New"/>
              </a:rPr>
              <a:t>stat_core*</a:t>
            </a:r>
            <a:r>
              <a:rPr sz="2100" b="0" i="0">
                <a:solidFill>
                  <a:srgbClr val="20344A"/>
                </a:solidFill>
                <a:latin typeface="Arial"/>
              </a:rPr>
              <a:t> and </a:t>
            </a:r>
            <a:r>
              <a:rPr sz="2100" b="0" i="0">
                <a:solidFill>
                  <a:srgbClr val="20344A"/>
                </a:solidFill>
                <a:latin typeface="Courier New"/>
              </a:rPr>
              <a:t>app*</a:t>
            </a:r>
            <a:r>
              <a:rPr sz="2100" b="0" i="0">
                <a:solidFill>
                  <a:srgbClr val="20344A"/>
                </a:solidFill>
                <a:latin typeface="Arial"/>
              </a:rPr>
              <a:t>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C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accent"/>
          <p:cNvSpPr/>
          <p:nvPr/>
        </p:nvSpPr>
        <p:spPr>
          <a:xfrm>
            <a:off x="0" y="0"/>
            <a:ext cx="12191999" cy="64008"/>
          </a:xfrm>
          <a:prstGeom prst="rect">
            <a:avLst/>
          </a:prstGeom>
          <a:solidFill>
            <a:srgbClr val="007F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section"/>
          <p:cNvSpPr txBox="1"/>
          <p:nvPr/>
        </p:nvSpPr>
        <p:spPr>
          <a:xfrm>
            <a:off x="594360" y="201168"/>
            <a:ext cx="11003279" cy="256032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1452"/>
              </a:lnSpc>
              <a:spcBef>
                <a:spcPts val="0"/>
              </a:spcBef>
              <a:spcAft>
                <a:spcPts val="0"/>
              </a:spcAft>
              <a:defRPr sz="1100">
                <a:solidFill>
                  <a:srgbClr val="53677A"/>
                </a:solidFill>
                <a:latin typeface="Arial"/>
              </a:defRPr>
            </a:pPr>
            <a:r>
              <a:t>SOURCE 14 / 27</a:t>
            </a:r>
          </a:p>
        </p:txBody>
      </p:sp>
      <p:sp>
        <p:nvSpPr>
          <p:cNvPr id="4" name="title:line-183"/>
          <p:cNvSpPr txBox="1"/>
          <p:nvPr/>
        </p:nvSpPr>
        <p:spPr>
          <a:xfrm>
            <a:off x="594360" y="530352"/>
            <a:ext cx="11003279" cy="1161288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4000"/>
              </a:lnSpc>
              <a:spcBef>
                <a:spcPts val="0"/>
              </a:spcBef>
              <a:spcAft>
                <a:spcPts val="0"/>
              </a:spcAft>
              <a:defRPr sz="3200">
                <a:solidFill>
                  <a:srgbClr val="20344A"/>
                </a:solidFill>
                <a:latin typeface="Arial"/>
              </a:defRPr>
            </a:pPr>
            <a:r>
              <a:rPr sz="3200" b="0" i="0">
                <a:solidFill>
                  <a:srgbClr val="20344A"/>
                </a:solidFill>
                <a:latin typeface="Arial"/>
              </a:rPr>
              <a:t>Declare dependencies instead of relying on </a:t>
            </a:r>
            <a:br/>
            <a:r>
              <a:rPr sz="3200" b="0" i="0">
                <a:solidFill>
                  <a:srgbClr val="20344A"/>
                </a:solidFill>
                <a:latin typeface="Arial"/>
              </a:rPr>
              <a:t>your laptop</a:t>
            </a:r>
          </a:p>
        </p:txBody>
      </p:sp>
      <p:sp>
        <p:nvSpPr>
          <p:cNvPr id="5" name="footer"/>
          <p:cNvSpPr txBox="1"/>
          <p:nvPr/>
        </p:nvSpPr>
        <p:spPr>
          <a:xfrm>
            <a:off x="594360" y="6510528"/>
            <a:ext cx="11003279" cy="219456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1320"/>
              </a:lnSpc>
              <a:spcBef>
                <a:spcPts val="0"/>
              </a:spcBef>
              <a:spcAft>
                <a:spcPts val="0"/>
              </a:spcAft>
              <a:defRPr sz="1000">
                <a:solidFill>
                  <a:srgbClr val="53677A"/>
                </a:solidFill>
                <a:latin typeface="Arial"/>
              </a:defRPr>
            </a:pPr>
            <a:r>
              <a:t>session-2.md   ·   15</a:t>
            </a:r>
          </a:p>
        </p:txBody>
      </p:sp>
      <p:sp>
        <p:nvSpPr>
          <p:cNvPr id="6" name="content:line-185:0"/>
          <p:cNvSpPr txBox="1"/>
          <p:nvPr/>
        </p:nvSpPr>
        <p:spPr>
          <a:xfrm>
            <a:off x="594360" y="1737360"/>
            <a:ext cx="11003279" cy="428244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 marL="279400" indent="-215900">
              <a:lnSpc>
                <a:spcPts val="2772"/>
              </a:lnSpc>
              <a:spcBef>
                <a:spcPts val="0"/>
              </a:spcBef>
              <a:spcAft>
                <a:spcPts val="0"/>
              </a:spcAft>
              <a:defRPr sz="2100">
                <a:solidFill>
                  <a:srgbClr val="20344A"/>
                </a:solidFill>
                <a:latin typeface="Arial"/>
              </a:defRPr>
              <a:buChar char="•"/>
            </a:pPr>
            <a:r>
              <a:rPr sz="2100" b="0" i="0">
                <a:solidFill>
                  <a:srgbClr val="20344A"/>
                </a:solidFill>
                <a:latin typeface="Arial"/>
              </a:rPr>
              <a:t>A dependency is another package our code needs.</a:t>
            </a:r>
          </a:p>
        </p:txBody>
      </p:sp>
      <p:sp>
        <p:nvSpPr>
          <p:cNvPr id="7" name="content:line-186:0"/>
          <p:cNvSpPr txBox="1"/>
          <p:nvPr/>
        </p:nvSpPr>
        <p:spPr>
          <a:xfrm>
            <a:off x="594360" y="2229612"/>
            <a:ext cx="11003279" cy="780288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 marL="279400" indent="-215900">
              <a:lnSpc>
                <a:spcPts val="2772"/>
              </a:lnSpc>
              <a:spcBef>
                <a:spcPts val="0"/>
              </a:spcBef>
              <a:spcAft>
                <a:spcPts val="0"/>
              </a:spcAft>
              <a:defRPr sz="2100">
                <a:solidFill>
                  <a:srgbClr val="20344A"/>
                </a:solidFill>
                <a:latin typeface="Arial"/>
              </a:defRPr>
              <a:buChar char="•"/>
            </a:pPr>
            <a:r>
              <a:rPr sz="2100" b="0" i="0">
                <a:solidFill>
                  <a:srgbClr val="20344A"/>
                </a:solidFill>
                <a:latin typeface="Arial"/>
              </a:rPr>
              <a:t>Runtime: FastAPI, Pydantic, python-dotenv, </a:t>
            </a:r>
            <a:br/>
            <a:r>
              <a:rPr sz="2100" b="0" i="0">
                <a:solidFill>
                  <a:srgbClr val="20344A"/>
                </a:solidFill>
                <a:latin typeface="Arial"/>
              </a:rPr>
              <a:t>python-multipart, Uvicorn.</a:t>
            </a:r>
          </a:p>
        </p:txBody>
      </p:sp>
      <p:sp>
        <p:nvSpPr>
          <p:cNvPr id="8" name="content:line-187:0"/>
          <p:cNvSpPr txBox="1"/>
          <p:nvPr/>
        </p:nvSpPr>
        <p:spPr>
          <a:xfrm>
            <a:off x="594360" y="3073908"/>
            <a:ext cx="11003279" cy="428244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 marL="279400" indent="-215900">
              <a:lnSpc>
                <a:spcPts val="2772"/>
              </a:lnSpc>
              <a:spcBef>
                <a:spcPts val="0"/>
              </a:spcBef>
              <a:spcAft>
                <a:spcPts val="0"/>
              </a:spcAft>
              <a:defRPr sz="2100">
                <a:solidFill>
                  <a:srgbClr val="20344A"/>
                </a:solidFill>
                <a:latin typeface="Arial"/>
              </a:defRPr>
              <a:buChar char="•"/>
            </a:pPr>
            <a:r>
              <a:rPr sz="2100" b="0" i="0">
                <a:solidFill>
                  <a:srgbClr val="20344A"/>
                </a:solidFill>
                <a:latin typeface="Arial"/>
              </a:rPr>
              <a:t>The </a:t>
            </a:r>
            <a:r>
              <a:rPr sz="2100" b="0" i="0">
                <a:solidFill>
                  <a:srgbClr val="20344A"/>
                </a:solidFill>
                <a:latin typeface="Courier New"/>
              </a:rPr>
              <a:t>dev</a:t>
            </a:r>
            <a:r>
              <a:rPr sz="2100" b="0" i="0">
                <a:solidFill>
                  <a:srgbClr val="20344A"/>
                </a:solidFill>
                <a:latin typeface="Arial"/>
              </a:rPr>
              <a:t> extra is an optional group: pytest and httpx for checks.</a:t>
            </a:r>
          </a:p>
        </p:txBody>
      </p:sp>
      <p:sp>
        <p:nvSpPr>
          <p:cNvPr id="9" name="content:line-188:0"/>
          <p:cNvSpPr txBox="1"/>
          <p:nvPr/>
        </p:nvSpPr>
        <p:spPr>
          <a:xfrm>
            <a:off x="594360" y="3566160"/>
            <a:ext cx="11003279" cy="428244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 marL="279400" indent="-215900">
              <a:lnSpc>
                <a:spcPts val="2772"/>
              </a:lnSpc>
              <a:spcBef>
                <a:spcPts val="0"/>
              </a:spcBef>
              <a:spcAft>
                <a:spcPts val="0"/>
              </a:spcAft>
              <a:defRPr sz="2100">
                <a:solidFill>
                  <a:srgbClr val="20344A"/>
                </a:solidFill>
                <a:latin typeface="Arial"/>
              </a:defRPr>
              <a:buChar char="•"/>
            </a:pPr>
            <a:r>
              <a:rPr sz="2100" b="0" i="0">
                <a:solidFill>
                  <a:srgbClr val="20344A"/>
                </a:solidFill>
                <a:latin typeface="Arial"/>
              </a:rPr>
              <a:t>Example range: </a:t>
            </a:r>
            <a:r>
              <a:rPr sz="2100" b="0" i="0">
                <a:solidFill>
                  <a:srgbClr val="20344A"/>
                </a:solidFill>
                <a:latin typeface="Courier New"/>
              </a:rPr>
              <a:t>pydantic&gt;=2.9,&lt;3</a:t>
            </a:r>
            <a:r>
              <a:rPr sz="2100" b="0" i="0">
                <a:solidFill>
                  <a:srgbClr val="20344A"/>
                </a:solidFill>
                <a:latin typeface="Arial"/>
              </a:rPr>
              <a:t> allows 2.x versions from 2.9.</a:t>
            </a:r>
          </a:p>
        </p:txBody>
      </p:sp>
      <p:sp>
        <p:nvSpPr>
          <p:cNvPr id="10" name="content:line-189:0"/>
          <p:cNvSpPr txBox="1"/>
          <p:nvPr/>
        </p:nvSpPr>
        <p:spPr>
          <a:xfrm>
            <a:off x="594360" y="4058412"/>
            <a:ext cx="11003279" cy="780288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 marL="279400" indent="-215900">
              <a:lnSpc>
                <a:spcPts val="2772"/>
              </a:lnSpc>
              <a:spcBef>
                <a:spcPts val="0"/>
              </a:spcBef>
              <a:spcAft>
                <a:spcPts val="0"/>
              </a:spcAft>
              <a:defRPr sz="2100">
                <a:solidFill>
                  <a:srgbClr val="20344A"/>
                </a:solidFill>
                <a:latin typeface="Arial"/>
              </a:defRPr>
              <a:buChar char="•"/>
            </a:pPr>
            <a:r>
              <a:rPr sz="2100" b="0" i="0">
                <a:solidFill>
                  <a:srgbClr val="20344A"/>
                </a:solidFill>
                <a:latin typeface="Arial"/>
              </a:rPr>
              <a:t>A range is not a lockfile; record resolved versions for </a:t>
            </a:r>
            <a:br/>
            <a:r>
              <a:rPr sz="2100" b="0" i="0">
                <a:solidFill>
                  <a:srgbClr val="20344A"/>
                </a:solidFill>
                <a:latin typeface="Arial"/>
              </a:rPr>
              <a:t>comparisons.</a:t>
            </a:r>
          </a:p>
        </p:txBody>
      </p:sp>
      <p:sp>
        <p:nvSpPr>
          <p:cNvPr id="11" name="content:line-190:0"/>
          <p:cNvSpPr txBox="1"/>
          <p:nvPr/>
        </p:nvSpPr>
        <p:spPr>
          <a:xfrm>
            <a:off x="594360" y="4902708"/>
            <a:ext cx="11003279" cy="428244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 marL="279400" indent="-215900">
              <a:lnSpc>
                <a:spcPts val="2772"/>
              </a:lnSpc>
              <a:spcBef>
                <a:spcPts val="0"/>
              </a:spcBef>
              <a:spcAft>
                <a:spcPts val="0"/>
              </a:spcAft>
              <a:defRPr sz="2100">
                <a:solidFill>
                  <a:srgbClr val="20344A"/>
                </a:solidFill>
                <a:latin typeface="Arial"/>
              </a:defRPr>
              <a:buChar char="•"/>
            </a:pPr>
            <a:r>
              <a:rPr sz="2100" b="0" i="0">
                <a:solidFill>
                  <a:srgbClr val="20344A"/>
                </a:solidFill>
                <a:latin typeface="Arial"/>
              </a:rPr>
              <a:t>This small CSV example uses the standard library, not pandas.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C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accent"/>
          <p:cNvSpPr/>
          <p:nvPr/>
        </p:nvSpPr>
        <p:spPr>
          <a:xfrm>
            <a:off x="0" y="0"/>
            <a:ext cx="12191999" cy="64008"/>
          </a:xfrm>
          <a:prstGeom prst="rect">
            <a:avLst/>
          </a:prstGeom>
          <a:solidFill>
            <a:srgbClr val="007F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section"/>
          <p:cNvSpPr txBox="1"/>
          <p:nvPr/>
        </p:nvSpPr>
        <p:spPr>
          <a:xfrm>
            <a:off x="594360" y="201168"/>
            <a:ext cx="11003279" cy="256032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1452"/>
              </a:lnSpc>
              <a:spcBef>
                <a:spcPts val="0"/>
              </a:spcBef>
              <a:spcAft>
                <a:spcPts val="0"/>
              </a:spcAft>
              <a:defRPr sz="1100">
                <a:solidFill>
                  <a:srgbClr val="53677A"/>
                </a:solidFill>
                <a:latin typeface="Arial"/>
              </a:defRPr>
            </a:pPr>
            <a:r>
              <a:t>SOURCE 15 / 27</a:t>
            </a:r>
          </a:p>
        </p:txBody>
      </p:sp>
      <p:sp>
        <p:nvSpPr>
          <p:cNvPr id="4" name="title:line-194"/>
          <p:cNvSpPr txBox="1"/>
          <p:nvPr/>
        </p:nvSpPr>
        <p:spPr>
          <a:xfrm>
            <a:off x="594360" y="530352"/>
            <a:ext cx="11003279" cy="1161288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4000"/>
              </a:lnSpc>
              <a:spcBef>
                <a:spcPts val="0"/>
              </a:spcBef>
              <a:spcAft>
                <a:spcPts val="0"/>
              </a:spcAft>
              <a:defRPr sz="3200">
                <a:solidFill>
                  <a:srgbClr val="20344A"/>
                </a:solidFill>
                <a:latin typeface="Arial"/>
              </a:defRPr>
            </a:pPr>
            <a:r>
              <a:rPr sz="3200" b="0" i="0">
                <a:solidFill>
                  <a:srgbClr val="20344A"/>
                </a:solidFill>
                <a:latin typeface="Arial"/>
              </a:rPr>
              <a:t>Logging makes execution visible</a:t>
            </a:r>
          </a:p>
        </p:txBody>
      </p:sp>
      <p:sp>
        <p:nvSpPr>
          <p:cNvPr id="5" name="footer"/>
          <p:cNvSpPr txBox="1"/>
          <p:nvPr/>
        </p:nvSpPr>
        <p:spPr>
          <a:xfrm>
            <a:off x="594360" y="6510528"/>
            <a:ext cx="11003279" cy="219456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1320"/>
              </a:lnSpc>
              <a:spcBef>
                <a:spcPts val="0"/>
              </a:spcBef>
              <a:spcAft>
                <a:spcPts val="0"/>
              </a:spcAft>
              <a:defRPr sz="1000">
                <a:solidFill>
                  <a:srgbClr val="53677A"/>
                </a:solidFill>
                <a:latin typeface="Arial"/>
              </a:defRPr>
            </a:pPr>
            <a:r>
              <a:t>session-2.md   ·   16</a:t>
            </a:r>
          </a:p>
        </p:txBody>
      </p:sp>
      <p:sp>
        <p:nvSpPr>
          <p:cNvPr id="6" name="content:line-196:0"/>
          <p:cNvSpPr txBox="1"/>
          <p:nvPr/>
        </p:nvSpPr>
        <p:spPr>
          <a:xfrm>
            <a:off x="594360" y="1737360"/>
            <a:ext cx="11003279" cy="428244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2772"/>
              </a:lnSpc>
              <a:spcBef>
                <a:spcPts val="0"/>
              </a:spcBef>
              <a:spcAft>
                <a:spcPts val="0"/>
              </a:spcAft>
              <a:defRPr sz="2100">
                <a:solidFill>
                  <a:srgbClr val="20344A"/>
                </a:solidFill>
                <a:latin typeface="Arial"/>
              </a:defRPr>
            </a:pPr>
            <a:r>
              <a:rPr sz="2100" b="0" i="0">
                <a:solidFill>
                  <a:srgbClr val="20344A"/>
                </a:solidFill>
                <a:latin typeface="Arial"/>
              </a:rPr>
              <a:t>Existing module setup in </a:t>
            </a:r>
            <a:r>
              <a:rPr sz="2100" b="0" i="0">
                <a:solidFill>
                  <a:srgbClr val="20344A"/>
                </a:solidFill>
                <a:latin typeface="Courier New"/>
              </a:rPr>
              <a:t>backend/stat_core/processing.py</a:t>
            </a:r>
            <a:r>
              <a:rPr sz="2100" b="0" i="0">
                <a:solidFill>
                  <a:srgbClr val="20344A"/>
                </a:solidFill>
                <a:latin typeface="Arial"/>
              </a:rPr>
              <a:t>:</a:t>
            </a:r>
          </a:p>
        </p:txBody>
      </p:sp>
      <p:sp>
        <p:nvSpPr>
          <p:cNvPr id="7" name="content:line-199:0"/>
          <p:cNvSpPr txBox="1"/>
          <p:nvPr/>
        </p:nvSpPr>
        <p:spPr>
          <a:xfrm>
            <a:off x="594360" y="2229612"/>
            <a:ext cx="11003279" cy="377952"/>
          </a:xfrm>
          <a:prstGeom prst="rect">
            <a:avLst/>
          </a:prstGeom>
          <a:solidFill>
            <a:srgbClr val="EDF3F6"/>
          </a:solidFill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2376"/>
              </a:lnSpc>
              <a:spcBef>
                <a:spcPts val="0"/>
              </a:spcBef>
              <a:spcAft>
                <a:spcPts val="0"/>
              </a:spcAft>
              <a:defRPr sz="1800">
                <a:solidFill>
                  <a:srgbClr val="20344A"/>
                </a:solidFill>
                <a:latin typeface="Arial"/>
              </a:defRPr>
            </a:pPr>
            <a:r>
              <a:rPr sz="1800" b="0" i="0">
                <a:solidFill>
                  <a:srgbClr val="20344A"/>
                </a:solidFill>
                <a:latin typeface="Courier New"/>
              </a:rPr>
              <a:t>import logging</a:t>
            </a:r>
          </a:p>
        </p:txBody>
      </p:sp>
      <p:sp>
        <p:nvSpPr>
          <p:cNvPr id="8" name="content:line-200:0"/>
          <p:cNvSpPr txBox="1"/>
          <p:nvPr/>
        </p:nvSpPr>
        <p:spPr>
          <a:xfrm>
            <a:off x="594360" y="2607564"/>
            <a:ext cx="11003279" cy="377952"/>
          </a:xfrm>
          <a:prstGeom prst="rect">
            <a:avLst/>
          </a:prstGeom>
          <a:solidFill>
            <a:srgbClr val="EDF3F6"/>
          </a:solidFill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2376"/>
              </a:lnSpc>
              <a:spcBef>
                <a:spcPts val="0"/>
              </a:spcBef>
              <a:spcAft>
                <a:spcPts val="0"/>
              </a:spcAft>
              <a:defRPr sz="1800">
                <a:solidFill>
                  <a:srgbClr val="20344A"/>
                </a:solidFill>
                <a:latin typeface="Arial"/>
              </a:defRPr>
            </a:pPr>
            <a:r>
              <a:rPr sz="1800" b="0" i="0">
                <a:solidFill>
                  <a:srgbClr val="20344A"/>
                </a:solidFill>
                <a:latin typeface="Courier New"/>
              </a:rPr>
              <a:t>logger = logging.getLogger(__name__)</a:t>
            </a:r>
          </a:p>
        </p:txBody>
      </p:sp>
      <p:sp>
        <p:nvSpPr>
          <p:cNvPr id="9" name="content:line-203:0"/>
          <p:cNvSpPr txBox="1"/>
          <p:nvPr/>
        </p:nvSpPr>
        <p:spPr>
          <a:xfrm>
            <a:off x="594360" y="2985515"/>
            <a:ext cx="11003279" cy="428244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 marL="279400" indent="-215900">
              <a:lnSpc>
                <a:spcPts val="2772"/>
              </a:lnSpc>
              <a:spcBef>
                <a:spcPts val="0"/>
              </a:spcBef>
              <a:spcAft>
                <a:spcPts val="0"/>
              </a:spcAft>
              <a:defRPr sz="2100">
                <a:solidFill>
                  <a:srgbClr val="20344A"/>
                </a:solidFill>
                <a:latin typeface="Arial"/>
              </a:defRPr>
              <a:buChar char="•"/>
            </a:pPr>
            <a:r>
              <a:rPr sz="2100" b="0" i="0">
                <a:solidFill>
                  <a:srgbClr val="20344A"/>
                </a:solidFill>
                <a:latin typeface="Arial"/>
              </a:rPr>
              <a:t>The logger's name is </a:t>
            </a:r>
            <a:r>
              <a:rPr sz="2100" b="0" i="0">
                <a:solidFill>
                  <a:srgbClr val="20344A"/>
                </a:solidFill>
                <a:latin typeface="Courier New"/>
              </a:rPr>
              <a:t>stat_core.processing</a:t>
            </a:r>
            <a:r>
              <a:rPr sz="2100" b="0" i="0">
                <a:solidFill>
                  <a:srgbClr val="20344A"/>
                </a:solidFill>
                <a:latin typeface="Arial"/>
              </a:rPr>
              <a:t>.</a:t>
            </a:r>
          </a:p>
        </p:txBody>
      </p:sp>
      <p:sp>
        <p:nvSpPr>
          <p:cNvPr id="10" name="content:line-204:0"/>
          <p:cNvSpPr txBox="1"/>
          <p:nvPr/>
        </p:nvSpPr>
        <p:spPr>
          <a:xfrm>
            <a:off x="594360" y="3477767"/>
            <a:ext cx="11003279" cy="428244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 marL="279400" indent="-215900">
              <a:lnSpc>
                <a:spcPts val="2772"/>
              </a:lnSpc>
              <a:spcBef>
                <a:spcPts val="0"/>
              </a:spcBef>
              <a:spcAft>
                <a:spcPts val="0"/>
              </a:spcAft>
              <a:defRPr sz="2100">
                <a:solidFill>
                  <a:srgbClr val="20344A"/>
                </a:solidFill>
                <a:latin typeface="Arial"/>
              </a:defRPr>
              <a:buChar char="•"/>
            </a:pPr>
            <a:r>
              <a:rPr sz="2100" b="0" i="0">
                <a:solidFill>
                  <a:srgbClr val="20344A"/>
                </a:solidFill>
                <a:latin typeface="Arial"/>
              </a:rPr>
              <a:t>DEBUG: diagnostic detail; INFO: normal progress.</a:t>
            </a:r>
          </a:p>
        </p:txBody>
      </p:sp>
      <p:sp>
        <p:nvSpPr>
          <p:cNvPr id="11" name="content:line-205:0"/>
          <p:cNvSpPr txBox="1"/>
          <p:nvPr/>
        </p:nvSpPr>
        <p:spPr>
          <a:xfrm>
            <a:off x="594360" y="3970019"/>
            <a:ext cx="11003279" cy="428244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 marL="279400" indent="-215900">
              <a:lnSpc>
                <a:spcPts val="2772"/>
              </a:lnSpc>
              <a:spcBef>
                <a:spcPts val="0"/>
              </a:spcBef>
              <a:spcAft>
                <a:spcPts val="0"/>
              </a:spcAft>
              <a:defRPr sz="2100">
                <a:solidFill>
                  <a:srgbClr val="20344A"/>
                </a:solidFill>
                <a:latin typeface="Arial"/>
              </a:defRPr>
              <a:buChar char="•"/>
            </a:pPr>
            <a:r>
              <a:rPr sz="2100" b="0" i="0">
                <a:solidFill>
                  <a:srgbClr val="20344A"/>
                </a:solidFill>
                <a:latin typeface="Arial"/>
              </a:rPr>
              <a:t>WARNING: concern; ERROR: failure; CRITICAL: severe failure.</a:t>
            </a:r>
          </a:p>
        </p:txBody>
      </p:sp>
      <p:sp>
        <p:nvSpPr>
          <p:cNvPr id="12" name="content:line-206:0"/>
          <p:cNvSpPr txBox="1"/>
          <p:nvPr/>
        </p:nvSpPr>
        <p:spPr>
          <a:xfrm>
            <a:off x="594360" y="4462271"/>
            <a:ext cx="11003279" cy="428244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 marL="279400" indent="-215900">
              <a:lnSpc>
                <a:spcPts val="2772"/>
              </a:lnSpc>
              <a:spcBef>
                <a:spcPts val="0"/>
              </a:spcBef>
              <a:spcAft>
                <a:spcPts val="0"/>
              </a:spcAft>
              <a:defRPr sz="2100">
                <a:solidFill>
                  <a:srgbClr val="20344A"/>
                </a:solidFill>
                <a:latin typeface="Arial"/>
              </a:defRPr>
              <a:buChar char="•"/>
            </a:pPr>
            <a:r>
              <a:rPr sz="2100" b="0" i="0">
                <a:solidFill>
                  <a:srgbClr val="20344A"/>
                </a:solidFill>
                <a:latin typeface="Arial"/>
              </a:rPr>
              <a:t>The caller configures visibility; processing emits messages.</a:t>
            </a:r>
          </a:p>
        </p:txBody>
      </p:sp>
      <p:sp>
        <p:nvSpPr>
          <p:cNvPr id="13" name="content:line-207:0"/>
          <p:cNvSpPr txBox="1"/>
          <p:nvPr/>
        </p:nvSpPr>
        <p:spPr>
          <a:xfrm>
            <a:off x="594360" y="4954523"/>
            <a:ext cx="11003279" cy="428244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 marL="279400" indent="-215900">
              <a:lnSpc>
                <a:spcPts val="2772"/>
              </a:lnSpc>
              <a:spcBef>
                <a:spcPts val="0"/>
              </a:spcBef>
              <a:spcAft>
                <a:spcPts val="0"/>
              </a:spcAft>
              <a:defRPr sz="2100">
                <a:solidFill>
                  <a:srgbClr val="20344A"/>
                </a:solidFill>
                <a:latin typeface="Arial"/>
              </a:defRPr>
              <a:buChar char="•"/>
            </a:pPr>
            <a:r>
              <a:rPr sz="2100" b="0" i="0">
                <a:solidFill>
                  <a:srgbClr val="20344A"/>
                </a:solidFill>
                <a:latin typeface="Arial"/>
              </a:rPr>
              <a:t>Log counts and locations, never uploaded rows or identifiers.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C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accent"/>
          <p:cNvSpPr/>
          <p:nvPr/>
        </p:nvSpPr>
        <p:spPr>
          <a:xfrm>
            <a:off x="0" y="0"/>
            <a:ext cx="12191999" cy="64008"/>
          </a:xfrm>
          <a:prstGeom prst="rect">
            <a:avLst/>
          </a:prstGeom>
          <a:solidFill>
            <a:srgbClr val="007F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section"/>
          <p:cNvSpPr txBox="1"/>
          <p:nvPr/>
        </p:nvSpPr>
        <p:spPr>
          <a:xfrm>
            <a:off x="594360" y="201168"/>
            <a:ext cx="11003279" cy="256032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1452"/>
              </a:lnSpc>
              <a:spcBef>
                <a:spcPts val="0"/>
              </a:spcBef>
              <a:spcAft>
                <a:spcPts val="0"/>
              </a:spcAft>
              <a:defRPr sz="1100">
                <a:solidFill>
                  <a:srgbClr val="53677A"/>
                </a:solidFill>
                <a:latin typeface="Arial"/>
              </a:defRPr>
            </a:pPr>
            <a:r>
              <a:t>SOURCE 16 / 27</a:t>
            </a:r>
          </a:p>
        </p:txBody>
      </p:sp>
      <p:sp>
        <p:nvSpPr>
          <p:cNvPr id="4" name="title:line-211"/>
          <p:cNvSpPr txBox="1"/>
          <p:nvPr/>
        </p:nvSpPr>
        <p:spPr>
          <a:xfrm>
            <a:off x="594360" y="530352"/>
            <a:ext cx="11003279" cy="1161288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4000"/>
              </a:lnSpc>
              <a:spcBef>
                <a:spcPts val="0"/>
              </a:spcBef>
              <a:spcAft>
                <a:spcPts val="0"/>
              </a:spcAft>
              <a:defRPr sz="3200">
                <a:solidFill>
                  <a:srgbClr val="20344A"/>
                </a:solidFill>
                <a:latin typeface="Arial"/>
              </a:defRPr>
            </a:pPr>
            <a:r>
              <a:rPr sz="3200" b="0" i="0">
                <a:solidFill>
                  <a:srgbClr val="20344A"/>
                </a:solidFill>
                <a:latin typeface="Arial"/>
              </a:rPr>
              <a:t>Demo: install inside an isolated </a:t>
            </a:r>
            <a:br/>
            <a:r>
              <a:rPr sz="3200" b="0" i="0">
                <a:solidFill>
                  <a:srgbClr val="20344A"/>
                </a:solidFill>
                <a:latin typeface="Arial"/>
              </a:rPr>
              <a:t>environment</a:t>
            </a:r>
          </a:p>
        </p:txBody>
      </p:sp>
      <p:sp>
        <p:nvSpPr>
          <p:cNvPr id="5" name="footer"/>
          <p:cNvSpPr txBox="1"/>
          <p:nvPr/>
        </p:nvSpPr>
        <p:spPr>
          <a:xfrm>
            <a:off x="594360" y="6510528"/>
            <a:ext cx="11003279" cy="219456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1320"/>
              </a:lnSpc>
              <a:spcBef>
                <a:spcPts val="0"/>
              </a:spcBef>
              <a:spcAft>
                <a:spcPts val="0"/>
              </a:spcAft>
              <a:defRPr sz="1000">
                <a:solidFill>
                  <a:srgbClr val="53677A"/>
                </a:solidFill>
                <a:latin typeface="Arial"/>
              </a:defRPr>
            </a:pPr>
            <a:r>
              <a:t>session-2.md   ·   17</a:t>
            </a:r>
          </a:p>
        </p:txBody>
      </p:sp>
      <p:sp>
        <p:nvSpPr>
          <p:cNvPr id="6" name="content:line-213:0"/>
          <p:cNvSpPr txBox="1"/>
          <p:nvPr/>
        </p:nvSpPr>
        <p:spPr>
          <a:xfrm>
            <a:off x="594360" y="1737360"/>
            <a:ext cx="11003279" cy="428244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2772"/>
              </a:lnSpc>
              <a:spcBef>
                <a:spcPts val="0"/>
              </a:spcBef>
              <a:spcAft>
                <a:spcPts val="0"/>
              </a:spcAft>
              <a:defRPr sz="2100">
                <a:solidFill>
                  <a:srgbClr val="20344A"/>
                </a:solidFill>
                <a:latin typeface="Arial"/>
              </a:defRPr>
            </a:pPr>
            <a:r>
              <a:rPr sz="2100" b="0" i="0">
                <a:solidFill>
                  <a:srgbClr val="20344A"/>
                </a:solidFill>
                <a:latin typeface="Arial"/>
              </a:rPr>
              <a:t>Run from the repository root with Python 3.12 and Git available:</a:t>
            </a:r>
          </a:p>
        </p:txBody>
      </p:sp>
      <p:sp>
        <p:nvSpPr>
          <p:cNvPr id="7" name="content:line-216:0"/>
          <p:cNvSpPr txBox="1"/>
          <p:nvPr/>
        </p:nvSpPr>
        <p:spPr>
          <a:xfrm>
            <a:off x="594360" y="2229612"/>
            <a:ext cx="11003279" cy="377952"/>
          </a:xfrm>
          <a:prstGeom prst="rect">
            <a:avLst/>
          </a:prstGeom>
          <a:solidFill>
            <a:srgbClr val="EDF3F6"/>
          </a:solidFill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2376"/>
              </a:lnSpc>
              <a:spcBef>
                <a:spcPts val="0"/>
              </a:spcBef>
              <a:spcAft>
                <a:spcPts val="0"/>
              </a:spcAft>
              <a:defRPr sz="1800">
                <a:solidFill>
                  <a:srgbClr val="20344A"/>
                </a:solidFill>
                <a:latin typeface="Arial"/>
              </a:defRPr>
            </a:pPr>
            <a:r>
              <a:rPr sz="1800" b="0" i="0">
                <a:solidFill>
                  <a:srgbClr val="20344A"/>
                </a:solidFill>
                <a:latin typeface="Courier New"/>
              </a:rPr>
              <a:t>python3.12 -m venv .venv</a:t>
            </a:r>
          </a:p>
        </p:txBody>
      </p:sp>
      <p:sp>
        <p:nvSpPr>
          <p:cNvPr id="8" name="content:line-217:0"/>
          <p:cNvSpPr txBox="1"/>
          <p:nvPr/>
        </p:nvSpPr>
        <p:spPr>
          <a:xfrm>
            <a:off x="594360" y="2607564"/>
            <a:ext cx="11003279" cy="377952"/>
          </a:xfrm>
          <a:prstGeom prst="rect">
            <a:avLst/>
          </a:prstGeom>
          <a:solidFill>
            <a:srgbClr val="EDF3F6"/>
          </a:solidFill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2376"/>
              </a:lnSpc>
              <a:spcBef>
                <a:spcPts val="0"/>
              </a:spcBef>
              <a:spcAft>
                <a:spcPts val="0"/>
              </a:spcAft>
              <a:defRPr sz="1800">
                <a:solidFill>
                  <a:srgbClr val="20344A"/>
                </a:solidFill>
                <a:latin typeface="Arial"/>
              </a:defRPr>
            </a:pPr>
            <a:r>
              <a:rPr sz="1800" b="0" i="0">
                <a:solidFill>
                  <a:srgbClr val="20344A"/>
                </a:solidFill>
                <a:latin typeface="Courier New"/>
              </a:rPr>
              <a:t>source .venv/bin/activate</a:t>
            </a:r>
          </a:p>
        </p:txBody>
      </p:sp>
      <p:sp>
        <p:nvSpPr>
          <p:cNvPr id="9" name="content:line-218:0"/>
          <p:cNvSpPr txBox="1"/>
          <p:nvPr/>
        </p:nvSpPr>
        <p:spPr>
          <a:xfrm>
            <a:off x="594360" y="2985515"/>
            <a:ext cx="11003279" cy="377952"/>
          </a:xfrm>
          <a:prstGeom prst="rect">
            <a:avLst/>
          </a:prstGeom>
          <a:solidFill>
            <a:srgbClr val="EDF3F6"/>
          </a:solidFill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2376"/>
              </a:lnSpc>
              <a:spcBef>
                <a:spcPts val="0"/>
              </a:spcBef>
              <a:spcAft>
                <a:spcPts val="0"/>
              </a:spcAft>
              <a:defRPr sz="1800">
                <a:solidFill>
                  <a:srgbClr val="20344A"/>
                </a:solidFill>
                <a:latin typeface="Arial"/>
              </a:defRPr>
            </a:pPr>
            <a:r>
              <a:rPr sz="1800" b="0" i="0">
                <a:solidFill>
                  <a:srgbClr val="20344A"/>
                </a:solidFill>
                <a:latin typeface="Courier New"/>
              </a:rPr>
              <a:t>python -m pip install -e './backend[dev]'</a:t>
            </a:r>
          </a:p>
        </p:txBody>
      </p:sp>
      <p:sp>
        <p:nvSpPr>
          <p:cNvPr id="10" name="content:line-219:0"/>
          <p:cNvSpPr txBox="1"/>
          <p:nvPr/>
        </p:nvSpPr>
        <p:spPr>
          <a:xfrm>
            <a:off x="594360" y="3363467"/>
            <a:ext cx="11003279" cy="377952"/>
          </a:xfrm>
          <a:prstGeom prst="rect">
            <a:avLst/>
          </a:prstGeom>
          <a:solidFill>
            <a:srgbClr val="EDF3F6"/>
          </a:solidFill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2376"/>
              </a:lnSpc>
              <a:spcBef>
                <a:spcPts val="0"/>
              </a:spcBef>
              <a:spcAft>
                <a:spcPts val="0"/>
              </a:spcAft>
              <a:defRPr sz="1800">
                <a:solidFill>
                  <a:srgbClr val="20344A"/>
                </a:solidFill>
                <a:latin typeface="Arial"/>
              </a:defRPr>
            </a:pPr>
            <a:r>
              <a:rPr sz="1800" b="0" i="0">
                <a:solidFill>
                  <a:srgbClr val="20344A"/>
                </a:solidFill>
                <a:latin typeface="Courier New"/>
              </a:rPr>
              <a:t>python -c 'import stat_core; print(stat_core.__file__)'</a:t>
            </a:r>
          </a:p>
        </p:txBody>
      </p:sp>
      <p:sp>
        <p:nvSpPr>
          <p:cNvPr id="11" name="content:line-222:0"/>
          <p:cNvSpPr txBox="1"/>
          <p:nvPr/>
        </p:nvSpPr>
        <p:spPr>
          <a:xfrm>
            <a:off x="594360" y="3741419"/>
            <a:ext cx="11003279" cy="428244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 marL="279400" indent="-215900">
              <a:lnSpc>
                <a:spcPts val="2772"/>
              </a:lnSpc>
              <a:spcBef>
                <a:spcPts val="0"/>
              </a:spcBef>
              <a:spcAft>
                <a:spcPts val="0"/>
              </a:spcAft>
              <a:defRPr sz="2100">
                <a:solidFill>
                  <a:srgbClr val="20344A"/>
                </a:solidFill>
                <a:latin typeface="Arial"/>
              </a:defRPr>
              <a:buChar char="•"/>
            </a:pPr>
            <a:r>
              <a:rPr sz="2100" b="0" i="0">
                <a:solidFill>
                  <a:srgbClr val="20344A"/>
                </a:solidFill>
                <a:latin typeface="Arial"/>
              </a:rPr>
              <a:t>The printed path should end in </a:t>
            </a:r>
            <a:r>
              <a:rPr sz="2100" b="0" i="0">
                <a:solidFill>
                  <a:srgbClr val="20344A"/>
                </a:solidFill>
                <a:latin typeface="Courier New"/>
              </a:rPr>
              <a:t>backend/stat_core/__init__.py</a:t>
            </a:r>
            <a:r>
              <a:rPr sz="2100" b="0" i="0">
                <a:solidFill>
                  <a:srgbClr val="20344A"/>
                </a:solidFill>
                <a:latin typeface="Arial"/>
              </a:rPr>
              <a:t>.</a:t>
            </a:r>
          </a:p>
        </p:txBody>
      </p:sp>
      <p:sp>
        <p:nvSpPr>
          <p:cNvPr id="12" name="content:line-223:0"/>
          <p:cNvSpPr txBox="1"/>
          <p:nvPr/>
        </p:nvSpPr>
        <p:spPr>
          <a:xfrm>
            <a:off x="594360" y="4233671"/>
            <a:ext cx="11003279" cy="428244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 marL="279400" indent="-215900">
              <a:lnSpc>
                <a:spcPts val="2772"/>
              </a:lnSpc>
              <a:spcBef>
                <a:spcPts val="0"/>
              </a:spcBef>
              <a:spcAft>
                <a:spcPts val="0"/>
              </a:spcAft>
              <a:defRPr sz="2100">
                <a:solidFill>
                  <a:srgbClr val="20344A"/>
                </a:solidFill>
                <a:latin typeface="Arial"/>
              </a:defRPr>
              <a:buChar char="•"/>
            </a:pPr>
            <a:r>
              <a:rPr sz="2100" b="0" i="0">
                <a:solidFill>
                  <a:srgbClr val="20344A"/>
                </a:solidFill>
                <a:latin typeface="Arial"/>
              </a:rPr>
              <a:t>Editable means imports use this checkout's source files.</a:t>
            </a:r>
          </a:p>
        </p:txBody>
      </p:sp>
      <p:sp>
        <p:nvSpPr>
          <p:cNvPr id="13" name="content:line-224:0"/>
          <p:cNvSpPr txBox="1"/>
          <p:nvPr/>
        </p:nvSpPr>
        <p:spPr>
          <a:xfrm>
            <a:off x="594360" y="4725923"/>
            <a:ext cx="11003279" cy="780288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 marL="279400" indent="-215900">
              <a:lnSpc>
                <a:spcPts val="2772"/>
              </a:lnSpc>
              <a:spcBef>
                <a:spcPts val="0"/>
              </a:spcBef>
              <a:spcAft>
                <a:spcPts val="0"/>
              </a:spcAft>
              <a:defRPr sz="2100">
                <a:solidFill>
                  <a:srgbClr val="20344A"/>
                </a:solidFill>
                <a:latin typeface="Arial"/>
              </a:defRPr>
              <a:buChar char="•"/>
            </a:pPr>
            <a:r>
              <a:rPr sz="2100" b="0" i="0">
                <a:solidFill>
                  <a:srgbClr val="20344A"/>
                </a:solidFill>
                <a:latin typeface="Arial"/>
              </a:rPr>
              <a:t>Start a new process after edits; reinstall after metadata </a:t>
            </a:r>
            <a:br/>
            <a:r>
              <a:rPr sz="2100" b="0" i="0">
                <a:solidFill>
                  <a:srgbClr val="20344A"/>
                </a:solidFill>
                <a:latin typeface="Arial"/>
              </a:rPr>
              <a:t>changes.</a:t>
            </a:r>
          </a:p>
        </p:txBody>
      </p:sp>
      <p:sp>
        <p:nvSpPr>
          <p:cNvPr id="14" name="content:line-225:0"/>
          <p:cNvSpPr txBox="1"/>
          <p:nvPr/>
        </p:nvSpPr>
        <p:spPr>
          <a:xfrm>
            <a:off x="594360" y="5570219"/>
            <a:ext cx="11003279" cy="428244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 marL="279400" indent="-215900">
              <a:lnSpc>
                <a:spcPts val="2772"/>
              </a:lnSpc>
              <a:spcBef>
                <a:spcPts val="0"/>
              </a:spcBef>
              <a:spcAft>
                <a:spcPts val="0"/>
              </a:spcAft>
              <a:defRPr sz="2100">
                <a:solidFill>
                  <a:srgbClr val="20344A"/>
                </a:solidFill>
                <a:latin typeface="Arial"/>
              </a:defRPr>
              <a:buChar char="•"/>
            </a:pPr>
            <a:r>
              <a:rPr sz="2100" b="0" i="0">
                <a:solidFill>
                  <a:srgbClr val="20344A"/>
                </a:solidFill>
                <a:latin typeface="Arial"/>
              </a:rPr>
              <a:t>Windows: run in the WSL Ubuntu terminal (</a:t>
            </a:r>
            <a:r>
              <a:rPr sz="2100" b="0" i="0">
                <a:solidFill>
                  <a:srgbClr val="007F82"/>
                </a:solidFill>
                <a:latin typeface="Arial"/>
                <a:hlinkClick r:id="rId2"/>
              </a:rPr>
              <a:t>Session 0</a:t>
            </a:r>
            <a:r>
              <a:rPr sz="2100" b="0" i="0">
                <a:solidFill>
                  <a:srgbClr val="20344A"/>
                </a:solidFill>
                <a:latin typeface="Arial"/>
              </a:rPr>
              <a:t>); setup 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C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accent"/>
          <p:cNvSpPr/>
          <p:nvPr/>
        </p:nvSpPr>
        <p:spPr>
          <a:xfrm>
            <a:off x="0" y="0"/>
            <a:ext cx="12191999" cy="64008"/>
          </a:xfrm>
          <a:prstGeom prst="rect">
            <a:avLst/>
          </a:prstGeom>
          <a:solidFill>
            <a:srgbClr val="007F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section"/>
          <p:cNvSpPr txBox="1"/>
          <p:nvPr/>
        </p:nvSpPr>
        <p:spPr>
          <a:xfrm>
            <a:off x="594360" y="201168"/>
            <a:ext cx="11003279" cy="256032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1452"/>
              </a:lnSpc>
              <a:spcBef>
                <a:spcPts val="0"/>
              </a:spcBef>
              <a:spcAft>
                <a:spcPts val="0"/>
              </a:spcAft>
              <a:defRPr sz="1100">
                <a:solidFill>
                  <a:srgbClr val="53677A"/>
                </a:solidFill>
                <a:latin typeface="Arial"/>
              </a:defRPr>
            </a:pPr>
            <a:r>
              <a:t>SOURCE 16 / 27  ·  CONTINUED 2</a:t>
            </a:r>
          </a:p>
        </p:txBody>
      </p:sp>
      <p:sp>
        <p:nvSpPr>
          <p:cNvPr id="4" name="title:line-211"/>
          <p:cNvSpPr txBox="1"/>
          <p:nvPr/>
        </p:nvSpPr>
        <p:spPr>
          <a:xfrm>
            <a:off x="594360" y="530352"/>
            <a:ext cx="11003279" cy="1161288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4000"/>
              </a:lnSpc>
              <a:spcBef>
                <a:spcPts val="0"/>
              </a:spcBef>
              <a:spcAft>
                <a:spcPts val="0"/>
              </a:spcAft>
              <a:defRPr sz="3200">
                <a:solidFill>
                  <a:srgbClr val="20344A"/>
                </a:solidFill>
                <a:latin typeface="Arial"/>
              </a:defRPr>
            </a:pPr>
            <a:r>
              <a:rPr sz="3200" b="0" i="0">
                <a:solidFill>
                  <a:srgbClr val="20344A"/>
                </a:solidFill>
                <a:latin typeface="Arial"/>
              </a:rPr>
              <a:t>Demo: install inside an isolated </a:t>
            </a:r>
            <a:br/>
            <a:r>
              <a:rPr sz="3200" b="0" i="0">
                <a:solidFill>
                  <a:srgbClr val="20344A"/>
                </a:solidFill>
                <a:latin typeface="Arial"/>
              </a:rPr>
              <a:t>environment</a:t>
            </a:r>
          </a:p>
        </p:txBody>
      </p:sp>
      <p:sp>
        <p:nvSpPr>
          <p:cNvPr id="5" name="footer"/>
          <p:cNvSpPr txBox="1"/>
          <p:nvPr/>
        </p:nvSpPr>
        <p:spPr>
          <a:xfrm>
            <a:off x="594360" y="6510528"/>
            <a:ext cx="11003279" cy="219456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1320"/>
              </a:lnSpc>
              <a:spcBef>
                <a:spcPts val="0"/>
              </a:spcBef>
              <a:spcAft>
                <a:spcPts val="0"/>
              </a:spcAft>
              <a:defRPr sz="1000">
                <a:solidFill>
                  <a:srgbClr val="53677A"/>
                </a:solidFill>
                <a:latin typeface="Arial"/>
              </a:defRPr>
            </a:pPr>
            <a:r>
              <a:t>session-2.md   ·   18</a:t>
            </a:r>
          </a:p>
        </p:txBody>
      </p:sp>
      <p:sp>
        <p:nvSpPr>
          <p:cNvPr id="6" name="content:line-225:1"/>
          <p:cNvSpPr txBox="1"/>
          <p:nvPr/>
        </p:nvSpPr>
        <p:spPr>
          <a:xfrm>
            <a:off x="594360" y="1737360"/>
            <a:ext cx="11003279" cy="428244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 marL="279400" indent="-215900">
              <a:lnSpc>
                <a:spcPts val="2772"/>
              </a:lnSpc>
              <a:spcBef>
                <a:spcPts val="0"/>
              </a:spcBef>
              <a:spcAft>
                <a:spcPts val="0"/>
              </a:spcAft>
              <a:defRPr sz="2100">
                <a:solidFill>
                  <a:srgbClr val="20344A"/>
                </a:solidFill>
                <a:latin typeface="Arial"/>
              </a:defRPr>
              <a:buChar char=" "/>
            </a:pPr>
            <a:r>
              <a:rPr sz="2100" b="0" i="0">
                <a:solidFill>
                  <a:srgbClr val="20344A"/>
                </a:solidFill>
                <a:latin typeface="Arial"/>
              </a:rPr>
              <a:t>help: </a:t>
            </a:r>
            <a:r>
              <a:rPr sz="2100" b="0" i="0">
                <a:solidFill>
                  <a:srgbClr val="007F82"/>
                </a:solidFill>
                <a:latin typeface="Arial"/>
                <a:hlinkClick r:id="rId2"/>
              </a:rPr>
              <a:t>setup.md</a:t>
            </a:r>
            <a:r>
              <a:rPr sz="2100" b="0" i="0">
                <a:solidFill>
                  <a:srgbClr val="20344A"/>
                </a:solidFill>
                <a:latin typeface="Arial"/>
              </a:rPr>
              <a:t>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C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accent"/>
          <p:cNvSpPr/>
          <p:nvPr/>
        </p:nvSpPr>
        <p:spPr>
          <a:xfrm>
            <a:off x="0" y="0"/>
            <a:ext cx="12191999" cy="64008"/>
          </a:xfrm>
          <a:prstGeom prst="rect">
            <a:avLst/>
          </a:prstGeom>
          <a:solidFill>
            <a:srgbClr val="007F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section"/>
          <p:cNvSpPr txBox="1"/>
          <p:nvPr/>
        </p:nvSpPr>
        <p:spPr>
          <a:xfrm>
            <a:off x="594360" y="201168"/>
            <a:ext cx="11003279" cy="256032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1452"/>
              </a:lnSpc>
              <a:spcBef>
                <a:spcPts val="0"/>
              </a:spcBef>
              <a:spcAft>
                <a:spcPts val="0"/>
              </a:spcAft>
              <a:defRPr sz="1100">
                <a:solidFill>
                  <a:srgbClr val="53677A"/>
                </a:solidFill>
                <a:latin typeface="Arial"/>
              </a:defRPr>
            </a:pPr>
            <a:r>
              <a:t>SOURCE 17 / 27</a:t>
            </a:r>
          </a:p>
        </p:txBody>
      </p:sp>
      <p:sp>
        <p:nvSpPr>
          <p:cNvPr id="4" name="title:line-229"/>
          <p:cNvSpPr txBox="1"/>
          <p:nvPr/>
        </p:nvSpPr>
        <p:spPr>
          <a:xfrm>
            <a:off x="594360" y="530352"/>
            <a:ext cx="11003279" cy="1161288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4000"/>
              </a:lnSpc>
              <a:spcBef>
                <a:spcPts val="0"/>
              </a:spcBef>
              <a:spcAft>
                <a:spcPts val="0"/>
              </a:spcAft>
              <a:defRPr sz="3200">
                <a:solidFill>
                  <a:srgbClr val="20344A"/>
                </a:solidFill>
                <a:latin typeface="Arial"/>
              </a:defRPr>
            </a:pPr>
            <a:r>
              <a:rPr sz="3200" b="0" i="0">
                <a:solidFill>
                  <a:srgbClr val="20344A"/>
                </a:solidFill>
                <a:latin typeface="Arial"/>
              </a:rPr>
              <a:t>Demo: run the package without a web </a:t>
            </a:r>
            <a:br/>
            <a:r>
              <a:rPr sz="3200" b="0" i="0">
                <a:solidFill>
                  <a:srgbClr val="20344A"/>
                </a:solidFill>
                <a:latin typeface="Arial"/>
              </a:rPr>
              <a:t>server</a:t>
            </a:r>
          </a:p>
        </p:txBody>
      </p:sp>
      <p:sp>
        <p:nvSpPr>
          <p:cNvPr id="5" name="footer"/>
          <p:cNvSpPr txBox="1"/>
          <p:nvPr/>
        </p:nvSpPr>
        <p:spPr>
          <a:xfrm>
            <a:off x="594360" y="6510528"/>
            <a:ext cx="11003279" cy="219456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1320"/>
              </a:lnSpc>
              <a:spcBef>
                <a:spcPts val="0"/>
              </a:spcBef>
              <a:spcAft>
                <a:spcPts val="0"/>
              </a:spcAft>
              <a:defRPr sz="1000">
                <a:solidFill>
                  <a:srgbClr val="53677A"/>
                </a:solidFill>
                <a:latin typeface="Arial"/>
              </a:defRPr>
            </a:pPr>
            <a:r>
              <a:t>session-2.md   ·   19</a:t>
            </a:r>
          </a:p>
        </p:txBody>
      </p:sp>
      <p:sp>
        <p:nvSpPr>
          <p:cNvPr id="6" name="content:line-231:0"/>
          <p:cNvSpPr txBox="1"/>
          <p:nvPr/>
        </p:nvSpPr>
        <p:spPr>
          <a:xfrm>
            <a:off x="594360" y="1737360"/>
            <a:ext cx="11003279" cy="428244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2772"/>
              </a:lnSpc>
              <a:spcBef>
                <a:spcPts val="0"/>
              </a:spcBef>
              <a:spcAft>
                <a:spcPts val="0"/>
              </a:spcAft>
              <a:defRPr sz="2100">
                <a:solidFill>
                  <a:srgbClr val="20344A"/>
                </a:solidFill>
                <a:latin typeface="Arial"/>
              </a:defRPr>
            </a:pPr>
            <a:r>
              <a:rPr sz="2100" b="0" i="0">
                <a:solidFill>
                  <a:srgbClr val="20344A"/>
                </a:solidFill>
                <a:latin typeface="Arial"/>
              </a:rPr>
              <a:t>Use the activated environment, from the repository root:</a:t>
            </a:r>
          </a:p>
        </p:txBody>
      </p:sp>
      <p:sp>
        <p:nvSpPr>
          <p:cNvPr id="7" name="content:line-234:0"/>
          <p:cNvSpPr txBox="1"/>
          <p:nvPr/>
        </p:nvSpPr>
        <p:spPr>
          <a:xfrm>
            <a:off x="594360" y="2229612"/>
            <a:ext cx="11003279" cy="377952"/>
          </a:xfrm>
          <a:prstGeom prst="rect">
            <a:avLst/>
          </a:prstGeom>
          <a:solidFill>
            <a:srgbClr val="EDF3F6"/>
          </a:solidFill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2376"/>
              </a:lnSpc>
              <a:spcBef>
                <a:spcPts val="0"/>
              </a:spcBef>
              <a:spcAft>
                <a:spcPts val="0"/>
              </a:spcAft>
              <a:defRPr sz="1800">
                <a:solidFill>
                  <a:srgbClr val="20344A"/>
                </a:solidFill>
                <a:latin typeface="Arial"/>
              </a:defRPr>
            </a:pPr>
            <a:r>
              <a:rPr sz="1800" b="0" i="0">
                <a:solidFill>
                  <a:srgbClr val="20344A"/>
                </a:solidFill>
                <a:latin typeface="Courier New"/>
              </a:rPr>
              <a:t>python - &lt;&lt;'PY'</a:t>
            </a:r>
          </a:p>
        </p:txBody>
      </p:sp>
      <p:sp>
        <p:nvSpPr>
          <p:cNvPr id="8" name="content:line-235:0"/>
          <p:cNvSpPr txBox="1"/>
          <p:nvPr/>
        </p:nvSpPr>
        <p:spPr>
          <a:xfrm>
            <a:off x="594360" y="2607564"/>
            <a:ext cx="11003279" cy="377952"/>
          </a:xfrm>
          <a:prstGeom prst="rect">
            <a:avLst/>
          </a:prstGeom>
          <a:solidFill>
            <a:srgbClr val="EDF3F6"/>
          </a:solidFill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2376"/>
              </a:lnSpc>
              <a:spcBef>
                <a:spcPts val="0"/>
              </a:spcBef>
              <a:spcAft>
                <a:spcPts val="0"/>
              </a:spcAft>
              <a:defRPr sz="1800">
                <a:solidFill>
                  <a:srgbClr val="20344A"/>
                </a:solidFill>
                <a:latin typeface="Arial"/>
              </a:defRPr>
            </a:pPr>
            <a:r>
              <a:rPr sz="1800" b="0" i="0">
                <a:solidFill>
                  <a:srgbClr val="20344A"/>
                </a:solidFill>
                <a:latin typeface="Courier New"/>
              </a:rPr>
              <a:t>from pathlib import Path</a:t>
            </a:r>
          </a:p>
        </p:txBody>
      </p:sp>
      <p:sp>
        <p:nvSpPr>
          <p:cNvPr id="9" name="content:line-236:0"/>
          <p:cNvSpPr txBox="1"/>
          <p:nvPr/>
        </p:nvSpPr>
        <p:spPr>
          <a:xfrm>
            <a:off x="594360" y="2985515"/>
            <a:ext cx="11003279" cy="377952"/>
          </a:xfrm>
          <a:prstGeom prst="rect">
            <a:avLst/>
          </a:prstGeom>
          <a:solidFill>
            <a:srgbClr val="EDF3F6"/>
          </a:solidFill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2376"/>
              </a:lnSpc>
              <a:spcBef>
                <a:spcPts val="0"/>
              </a:spcBef>
              <a:spcAft>
                <a:spcPts val="0"/>
              </a:spcAft>
              <a:defRPr sz="1800">
                <a:solidFill>
                  <a:srgbClr val="20344A"/>
                </a:solidFill>
                <a:latin typeface="Arial"/>
              </a:defRPr>
            </a:pPr>
            <a:r>
              <a:rPr sz="1800" b="0" i="0">
                <a:solidFill>
                  <a:srgbClr val="20344A"/>
                </a:solidFill>
                <a:latin typeface="Courier New"/>
              </a:rPr>
              <a:t>from stat_core import process_csv</a:t>
            </a:r>
          </a:p>
        </p:txBody>
      </p:sp>
      <p:sp>
        <p:nvSpPr>
          <p:cNvPr id="10" name="content:line-237:0"/>
          <p:cNvSpPr txBox="1"/>
          <p:nvPr/>
        </p:nvSpPr>
        <p:spPr>
          <a:xfrm>
            <a:off x="594360" y="3363467"/>
            <a:ext cx="11003279" cy="377952"/>
          </a:xfrm>
          <a:prstGeom prst="rect">
            <a:avLst/>
          </a:prstGeom>
          <a:solidFill>
            <a:srgbClr val="EDF3F6"/>
          </a:solidFill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2376"/>
              </a:lnSpc>
              <a:spcBef>
                <a:spcPts val="0"/>
              </a:spcBef>
              <a:spcAft>
                <a:spcPts val="0"/>
              </a:spcAft>
              <a:defRPr sz="1800">
                <a:solidFill>
                  <a:srgbClr val="20344A"/>
                </a:solidFill>
                <a:latin typeface="Arial"/>
              </a:defRPr>
            </a:pPr>
          </a:p>
        </p:txBody>
      </p:sp>
      <p:sp>
        <p:nvSpPr>
          <p:cNvPr id="11" name="content:line-238:0"/>
          <p:cNvSpPr txBox="1"/>
          <p:nvPr/>
        </p:nvSpPr>
        <p:spPr>
          <a:xfrm>
            <a:off x="594360" y="3741419"/>
            <a:ext cx="11003279" cy="377952"/>
          </a:xfrm>
          <a:prstGeom prst="rect">
            <a:avLst/>
          </a:prstGeom>
          <a:solidFill>
            <a:srgbClr val="EDF3F6"/>
          </a:solidFill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2376"/>
              </a:lnSpc>
              <a:spcBef>
                <a:spcPts val="0"/>
              </a:spcBef>
              <a:spcAft>
                <a:spcPts val="0"/>
              </a:spcAft>
              <a:defRPr sz="1800">
                <a:solidFill>
                  <a:srgbClr val="20344A"/>
                </a:solidFill>
                <a:latin typeface="Arial"/>
              </a:defRPr>
            </a:pPr>
            <a:r>
              <a:rPr sz="1800" b="0" i="0">
                <a:solidFill>
                  <a:srgbClr val="20344A"/>
                </a:solidFill>
                <a:latin typeface="Courier New"/>
              </a:rPr>
              <a:t>result = process_csv(</a:t>
            </a:r>
          </a:p>
        </p:txBody>
      </p:sp>
      <p:sp>
        <p:nvSpPr>
          <p:cNvPr id="12" name="content:line-239:0"/>
          <p:cNvSpPr txBox="1"/>
          <p:nvPr/>
        </p:nvSpPr>
        <p:spPr>
          <a:xfrm>
            <a:off x="594360" y="4119371"/>
            <a:ext cx="11003279" cy="377952"/>
          </a:xfrm>
          <a:prstGeom prst="rect">
            <a:avLst/>
          </a:prstGeom>
          <a:solidFill>
            <a:srgbClr val="EDF3F6"/>
          </a:solidFill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2376"/>
              </a:lnSpc>
              <a:spcBef>
                <a:spcPts val="0"/>
              </a:spcBef>
              <a:spcAft>
                <a:spcPts val="0"/>
              </a:spcAft>
              <a:defRPr sz="1800">
                <a:solidFill>
                  <a:srgbClr val="20344A"/>
                </a:solidFill>
                <a:latin typeface="Arial"/>
              </a:defRPr>
            </a:pPr>
            <a:r>
              <a:rPr sz="1800" b="0" i="0">
                <a:solidFill>
                  <a:srgbClr val="20344A"/>
                </a:solidFill>
                <a:latin typeface="Courier New"/>
              </a:rPr>
              <a:t>    Path("data/synthetic/dm.csv").read_text(encoding="utf-8"),</a:t>
            </a:r>
          </a:p>
        </p:txBody>
      </p:sp>
      <p:sp>
        <p:nvSpPr>
          <p:cNvPr id="13" name="content:line-240:0"/>
          <p:cNvSpPr txBox="1"/>
          <p:nvPr/>
        </p:nvSpPr>
        <p:spPr>
          <a:xfrm>
            <a:off x="594360" y="4497323"/>
            <a:ext cx="11003279" cy="377952"/>
          </a:xfrm>
          <a:prstGeom prst="rect">
            <a:avLst/>
          </a:prstGeom>
          <a:solidFill>
            <a:srgbClr val="EDF3F6"/>
          </a:solidFill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2376"/>
              </a:lnSpc>
              <a:spcBef>
                <a:spcPts val="0"/>
              </a:spcBef>
              <a:spcAft>
                <a:spcPts val="0"/>
              </a:spcAft>
              <a:defRPr sz="1800">
                <a:solidFill>
                  <a:srgbClr val="20344A"/>
                </a:solidFill>
                <a:latin typeface="Arial"/>
              </a:defRPr>
            </a:pPr>
            <a:r>
              <a:rPr sz="1800" b="0" i="0">
                <a:solidFill>
                  <a:srgbClr val="20344A"/>
                </a:solidFill>
                <a:latin typeface="Courier New"/>
              </a:rPr>
              <a:t>    Path("data/synthetic/lb.csv").read_text(encoding="utf-8"),</a:t>
            </a:r>
          </a:p>
        </p:txBody>
      </p:sp>
      <p:sp>
        <p:nvSpPr>
          <p:cNvPr id="14" name="content:line-241:0"/>
          <p:cNvSpPr txBox="1"/>
          <p:nvPr/>
        </p:nvSpPr>
        <p:spPr>
          <a:xfrm>
            <a:off x="594360" y="4875275"/>
            <a:ext cx="11003279" cy="377952"/>
          </a:xfrm>
          <a:prstGeom prst="rect">
            <a:avLst/>
          </a:prstGeom>
          <a:solidFill>
            <a:srgbClr val="EDF3F6"/>
          </a:solidFill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2376"/>
              </a:lnSpc>
              <a:spcBef>
                <a:spcPts val="0"/>
              </a:spcBef>
              <a:spcAft>
                <a:spcPts val="0"/>
              </a:spcAft>
              <a:defRPr sz="1800">
                <a:solidFill>
                  <a:srgbClr val="20344A"/>
                </a:solidFill>
                <a:latin typeface="Arial"/>
              </a:defRPr>
            </a:pPr>
            <a:r>
              <a:rPr sz="1800" b="0" i="0">
                <a:solidFill>
                  <a:srgbClr val="20344A"/>
                </a:solidFill>
                <a:latin typeface="Courier New"/>
              </a:rPr>
              <a:t>)</a:t>
            </a:r>
          </a:p>
        </p:txBody>
      </p:sp>
      <p:sp>
        <p:nvSpPr>
          <p:cNvPr id="15" name="content:line-242:0"/>
          <p:cNvSpPr txBox="1"/>
          <p:nvPr/>
        </p:nvSpPr>
        <p:spPr>
          <a:xfrm>
            <a:off x="594360" y="5253227"/>
            <a:ext cx="11003279" cy="377952"/>
          </a:xfrm>
          <a:prstGeom prst="rect">
            <a:avLst/>
          </a:prstGeom>
          <a:solidFill>
            <a:srgbClr val="EDF3F6"/>
          </a:solidFill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2376"/>
              </a:lnSpc>
              <a:spcBef>
                <a:spcPts val="0"/>
              </a:spcBef>
              <a:spcAft>
                <a:spcPts val="0"/>
              </a:spcAft>
              <a:defRPr sz="1800">
                <a:solidFill>
                  <a:srgbClr val="20344A"/>
                </a:solidFill>
                <a:latin typeface="Arial"/>
              </a:defRPr>
            </a:pPr>
            <a:r>
              <a:rPr sz="1800" b="0" i="0">
                <a:solidFill>
                  <a:srgbClr val="20344A"/>
                </a:solidFill>
                <a:latin typeface="Courier New"/>
              </a:rPr>
              <a:t>print(result["counts"])</a:t>
            </a:r>
          </a:p>
        </p:txBody>
      </p:sp>
      <p:sp>
        <p:nvSpPr>
          <p:cNvPr id="16" name="content:line-243:0"/>
          <p:cNvSpPr txBox="1"/>
          <p:nvPr/>
        </p:nvSpPr>
        <p:spPr>
          <a:xfrm>
            <a:off x="594360" y="5631179"/>
            <a:ext cx="11003279" cy="377952"/>
          </a:xfrm>
          <a:prstGeom prst="rect">
            <a:avLst/>
          </a:prstGeom>
          <a:solidFill>
            <a:srgbClr val="EDF3F6"/>
          </a:solidFill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2376"/>
              </a:lnSpc>
              <a:spcBef>
                <a:spcPts val="0"/>
              </a:spcBef>
              <a:spcAft>
                <a:spcPts val="0"/>
              </a:spcAft>
              <a:defRPr sz="1800">
                <a:solidFill>
                  <a:srgbClr val="20344A"/>
                </a:solidFill>
                <a:latin typeface="Arial"/>
              </a:defRPr>
            </a:pPr>
            <a:r>
              <a:rPr sz="1800" b="0" i="0">
                <a:solidFill>
                  <a:srgbClr val="20344A"/>
                </a:solidFill>
                <a:latin typeface="Courier New"/>
              </a:rPr>
              <a:t>PY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C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accent"/>
          <p:cNvSpPr/>
          <p:nvPr/>
        </p:nvSpPr>
        <p:spPr>
          <a:xfrm>
            <a:off x="0" y="0"/>
            <a:ext cx="12191999" cy="64008"/>
          </a:xfrm>
          <a:prstGeom prst="rect">
            <a:avLst/>
          </a:prstGeom>
          <a:solidFill>
            <a:srgbClr val="007F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section"/>
          <p:cNvSpPr txBox="1"/>
          <p:nvPr/>
        </p:nvSpPr>
        <p:spPr>
          <a:xfrm>
            <a:off x="594360" y="201168"/>
            <a:ext cx="11003279" cy="256032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1452"/>
              </a:lnSpc>
              <a:spcBef>
                <a:spcPts val="0"/>
              </a:spcBef>
              <a:spcAft>
                <a:spcPts val="0"/>
              </a:spcAft>
              <a:defRPr sz="1100">
                <a:solidFill>
                  <a:srgbClr val="53677A"/>
                </a:solidFill>
                <a:latin typeface="Arial"/>
              </a:defRPr>
            </a:pPr>
            <a:r>
              <a:t>SOURCE 17 / 27  ·  CONTINUED 2</a:t>
            </a:r>
          </a:p>
        </p:txBody>
      </p:sp>
      <p:sp>
        <p:nvSpPr>
          <p:cNvPr id="4" name="title:line-229"/>
          <p:cNvSpPr txBox="1"/>
          <p:nvPr/>
        </p:nvSpPr>
        <p:spPr>
          <a:xfrm>
            <a:off x="594360" y="530352"/>
            <a:ext cx="11003279" cy="1161288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4000"/>
              </a:lnSpc>
              <a:spcBef>
                <a:spcPts val="0"/>
              </a:spcBef>
              <a:spcAft>
                <a:spcPts val="0"/>
              </a:spcAft>
              <a:defRPr sz="3200">
                <a:solidFill>
                  <a:srgbClr val="20344A"/>
                </a:solidFill>
                <a:latin typeface="Arial"/>
              </a:defRPr>
            </a:pPr>
            <a:r>
              <a:rPr sz="3200" b="0" i="0">
                <a:solidFill>
                  <a:srgbClr val="20344A"/>
                </a:solidFill>
                <a:latin typeface="Arial"/>
              </a:rPr>
              <a:t>Demo: run the package without a web </a:t>
            </a:r>
            <a:br/>
            <a:r>
              <a:rPr sz="3200" b="0" i="0">
                <a:solidFill>
                  <a:srgbClr val="20344A"/>
                </a:solidFill>
                <a:latin typeface="Arial"/>
              </a:rPr>
              <a:t>server</a:t>
            </a:r>
          </a:p>
        </p:txBody>
      </p:sp>
      <p:sp>
        <p:nvSpPr>
          <p:cNvPr id="5" name="footer"/>
          <p:cNvSpPr txBox="1"/>
          <p:nvPr/>
        </p:nvSpPr>
        <p:spPr>
          <a:xfrm>
            <a:off x="594360" y="6510528"/>
            <a:ext cx="11003279" cy="219456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1320"/>
              </a:lnSpc>
              <a:spcBef>
                <a:spcPts val="0"/>
              </a:spcBef>
              <a:spcAft>
                <a:spcPts val="0"/>
              </a:spcAft>
              <a:defRPr sz="1000">
                <a:solidFill>
                  <a:srgbClr val="53677A"/>
                </a:solidFill>
                <a:latin typeface="Arial"/>
              </a:defRPr>
            </a:pPr>
            <a:r>
              <a:t>session-2.md   ·   20</a:t>
            </a:r>
          </a:p>
        </p:txBody>
      </p:sp>
      <p:sp>
        <p:nvSpPr>
          <p:cNvPr id="6" name="content:line-246:0"/>
          <p:cNvSpPr txBox="1"/>
          <p:nvPr/>
        </p:nvSpPr>
        <p:spPr>
          <a:xfrm>
            <a:off x="594360" y="1737360"/>
            <a:ext cx="11003279" cy="780288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 marL="279400" indent="-215900">
              <a:lnSpc>
                <a:spcPts val="2772"/>
              </a:lnSpc>
              <a:spcBef>
                <a:spcPts val="0"/>
              </a:spcBef>
              <a:spcAft>
                <a:spcPts val="0"/>
              </a:spcAft>
              <a:defRPr sz="2100">
                <a:solidFill>
                  <a:srgbClr val="20344A"/>
                </a:solidFill>
                <a:latin typeface="Arial"/>
              </a:defRPr>
              <a:buChar char="•"/>
            </a:pPr>
            <a:r>
              <a:rPr sz="2100" b="0" i="0">
                <a:solidFill>
                  <a:srgbClr val="20344A"/>
                </a:solidFill>
                <a:latin typeface="Arial"/>
              </a:rPr>
              <a:t>Expected counts: participants 24, records 96, observed 95, </a:t>
            </a:r>
            <a:br/>
            <a:r>
              <a:rPr sz="2100" b="0" i="0">
                <a:solidFill>
                  <a:srgbClr val="20344A"/>
                </a:solidFill>
                <a:latin typeface="Arial"/>
              </a:rPr>
              <a:t>missing 1.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C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accent"/>
          <p:cNvSpPr/>
          <p:nvPr/>
        </p:nvSpPr>
        <p:spPr>
          <a:xfrm>
            <a:off x="0" y="0"/>
            <a:ext cx="12191999" cy="64008"/>
          </a:xfrm>
          <a:prstGeom prst="rect">
            <a:avLst/>
          </a:prstGeom>
          <a:solidFill>
            <a:srgbClr val="007F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section"/>
          <p:cNvSpPr txBox="1"/>
          <p:nvPr/>
        </p:nvSpPr>
        <p:spPr>
          <a:xfrm>
            <a:off x="594360" y="201168"/>
            <a:ext cx="11003279" cy="256032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1452"/>
              </a:lnSpc>
              <a:spcBef>
                <a:spcPts val="0"/>
              </a:spcBef>
              <a:spcAft>
                <a:spcPts val="0"/>
              </a:spcAft>
              <a:defRPr sz="1100">
                <a:solidFill>
                  <a:srgbClr val="53677A"/>
                </a:solidFill>
                <a:latin typeface="Arial"/>
              </a:defRPr>
            </a:pPr>
            <a:r>
              <a:t>SOURCE 18 / 27</a:t>
            </a:r>
          </a:p>
        </p:txBody>
      </p:sp>
      <p:sp>
        <p:nvSpPr>
          <p:cNvPr id="4" name="title:line-250"/>
          <p:cNvSpPr txBox="1"/>
          <p:nvPr/>
        </p:nvSpPr>
        <p:spPr>
          <a:xfrm>
            <a:off x="594360" y="530352"/>
            <a:ext cx="11003279" cy="1161288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4000"/>
              </a:lnSpc>
              <a:spcBef>
                <a:spcPts val="0"/>
              </a:spcBef>
              <a:spcAft>
                <a:spcPts val="0"/>
              </a:spcAft>
              <a:defRPr sz="3200">
                <a:solidFill>
                  <a:srgbClr val="20344A"/>
                </a:solidFill>
                <a:latin typeface="Arial"/>
              </a:defRPr>
            </a:pPr>
            <a:r>
              <a:rPr sz="3200" b="0" i="0">
                <a:solidFill>
                  <a:srgbClr val="20344A"/>
                </a:solidFill>
                <a:latin typeface="Arial"/>
              </a:rPr>
              <a:t>Demo: trace the API wrapper</a:t>
            </a:r>
          </a:p>
        </p:txBody>
      </p:sp>
      <p:sp>
        <p:nvSpPr>
          <p:cNvPr id="5" name="footer"/>
          <p:cNvSpPr txBox="1"/>
          <p:nvPr/>
        </p:nvSpPr>
        <p:spPr>
          <a:xfrm>
            <a:off x="594360" y="6510528"/>
            <a:ext cx="11003279" cy="219456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1320"/>
              </a:lnSpc>
              <a:spcBef>
                <a:spcPts val="0"/>
              </a:spcBef>
              <a:spcAft>
                <a:spcPts val="0"/>
              </a:spcAft>
              <a:defRPr sz="1000">
                <a:solidFill>
                  <a:srgbClr val="53677A"/>
                </a:solidFill>
                <a:latin typeface="Arial"/>
              </a:defRPr>
            </a:pPr>
            <a:r>
              <a:t>session-2.md   ·   21</a:t>
            </a:r>
          </a:p>
        </p:txBody>
      </p:sp>
      <p:sp>
        <p:nvSpPr>
          <p:cNvPr id="6" name="content:line-252:0"/>
          <p:cNvSpPr txBox="1"/>
          <p:nvPr/>
        </p:nvSpPr>
        <p:spPr>
          <a:xfrm>
            <a:off x="594360" y="1737360"/>
            <a:ext cx="11003279" cy="428244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2772"/>
              </a:lnSpc>
              <a:spcBef>
                <a:spcPts val="0"/>
              </a:spcBef>
              <a:spcAft>
                <a:spcPts val="0"/>
              </a:spcAft>
              <a:defRPr sz="2100">
                <a:solidFill>
                  <a:srgbClr val="20344A"/>
                </a:solidFill>
                <a:latin typeface="Arial"/>
              </a:defRPr>
            </a:pPr>
            <a:r>
              <a:rPr sz="2100" b="0" i="0">
                <a:solidFill>
                  <a:srgbClr val="20344A"/>
                </a:solidFill>
                <a:latin typeface="Arial"/>
              </a:rPr>
              <a:t>In </a:t>
            </a:r>
            <a:r>
              <a:rPr sz="2100" b="0" i="0">
                <a:solidFill>
                  <a:srgbClr val="20344A"/>
                </a:solidFill>
                <a:latin typeface="Courier New"/>
              </a:rPr>
              <a:t>backend/app/main.py</a:t>
            </a:r>
            <a:r>
              <a:rPr sz="2100" b="0" i="0">
                <a:solidFill>
                  <a:srgbClr val="20344A"/>
                </a:solidFill>
                <a:latin typeface="Arial"/>
              </a:rPr>
              <a:t>, </a:t>
            </a:r>
            <a:r>
              <a:rPr sz="2100" b="0" i="0">
                <a:solidFill>
                  <a:srgbClr val="20344A"/>
                </a:solidFill>
                <a:latin typeface="Courier New"/>
              </a:rPr>
              <a:t>create_app()</a:t>
            </a:r>
            <a:r>
              <a:rPr sz="2100" b="0" i="0">
                <a:solidFill>
                  <a:srgbClr val="20344A"/>
                </a:solidFill>
                <a:latin typeface="Arial"/>
              </a:rPr>
              <a:t> registers </a:t>
            </a:r>
            <a:r>
              <a:rPr sz="2100" b="0" i="0">
                <a:solidFill>
                  <a:srgbClr val="20344A"/>
                </a:solidFill>
                <a:latin typeface="Courier New"/>
              </a:rPr>
              <a:t>/process</a:t>
            </a:r>
            <a:r>
              <a:rPr sz="2100" b="0" i="0">
                <a:solidFill>
                  <a:srgbClr val="20344A"/>
                </a:solidFill>
                <a:latin typeface="Arial"/>
              </a:rPr>
              <a:t>.</a:t>
            </a:r>
          </a:p>
        </p:txBody>
      </p:sp>
      <p:sp>
        <p:nvSpPr>
          <p:cNvPr id="7" name="content:line-253:0"/>
          <p:cNvSpPr txBox="1"/>
          <p:nvPr/>
        </p:nvSpPr>
        <p:spPr>
          <a:xfrm>
            <a:off x="594360" y="2229612"/>
            <a:ext cx="11003279" cy="428244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2772"/>
              </a:lnSpc>
              <a:spcBef>
                <a:spcPts val="0"/>
              </a:spcBef>
              <a:spcAft>
                <a:spcPts val="0"/>
              </a:spcAft>
              <a:defRPr sz="2100">
                <a:solidFill>
                  <a:srgbClr val="20344A"/>
                </a:solidFill>
                <a:latin typeface="Arial"/>
              </a:defRPr>
            </a:pPr>
            <a:r>
              <a:rPr sz="2100" b="0" i="0">
                <a:solidFill>
                  <a:srgbClr val="20344A"/>
                </a:solidFill>
                <a:latin typeface="Arial"/>
              </a:rPr>
              <a:t>It reads uploads, calls </a:t>
            </a:r>
            <a:r>
              <a:rPr sz="2100" b="0" i="0">
                <a:solidFill>
                  <a:srgbClr val="20344A"/>
                </a:solidFill>
                <a:latin typeface="Courier New"/>
              </a:rPr>
              <a:t>process_csv</a:t>
            </a:r>
            <a:r>
              <a:rPr sz="2100" b="0" i="0">
                <a:solidFill>
                  <a:srgbClr val="20344A"/>
                </a:solidFill>
                <a:latin typeface="Arial"/>
              </a:rPr>
              <a:t>, and returns </a:t>
            </a:r>
            <a:r>
              <a:rPr sz="2100" b="0" i="0">
                <a:solidFill>
                  <a:srgbClr val="20344A"/>
                </a:solidFill>
                <a:latin typeface="Courier New"/>
              </a:rPr>
              <a:t>ProcessResult</a:t>
            </a:r>
            <a:r>
              <a:rPr sz="2100" b="0" i="0">
                <a:solidFill>
                  <a:srgbClr val="20344A"/>
                </a:solidFill>
                <a:latin typeface="Arial"/>
              </a:rPr>
              <a:t>.</a:t>
            </a:r>
          </a:p>
        </p:txBody>
      </p:sp>
      <p:sp>
        <p:nvSpPr>
          <p:cNvPr id="8" name="content:line-256:0"/>
          <p:cNvSpPr txBox="1"/>
          <p:nvPr/>
        </p:nvSpPr>
        <p:spPr>
          <a:xfrm>
            <a:off x="594360" y="2721864"/>
            <a:ext cx="11003279" cy="377952"/>
          </a:xfrm>
          <a:prstGeom prst="rect">
            <a:avLst/>
          </a:prstGeom>
          <a:solidFill>
            <a:srgbClr val="EDF3F6"/>
          </a:solidFill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2376"/>
              </a:lnSpc>
              <a:spcBef>
                <a:spcPts val="0"/>
              </a:spcBef>
              <a:spcAft>
                <a:spcPts val="0"/>
              </a:spcAft>
              <a:defRPr sz="1800">
                <a:solidFill>
                  <a:srgbClr val="20344A"/>
                </a:solidFill>
                <a:latin typeface="Arial"/>
              </a:defRPr>
            </a:pPr>
            <a:r>
              <a:rPr sz="1800" b="0" i="0">
                <a:solidFill>
                  <a:srgbClr val="20344A"/>
                </a:solidFill>
                <a:latin typeface="Courier New"/>
              </a:rPr>
              <a:t>python -m uvicorn app.main:app --app-dir backend \</a:t>
            </a:r>
          </a:p>
        </p:txBody>
      </p:sp>
      <p:sp>
        <p:nvSpPr>
          <p:cNvPr id="9" name="content:line-257:0"/>
          <p:cNvSpPr txBox="1"/>
          <p:nvPr/>
        </p:nvSpPr>
        <p:spPr>
          <a:xfrm>
            <a:off x="594360" y="3099815"/>
            <a:ext cx="11003279" cy="377952"/>
          </a:xfrm>
          <a:prstGeom prst="rect">
            <a:avLst/>
          </a:prstGeom>
          <a:solidFill>
            <a:srgbClr val="EDF3F6"/>
          </a:solidFill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2376"/>
              </a:lnSpc>
              <a:spcBef>
                <a:spcPts val="0"/>
              </a:spcBef>
              <a:spcAft>
                <a:spcPts val="0"/>
              </a:spcAft>
              <a:defRPr sz="1800">
                <a:solidFill>
                  <a:srgbClr val="20344A"/>
                </a:solidFill>
                <a:latin typeface="Arial"/>
              </a:defRPr>
            </a:pPr>
            <a:r>
              <a:rPr sz="1800" b="0" i="0">
                <a:solidFill>
                  <a:srgbClr val="20344A"/>
                </a:solidFill>
                <a:latin typeface="Courier New"/>
              </a:rPr>
              <a:t>  --host 127.0.0.1 --port 8000</a:t>
            </a:r>
          </a:p>
        </p:txBody>
      </p:sp>
      <p:sp>
        <p:nvSpPr>
          <p:cNvPr id="10" name="content:line-260:0"/>
          <p:cNvSpPr txBox="1"/>
          <p:nvPr/>
        </p:nvSpPr>
        <p:spPr>
          <a:xfrm>
            <a:off x="594360" y="3477767"/>
            <a:ext cx="11003279" cy="428244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2772"/>
              </a:lnSpc>
              <a:spcBef>
                <a:spcPts val="0"/>
              </a:spcBef>
              <a:spcAft>
                <a:spcPts val="0"/>
              </a:spcAft>
              <a:defRPr sz="2100">
                <a:solidFill>
                  <a:srgbClr val="20344A"/>
                </a:solidFill>
                <a:latin typeface="Arial"/>
              </a:defRPr>
            </a:pPr>
            <a:r>
              <a:rPr sz="2100" b="0" i="0">
                <a:solidFill>
                  <a:srgbClr val="20344A"/>
                </a:solidFill>
                <a:latin typeface="Arial"/>
              </a:rPr>
              <a:t>In another terminal at the repository root:</a:t>
            </a:r>
          </a:p>
        </p:txBody>
      </p:sp>
      <p:sp>
        <p:nvSpPr>
          <p:cNvPr id="11" name="content:line-263:0"/>
          <p:cNvSpPr txBox="1"/>
          <p:nvPr/>
        </p:nvSpPr>
        <p:spPr>
          <a:xfrm>
            <a:off x="594360" y="3970019"/>
            <a:ext cx="11003279" cy="377952"/>
          </a:xfrm>
          <a:prstGeom prst="rect">
            <a:avLst/>
          </a:prstGeom>
          <a:solidFill>
            <a:srgbClr val="EDF3F6"/>
          </a:solidFill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2376"/>
              </a:lnSpc>
              <a:spcBef>
                <a:spcPts val="0"/>
              </a:spcBef>
              <a:spcAft>
                <a:spcPts val="0"/>
              </a:spcAft>
              <a:defRPr sz="1800">
                <a:solidFill>
                  <a:srgbClr val="20344A"/>
                </a:solidFill>
                <a:latin typeface="Arial"/>
              </a:defRPr>
            </a:pPr>
            <a:r>
              <a:rPr sz="1800" b="0" i="0">
                <a:solidFill>
                  <a:srgbClr val="20344A"/>
                </a:solidFill>
                <a:latin typeface="Courier New"/>
              </a:rPr>
              <a:t>curl --fail-with-body http://127.0.0.1:8000/process \</a:t>
            </a:r>
          </a:p>
        </p:txBody>
      </p:sp>
      <p:sp>
        <p:nvSpPr>
          <p:cNvPr id="12" name="content:line-264:0"/>
          <p:cNvSpPr txBox="1"/>
          <p:nvPr/>
        </p:nvSpPr>
        <p:spPr>
          <a:xfrm>
            <a:off x="594360" y="4347971"/>
            <a:ext cx="11003279" cy="377952"/>
          </a:xfrm>
          <a:prstGeom prst="rect">
            <a:avLst/>
          </a:prstGeom>
          <a:solidFill>
            <a:srgbClr val="EDF3F6"/>
          </a:solidFill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2376"/>
              </a:lnSpc>
              <a:spcBef>
                <a:spcPts val="0"/>
              </a:spcBef>
              <a:spcAft>
                <a:spcPts val="0"/>
              </a:spcAft>
              <a:defRPr sz="1800">
                <a:solidFill>
                  <a:srgbClr val="20344A"/>
                </a:solidFill>
                <a:latin typeface="Arial"/>
              </a:defRPr>
            </a:pPr>
            <a:r>
              <a:rPr sz="1800" b="0" i="0">
                <a:solidFill>
                  <a:srgbClr val="20344A"/>
                </a:solidFill>
                <a:latin typeface="Courier New"/>
              </a:rPr>
              <a:t>  -F participants=@data/synthetic/dm.csv \</a:t>
            </a:r>
          </a:p>
        </p:txBody>
      </p:sp>
      <p:sp>
        <p:nvSpPr>
          <p:cNvPr id="13" name="content:line-265:0"/>
          <p:cNvSpPr txBox="1"/>
          <p:nvPr/>
        </p:nvSpPr>
        <p:spPr>
          <a:xfrm>
            <a:off x="594360" y="4725923"/>
            <a:ext cx="11003279" cy="377952"/>
          </a:xfrm>
          <a:prstGeom prst="rect">
            <a:avLst/>
          </a:prstGeom>
          <a:solidFill>
            <a:srgbClr val="EDF3F6"/>
          </a:solidFill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2376"/>
              </a:lnSpc>
              <a:spcBef>
                <a:spcPts val="0"/>
              </a:spcBef>
              <a:spcAft>
                <a:spcPts val="0"/>
              </a:spcAft>
              <a:defRPr sz="1800">
                <a:solidFill>
                  <a:srgbClr val="20344A"/>
                </a:solidFill>
                <a:latin typeface="Arial"/>
              </a:defRPr>
            </a:pPr>
            <a:r>
              <a:rPr sz="1800" b="0" i="0">
                <a:solidFill>
                  <a:srgbClr val="20344A"/>
                </a:solidFill>
                <a:latin typeface="Courier New"/>
              </a:rPr>
              <a:t>  -F laboratory=@data/synthetic/lb.csv</a:t>
            </a:r>
          </a:p>
        </p:txBody>
      </p:sp>
      <p:sp>
        <p:nvSpPr>
          <p:cNvPr id="14" name="content:line-268:0"/>
          <p:cNvSpPr txBox="1"/>
          <p:nvPr/>
        </p:nvSpPr>
        <p:spPr>
          <a:xfrm>
            <a:off x="594360" y="5103875"/>
            <a:ext cx="11003279" cy="428244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 marL="279400" indent="-215900">
              <a:lnSpc>
                <a:spcPts val="2772"/>
              </a:lnSpc>
              <a:spcBef>
                <a:spcPts val="0"/>
              </a:spcBef>
              <a:spcAft>
                <a:spcPts val="0"/>
              </a:spcAft>
              <a:defRPr sz="2100">
                <a:solidFill>
                  <a:srgbClr val="20344A"/>
                </a:solidFill>
                <a:latin typeface="Arial"/>
              </a:defRPr>
              <a:buChar char="•"/>
            </a:pPr>
            <a:r>
              <a:rPr sz="2100" b="0" i="0">
                <a:solidFill>
                  <a:srgbClr val="20344A"/>
                </a:solidFill>
                <a:latin typeface="Arial"/>
              </a:rPr>
              <a:t>Result keys: </a:t>
            </a:r>
            <a:r>
              <a:rPr sz="2100" b="0" i="0">
                <a:solidFill>
                  <a:srgbClr val="20344A"/>
                </a:solidFill>
                <a:latin typeface="Courier New"/>
              </a:rPr>
              <a:t>counts</a:t>
            </a:r>
            <a:r>
              <a:rPr sz="2100" b="0" i="0">
                <a:solidFill>
                  <a:srgbClr val="20344A"/>
                </a:solidFill>
                <a:latin typeface="Arial"/>
              </a:rPr>
              <a:t>, </a:t>
            </a:r>
            <a:r>
              <a:rPr sz="2100" b="0" i="0">
                <a:solidFill>
                  <a:srgbClr val="20344A"/>
                </a:solidFill>
                <a:latin typeface="Courier New"/>
              </a:rPr>
              <a:t>records</a:t>
            </a:r>
            <a:r>
              <a:rPr sz="2100" b="0" i="0">
                <a:solidFill>
                  <a:srgbClr val="20344A"/>
                </a:solidFill>
                <a:latin typeface="Arial"/>
              </a:rPr>
              <a:t>, </a:t>
            </a:r>
            <a:r>
              <a:rPr sz="2100" b="0" i="0">
                <a:solidFill>
                  <a:srgbClr val="20344A"/>
                </a:solidFill>
                <a:latin typeface="Courier New"/>
              </a:rPr>
              <a:t>arm_summaries</a:t>
            </a:r>
            <a:r>
              <a:rPr sz="2100" b="0" i="0">
                <a:solidFill>
                  <a:srgbClr val="20344A"/>
                </a:solidFill>
                <a:latin typeface="Arial"/>
              </a:rPr>
              <a:t>, </a:t>
            </a:r>
            <a:r>
              <a:rPr sz="2100" b="0" i="0">
                <a:solidFill>
                  <a:srgbClr val="20344A"/>
                </a:solidFill>
                <a:latin typeface="Courier New"/>
              </a:rPr>
              <a:t>visit_summaries</a:t>
            </a:r>
            <a:r>
              <a:rPr sz="2100" b="0" i="0">
                <a:solidFill>
                  <a:srgbClr val="20344A"/>
                </a:solidFill>
                <a:latin typeface="Arial"/>
              </a:rPr>
              <a:t>.</a:t>
            </a:r>
          </a:p>
        </p:txBody>
      </p:sp>
      <p:sp>
        <p:nvSpPr>
          <p:cNvPr id="15" name="content:line-269:0"/>
          <p:cNvSpPr txBox="1"/>
          <p:nvPr/>
        </p:nvSpPr>
        <p:spPr>
          <a:xfrm>
            <a:off x="594360" y="5596127"/>
            <a:ext cx="11003279" cy="428244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 marL="279400" indent="-215900">
              <a:lnSpc>
                <a:spcPts val="2772"/>
              </a:lnSpc>
              <a:spcBef>
                <a:spcPts val="0"/>
              </a:spcBef>
              <a:spcAft>
                <a:spcPts val="0"/>
              </a:spcAft>
              <a:defRPr sz="2100">
                <a:solidFill>
                  <a:srgbClr val="20344A"/>
                </a:solidFill>
                <a:latin typeface="Arial"/>
              </a:defRPr>
              <a:buChar char="•"/>
            </a:pPr>
            <a:r>
              <a:rPr sz="2100" b="0" i="0">
                <a:solidFill>
                  <a:srgbClr val="20344A"/>
                </a:solidFill>
                <a:latin typeface="Arial"/>
              </a:rPr>
              <a:t>HTTP handles transport; the processing package owns 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C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accent"/>
          <p:cNvSpPr/>
          <p:nvPr/>
        </p:nvSpPr>
        <p:spPr>
          <a:xfrm>
            <a:off x="0" y="0"/>
            <a:ext cx="12191999" cy="64008"/>
          </a:xfrm>
          <a:prstGeom prst="rect">
            <a:avLst/>
          </a:prstGeom>
          <a:solidFill>
            <a:srgbClr val="007F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section"/>
          <p:cNvSpPr txBox="1"/>
          <p:nvPr/>
        </p:nvSpPr>
        <p:spPr>
          <a:xfrm>
            <a:off x="594360" y="201168"/>
            <a:ext cx="11003279" cy="256032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1452"/>
              </a:lnSpc>
              <a:spcBef>
                <a:spcPts val="0"/>
              </a:spcBef>
              <a:spcAft>
                <a:spcPts val="0"/>
              </a:spcAft>
              <a:defRPr sz="1100">
                <a:solidFill>
                  <a:srgbClr val="53677A"/>
                </a:solidFill>
                <a:latin typeface="Arial"/>
              </a:defRPr>
            </a:pPr>
            <a:r>
              <a:t>SOURCE 18 / 27  ·  CONTINUED 2</a:t>
            </a:r>
          </a:p>
        </p:txBody>
      </p:sp>
      <p:sp>
        <p:nvSpPr>
          <p:cNvPr id="4" name="title:line-250"/>
          <p:cNvSpPr txBox="1"/>
          <p:nvPr/>
        </p:nvSpPr>
        <p:spPr>
          <a:xfrm>
            <a:off x="594360" y="530352"/>
            <a:ext cx="11003279" cy="1161288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4000"/>
              </a:lnSpc>
              <a:spcBef>
                <a:spcPts val="0"/>
              </a:spcBef>
              <a:spcAft>
                <a:spcPts val="0"/>
              </a:spcAft>
              <a:defRPr sz="3200">
                <a:solidFill>
                  <a:srgbClr val="20344A"/>
                </a:solidFill>
                <a:latin typeface="Arial"/>
              </a:defRPr>
            </a:pPr>
            <a:r>
              <a:rPr sz="3200" b="0" i="0">
                <a:solidFill>
                  <a:srgbClr val="20344A"/>
                </a:solidFill>
                <a:latin typeface="Arial"/>
              </a:rPr>
              <a:t>Demo: trace the API wrapper</a:t>
            </a:r>
          </a:p>
        </p:txBody>
      </p:sp>
      <p:sp>
        <p:nvSpPr>
          <p:cNvPr id="5" name="footer"/>
          <p:cNvSpPr txBox="1"/>
          <p:nvPr/>
        </p:nvSpPr>
        <p:spPr>
          <a:xfrm>
            <a:off x="594360" y="6510528"/>
            <a:ext cx="11003279" cy="219456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1320"/>
              </a:lnSpc>
              <a:spcBef>
                <a:spcPts val="0"/>
              </a:spcBef>
              <a:spcAft>
                <a:spcPts val="0"/>
              </a:spcAft>
              <a:defRPr sz="1000">
                <a:solidFill>
                  <a:srgbClr val="53677A"/>
                </a:solidFill>
                <a:latin typeface="Arial"/>
              </a:defRPr>
            </a:pPr>
            <a:r>
              <a:t>session-2.md   ·   22</a:t>
            </a:r>
          </a:p>
        </p:txBody>
      </p:sp>
      <p:sp>
        <p:nvSpPr>
          <p:cNvPr id="6" name="content:line-269:1"/>
          <p:cNvSpPr txBox="1"/>
          <p:nvPr/>
        </p:nvSpPr>
        <p:spPr>
          <a:xfrm>
            <a:off x="594360" y="1737360"/>
            <a:ext cx="11003279" cy="428244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 marL="279400" indent="-215900">
              <a:lnSpc>
                <a:spcPts val="2772"/>
              </a:lnSpc>
              <a:spcBef>
                <a:spcPts val="0"/>
              </a:spcBef>
              <a:spcAft>
                <a:spcPts val="0"/>
              </a:spcAft>
              <a:defRPr sz="2100">
                <a:solidFill>
                  <a:srgbClr val="20344A"/>
                </a:solidFill>
                <a:latin typeface="Arial"/>
              </a:defRPr>
              <a:buChar char=" "/>
            </a:pPr>
            <a:r>
              <a:rPr sz="2100" b="0" i="0">
                <a:solidFill>
                  <a:srgbClr val="20344A"/>
                </a:solidFill>
                <a:latin typeface="Arial"/>
              </a:rPr>
              <a:t>calculations.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C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accent"/>
          <p:cNvSpPr/>
          <p:nvPr/>
        </p:nvSpPr>
        <p:spPr>
          <a:xfrm>
            <a:off x="0" y="0"/>
            <a:ext cx="12191999" cy="64008"/>
          </a:xfrm>
          <a:prstGeom prst="rect">
            <a:avLst/>
          </a:prstGeom>
          <a:solidFill>
            <a:srgbClr val="007F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section"/>
          <p:cNvSpPr txBox="1"/>
          <p:nvPr/>
        </p:nvSpPr>
        <p:spPr>
          <a:xfrm>
            <a:off x="594360" y="201168"/>
            <a:ext cx="11003279" cy="256032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1452"/>
              </a:lnSpc>
              <a:spcBef>
                <a:spcPts val="0"/>
              </a:spcBef>
              <a:spcAft>
                <a:spcPts val="0"/>
              </a:spcAft>
              <a:defRPr sz="1100">
                <a:solidFill>
                  <a:srgbClr val="53677A"/>
                </a:solidFill>
                <a:latin typeface="Arial"/>
              </a:defRPr>
            </a:pPr>
            <a:r>
              <a:t>SOURCE 19 / 27</a:t>
            </a:r>
          </a:p>
        </p:txBody>
      </p:sp>
      <p:sp>
        <p:nvSpPr>
          <p:cNvPr id="4" name="title:line-273"/>
          <p:cNvSpPr txBox="1"/>
          <p:nvPr/>
        </p:nvSpPr>
        <p:spPr>
          <a:xfrm>
            <a:off x="594360" y="530352"/>
            <a:ext cx="11003279" cy="1161288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4000"/>
              </a:lnSpc>
              <a:spcBef>
                <a:spcPts val="0"/>
              </a:spcBef>
              <a:spcAft>
                <a:spcPts val="0"/>
              </a:spcAft>
              <a:defRPr sz="3200">
                <a:solidFill>
                  <a:srgbClr val="20344A"/>
                </a:solidFill>
                <a:latin typeface="Arial"/>
              </a:defRPr>
            </a:pPr>
            <a:r>
              <a:rPr sz="3200" b="0" i="0">
                <a:solidFill>
                  <a:srgbClr val="20344A"/>
                </a:solidFill>
                <a:latin typeface="Arial"/>
              </a:rPr>
              <a:t>Demo: find who configures the logs</a:t>
            </a:r>
          </a:p>
        </p:txBody>
      </p:sp>
      <p:sp>
        <p:nvSpPr>
          <p:cNvPr id="5" name="footer"/>
          <p:cNvSpPr txBox="1"/>
          <p:nvPr/>
        </p:nvSpPr>
        <p:spPr>
          <a:xfrm>
            <a:off x="594360" y="6510528"/>
            <a:ext cx="11003279" cy="219456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1320"/>
              </a:lnSpc>
              <a:spcBef>
                <a:spcPts val="0"/>
              </a:spcBef>
              <a:spcAft>
                <a:spcPts val="0"/>
              </a:spcAft>
              <a:defRPr sz="1000">
                <a:solidFill>
                  <a:srgbClr val="53677A"/>
                </a:solidFill>
                <a:latin typeface="Arial"/>
              </a:defRPr>
            </a:pPr>
            <a:r>
              <a:t>session-2.md   ·   23</a:t>
            </a:r>
          </a:p>
        </p:txBody>
      </p:sp>
      <p:sp>
        <p:nvSpPr>
          <p:cNvPr id="6" name="content:line-275:0"/>
          <p:cNvSpPr txBox="1"/>
          <p:nvPr/>
        </p:nvSpPr>
        <p:spPr>
          <a:xfrm>
            <a:off x="594360" y="1737360"/>
            <a:ext cx="11003279" cy="428244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 marL="279400" indent="-215900">
              <a:lnSpc>
                <a:spcPts val="2772"/>
              </a:lnSpc>
              <a:spcBef>
                <a:spcPts val="0"/>
              </a:spcBef>
              <a:spcAft>
                <a:spcPts val="0"/>
              </a:spcAft>
              <a:defRPr sz="2100">
                <a:solidFill>
                  <a:srgbClr val="20344A"/>
                </a:solidFill>
                <a:latin typeface="Arial"/>
              </a:defRPr>
              <a:buChar char="•"/>
            </a:pPr>
            <a:r>
              <a:rPr sz="2100" b="0" i="0">
                <a:solidFill>
                  <a:srgbClr val="20344A"/>
                </a:solidFill>
                <a:latin typeface="Courier New"/>
              </a:rPr>
              <a:t>create_app()</a:t>
            </a:r>
            <a:r>
              <a:rPr sz="2100" b="0" i="0">
                <a:solidFill>
                  <a:srgbClr val="20344A"/>
                </a:solidFill>
                <a:latin typeface="Arial"/>
              </a:rPr>
              <a:t> reads root </a:t>
            </a:r>
            <a:r>
              <a:rPr sz="2100" b="0" i="0">
                <a:solidFill>
                  <a:srgbClr val="20344A"/>
                </a:solidFill>
                <a:latin typeface="Courier New"/>
              </a:rPr>
              <a:t>.env</a:t>
            </a:r>
            <a:r>
              <a:rPr sz="2100" b="0" i="0">
                <a:solidFill>
                  <a:srgbClr val="20344A"/>
                </a:solidFill>
                <a:latin typeface="Arial"/>
              </a:rPr>
              <a:t>; environment variables win.</a:t>
            </a:r>
          </a:p>
        </p:txBody>
      </p:sp>
      <p:sp>
        <p:nvSpPr>
          <p:cNvPr id="7" name="content:line-276:0"/>
          <p:cNvSpPr txBox="1"/>
          <p:nvPr/>
        </p:nvSpPr>
        <p:spPr>
          <a:xfrm>
            <a:off x="594360" y="2229612"/>
            <a:ext cx="11003279" cy="428244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 marL="279400" indent="-215900">
              <a:lnSpc>
                <a:spcPts val="2772"/>
              </a:lnSpc>
              <a:spcBef>
                <a:spcPts val="0"/>
              </a:spcBef>
              <a:spcAft>
                <a:spcPts val="0"/>
              </a:spcAft>
              <a:defRPr sz="2100">
                <a:solidFill>
                  <a:srgbClr val="20344A"/>
                </a:solidFill>
                <a:latin typeface="Arial"/>
              </a:defRPr>
              <a:buChar char="•"/>
            </a:pPr>
            <a:r>
              <a:rPr sz="2100" b="0" i="0">
                <a:solidFill>
                  <a:srgbClr val="20344A"/>
                </a:solidFill>
                <a:latin typeface="Arial"/>
              </a:rPr>
              <a:t>Actual settings: </a:t>
            </a:r>
            <a:r>
              <a:rPr sz="2100" b="0" i="0">
                <a:solidFill>
                  <a:srgbClr val="20344A"/>
                </a:solidFill>
                <a:latin typeface="Courier New"/>
              </a:rPr>
              <a:t>LOG_LEVEL</a:t>
            </a:r>
            <a:r>
              <a:rPr sz="2100" b="0" i="0">
                <a:solidFill>
                  <a:srgbClr val="20344A"/>
                </a:solidFill>
                <a:latin typeface="Arial"/>
              </a:rPr>
              <a:t> and </a:t>
            </a:r>
            <a:r>
              <a:rPr sz="2100" b="0" i="0">
                <a:solidFill>
                  <a:srgbClr val="20344A"/>
                </a:solidFill>
                <a:latin typeface="Courier New"/>
              </a:rPr>
              <a:t>MAX_UPLOAD_BYTES</a:t>
            </a:r>
            <a:r>
              <a:rPr sz="2100" b="0" i="0">
                <a:solidFill>
                  <a:srgbClr val="20344A"/>
                </a:solidFill>
                <a:latin typeface="Arial"/>
              </a:rPr>
              <a:t>.</a:t>
            </a:r>
          </a:p>
        </p:txBody>
      </p:sp>
      <p:sp>
        <p:nvSpPr>
          <p:cNvPr id="8" name="content:line-277:0"/>
          <p:cNvSpPr txBox="1"/>
          <p:nvPr/>
        </p:nvSpPr>
        <p:spPr>
          <a:xfrm>
            <a:off x="594360" y="2721864"/>
            <a:ext cx="11003279" cy="428244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 marL="279400" indent="-215900">
              <a:lnSpc>
                <a:spcPts val="2772"/>
              </a:lnSpc>
              <a:spcBef>
                <a:spcPts val="0"/>
              </a:spcBef>
              <a:spcAft>
                <a:spcPts val="0"/>
              </a:spcAft>
              <a:defRPr sz="2100">
                <a:solidFill>
                  <a:srgbClr val="20344A"/>
                </a:solidFill>
                <a:latin typeface="Arial"/>
              </a:defRPr>
              <a:buChar char="•"/>
            </a:pPr>
            <a:r>
              <a:rPr sz="2100" b="0" i="0">
                <a:solidFill>
                  <a:srgbClr val="20344A"/>
                </a:solidFill>
                <a:latin typeface="Arial"/>
              </a:rPr>
              <a:t>Defaults work; see </a:t>
            </a:r>
            <a:r>
              <a:rPr sz="2100" b="0" i="0">
                <a:solidFill>
                  <a:srgbClr val="007F82"/>
                </a:solidFill>
                <a:latin typeface="Arial"/>
                <a:hlinkClick r:id="rId2"/>
              </a:rPr>
              <a:t>.env.example</a:t>
            </a:r>
            <a:r>
              <a:rPr sz="2100" b="0" i="0">
                <a:solidFill>
                  <a:srgbClr val="20344A"/>
                </a:solidFill>
                <a:latin typeface="Arial"/>
              </a:rPr>
              <a:t>.</a:t>
            </a:r>
          </a:p>
        </p:txBody>
      </p:sp>
      <p:sp>
        <p:nvSpPr>
          <p:cNvPr id="9" name="content:line-278:0"/>
          <p:cNvSpPr txBox="1"/>
          <p:nvPr/>
        </p:nvSpPr>
        <p:spPr>
          <a:xfrm>
            <a:off x="594360" y="3214115"/>
            <a:ext cx="11003279" cy="428244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 marL="279400" indent="-215900">
              <a:lnSpc>
                <a:spcPts val="2772"/>
              </a:lnSpc>
              <a:spcBef>
                <a:spcPts val="0"/>
              </a:spcBef>
              <a:spcAft>
                <a:spcPts val="0"/>
              </a:spcAft>
              <a:defRPr sz="2100">
                <a:solidFill>
                  <a:srgbClr val="20344A"/>
                </a:solidFill>
                <a:latin typeface="Arial"/>
              </a:defRPr>
              <a:buChar char="•"/>
            </a:pPr>
            <a:r>
              <a:rPr sz="2100" b="0" i="0">
                <a:solidFill>
                  <a:srgbClr val="20344A"/>
                </a:solidFill>
                <a:latin typeface="Arial"/>
              </a:rPr>
              <a:t>Restart the service after changing its settings.</a:t>
            </a:r>
          </a:p>
        </p:txBody>
      </p:sp>
      <p:sp>
        <p:nvSpPr>
          <p:cNvPr id="10" name="content:line-279:0"/>
          <p:cNvSpPr txBox="1"/>
          <p:nvPr/>
        </p:nvSpPr>
        <p:spPr>
          <a:xfrm>
            <a:off x="594360" y="3706367"/>
            <a:ext cx="11003279" cy="428244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 marL="279400" indent="-215900">
              <a:lnSpc>
                <a:spcPts val="2772"/>
              </a:lnSpc>
              <a:spcBef>
                <a:spcPts val="0"/>
              </a:spcBef>
              <a:spcAft>
                <a:spcPts val="0"/>
              </a:spcAft>
              <a:defRPr sz="2100">
                <a:solidFill>
                  <a:srgbClr val="20344A"/>
                </a:solidFill>
                <a:latin typeface="Arial"/>
              </a:defRPr>
              <a:buChar char="•"/>
            </a:pPr>
            <a:r>
              <a:rPr sz="2100" b="0" i="0">
                <a:solidFill>
                  <a:srgbClr val="20344A"/>
                </a:solidFill>
                <a:latin typeface="Arial"/>
              </a:rPr>
              <a:t>Direct Python callers configure logging themselves.</a:t>
            </a:r>
          </a:p>
        </p:txBody>
      </p:sp>
      <p:sp>
        <p:nvSpPr>
          <p:cNvPr id="11" name="content:line-280:0"/>
          <p:cNvSpPr txBox="1"/>
          <p:nvPr/>
        </p:nvSpPr>
        <p:spPr>
          <a:xfrm>
            <a:off x="594360" y="4198619"/>
            <a:ext cx="11003279" cy="428244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 marL="279400" indent="-215900">
              <a:lnSpc>
                <a:spcPts val="2772"/>
              </a:lnSpc>
              <a:spcBef>
                <a:spcPts val="0"/>
              </a:spcBef>
              <a:spcAft>
                <a:spcPts val="0"/>
              </a:spcAft>
              <a:defRPr sz="2100">
                <a:solidFill>
                  <a:srgbClr val="20344A"/>
                </a:solidFill>
                <a:latin typeface="Arial"/>
              </a:defRPr>
              <a:buChar char="•"/>
            </a:pPr>
            <a:r>
              <a:rPr sz="2100" b="0" i="0">
                <a:solidFill>
                  <a:srgbClr val="20344A"/>
                </a:solidFill>
                <a:latin typeface="Arial"/>
              </a:rPr>
              <a:t>With INFO enabled, the existing processing message is:</a:t>
            </a:r>
          </a:p>
        </p:txBody>
      </p:sp>
      <p:sp>
        <p:nvSpPr>
          <p:cNvPr id="12" name="content:line-283:0"/>
          <p:cNvSpPr txBox="1"/>
          <p:nvPr/>
        </p:nvSpPr>
        <p:spPr>
          <a:xfrm>
            <a:off x="594360" y="4690871"/>
            <a:ext cx="11003279" cy="377952"/>
          </a:xfrm>
          <a:prstGeom prst="rect">
            <a:avLst/>
          </a:prstGeom>
          <a:solidFill>
            <a:srgbClr val="EDF3F6"/>
          </a:solidFill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2376"/>
              </a:lnSpc>
              <a:spcBef>
                <a:spcPts val="0"/>
              </a:spcBef>
              <a:spcAft>
                <a:spcPts val="0"/>
              </a:spcAft>
              <a:defRPr sz="1800">
                <a:solidFill>
                  <a:srgbClr val="20344A"/>
                </a:solidFill>
                <a:latin typeface="Arial"/>
              </a:defRPr>
            </a:pPr>
            <a:r>
              <a:rPr sz="1800" b="0" i="0">
                <a:solidFill>
                  <a:srgbClr val="20344A"/>
                </a:solidFill>
                <a:latin typeface="Courier New"/>
              </a:rPr>
              <a:t>INFO stat_core.processing: Processed participants=24</a:t>
            </a:r>
          </a:p>
        </p:txBody>
      </p:sp>
      <p:sp>
        <p:nvSpPr>
          <p:cNvPr id="13" name="content:line-284:0"/>
          <p:cNvSpPr txBox="1"/>
          <p:nvPr/>
        </p:nvSpPr>
        <p:spPr>
          <a:xfrm>
            <a:off x="594360" y="5068823"/>
            <a:ext cx="11003279" cy="377952"/>
          </a:xfrm>
          <a:prstGeom prst="rect">
            <a:avLst/>
          </a:prstGeom>
          <a:solidFill>
            <a:srgbClr val="EDF3F6"/>
          </a:solidFill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2376"/>
              </a:lnSpc>
              <a:spcBef>
                <a:spcPts val="0"/>
              </a:spcBef>
              <a:spcAft>
                <a:spcPts val="0"/>
              </a:spcAft>
              <a:defRPr sz="1800">
                <a:solidFill>
                  <a:srgbClr val="20344A"/>
                </a:solidFill>
                <a:latin typeface="Arial"/>
              </a:defRPr>
            </a:pPr>
            <a:r>
              <a:rPr sz="1800" b="0" i="0">
                <a:solidFill>
                  <a:srgbClr val="20344A"/>
                </a:solidFill>
                <a:latin typeface="Courier New"/>
              </a:rPr>
              <a:t>  records=96 observed=95 missing=1</a:t>
            </a:r>
          </a:p>
        </p:txBody>
      </p:sp>
      <p:sp>
        <p:nvSpPr>
          <p:cNvPr id="14" name="content:line-287:0"/>
          <p:cNvSpPr txBox="1"/>
          <p:nvPr/>
        </p:nvSpPr>
        <p:spPr>
          <a:xfrm>
            <a:off x="594360" y="5446775"/>
            <a:ext cx="11003279" cy="428244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 marL="279400" indent="-215900">
              <a:lnSpc>
                <a:spcPts val="2772"/>
              </a:lnSpc>
              <a:spcBef>
                <a:spcPts val="0"/>
              </a:spcBef>
              <a:spcAft>
                <a:spcPts val="0"/>
              </a:spcAft>
              <a:defRPr sz="2100">
                <a:solidFill>
                  <a:srgbClr val="20344A"/>
                </a:solidFill>
                <a:latin typeface="Arial"/>
              </a:defRPr>
              <a:buChar char="•"/>
            </a:pPr>
            <a:r>
              <a:rPr sz="2100" b="0" i="0">
                <a:solidFill>
                  <a:srgbClr val="20344A"/>
                </a:solidFill>
                <a:latin typeface="Arial"/>
              </a:rPr>
              <a:t>Wrapped here for readability; the real message is one line.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C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accent"/>
          <p:cNvSpPr/>
          <p:nvPr/>
        </p:nvSpPr>
        <p:spPr>
          <a:xfrm>
            <a:off x="0" y="0"/>
            <a:ext cx="12191999" cy="64008"/>
          </a:xfrm>
          <a:prstGeom prst="rect">
            <a:avLst/>
          </a:prstGeom>
          <a:solidFill>
            <a:srgbClr val="007F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section"/>
          <p:cNvSpPr txBox="1"/>
          <p:nvPr/>
        </p:nvSpPr>
        <p:spPr>
          <a:xfrm>
            <a:off x="594360" y="201168"/>
            <a:ext cx="11003279" cy="256032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1452"/>
              </a:lnSpc>
              <a:spcBef>
                <a:spcPts val="0"/>
              </a:spcBef>
              <a:spcAft>
                <a:spcPts val="0"/>
              </a:spcAft>
              <a:defRPr sz="1100">
                <a:solidFill>
                  <a:srgbClr val="53677A"/>
                </a:solidFill>
                <a:latin typeface="Arial"/>
              </a:defRPr>
            </a:pPr>
            <a:r>
              <a:t>SOURCE 20 / 27</a:t>
            </a:r>
          </a:p>
        </p:txBody>
      </p:sp>
      <p:sp>
        <p:nvSpPr>
          <p:cNvPr id="4" name="title:line-291"/>
          <p:cNvSpPr txBox="1"/>
          <p:nvPr/>
        </p:nvSpPr>
        <p:spPr>
          <a:xfrm>
            <a:off x="594360" y="530352"/>
            <a:ext cx="11003279" cy="1161288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4000"/>
              </a:lnSpc>
              <a:spcBef>
                <a:spcPts val="0"/>
              </a:spcBef>
              <a:spcAft>
                <a:spcPts val="0"/>
              </a:spcAft>
              <a:defRPr sz="3200">
                <a:solidFill>
                  <a:srgbClr val="20344A"/>
                </a:solidFill>
                <a:latin typeface="Arial"/>
              </a:defRPr>
            </a:pPr>
            <a:r>
              <a:rPr sz="3200" b="0" i="0">
                <a:solidFill>
                  <a:srgbClr val="20344A"/>
                </a:solidFill>
                <a:latin typeface="Arial"/>
              </a:rPr>
              <a:t>Demo: save the result before editing</a:t>
            </a:r>
          </a:p>
        </p:txBody>
      </p:sp>
      <p:sp>
        <p:nvSpPr>
          <p:cNvPr id="5" name="footer"/>
          <p:cNvSpPr txBox="1"/>
          <p:nvPr/>
        </p:nvSpPr>
        <p:spPr>
          <a:xfrm>
            <a:off x="594360" y="6510528"/>
            <a:ext cx="11003279" cy="219456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1320"/>
              </a:lnSpc>
              <a:spcBef>
                <a:spcPts val="0"/>
              </a:spcBef>
              <a:spcAft>
                <a:spcPts val="0"/>
              </a:spcAft>
              <a:defRPr sz="1000">
                <a:solidFill>
                  <a:srgbClr val="53677A"/>
                </a:solidFill>
                <a:latin typeface="Arial"/>
              </a:defRPr>
            </a:pPr>
            <a:r>
              <a:t>session-2.md   ·   24</a:t>
            </a:r>
          </a:p>
        </p:txBody>
      </p:sp>
      <p:sp>
        <p:nvSpPr>
          <p:cNvPr id="6" name="content:line-293:0"/>
          <p:cNvSpPr txBox="1"/>
          <p:nvPr/>
        </p:nvSpPr>
        <p:spPr>
          <a:xfrm>
            <a:off x="594360" y="1737360"/>
            <a:ext cx="11003279" cy="428244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2772"/>
              </a:lnSpc>
              <a:spcBef>
                <a:spcPts val="0"/>
              </a:spcBef>
              <a:spcAft>
                <a:spcPts val="0"/>
              </a:spcAft>
              <a:defRPr sz="2100">
                <a:solidFill>
                  <a:srgbClr val="20344A"/>
                </a:solidFill>
                <a:latin typeface="Arial"/>
              </a:defRPr>
            </a:pPr>
            <a:r>
              <a:rPr sz="2100" b="0" i="0">
                <a:solidFill>
                  <a:srgbClr val="20344A"/>
                </a:solidFill>
                <a:latin typeface="Arial"/>
              </a:rPr>
              <a:t>The existing </a:t>
            </a:r>
            <a:r>
              <a:rPr sz="2100" b="0" i="0">
                <a:solidFill>
                  <a:srgbClr val="20344A"/>
                </a:solidFill>
                <a:latin typeface="Courier New"/>
              </a:rPr>
              <a:t>.venv/</a:t>
            </a:r>
            <a:r>
              <a:rPr sz="2100" b="0" i="0">
                <a:solidFill>
                  <a:srgbClr val="20344A"/>
                </a:solidFill>
                <a:latin typeface="Arial"/>
              </a:rPr>
              <a:t> directory is ignored by Git.</a:t>
            </a:r>
          </a:p>
        </p:txBody>
      </p:sp>
      <p:sp>
        <p:nvSpPr>
          <p:cNvPr id="7" name="content:line-294:0"/>
          <p:cNvSpPr txBox="1"/>
          <p:nvPr/>
        </p:nvSpPr>
        <p:spPr>
          <a:xfrm>
            <a:off x="594360" y="2229612"/>
            <a:ext cx="11003279" cy="428244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2772"/>
              </a:lnSpc>
              <a:spcBef>
                <a:spcPts val="0"/>
              </a:spcBef>
              <a:spcAft>
                <a:spcPts val="0"/>
              </a:spcAft>
              <a:defRPr sz="2100">
                <a:solidFill>
                  <a:srgbClr val="20344A"/>
                </a:solidFill>
                <a:latin typeface="Arial"/>
              </a:defRPr>
            </a:pPr>
            <a:r>
              <a:rPr sz="2100" b="0" i="0">
                <a:solidFill>
                  <a:srgbClr val="20344A"/>
                </a:solidFill>
                <a:latin typeface="Arial"/>
              </a:rPr>
              <a:t>Save a sorted JSON snapshot there; logs use standard error.</a:t>
            </a:r>
          </a:p>
        </p:txBody>
      </p:sp>
      <p:sp>
        <p:nvSpPr>
          <p:cNvPr id="8" name="content:line-297:0"/>
          <p:cNvSpPr txBox="1"/>
          <p:nvPr/>
        </p:nvSpPr>
        <p:spPr>
          <a:xfrm>
            <a:off x="594360" y="2721864"/>
            <a:ext cx="11003279" cy="377952"/>
          </a:xfrm>
          <a:prstGeom prst="rect">
            <a:avLst/>
          </a:prstGeom>
          <a:solidFill>
            <a:srgbClr val="EDF3F6"/>
          </a:solidFill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2376"/>
              </a:lnSpc>
              <a:spcBef>
                <a:spcPts val="0"/>
              </a:spcBef>
              <a:spcAft>
                <a:spcPts val="0"/>
              </a:spcAft>
              <a:defRPr sz="1800">
                <a:solidFill>
                  <a:srgbClr val="20344A"/>
                </a:solidFill>
                <a:latin typeface="Arial"/>
              </a:defRPr>
            </a:pPr>
            <a:r>
              <a:rPr sz="1800" b="0" i="0">
                <a:solidFill>
                  <a:srgbClr val="20344A"/>
                </a:solidFill>
                <a:latin typeface="Courier New"/>
              </a:rPr>
              <a:t>python - &lt;&lt;'PY' &gt; .venv/session-2-before.json</a:t>
            </a:r>
          </a:p>
        </p:txBody>
      </p:sp>
      <p:sp>
        <p:nvSpPr>
          <p:cNvPr id="9" name="content:line-298:0"/>
          <p:cNvSpPr txBox="1"/>
          <p:nvPr/>
        </p:nvSpPr>
        <p:spPr>
          <a:xfrm>
            <a:off x="594360" y="3099815"/>
            <a:ext cx="11003279" cy="377952"/>
          </a:xfrm>
          <a:prstGeom prst="rect">
            <a:avLst/>
          </a:prstGeom>
          <a:solidFill>
            <a:srgbClr val="EDF3F6"/>
          </a:solidFill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2376"/>
              </a:lnSpc>
              <a:spcBef>
                <a:spcPts val="0"/>
              </a:spcBef>
              <a:spcAft>
                <a:spcPts val="0"/>
              </a:spcAft>
              <a:defRPr sz="1800">
                <a:solidFill>
                  <a:srgbClr val="20344A"/>
                </a:solidFill>
                <a:latin typeface="Arial"/>
              </a:defRPr>
            </a:pPr>
            <a:r>
              <a:rPr sz="1800" b="0" i="0">
                <a:solidFill>
                  <a:srgbClr val="20344A"/>
                </a:solidFill>
                <a:latin typeface="Courier New"/>
              </a:rPr>
              <a:t>import json</a:t>
            </a:r>
          </a:p>
        </p:txBody>
      </p:sp>
      <p:sp>
        <p:nvSpPr>
          <p:cNvPr id="10" name="content:line-299:0"/>
          <p:cNvSpPr txBox="1"/>
          <p:nvPr/>
        </p:nvSpPr>
        <p:spPr>
          <a:xfrm>
            <a:off x="594360" y="3477767"/>
            <a:ext cx="11003279" cy="377952"/>
          </a:xfrm>
          <a:prstGeom prst="rect">
            <a:avLst/>
          </a:prstGeom>
          <a:solidFill>
            <a:srgbClr val="EDF3F6"/>
          </a:solidFill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2376"/>
              </a:lnSpc>
              <a:spcBef>
                <a:spcPts val="0"/>
              </a:spcBef>
              <a:spcAft>
                <a:spcPts val="0"/>
              </a:spcAft>
              <a:defRPr sz="1800">
                <a:solidFill>
                  <a:srgbClr val="20344A"/>
                </a:solidFill>
                <a:latin typeface="Arial"/>
              </a:defRPr>
            </a:pPr>
            <a:r>
              <a:rPr sz="1800" b="0" i="0">
                <a:solidFill>
                  <a:srgbClr val="20344A"/>
                </a:solidFill>
                <a:latin typeface="Courier New"/>
              </a:rPr>
              <a:t>from pathlib import Path</a:t>
            </a:r>
          </a:p>
        </p:txBody>
      </p:sp>
      <p:sp>
        <p:nvSpPr>
          <p:cNvPr id="11" name="content:line-300:0"/>
          <p:cNvSpPr txBox="1"/>
          <p:nvPr/>
        </p:nvSpPr>
        <p:spPr>
          <a:xfrm>
            <a:off x="594360" y="3855719"/>
            <a:ext cx="11003279" cy="377952"/>
          </a:xfrm>
          <a:prstGeom prst="rect">
            <a:avLst/>
          </a:prstGeom>
          <a:solidFill>
            <a:srgbClr val="EDF3F6"/>
          </a:solidFill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2376"/>
              </a:lnSpc>
              <a:spcBef>
                <a:spcPts val="0"/>
              </a:spcBef>
              <a:spcAft>
                <a:spcPts val="0"/>
              </a:spcAft>
              <a:defRPr sz="1800">
                <a:solidFill>
                  <a:srgbClr val="20344A"/>
                </a:solidFill>
                <a:latin typeface="Arial"/>
              </a:defRPr>
            </a:pPr>
            <a:r>
              <a:rPr sz="1800" b="0" i="0">
                <a:solidFill>
                  <a:srgbClr val="20344A"/>
                </a:solidFill>
                <a:latin typeface="Courier New"/>
              </a:rPr>
              <a:t>from stat_core import process_csv</a:t>
            </a:r>
          </a:p>
        </p:txBody>
      </p:sp>
      <p:sp>
        <p:nvSpPr>
          <p:cNvPr id="12" name="content:line-301:0"/>
          <p:cNvSpPr txBox="1"/>
          <p:nvPr/>
        </p:nvSpPr>
        <p:spPr>
          <a:xfrm>
            <a:off x="594360" y="4233671"/>
            <a:ext cx="11003279" cy="377952"/>
          </a:xfrm>
          <a:prstGeom prst="rect">
            <a:avLst/>
          </a:prstGeom>
          <a:solidFill>
            <a:srgbClr val="EDF3F6"/>
          </a:solidFill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2376"/>
              </a:lnSpc>
              <a:spcBef>
                <a:spcPts val="0"/>
              </a:spcBef>
              <a:spcAft>
                <a:spcPts val="0"/>
              </a:spcAft>
              <a:defRPr sz="1800">
                <a:solidFill>
                  <a:srgbClr val="20344A"/>
                </a:solidFill>
                <a:latin typeface="Arial"/>
              </a:defRPr>
            </a:pPr>
          </a:p>
        </p:txBody>
      </p:sp>
      <p:sp>
        <p:nvSpPr>
          <p:cNvPr id="13" name="content:line-302:0"/>
          <p:cNvSpPr txBox="1"/>
          <p:nvPr/>
        </p:nvSpPr>
        <p:spPr>
          <a:xfrm>
            <a:off x="594360" y="4611623"/>
            <a:ext cx="11003279" cy="377952"/>
          </a:xfrm>
          <a:prstGeom prst="rect">
            <a:avLst/>
          </a:prstGeom>
          <a:solidFill>
            <a:srgbClr val="EDF3F6"/>
          </a:solidFill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2376"/>
              </a:lnSpc>
              <a:spcBef>
                <a:spcPts val="0"/>
              </a:spcBef>
              <a:spcAft>
                <a:spcPts val="0"/>
              </a:spcAft>
              <a:defRPr sz="1800">
                <a:solidFill>
                  <a:srgbClr val="20344A"/>
                </a:solidFill>
                <a:latin typeface="Arial"/>
              </a:defRPr>
            </a:pPr>
            <a:r>
              <a:rPr sz="1800" b="0" i="0">
                <a:solidFill>
                  <a:srgbClr val="20344A"/>
                </a:solidFill>
                <a:latin typeface="Courier New"/>
              </a:rPr>
              <a:t>dm = Path("data/synthetic/dm.csv").read_text(encoding="utf-8")</a:t>
            </a:r>
          </a:p>
        </p:txBody>
      </p:sp>
      <p:sp>
        <p:nvSpPr>
          <p:cNvPr id="14" name="content:line-303:0"/>
          <p:cNvSpPr txBox="1"/>
          <p:nvPr/>
        </p:nvSpPr>
        <p:spPr>
          <a:xfrm>
            <a:off x="594360" y="4989575"/>
            <a:ext cx="11003279" cy="377952"/>
          </a:xfrm>
          <a:prstGeom prst="rect">
            <a:avLst/>
          </a:prstGeom>
          <a:solidFill>
            <a:srgbClr val="EDF3F6"/>
          </a:solidFill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2376"/>
              </a:lnSpc>
              <a:spcBef>
                <a:spcPts val="0"/>
              </a:spcBef>
              <a:spcAft>
                <a:spcPts val="0"/>
              </a:spcAft>
              <a:defRPr sz="1800">
                <a:solidFill>
                  <a:srgbClr val="20344A"/>
                </a:solidFill>
                <a:latin typeface="Arial"/>
              </a:defRPr>
            </a:pPr>
            <a:r>
              <a:rPr sz="1800" b="0" i="0">
                <a:solidFill>
                  <a:srgbClr val="20344A"/>
                </a:solidFill>
                <a:latin typeface="Courier New"/>
              </a:rPr>
              <a:t>lb = Path("data/synthetic/lb.csv").read_text(encoding="utf-8")</a:t>
            </a:r>
          </a:p>
        </p:txBody>
      </p:sp>
      <p:sp>
        <p:nvSpPr>
          <p:cNvPr id="15" name="content:line-304:0"/>
          <p:cNvSpPr txBox="1"/>
          <p:nvPr/>
        </p:nvSpPr>
        <p:spPr>
          <a:xfrm>
            <a:off x="594360" y="5367527"/>
            <a:ext cx="11003279" cy="377952"/>
          </a:xfrm>
          <a:prstGeom prst="rect">
            <a:avLst/>
          </a:prstGeom>
          <a:solidFill>
            <a:srgbClr val="EDF3F6"/>
          </a:solidFill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2376"/>
              </a:lnSpc>
              <a:spcBef>
                <a:spcPts val="0"/>
              </a:spcBef>
              <a:spcAft>
                <a:spcPts val="0"/>
              </a:spcAft>
              <a:defRPr sz="1800">
                <a:solidFill>
                  <a:srgbClr val="20344A"/>
                </a:solidFill>
                <a:latin typeface="Arial"/>
              </a:defRPr>
            </a:pPr>
            <a:r>
              <a:rPr sz="1800" b="0" i="0">
                <a:solidFill>
                  <a:srgbClr val="20344A"/>
                </a:solidFill>
                <a:latin typeface="Courier New"/>
              </a:rPr>
              <a:t>print(json.dumps(process_csv(dm, lb), sort_keys=True))</a:t>
            </a:r>
          </a:p>
        </p:txBody>
      </p:sp>
      <p:sp>
        <p:nvSpPr>
          <p:cNvPr id="16" name="content:line-305:0"/>
          <p:cNvSpPr txBox="1"/>
          <p:nvPr/>
        </p:nvSpPr>
        <p:spPr>
          <a:xfrm>
            <a:off x="594360" y="5745479"/>
            <a:ext cx="11003279" cy="377952"/>
          </a:xfrm>
          <a:prstGeom prst="rect">
            <a:avLst/>
          </a:prstGeom>
          <a:solidFill>
            <a:srgbClr val="EDF3F6"/>
          </a:solidFill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2376"/>
              </a:lnSpc>
              <a:spcBef>
                <a:spcPts val="0"/>
              </a:spcBef>
              <a:spcAft>
                <a:spcPts val="0"/>
              </a:spcAft>
              <a:defRPr sz="1800">
                <a:solidFill>
                  <a:srgbClr val="20344A"/>
                </a:solidFill>
                <a:latin typeface="Arial"/>
              </a:defRPr>
            </a:pPr>
            <a:r>
              <a:rPr sz="1800" b="0" i="0">
                <a:solidFill>
                  <a:srgbClr val="20344A"/>
                </a:solidFill>
                <a:latin typeface="Courier New"/>
              </a:rPr>
              <a:t>PY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C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accent"/>
          <p:cNvSpPr/>
          <p:nvPr/>
        </p:nvSpPr>
        <p:spPr>
          <a:xfrm>
            <a:off x="0" y="0"/>
            <a:ext cx="12191999" cy="64008"/>
          </a:xfrm>
          <a:prstGeom prst="rect">
            <a:avLst/>
          </a:prstGeom>
          <a:solidFill>
            <a:srgbClr val="007F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section"/>
          <p:cNvSpPr txBox="1"/>
          <p:nvPr/>
        </p:nvSpPr>
        <p:spPr>
          <a:xfrm>
            <a:off x="594360" y="201168"/>
            <a:ext cx="11003279" cy="256032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1452"/>
              </a:lnSpc>
              <a:spcBef>
                <a:spcPts val="0"/>
              </a:spcBef>
              <a:spcAft>
                <a:spcPts val="0"/>
              </a:spcAft>
              <a:defRPr sz="1100">
                <a:solidFill>
                  <a:srgbClr val="53677A"/>
                </a:solidFill>
                <a:latin typeface="Arial"/>
              </a:defRPr>
            </a:pPr>
            <a:r>
              <a:t>SOURCE 20 / 27  ·  CONTINUED 2</a:t>
            </a:r>
          </a:p>
        </p:txBody>
      </p:sp>
      <p:sp>
        <p:nvSpPr>
          <p:cNvPr id="4" name="title:line-291"/>
          <p:cNvSpPr txBox="1"/>
          <p:nvPr/>
        </p:nvSpPr>
        <p:spPr>
          <a:xfrm>
            <a:off x="594360" y="530352"/>
            <a:ext cx="11003279" cy="1161288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4000"/>
              </a:lnSpc>
              <a:spcBef>
                <a:spcPts val="0"/>
              </a:spcBef>
              <a:spcAft>
                <a:spcPts val="0"/>
              </a:spcAft>
              <a:defRPr sz="3200">
                <a:solidFill>
                  <a:srgbClr val="20344A"/>
                </a:solidFill>
                <a:latin typeface="Arial"/>
              </a:defRPr>
            </a:pPr>
            <a:r>
              <a:rPr sz="3200" b="0" i="0">
                <a:solidFill>
                  <a:srgbClr val="20344A"/>
                </a:solidFill>
                <a:latin typeface="Arial"/>
              </a:rPr>
              <a:t>Demo: save the result before editing</a:t>
            </a:r>
          </a:p>
        </p:txBody>
      </p:sp>
      <p:sp>
        <p:nvSpPr>
          <p:cNvPr id="5" name="footer"/>
          <p:cNvSpPr txBox="1"/>
          <p:nvPr/>
        </p:nvSpPr>
        <p:spPr>
          <a:xfrm>
            <a:off x="594360" y="6510528"/>
            <a:ext cx="11003279" cy="219456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1320"/>
              </a:lnSpc>
              <a:spcBef>
                <a:spcPts val="0"/>
              </a:spcBef>
              <a:spcAft>
                <a:spcPts val="0"/>
              </a:spcAft>
              <a:defRPr sz="1000">
                <a:solidFill>
                  <a:srgbClr val="53677A"/>
                </a:solidFill>
                <a:latin typeface="Arial"/>
              </a:defRPr>
            </a:pPr>
            <a:r>
              <a:t>session-2.md   ·   25</a:t>
            </a:r>
          </a:p>
        </p:txBody>
      </p:sp>
      <p:sp>
        <p:nvSpPr>
          <p:cNvPr id="6" name="content:line-308:0"/>
          <p:cNvSpPr txBox="1"/>
          <p:nvPr/>
        </p:nvSpPr>
        <p:spPr>
          <a:xfrm>
            <a:off x="594360" y="1737360"/>
            <a:ext cx="11003279" cy="428244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 marL="279400" indent="-215900">
              <a:lnSpc>
                <a:spcPts val="2772"/>
              </a:lnSpc>
              <a:spcBef>
                <a:spcPts val="0"/>
              </a:spcBef>
              <a:spcAft>
                <a:spcPts val="0"/>
              </a:spcAft>
              <a:defRPr sz="2100">
                <a:solidFill>
                  <a:srgbClr val="20344A"/>
                </a:solidFill>
                <a:latin typeface="Arial"/>
              </a:defRPr>
              <a:buChar char="•"/>
            </a:pPr>
            <a:r>
              <a:rPr sz="2100" b="0" i="0">
                <a:solidFill>
                  <a:srgbClr val="20344A"/>
                </a:solidFill>
                <a:latin typeface="Arial"/>
              </a:rPr>
              <a:t>Keep this baseline; do not overwrite it after the change.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C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accent"/>
          <p:cNvSpPr/>
          <p:nvPr/>
        </p:nvSpPr>
        <p:spPr>
          <a:xfrm>
            <a:off x="0" y="0"/>
            <a:ext cx="12191999" cy="64008"/>
          </a:xfrm>
          <a:prstGeom prst="rect">
            <a:avLst/>
          </a:prstGeom>
          <a:solidFill>
            <a:srgbClr val="007F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section"/>
          <p:cNvSpPr txBox="1"/>
          <p:nvPr/>
        </p:nvSpPr>
        <p:spPr>
          <a:xfrm>
            <a:off x="594360" y="201168"/>
            <a:ext cx="11003279" cy="256032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1452"/>
              </a:lnSpc>
              <a:spcBef>
                <a:spcPts val="0"/>
              </a:spcBef>
              <a:spcAft>
                <a:spcPts val="0"/>
              </a:spcAft>
              <a:defRPr sz="1100">
                <a:solidFill>
                  <a:srgbClr val="53677A"/>
                </a:solidFill>
                <a:latin typeface="Arial"/>
              </a:defRPr>
            </a:pPr>
            <a:r>
              <a:t>SOURCE 21 / 27</a:t>
            </a:r>
          </a:p>
        </p:txBody>
      </p:sp>
      <p:sp>
        <p:nvSpPr>
          <p:cNvPr id="4" name="title:line-312"/>
          <p:cNvSpPr txBox="1"/>
          <p:nvPr/>
        </p:nvSpPr>
        <p:spPr>
          <a:xfrm>
            <a:off x="594360" y="530352"/>
            <a:ext cx="11003279" cy="1161288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4000"/>
              </a:lnSpc>
              <a:spcBef>
                <a:spcPts val="0"/>
              </a:spcBef>
              <a:spcAft>
                <a:spcPts val="0"/>
              </a:spcAft>
              <a:defRPr sz="3200">
                <a:solidFill>
                  <a:srgbClr val="20344A"/>
                </a:solidFill>
                <a:latin typeface="Arial"/>
              </a:defRPr>
            </a:pPr>
            <a:r>
              <a:rPr sz="3200" b="0" i="0">
                <a:solidFill>
                  <a:srgbClr val="20344A"/>
                </a:solidFill>
                <a:latin typeface="Arial"/>
              </a:rPr>
              <a:t>Break: 15 minutes</a:t>
            </a:r>
          </a:p>
        </p:txBody>
      </p:sp>
      <p:sp>
        <p:nvSpPr>
          <p:cNvPr id="5" name="footer"/>
          <p:cNvSpPr txBox="1"/>
          <p:nvPr/>
        </p:nvSpPr>
        <p:spPr>
          <a:xfrm>
            <a:off x="594360" y="6510528"/>
            <a:ext cx="11003279" cy="219456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1320"/>
              </a:lnSpc>
              <a:spcBef>
                <a:spcPts val="0"/>
              </a:spcBef>
              <a:spcAft>
                <a:spcPts val="0"/>
              </a:spcAft>
              <a:defRPr sz="1000">
                <a:solidFill>
                  <a:srgbClr val="53677A"/>
                </a:solidFill>
                <a:latin typeface="Arial"/>
              </a:defRPr>
            </a:pPr>
            <a:r>
              <a:t>session-2.md   ·   26</a:t>
            </a:r>
          </a:p>
        </p:txBody>
      </p:sp>
      <p:sp>
        <p:nvSpPr>
          <p:cNvPr id="6" name="content:line-314:0"/>
          <p:cNvSpPr txBox="1"/>
          <p:nvPr/>
        </p:nvSpPr>
        <p:spPr>
          <a:xfrm>
            <a:off x="594360" y="1737360"/>
            <a:ext cx="11003279" cy="428244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 marL="279400" indent="-215900">
              <a:lnSpc>
                <a:spcPts val="2772"/>
              </a:lnSpc>
              <a:spcBef>
                <a:spcPts val="0"/>
              </a:spcBef>
              <a:spcAft>
                <a:spcPts val="0"/>
              </a:spcAft>
              <a:defRPr sz="2100">
                <a:solidFill>
                  <a:srgbClr val="20344A"/>
                </a:solidFill>
                <a:latin typeface="Arial"/>
              </a:defRPr>
              <a:buChar char="•"/>
            </a:pPr>
            <a:r>
              <a:rPr sz="2100" b="0" i="0">
                <a:solidFill>
                  <a:srgbClr val="20344A"/>
                </a:solidFill>
                <a:latin typeface="Arial"/>
              </a:rPr>
              <a:t>Leave the baseline and virtual environment in place.</a:t>
            </a:r>
          </a:p>
        </p:txBody>
      </p:sp>
      <p:sp>
        <p:nvSpPr>
          <p:cNvPr id="7" name="content:line-315:0"/>
          <p:cNvSpPr txBox="1"/>
          <p:nvPr/>
        </p:nvSpPr>
        <p:spPr>
          <a:xfrm>
            <a:off x="594360" y="2229612"/>
            <a:ext cx="11003279" cy="780288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 marL="279400" indent="-215900">
              <a:lnSpc>
                <a:spcPts val="2772"/>
              </a:lnSpc>
              <a:spcBef>
                <a:spcPts val="0"/>
              </a:spcBef>
              <a:spcAft>
                <a:spcPts val="0"/>
              </a:spcAft>
              <a:defRPr sz="2100">
                <a:solidFill>
                  <a:srgbClr val="20344A"/>
                </a:solidFill>
                <a:latin typeface="Arial"/>
              </a:defRPr>
              <a:buChar char="•"/>
            </a:pPr>
            <a:r>
              <a:rPr sz="2100" b="0" i="0">
                <a:solidFill>
                  <a:srgbClr val="20344A"/>
                </a:solidFill>
                <a:latin typeface="Arial"/>
              </a:rPr>
              <a:t>Return ready to explain where processing ends and HTTP </a:t>
            </a:r>
            <a:br/>
            <a:r>
              <a:rPr sz="2100" b="0" i="0">
                <a:solidFill>
                  <a:srgbClr val="20344A"/>
                </a:solidFill>
                <a:latin typeface="Arial"/>
              </a:rPr>
              <a:t>begins.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C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accent"/>
          <p:cNvSpPr/>
          <p:nvPr/>
        </p:nvSpPr>
        <p:spPr>
          <a:xfrm>
            <a:off x="0" y="0"/>
            <a:ext cx="12191999" cy="64008"/>
          </a:xfrm>
          <a:prstGeom prst="rect">
            <a:avLst/>
          </a:prstGeom>
          <a:solidFill>
            <a:srgbClr val="007F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section"/>
          <p:cNvSpPr txBox="1"/>
          <p:nvPr/>
        </p:nvSpPr>
        <p:spPr>
          <a:xfrm>
            <a:off x="594360" y="201168"/>
            <a:ext cx="11003279" cy="256032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1452"/>
              </a:lnSpc>
              <a:spcBef>
                <a:spcPts val="0"/>
              </a:spcBef>
              <a:spcAft>
                <a:spcPts val="0"/>
              </a:spcAft>
              <a:defRPr sz="1100">
                <a:solidFill>
                  <a:srgbClr val="53677A"/>
                </a:solidFill>
                <a:latin typeface="Arial"/>
              </a:defRPr>
            </a:pPr>
            <a:r>
              <a:t>SOURCE 22 / 27</a:t>
            </a:r>
          </a:p>
        </p:txBody>
      </p:sp>
      <p:sp>
        <p:nvSpPr>
          <p:cNvPr id="4" name="title:line-319"/>
          <p:cNvSpPr txBox="1"/>
          <p:nvPr/>
        </p:nvSpPr>
        <p:spPr>
          <a:xfrm>
            <a:off x="594360" y="530352"/>
            <a:ext cx="11003279" cy="1161288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4000"/>
              </a:lnSpc>
              <a:spcBef>
                <a:spcPts val="0"/>
              </a:spcBef>
              <a:spcAft>
                <a:spcPts val="0"/>
              </a:spcAft>
              <a:defRPr sz="3200">
                <a:solidFill>
                  <a:srgbClr val="20344A"/>
                </a:solidFill>
                <a:latin typeface="Arial"/>
              </a:defRPr>
            </a:pPr>
            <a:r>
              <a:rPr sz="3200" b="0" i="0">
                <a:solidFill>
                  <a:srgbClr val="20344A"/>
                </a:solidFill>
                <a:latin typeface="Arial"/>
              </a:rPr>
              <a:t>Practice: trace first, then start a branch</a:t>
            </a:r>
          </a:p>
        </p:txBody>
      </p:sp>
      <p:sp>
        <p:nvSpPr>
          <p:cNvPr id="5" name="footer"/>
          <p:cNvSpPr txBox="1"/>
          <p:nvPr/>
        </p:nvSpPr>
        <p:spPr>
          <a:xfrm>
            <a:off x="594360" y="6510528"/>
            <a:ext cx="11003279" cy="219456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1320"/>
              </a:lnSpc>
              <a:spcBef>
                <a:spcPts val="0"/>
              </a:spcBef>
              <a:spcAft>
                <a:spcPts val="0"/>
              </a:spcAft>
              <a:defRPr sz="1000">
                <a:solidFill>
                  <a:srgbClr val="53677A"/>
                </a:solidFill>
                <a:latin typeface="Arial"/>
              </a:defRPr>
            </a:pPr>
            <a:r>
              <a:t>session-2.md   ·   27</a:t>
            </a:r>
          </a:p>
        </p:txBody>
      </p:sp>
      <p:sp>
        <p:nvSpPr>
          <p:cNvPr id="6" name="content:line-321:0"/>
          <p:cNvSpPr txBox="1"/>
          <p:nvPr/>
        </p:nvSpPr>
        <p:spPr>
          <a:xfrm>
            <a:off x="594360" y="1737360"/>
            <a:ext cx="11003279" cy="428244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2772"/>
              </a:lnSpc>
              <a:spcBef>
                <a:spcPts val="0"/>
              </a:spcBef>
              <a:spcAft>
                <a:spcPts val="0"/>
              </a:spcAft>
              <a:defRPr sz="2100">
                <a:solidFill>
                  <a:srgbClr val="20344A"/>
                </a:solidFill>
                <a:latin typeface="Arial"/>
              </a:defRPr>
            </a:pPr>
            <a:r>
              <a:rPr sz="2100" b="0" i="0">
                <a:solidFill>
                  <a:srgbClr val="20344A"/>
                </a:solidFill>
                <a:latin typeface="Arial"/>
              </a:rPr>
              <a:t>First 15 minutes: work in your group repository.</a:t>
            </a:r>
          </a:p>
        </p:txBody>
      </p:sp>
      <p:sp>
        <p:nvSpPr>
          <p:cNvPr id="7" name="content:line-324:0"/>
          <p:cNvSpPr txBox="1"/>
          <p:nvPr/>
        </p:nvSpPr>
        <p:spPr>
          <a:xfrm>
            <a:off x="594360" y="2229612"/>
            <a:ext cx="11003279" cy="377952"/>
          </a:xfrm>
          <a:prstGeom prst="rect">
            <a:avLst/>
          </a:prstGeom>
          <a:solidFill>
            <a:srgbClr val="EDF3F6"/>
          </a:solidFill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2376"/>
              </a:lnSpc>
              <a:spcBef>
                <a:spcPts val="0"/>
              </a:spcBef>
              <a:spcAft>
                <a:spcPts val="0"/>
              </a:spcAft>
              <a:defRPr sz="1800">
                <a:solidFill>
                  <a:srgbClr val="20344A"/>
                </a:solidFill>
                <a:latin typeface="Arial"/>
              </a:defRPr>
            </a:pPr>
            <a:r>
              <a:rPr sz="1800" b="0" i="0">
                <a:solidFill>
                  <a:srgbClr val="20344A"/>
                </a:solidFill>
                <a:latin typeface="Courier New"/>
              </a:rPr>
              <a:t>git status --short</a:t>
            </a:r>
          </a:p>
        </p:txBody>
      </p:sp>
      <p:sp>
        <p:nvSpPr>
          <p:cNvPr id="8" name="content:line-325:0"/>
          <p:cNvSpPr txBox="1"/>
          <p:nvPr/>
        </p:nvSpPr>
        <p:spPr>
          <a:xfrm>
            <a:off x="594360" y="2607564"/>
            <a:ext cx="11003279" cy="377952"/>
          </a:xfrm>
          <a:prstGeom prst="rect">
            <a:avLst/>
          </a:prstGeom>
          <a:solidFill>
            <a:srgbClr val="EDF3F6"/>
          </a:solidFill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2376"/>
              </a:lnSpc>
              <a:spcBef>
                <a:spcPts val="0"/>
              </a:spcBef>
              <a:spcAft>
                <a:spcPts val="0"/>
              </a:spcAft>
              <a:defRPr sz="1800">
                <a:solidFill>
                  <a:srgbClr val="20344A"/>
                </a:solidFill>
                <a:latin typeface="Arial"/>
              </a:defRPr>
            </a:pPr>
            <a:r>
              <a:rPr sz="1800" b="0" i="0">
                <a:solidFill>
                  <a:srgbClr val="20344A"/>
                </a:solidFill>
                <a:latin typeface="Courier New"/>
              </a:rPr>
              <a:t>git switch -c feature/session-2-summary-log</a:t>
            </a:r>
          </a:p>
        </p:txBody>
      </p:sp>
      <p:sp>
        <p:nvSpPr>
          <p:cNvPr id="9" name="content:line-328:0"/>
          <p:cNvSpPr txBox="1"/>
          <p:nvPr/>
        </p:nvSpPr>
        <p:spPr>
          <a:xfrm>
            <a:off x="594360" y="2985515"/>
            <a:ext cx="11003279" cy="780288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 marL="279400" indent="-215900">
              <a:lnSpc>
                <a:spcPts val="2772"/>
              </a:lnSpc>
              <a:spcBef>
                <a:spcPts val="0"/>
              </a:spcBef>
              <a:spcAft>
                <a:spcPts val="0"/>
              </a:spcAft>
              <a:defRPr sz="2100">
                <a:solidFill>
                  <a:srgbClr val="20344A"/>
                </a:solidFill>
                <a:latin typeface="Arial"/>
              </a:defRPr>
              <a:buChar char="•"/>
            </a:pPr>
            <a:r>
              <a:rPr sz="2100" b="0" i="0">
                <a:solidFill>
                  <a:srgbClr val="20344A"/>
                </a:solidFill>
                <a:latin typeface="Arial"/>
              </a:rPr>
              <a:t>Start from the group's current default branch and clean </a:t>
            </a:r>
            <a:br/>
            <a:r>
              <a:rPr sz="2100" b="0" i="0">
                <a:solidFill>
                  <a:srgbClr val="20344A"/>
                </a:solidFill>
                <a:latin typeface="Arial"/>
              </a:rPr>
              <a:t>worktree.</a:t>
            </a:r>
          </a:p>
        </p:txBody>
      </p:sp>
      <p:sp>
        <p:nvSpPr>
          <p:cNvPr id="10" name="content:line-329:0"/>
          <p:cNvSpPr txBox="1"/>
          <p:nvPr/>
        </p:nvSpPr>
        <p:spPr>
          <a:xfrm>
            <a:off x="594360" y="3829811"/>
            <a:ext cx="11003279" cy="428244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 marL="279400" indent="-215900">
              <a:lnSpc>
                <a:spcPts val="2772"/>
              </a:lnSpc>
              <a:spcBef>
                <a:spcPts val="0"/>
              </a:spcBef>
              <a:spcAft>
                <a:spcPts val="0"/>
              </a:spcAft>
              <a:defRPr sz="2100">
                <a:solidFill>
                  <a:srgbClr val="20344A"/>
                </a:solidFill>
                <a:latin typeface="Arial"/>
              </a:defRPr>
              <a:buChar char="•"/>
            </a:pPr>
            <a:r>
              <a:rPr sz="2100" b="0" i="0">
                <a:solidFill>
                  <a:srgbClr val="20344A"/>
                </a:solidFill>
                <a:latin typeface="Arial"/>
              </a:rPr>
              <a:t>Find </a:t>
            </a:r>
            <a:r>
              <a:rPr sz="2100" b="0" i="0">
                <a:solidFill>
                  <a:srgbClr val="20344A"/>
                </a:solidFill>
                <a:latin typeface="Courier New"/>
              </a:rPr>
              <a:t>process_csv</a:t>
            </a:r>
            <a:r>
              <a:rPr sz="2100" b="0" i="0">
                <a:solidFill>
                  <a:srgbClr val="20344A"/>
                </a:solidFill>
                <a:latin typeface="Arial"/>
              </a:rPr>
              <a:t> and its existing final </a:t>
            </a:r>
            <a:r>
              <a:rPr sz="2100" b="0" i="0">
                <a:solidFill>
                  <a:srgbClr val="20344A"/>
                </a:solidFill>
                <a:latin typeface="Courier New"/>
              </a:rPr>
              <a:t>logger.info</a:t>
            </a:r>
            <a:r>
              <a:rPr sz="2100" b="0" i="0">
                <a:solidFill>
                  <a:srgbClr val="20344A"/>
                </a:solidFill>
                <a:latin typeface="Arial"/>
              </a:rPr>
              <a:t> call.</a:t>
            </a:r>
          </a:p>
        </p:txBody>
      </p:sp>
      <p:sp>
        <p:nvSpPr>
          <p:cNvPr id="11" name="content:line-330:0"/>
          <p:cNvSpPr txBox="1"/>
          <p:nvPr/>
        </p:nvSpPr>
        <p:spPr>
          <a:xfrm>
            <a:off x="594360" y="4322063"/>
            <a:ext cx="11003279" cy="428244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 marL="279400" indent="-215900">
              <a:lnSpc>
                <a:spcPts val="2772"/>
              </a:lnSpc>
              <a:spcBef>
                <a:spcPts val="0"/>
              </a:spcBef>
              <a:spcAft>
                <a:spcPts val="0"/>
              </a:spcAft>
              <a:defRPr sz="2100">
                <a:solidFill>
                  <a:srgbClr val="20344A"/>
                </a:solidFill>
                <a:latin typeface="Arial"/>
              </a:defRPr>
              <a:buChar char="•"/>
            </a:pPr>
            <a:r>
              <a:rPr sz="2100" b="0" i="0">
                <a:solidFill>
                  <a:srgbClr val="20344A"/>
                </a:solidFill>
                <a:latin typeface="Arial"/>
              </a:rPr>
              <a:t>Explain its input, four result keys, and callers to a teammate.</a:t>
            </a:r>
          </a:p>
        </p:txBody>
      </p:sp>
      <p:sp>
        <p:nvSpPr>
          <p:cNvPr id="12" name="content:line-331:0"/>
          <p:cNvSpPr txBox="1"/>
          <p:nvPr/>
        </p:nvSpPr>
        <p:spPr>
          <a:xfrm>
            <a:off x="594360" y="4814315"/>
            <a:ext cx="11003279" cy="780288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 marL="279400" indent="-215900">
              <a:lnSpc>
                <a:spcPts val="2772"/>
              </a:lnSpc>
              <a:spcBef>
                <a:spcPts val="0"/>
              </a:spcBef>
              <a:spcAft>
                <a:spcPts val="0"/>
              </a:spcAft>
              <a:defRPr sz="2100">
                <a:solidFill>
                  <a:srgbClr val="20344A"/>
                </a:solidFill>
                <a:latin typeface="Arial"/>
              </a:defRPr>
              <a:buChar char="•"/>
            </a:pPr>
            <a:r>
              <a:rPr sz="2100" b="0" i="0">
                <a:solidFill>
                  <a:srgbClr val="20344A"/>
                </a:solidFill>
                <a:latin typeface="Arial"/>
              </a:rPr>
              <a:t>Target: one DEBUG message giving the number of visit </a:t>
            </a:r>
            <a:br/>
            <a:r>
              <a:rPr sz="2100" b="0" i="0">
                <a:solidFill>
                  <a:srgbClr val="20344A"/>
                </a:solidFill>
                <a:latin typeface="Arial"/>
              </a:rPr>
              <a:t>summaries.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C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accent"/>
          <p:cNvSpPr/>
          <p:nvPr/>
        </p:nvSpPr>
        <p:spPr>
          <a:xfrm>
            <a:off x="0" y="0"/>
            <a:ext cx="12191999" cy="64008"/>
          </a:xfrm>
          <a:prstGeom prst="rect">
            <a:avLst/>
          </a:prstGeom>
          <a:solidFill>
            <a:srgbClr val="007F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section"/>
          <p:cNvSpPr txBox="1"/>
          <p:nvPr/>
        </p:nvSpPr>
        <p:spPr>
          <a:xfrm>
            <a:off x="594360" y="201168"/>
            <a:ext cx="11003279" cy="256032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1452"/>
              </a:lnSpc>
              <a:spcBef>
                <a:spcPts val="0"/>
              </a:spcBef>
              <a:spcAft>
                <a:spcPts val="0"/>
              </a:spcAft>
              <a:defRPr sz="1100">
                <a:solidFill>
                  <a:srgbClr val="53677A"/>
                </a:solidFill>
                <a:latin typeface="Arial"/>
              </a:defRPr>
            </a:pPr>
            <a:r>
              <a:t>SOURCE 23 / 27</a:t>
            </a:r>
          </a:p>
        </p:txBody>
      </p:sp>
      <p:sp>
        <p:nvSpPr>
          <p:cNvPr id="4" name="title:line-335"/>
          <p:cNvSpPr txBox="1"/>
          <p:nvPr/>
        </p:nvSpPr>
        <p:spPr>
          <a:xfrm>
            <a:off x="594360" y="530352"/>
            <a:ext cx="11003279" cy="1161288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4000"/>
              </a:lnSpc>
              <a:spcBef>
                <a:spcPts val="0"/>
              </a:spcBef>
              <a:spcAft>
                <a:spcPts val="0"/>
              </a:spcAft>
              <a:defRPr sz="3200">
                <a:solidFill>
                  <a:srgbClr val="20344A"/>
                </a:solidFill>
                <a:latin typeface="Arial"/>
              </a:defRPr>
            </a:pPr>
            <a:r>
              <a:rPr sz="3200" b="0" i="0">
                <a:solidFill>
                  <a:srgbClr val="20344A"/>
                </a:solidFill>
                <a:latin typeface="Arial"/>
              </a:rPr>
              <a:t>Practice: add one diagnostic message</a:t>
            </a:r>
          </a:p>
        </p:txBody>
      </p:sp>
      <p:sp>
        <p:nvSpPr>
          <p:cNvPr id="5" name="footer"/>
          <p:cNvSpPr txBox="1"/>
          <p:nvPr/>
        </p:nvSpPr>
        <p:spPr>
          <a:xfrm>
            <a:off x="594360" y="6510528"/>
            <a:ext cx="11003279" cy="219456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1320"/>
              </a:lnSpc>
              <a:spcBef>
                <a:spcPts val="0"/>
              </a:spcBef>
              <a:spcAft>
                <a:spcPts val="0"/>
              </a:spcAft>
              <a:defRPr sz="1000">
                <a:solidFill>
                  <a:srgbClr val="53677A"/>
                </a:solidFill>
                <a:latin typeface="Arial"/>
              </a:defRPr>
            </a:pPr>
            <a:r>
              <a:t>session-2.md   ·   28</a:t>
            </a:r>
          </a:p>
        </p:txBody>
      </p:sp>
      <p:sp>
        <p:nvSpPr>
          <p:cNvPr id="6" name="content:line-337:0"/>
          <p:cNvSpPr txBox="1"/>
          <p:nvPr/>
        </p:nvSpPr>
        <p:spPr>
          <a:xfrm>
            <a:off x="594360" y="1737360"/>
            <a:ext cx="11003279" cy="428244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2772"/>
              </a:lnSpc>
              <a:spcBef>
                <a:spcPts val="0"/>
              </a:spcBef>
              <a:spcAft>
                <a:spcPts val="0"/>
              </a:spcAft>
              <a:defRPr sz="2100">
                <a:solidFill>
                  <a:srgbClr val="20344A"/>
                </a:solidFill>
                <a:latin typeface="Arial"/>
              </a:defRPr>
            </a:pPr>
            <a:r>
              <a:rPr sz="2100" b="0" i="0">
                <a:solidFill>
                  <a:srgbClr val="20344A"/>
                </a:solidFill>
                <a:latin typeface="Arial"/>
              </a:rPr>
              <a:t>Next 20 minutes: in </a:t>
            </a:r>
            <a:r>
              <a:rPr sz="2100" b="0" i="0">
                <a:solidFill>
                  <a:srgbClr val="20344A"/>
                </a:solidFill>
                <a:latin typeface="Courier New"/>
              </a:rPr>
              <a:t>backend/stat_core/processing.py</a:t>
            </a:r>
            <a:r>
              <a:rPr sz="2100" b="0" i="0">
                <a:solidFill>
                  <a:srgbClr val="20344A"/>
                </a:solidFill>
                <a:latin typeface="Arial"/>
              </a:rPr>
              <a:t>,</a:t>
            </a:r>
          </a:p>
        </p:txBody>
      </p:sp>
      <p:sp>
        <p:nvSpPr>
          <p:cNvPr id="7" name="content:line-338:0"/>
          <p:cNvSpPr txBox="1"/>
          <p:nvPr/>
        </p:nvSpPr>
        <p:spPr>
          <a:xfrm>
            <a:off x="594360" y="2229612"/>
            <a:ext cx="11003279" cy="428244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2772"/>
              </a:lnSpc>
              <a:spcBef>
                <a:spcPts val="0"/>
              </a:spcBef>
              <a:spcAft>
                <a:spcPts val="0"/>
              </a:spcAft>
              <a:defRPr sz="2100">
                <a:solidFill>
                  <a:srgbClr val="20344A"/>
                </a:solidFill>
                <a:latin typeface="Arial"/>
              </a:defRPr>
            </a:pPr>
            <a:r>
              <a:rPr sz="2100" b="0" i="0">
                <a:solidFill>
                  <a:srgbClr val="20344A"/>
                </a:solidFill>
                <a:latin typeface="Arial"/>
              </a:rPr>
              <a:t>insert this after the existing INFO call, before the return.</a:t>
            </a:r>
          </a:p>
        </p:txBody>
      </p:sp>
      <p:sp>
        <p:nvSpPr>
          <p:cNvPr id="8" name="content:line-339:0"/>
          <p:cNvSpPr txBox="1"/>
          <p:nvPr/>
        </p:nvSpPr>
        <p:spPr>
          <a:xfrm>
            <a:off x="594360" y="2721864"/>
            <a:ext cx="11003279" cy="428244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2772"/>
              </a:lnSpc>
              <a:spcBef>
                <a:spcPts val="0"/>
              </a:spcBef>
              <a:spcAft>
                <a:spcPts val="0"/>
              </a:spcAft>
              <a:defRPr sz="2100">
                <a:solidFill>
                  <a:srgbClr val="20344A"/>
                </a:solidFill>
                <a:latin typeface="Arial"/>
              </a:defRPr>
            </a:pPr>
            <a:r>
              <a:rPr sz="2100" b="0" i="0">
                <a:solidFill>
                  <a:srgbClr val="20344A"/>
                </a:solidFill>
                <a:latin typeface="Arial"/>
              </a:rPr>
              <a:t>Indent it four spaces inside </a:t>
            </a:r>
            <a:r>
              <a:rPr sz="2100" b="0" i="0">
                <a:solidFill>
                  <a:srgbClr val="20344A"/>
                </a:solidFill>
                <a:latin typeface="Courier New"/>
              </a:rPr>
              <a:t>process_csv</a:t>
            </a:r>
            <a:r>
              <a:rPr sz="2100" b="0" i="0">
                <a:solidFill>
                  <a:srgbClr val="20344A"/>
                </a:solidFill>
                <a:latin typeface="Arial"/>
              </a:rPr>
              <a:t>:</a:t>
            </a:r>
          </a:p>
        </p:txBody>
      </p:sp>
      <p:sp>
        <p:nvSpPr>
          <p:cNvPr id="9" name="content:line-342:0"/>
          <p:cNvSpPr txBox="1"/>
          <p:nvPr/>
        </p:nvSpPr>
        <p:spPr>
          <a:xfrm>
            <a:off x="594360" y="3214115"/>
            <a:ext cx="11003279" cy="377952"/>
          </a:xfrm>
          <a:prstGeom prst="rect">
            <a:avLst/>
          </a:prstGeom>
          <a:solidFill>
            <a:srgbClr val="EDF3F6"/>
          </a:solidFill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2376"/>
              </a:lnSpc>
              <a:spcBef>
                <a:spcPts val="0"/>
              </a:spcBef>
              <a:spcAft>
                <a:spcPts val="0"/>
              </a:spcAft>
              <a:defRPr sz="1800">
                <a:solidFill>
                  <a:srgbClr val="20344A"/>
                </a:solidFill>
                <a:latin typeface="Arial"/>
              </a:defRPr>
            </a:pPr>
            <a:r>
              <a:rPr sz="1800" b="0" i="0">
                <a:solidFill>
                  <a:srgbClr val="20344A"/>
                </a:solidFill>
                <a:latin typeface="Courier New"/>
              </a:rPr>
              <a:t>logger.debug(</a:t>
            </a:r>
          </a:p>
        </p:txBody>
      </p:sp>
      <p:sp>
        <p:nvSpPr>
          <p:cNvPr id="10" name="content:line-343:0"/>
          <p:cNvSpPr txBox="1"/>
          <p:nvPr/>
        </p:nvSpPr>
        <p:spPr>
          <a:xfrm>
            <a:off x="594360" y="3592067"/>
            <a:ext cx="11003279" cy="377952"/>
          </a:xfrm>
          <a:prstGeom prst="rect">
            <a:avLst/>
          </a:prstGeom>
          <a:solidFill>
            <a:srgbClr val="EDF3F6"/>
          </a:solidFill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2376"/>
              </a:lnSpc>
              <a:spcBef>
                <a:spcPts val="0"/>
              </a:spcBef>
              <a:spcAft>
                <a:spcPts val="0"/>
              </a:spcAft>
              <a:defRPr sz="1800">
                <a:solidFill>
                  <a:srgbClr val="20344A"/>
                </a:solidFill>
                <a:latin typeface="Arial"/>
              </a:defRPr>
            </a:pPr>
            <a:r>
              <a:rPr sz="1800" b="0" i="0">
                <a:solidFill>
                  <a:srgbClr val="20344A"/>
                </a:solidFill>
                <a:latin typeface="Courier New"/>
              </a:rPr>
              <a:t>    "Built visit summaries=%d",</a:t>
            </a:r>
          </a:p>
        </p:txBody>
      </p:sp>
      <p:sp>
        <p:nvSpPr>
          <p:cNvPr id="11" name="content:line-344:0"/>
          <p:cNvSpPr txBox="1"/>
          <p:nvPr/>
        </p:nvSpPr>
        <p:spPr>
          <a:xfrm>
            <a:off x="594360" y="3970019"/>
            <a:ext cx="11003279" cy="377952"/>
          </a:xfrm>
          <a:prstGeom prst="rect">
            <a:avLst/>
          </a:prstGeom>
          <a:solidFill>
            <a:srgbClr val="EDF3F6"/>
          </a:solidFill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2376"/>
              </a:lnSpc>
              <a:spcBef>
                <a:spcPts val="0"/>
              </a:spcBef>
              <a:spcAft>
                <a:spcPts val="0"/>
              </a:spcAft>
              <a:defRPr sz="1800">
                <a:solidFill>
                  <a:srgbClr val="20344A"/>
                </a:solidFill>
                <a:latin typeface="Arial"/>
              </a:defRPr>
            </a:pPr>
            <a:r>
              <a:rPr sz="1800" b="0" i="0">
                <a:solidFill>
                  <a:srgbClr val="20344A"/>
                </a:solidFill>
                <a:latin typeface="Courier New"/>
              </a:rPr>
              <a:t>    len(result.visit_summaries),</a:t>
            </a:r>
          </a:p>
        </p:txBody>
      </p:sp>
      <p:sp>
        <p:nvSpPr>
          <p:cNvPr id="12" name="content:line-345:0"/>
          <p:cNvSpPr txBox="1"/>
          <p:nvPr/>
        </p:nvSpPr>
        <p:spPr>
          <a:xfrm>
            <a:off x="594360" y="4347971"/>
            <a:ext cx="11003279" cy="377952"/>
          </a:xfrm>
          <a:prstGeom prst="rect">
            <a:avLst/>
          </a:prstGeom>
          <a:solidFill>
            <a:srgbClr val="EDF3F6"/>
          </a:solidFill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2376"/>
              </a:lnSpc>
              <a:spcBef>
                <a:spcPts val="0"/>
              </a:spcBef>
              <a:spcAft>
                <a:spcPts val="0"/>
              </a:spcAft>
              <a:defRPr sz="1800">
                <a:solidFill>
                  <a:srgbClr val="20344A"/>
                </a:solidFill>
                <a:latin typeface="Arial"/>
              </a:defRPr>
            </a:pPr>
            <a:r>
              <a:rPr sz="1800" b="0" i="0">
                <a:solidFill>
                  <a:srgbClr val="20344A"/>
                </a:solidFill>
                <a:latin typeface="Courier New"/>
              </a:rPr>
              <a:t>)</a:t>
            </a:r>
          </a:p>
        </p:txBody>
      </p:sp>
      <p:sp>
        <p:nvSpPr>
          <p:cNvPr id="13" name="content:line-348:0"/>
          <p:cNvSpPr txBox="1"/>
          <p:nvPr/>
        </p:nvSpPr>
        <p:spPr>
          <a:xfrm>
            <a:off x="594360" y="4725923"/>
            <a:ext cx="11003279" cy="428244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 marL="279400" indent="-215900">
              <a:lnSpc>
                <a:spcPts val="2772"/>
              </a:lnSpc>
              <a:spcBef>
                <a:spcPts val="0"/>
              </a:spcBef>
              <a:spcAft>
                <a:spcPts val="0"/>
              </a:spcAft>
              <a:defRPr sz="2100">
                <a:solidFill>
                  <a:srgbClr val="20344A"/>
                </a:solidFill>
                <a:latin typeface="Arial"/>
              </a:defRPr>
              <a:buChar char="•"/>
            </a:pPr>
            <a:r>
              <a:rPr sz="2100" b="0" i="0">
                <a:solidFill>
                  <a:srgbClr val="20344A"/>
                </a:solidFill>
                <a:latin typeface="Courier New"/>
              </a:rPr>
              <a:t>%d</a:t>
            </a:r>
            <a:r>
              <a:rPr sz="2100" b="0" i="0">
                <a:solidFill>
                  <a:srgbClr val="20344A"/>
                </a:solidFill>
                <a:latin typeface="Arial"/>
              </a:rPr>
              <a:t> is an integer placeholder; logging formats the value.</a:t>
            </a:r>
          </a:p>
        </p:txBody>
      </p:sp>
      <p:sp>
        <p:nvSpPr>
          <p:cNvPr id="14" name="content:line-349:0"/>
          <p:cNvSpPr txBox="1"/>
          <p:nvPr/>
        </p:nvSpPr>
        <p:spPr>
          <a:xfrm>
            <a:off x="594360" y="5218175"/>
            <a:ext cx="11003279" cy="428244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 marL="279400" indent="-215900">
              <a:lnSpc>
                <a:spcPts val="2772"/>
              </a:lnSpc>
              <a:spcBef>
                <a:spcPts val="0"/>
              </a:spcBef>
              <a:spcAft>
                <a:spcPts val="0"/>
              </a:spcAft>
              <a:defRPr sz="2100">
                <a:solidFill>
                  <a:srgbClr val="20344A"/>
                </a:solidFill>
                <a:latin typeface="Arial"/>
              </a:defRPr>
              <a:buChar char="•"/>
            </a:pPr>
            <a:r>
              <a:rPr sz="2100" b="0" i="0">
                <a:solidFill>
                  <a:srgbClr val="20344A"/>
                </a:solidFill>
                <a:latin typeface="Arial"/>
              </a:rPr>
              <a:t>Reuse the module logger and the already computed result.</a:t>
            </a:r>
          </a:p>
        </p:txBody>
      </p:sp>
      <p:sp>
        <p:nvSpPr>
          <p:cNvPr id="15" name="content:line-350:0"/>
          <p:cNvSpPr txBox="1"/>
          <p:nvPr/>
        </p:nvSpPr>
        <p:spPr>
          <a:xfrm>
            <a:off x="594360" y="5710427"/>
            <a:ext cx="11003279" cy="428244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 marL="279400" indent="-215900">
              <a:lnSpc>
                <a:spcPts val="2772"/>
              </a:lnSpc>
              <a:spcBef>
                <a:spcPts val="0"/>
              </a:spcBef>
              <a:spcAft>
                <a:spcPts val="0"/>
              </a:spcAft>
              <a:defRPr sz="2100">
                <a:solidFill>
                  <a:srgbClr val="20344A"/>
                </a:solidFill>
                <a:latin typeface="Arial"/>
              </a:defRPr>
              <a:buChar char="•"/>
            </a:pPr>
            <a:r>
              <a:rPr sz="2100" b="0" i="0">
                <a:solidFill>
                  <a:srgbClr val="20344A"/>
                </a:solidFill>
                <a:latin typeface="Arial"/>
              </a:rPr>
              <a:t>Do not put logging configuration inside the processing function.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C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accent"/>
          <p:cNvSpPr/>
          <p:nvPr/>
        </p:nvSpPr>
        <p:spPr>
          <a:xfrm>
            <a:off x="0" y="0"/>
            <a:ext cx="12191999" cy="64008"/>
          </a:xfrm>
          <a:prstGeom prst="rect">
            <a:avLst/>
          </a:prstGeom>
          <a:solidFill>
            <a:srgbClr val="007F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section"/>
          <p:cNvSpPr txBox="1"/>
          <p:nvPr/>
        </p:nvSpPr>
        <p:spPr>
          <a:xfrm>
            <a:off x="594360" y="201168"/>
            <a:ext cx="11003279" cy="256032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1452"/>
              </a:lnSpc>
              <a:spcBef>
                <a:spcPts val="0"/>
              </a:spcBef>
              <a:spcAft>
                <a:spcPts val="0"/>
              </a:spcAft>
              <a:defRPr sz="1100">
                <a:solidFill>
                  <a:srgbClr val="53677A"/>
                </a:solidFill>
                <a:latin typeface="Arial"/>
              </a:defRPr>
            </a:pPr>
            <a:r>
              <a:t>SOURCE 24 / 27</a:t>
            </a:r>
          </a:p>
        </p:txBody>
      </p:sp>
      <p:sp>
        <p:nvSpPr>
          <p:cNvPr id="4" name="title:line-354"/>
          <p:cNvSpPr txBox="1"/>
          <p:nvPr/>
        </p:nvSpPr>
        <p:spPr>
          <a:xfrm>
            <a:off x="594360" y="530352"/>
            <a:ext cx="11003279" cy="1161288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4000"/>
              </a:lnSpc>
              <a:spcBef>
                <a:spcPts val="0"/>
              </a:spcBef>
              <a:spcAft>
                <a:spcPts val="0"/>
              </a:spcAft>
              <a:defRPr sz="3200">
                <a:solidFill>
                  <a:srgbClr val="20344A"/>
                </a:solidFill>
                <a:latin typeface="Arial"/>
              </a:defRPr>
            </a:pPr>
            <a:r>
              <a:rPr sz="3200" b="0" i="0">
                <a:solidFill>
                  <a:srgbClr val="20344A"/>
                </a:solidFill>
                <a:latin typeface="Arial"/>
              </a:rPr>
              <a:t>Practice: run again and compare the </a:t>
            </a:r>
            <a:br/>
            <a:r>
              <a:rPr sz="3200" b="0" i="0">
                <a:solidFill>
                  <a:srgbClr val="20344A"/>
                </a:solidFill>
                <a:latin typeface="Arial"/>
              </a:rPr>
              <a:t>complete result</a:t>
            </a:r>
          </a:p>
        </p:txBody>
      </p:sp>
      <p:sp>
        <p:nvSpPr>
          <p:cNvPr id="5" name="footer"/>
          <p:cNvSpPr txBox="1"/>
          <p:nvPr/>
        </p:nvSpPr>
        <p:spPr>
          <a:xfrm>
            <a:off x="594360" y="6510528"/>
            <a:ext cx="11003279" cy="219456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1320"/>
              </a:lnSpc>
              <a:spcBef>
                <a:spcPts val="0"/>
              </a:spcBef>
              <a:spcAft>
                <a:spcPts val="0"/>
              </a:spcAft>
              <a:defRPr sz="1000">
                <a:solidFill>
                  <a:srgbClr val="53677A"/>
                </a:solidFill>
                <a:latin typeface="Arial"/>
              </a:defRPr>
            </a:pPr>
            <a:r>
              <a:t>session-2.md   ·   29</a:t>
            </a:r>
          </a:p>
        </p:txBody>
      </p:sp>
      <p:sp>
        <p:nvSpPr>
          <p:cNvPr id="6" name="content:line-356:0"/>
          <p:cNvSpPr txBox="1"/>
          <p:nvPr/>
        </p:nvSpPr>
        <p:spPr>
          <a:xfrm>
            <a:off x="594360" y="1737360"/>
            <a:ext cx="11003279" cy="428244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2772"/>
              </a:lnSpc>
              <a:spcBef>
                <a:spcPts val="0"/>
              </a:spcBef>
              <a:spcAft>
                <a:spcPts val="0"/>
              </a:spcAft>
              <a:defRPr sz="2100">
                <a:solidFill>
                  <a:srgbClr val="20344A"/>
                </a:solidFill>
                <a:latin typeface="Arial"/>
              </a:defRPr>
            </a:pPr>
            <a:r>
              <a:rPr sz="2100" b="0" i="0">
                <a:solidFill>
                  <a:srgbClr val="20344A"/>
                </a:solidFill>
                <a:latin typeface="Arial"/>
              </a:rPr>
              <a:t>Next 25 minutes: enable DEBUG in this new Python process:</a:t>
            </a:r>
          </a:p>
        </p:txBody>
      </p:sp>
      <p:sp>
        <p:nvSpPr>
          <p:cNvPr id="7" name="content:line-359:0"/>
          <p:cNvSpPr txBox="1"/>
          <p:nvPr/>
        </p:nvSpPr>
        <p:spPr>
          <a:xfrm>
            <a:off x="594360" y="2229612"/>
            <a:ext cx="11003279" cy="377952"/>
          </a:xfrm>
          <a:prstGeom prst="rect">
            <a:avLst/>
          </a:prstGeom>
          <a:solidFill>
            <a:srgbClr val="EDF3F6"/>
          </a:solidFill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2376"/>
              </a:lnSpc>
              <a:spcBef>
                <a:spcPts val="0"/>
              </a:spcBef>
              <a:spcAft>
                <a:spcPts val="0"/>
              </a:spcAft>
              <a:defRPr sz="1800">
                <a:solidFill>
                  <a:srgbClr val="20344A"/>
                </a:solidFill>
                <a:latin typeface="Arial"/>
              </a:defRPr>
            </a:pPr>
            <a:r>
              <a:rPr sz="1800" b="0" i="0">
                <a:solidFill>
                  <a:srgbClr val="20344A"/>
                </a:solidFill>
                <a:latin typeface="Courier New"/>
              </a:rPr>
              <a:t>python - &lt;&lt;'PY' &gt; .venv/session-2-after.json</a:t>
            </a:r>
          </a:p>
        </p:txBody>
      </p:sp>
      <p:sp>
        <p:nvSpPr>
          <p:cNvPr id="8" name="content:line-360:0"/>
          <p:cNvSpPr txBox="1"/>
          <p:nvPr/>
        </p:nvSpPr>
        <p:spPr>
          <a:xfrm>
            <a:off x="594360" y="2607564"/>
            <a:ext cx="11003279" cy="377952"/>
          </a:xfrm>
          <a:prstGeom prst="rect">
            <a:avLst/>
          </a:prstGeom>
          <a:solidFill>
            <a:srgbClr val="EDF3F6"/>
          </a:solidFill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2376"/>
              </a:lnSpc>
              <a:spcBef>
                <a:spcPts val="0"/>
              </a:spcBef>
              <a:spcAft>
                <a:spcPts val="0"/>
              </a:spcAft>
              <a:defRPr sz="1800">
                <a:solidFill>
                  <a:srgbClr val="20344A"/>
                </a:solidFill>
                <a:latin typeface="Arial"/>
              </a:defRPr>
            </a:pPr>
            <a:r>
              <a:rPr sz="1800" b="0" i="0">
                <a:solidFill>
                  <a:srgbClr val="20344A"/>
                </a:solidFill>
                <a:latin typeface="Courier New"/>
              </a:rPr>
              <a:t>import json</a:t>
            </a:r>
          </a:p>
        </p:txBody>
      </p:sp>
      <p:sp>
        <p:nvSpPr>
          <p:cNvPr id="9" name="content:line-361:0"/>
          <p:cNvSpPr txBox="1"/>
          <p:nvPr/>
        </p:nvSpPr>
        <p:spPr>
          <a:xfrm>
            <a:off x="594360" y="2985515"/>
            <a:ext cx="11003279" cy="377952"/>
          </a:xfrm>
          <a:prstGeom prst="rect">
            <a:avLst/>
          </a:prstGeom>
          <a:solidFill>
            <a:srgbClr val="EDF3F6"/>
          </a:solidFill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2376"/>
              </a:lnSpc>
              <a:spcBef>
                <a:spcPts val="0"/>
              </a:spcBef>
              <a:spcAft>
                <a:spcPts val="0"/>
              </a:spcAft>
              <a:defRPr sz="1800">
                <a:solidFill>
                  <a:srgbClr val="20344A"/>
                </a:solidFill>
                <a:latin typeface="Arial"/>
              </a:defRPr>
            </a:pPr>
            <a:r>
              <a:rPr sz="1800" b="0" i="0">
                <a:solidFill>
                  <a:srgbClr val="20344A"/>
                </a:solidFill>
                <a:latin typeface="Courier New"/>
              </a:rPr>
              <a:t>import logging</a:t>
            </a:r>
          </a:p>
        </p:txBody>
      </p:sp>
      <p:sp>
        <p:nvSpPr>
          <p:cNvPr id="10" name="content:line-362:0"/>
          <p:cNvSpPr txBox="1"/>
          <p:nvPr/>
        </p:nvSpPr>
        <p:spPr>
          <a:xfrm>
            <a:off x="594360" y="3363467"/>
            <a:ext cx="11003279" cy="377952"/>
          </a:xfrm>
          <a:prstGeom prst="rect">
            <a:avLst/>
          </a:prstGeom>
          <a:solidFill>
            <a:srgbClr val="EDF3F6"/>
          </a:solidFill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2376"/>
              </a:lnSpc>
              <a:spcBef>
                <a:spcPts val="0"/>
              </a:spcBef>
              <a:spcAft>
                <a:spcPts val="0"/>
              </a:spcAft>
              <a:defRPr sz="1800">
                <a:solidFill>
                  <a:srgbClr val="20344A"/>
                </a:solidFill>
                <a:latin typeface="Arial"/>
              </a:defRPr>
            </a:pPr>
            <a:r>
              <a:rPr sz="1800" b="0" i="0">
                <a:solidFill>
                  <a:srgbClr val="20344A"/>
                </a:solidFill>
                <a:latin typeface="Courier New"/>
              </a:rPr>
              <a:t>from pathlib import Path</a:t>
            </a:r>
          </a:p>
        </p:txBody>
      </p:sp>
      <p:sp>
        <p:nvSpPr>
          <p:cNvPr id="11" name="content:line-363:0"/>
          <p:cNvSpPr txBox="1"/>
          <p:nvPr/>
        </p:nvSpPr>
        <p:spPr>
          <a:xfrm>
            <a:off x="594360" y="3741419"/>
            <a:ext cx="11003279" cy="377952"/>
          </a:xfrm>
          <a:prstGeom prst="rect">
            <a:avLst/>
          </a:prstGeom>
          <a:solidFill>
            <a:srgbClr val="EDF3F6"/>
          </a:solidFill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2376"/>
              </a:lnSpc>
              <a:spcBef>
                <a:spcPts val="0"/>
              </a:spcBef>
              <a:spcAft>
                <a:spcPts val="0"/>
              </a:spcAft>
              <a:defRPr sz="1800">
                <a:solidFill>
                  <a:srgbClr val="20344A"/>
                </a:solidFill>
                <a:latin typeface="Arial"/>
              </a:defRPr>
            </a:pPr>
            <a:r>
              <a:rPr sz="1800" b="0" i="0">
                <a:solidFill>
                  <a:srgbClr val="20344A"/>
                </a:solidFill>
                <a:latin typeface="Courier New"/>
              </a:rPr>
              <a:t>from stat_core import process_csv</a:t>
            </a:r>
          </a:p>
        </p:txBody>
      </p:sp>
      <p:sp>
        <p:nvSpPr>
          <p:cNvPr id="12" name="content:line-364:0"/>
          <p:cNvSpPr txBox="1"/>
          <p:nvPr/>
        </p:nvSpPr>
        <p:spPr>
          <a:xfrm>
            <a:off x="594360" y="4119371"/>
            <a:ext cx="11003279" cy="377952"/>
          </a:xfrm>
          <a:prstGeom prst="rect">
            <a:avLst/>
          </a:prstGeom>
          <a:solidFill>
            <a:srgbClr val="EDF3F6"/>
          </a:solidFill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2376"/>
              </a:lnSpc>
              <a:spcBef>
                <a:spcPts val="0"/>
              </a:spcBef>
              <a:spcAft>
                <a:spcPts val="0"/>
              </a:spcAft>
              <a:defRPr sz="1800">
                <a:solidFill>
                  <a:srgbClr val="20344A"/>
                </a:solidFill>
                <a:latin typeface="Arial"/>
              </a:defRPr>
            </a:pPr>
          </a:p>
        </p:txBody>
      </p:sp>
      <p:sp>
        <p:nvSpPr>
          <p:cNvPr id="13" name="content:line-365:0"/>
          <p:cNvSpPr txBox="1"/>
          <p:nvPr/>
        </p:nvSpPr>
        <p:spPr>
          <a:xfrm>
            <a:off x="594360" y="4497323"/>
            <a:ext cx="11003279" cy="377952"/>
          </a:xfrm>
          <a:prstGeom prst="rect">
            <a:avLst/>
          </a:prstGeom>
          <a:solidFill>
            <a:srgbClr val="EDF3F6"/>
          </a:solidFill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2376"/>
              </a:lnSpc>
              <a:spcBef>
                <a:spcPts val="0"/>
              </a:spcBef>
              <a:spcAft>
                <a:spcPts val="0"/>
              </a:spcAft>
              <a:defRPr sz="1800">
                <a:solidFill>
                  <a:srgbClr val="20344A"/>
                </a:solidFill>
                <a:latin typeface="Arial"/>
              </a:defRPr>
            </a:pPr>
            <a:r>
              <a:rPr sz="1800" b="0" i="0">
                <a:solidFill>
                  <a:srgbClr val="20344A"/>
                </a:solidFill>
                <a:latin typeface="Courier New"/>
              </a:rPr>
              <a:t>logging.basicConfig(level=logging.DEBUG)</a:t>
            </a:r>
          </a:p>
        </p:txBody>
      </p:sp>
      <p:sp>
        <p:nvSpPr>
          <p:cNvPr id="14" name="content:line-366:0"/>
          <p:cNvSpPr txBox="1"/>
          <p:nvPr/>
        </p:nvSpPr>
        <p:spPr>
          <a:xfrm>
            <a:off x="594360" y="4875275"/>
            <a:ext cx="11003279" cy="377952"/>
          </a:xfrm>
          <a:prstGeom prst="rect">
            <a:avLst/>
          </a:prstGeom>
          <a:solidFill>
            <a:srgbClr val="EDF3F6"/>
          </a:solidFill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2376"/>
              </a:lnSpc>
              <a:spcBef>
                <a:spcPts val="0"/>
              </a:spcBef>
              <a:spcAft>
                <a:spcPts val="0"/>
              </a:spcAft>
              <a:defRPr sz="1800">
                <a:solidFill>
                  <a:srgbClr val="20344A"/>
                </a:solidFill>
                <a:latin typeface="Arial"/>
              </a:defRPr>
            </a:pPr>
            <a:r>
              <a:rPr sz="1800" b="0" i="0">
                <a:solidFill>
                  <a:srgbClr val="20344A"/>
                </a:solidFill>
                <a:latin typeface="Courier New"/>
              </a:rPr>
              <a:t>dm = Path("data/synthetic/dm.csv").read_text(encoding="utf-8")</a:t>
            </a:r>
          </a:p>
        </p:txBody>
      </p:sp>
      <p:sp>
        <p:nvSpPr>
          <p:cNvPr id="15" name="content:line-367:0"/>
          <p:cNvSpPr txBox="1"/>
          <p:nvPr/>
        </p:nvSpPr>
        <p:spPr>
          <a:xfrm>
            <a:off x="594360" y="5253227"/>
            <a:ext cx="11003279" cy="377952"/>
          </a:xfrm>
          <a:prstGeom prst="rect">
            <a:avLst/>
          </a:prstGeom>
          <a:solidFill>
            <a:srgbClr val="EDF3F6"/>
          </a:solidFill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2376"/>
              </a:lnSpc>
              <a:spcBef>
                <a:spcPts val="0"/>
              </a:spcBef>
              <a:spcAft>
                <a:spcPts val="0"/>
              </a:spcAft>
              <a:defRPr sz="1800">
                <a:solidFill>
                  <a:srgbClr val="20344A"/>
                </a:solidFill>
                <a:latin typeface="Arial"/>
              </a:defRPr>
            </a:pPr>
            <a:r>
              <a:rPr sz="1800" b="0" i="0">
                <a:solidFill>
                  <a:srgbClr val="20344A"/>
                </a:solidFill>
                <a:latin typeface="Courier New"/>
              </a:rPr>
              <a:t>lb = Path("data/synthetic/lb.csv").read_text(encoding="utf-8")</a:t>
            </a:r>
          </a:p>
        </p:txBody>
      </p:sp>
      <p:sp>
        <p:nvSpPr>
          <p:cNvPr id="16" name="content:line-368:0"/>
          <p:cNvSpPr txBox="1"/>
          <p:nvPr/>
        </p:nvSpPr>
        <p:spPr>
          <a:xfrm>
            <a:off x="594360" y="5631179"/>
            <a:ext cx="11003279" cy="377952"/>
          </a:xfrm>
          <a:prstGeom prst="rect">
            <a:avLst/>
          </a:prstGeom>
          <a:solidFill>
            <a:srgbClr val="EDF3F6"/>
          </a:solidFill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2376"/>
              </a:lnSpc>
              <a:spcBef>
                <a:spcPts val="0"/>
              </a:spcBef>
              <a:spcAft>
                <a:spcPts val="0"/>
              </a:spcAft>
              <a:defRPr sz="1800">
                <a:solidFill>
                  <a:srgbClr val="20344A"/>
                </a:solidFill>
                <a:latin typeface="Arial"/>
              </a:defRPr>
            </a:pPr>
            <a:r>
              <a:rPr sz="1800" b="0" i="0">
                <a:solidFill>
                  <a:srgbClr val="20344A"/>
                </a:solidFill>
                <a:latin typeface="Courier New"/>
              </a:rPr>
              <a:t>print(json.dumps(process_csv(dm, lb), sort_keys=True))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C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accent"/>
          <p:cNvSpPr/>
          <p:nvPr/>
        </p:nvSpPr>
        <p:spPr>
          <a:xfrm>
            <a:off x="0" y="0"/>
            <a:ext cx="12191999" cy="64008"/>
          </a:xfrm>
          <a:prstGeom prst="rect">
            <a:avLst/>
          </a:prstGeom>
          <a:solidFill>
            <a:srgbClr val="007F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section"/>
          <p:cNvSpPr txBox="1"/>
          <p:nvPr/>
        </p:nvSpPr>
        <p:spPr>
          <a:xfrm>
            <a:off x="594360" y="201168"/>
            <a:ext cx="11003279" cy="256032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1452"/>
              </a:lnSpc>
              <a:spcBef>
                <a:spcPts val="0"/>
              </a:spcBef>
              <a:spcAft>
                <a:spcPts val="0"/>
              </a:spcAft>
              <a:defRPr sz="1100">
                <a:solidFill>
                  <a:srgbClr val="53677A"/>
                </a:solidFill>
                <a:latin typeface="Arial"/>
              </a:defRPr>
            </a:pPr>
            <a:r>
              <a:t>SOURCE 24 / 27  ·  CONTINUED 2</a:t>
            </a:r>
          </a:p>
        </p:txBody>
      </p:sp>
      <p:sp>
        <p:nvSpPr>
          <p:cNvPr id="4" name="title:line-354"/>
          <p:cNvSpPr txBox="1"/>
          <p:nvPr/>
        </p:nvSpPr>
        <p:spPr>
          <a:xfrm>
            <a:off x="594360" y="530352"/>
            <a:ext cx="11003279" cy="1161288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4000"/>
              </a:lnSpc>
              <a:spcBef>
                <a:spcPts val="0"/>
              </a:spcBef>
              <a:spcAft>
                <a:spcPts val="0"/>
              </a:spcAft>
              <a:defRPr sz="3200">
                <a:solidFill>
                  <a:srgbClr val="20344A"/>
                </a:solidFill>
                <a:latin typeface="Arial"/>
              </a:defRPr>
            </a:pPr>
            <a:r>
              <a:rPr sz="3200" b="0" i="0">
                <a:solidFill>
                  <a:srgbClr val="20344A"/>
                </a:solidFill>
                <a:latin typeface="Arial"/>
              </a:rPr>
              <a:t>Practice: run again and compare the </a:t>
            </a:r>
            <a:br/>
            <a:r>
              <a:rPr sz="3200" b="0" i="0">
                <a:solidFill>
                  <a:srgbClr val="20344A"/>
                </a:solidFill>
                <a:latin typeface="Arial"/>
              </a:rPr>
              <a:t>complete result</a:t>
            </a:r>
          </a:p>
        </p:txBody>
      </p:sp>
      <p:sp>
        <p:nvSpPr>
          <p:cNvPr id="5" name="footer"/>
          <p:cNvSpPr txBox="1"/>
          <p:nvPr/>
        </p:nvSpPr>
        <p:spPr>
          <a:xfrm>
            <a:off x="594360" y="6510528"/>
            <a:ext cx="11003279" cy="219456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1320"/>
              </a:lnSpc>
              <a:spcBef>
                <a:spcPts val="0"/>
              </a:spcBef>
              <a:spcAft>
                <a:spcPts val="0"/>
              </a:spcAft>
              <a:defRPr sz="1000">
                <a:solidFill>
                  <a:srgbClr val="53677A"/>
                </a:solidFill>
                <a:latin typeface="Arial"/>
              </a:defRPr>
            </a:pPr>
            <a:r>
              <a:t>session-2.md   ·   30</a:t>
            </a:r>
          </a:p>
        </p:txBody>
      </p:sp>
      <p:sp>
        <p:nvSpPr>
          <p:cNvPr id="6" name="content:line-369:0"/>
          <p:cNvSpPr txBox="1"/>
          <p:nvPr/>
        </p:nvSpPr>
        <p:spPr>
          <a:xfrm>
            <a:off x="594360" y="1737360"/>
            <a:ext cx="11003279" cy="377952"/>
          </a:xfrm>
          <a:prstGeom prst="rect">
            <a:avLst/>
          </a:prstGeom>
          <a:solidFill>
            <a:srgbClr val="EDF3F6"/>
          </a:solidFill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2376"/>
              </a:lnSpc>
              <a:spcBef>
                <a:spcPts val="0"/>
              </a:spcBef>
              <a:spcAft>
                <a:spcPts val="0"/>
              </a:spcAft>
              <a:defRPr sz="1800">
                <a:solidFill>
                  <a:srgbClr val="20344A"/>
                </a:solidFill>
                <a:latin typeface="Arial"/>
              </a:defRPr>
            </a:pPr>
            <a:r>
              <a:rPr sz="1800" b="0" i="0">
                <a:solidFill>
                  <a:srgbClr val="20344A"/>
                </a:solidFill>
                <a:latin typeface="Courier New"/>
              </a:rPr>
              <a:t>PY</a:t>
            </a:r>
          </a:p>
        </p:txBody>
      </p:sp>
      <p:sp>
        <p:nvSpPr>
          <p:cNvPr id="7" name="content:line-370:0"/>
          <p:cNvSpPr txBox="1"/>
          <p:nvPr/>
        </p:nvSpPr>
        <p:spPr>
          <a:xfrm>
            <a:off x="594360" y="2115312"/>
            <a:ext cx="11003279" cy="377952"/>
          </a:xfrm>
          <a:prstGeom prst="rect">
            <a:avLst/>
          </a:prstGeom>
          <a:solidFill>
            <a:srgbClr val="EDF3F6"/>
          </a:solidFill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2376"/>
              </a:lnSpc>
              <a:spcBef>
                <a:spcPts val="0"/>
              </a:spcBef>
              <a:spcAft>
                <a:spcPts val="0"/>
              </a:spcAft>
              <a:defRPr sz="1800">
                <a:solidFill>
                  <a:srgbClr val="20344A"/>
                </a:solidFill>
                <a:latin typeface="Arial"/>
              </a:defRPr>
            </a:pPr>
            <a:r>
              <a:rPr sz="1800" b="0" i="0">
                <a:solidFill>
                  <a:srgbClr val="20344A"/>
                </a:solidFill>
                <a:latin typeface="Courier New"/>
              </a:rPr>
              <a:t>cmp .venv/session-2-before.json .venv/session-2-after.json</a:t>
            </a:r>
          </a:p>
        </p:txBody>
      </p:sp>
      <p:sp>
        <p:nvSpPr>
          <p:cNvPr id="8" name="content:line-373:0"/>
          <p:cNvSpPr txBox="1"/>
          <p:nvPr/>
        </p:nvSpPr>
        <p:spPr>
          <a:xfrm>
            <a:off x="594360" y="2493264"/>
            <a:ext cx="11003279" cy="428244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 marL="279400" indent="-215900">
              <a:lnSpc>
                <a:spcPts val="2772"/>
              </a:lnSpc>
              <a:spcBef>
                <a:spcPts val="0"/>
              </a:spcBef>
              <a:spcAft>
                <a:spcPts val="0"/>
              </a:spcAft>
              <a:defRPr sz="2100">
                <a:solidFill>
                  <a:srgbClr val="20344A"/>
                </a:solidFill>
                <a:latin typeface="Arial"/>
              </a:defRPr>
              <a:buChar char="•"/>
            </a:pPr>
            <a:r>
              <a:rPr sz="2100" b="0" i="0">
                <a:solidFill>
                  <a:srgbClr val="20344A"/>
                </a:solidFill>
                <a:latin typeface="Arial"/>
              </a:rPr>
              <a:t>Expect </a:t>
            </a:r>
            <a:r>
              <a:rPr sz="2100" b="0" i="0">
                <a:solidFill>
                  <a:srgbClr val="20344A"/>
                </a:solidFill>
                <a:latin typeface="Courier New"/>
              </a:rPr>
              <a:t>DEBUG:stat_core.processing:Built visit summaries=8</a:t>
            </a:r>
            <a:r>
              <a:rPr sz="2100" b="0" i="0">
                <a:solidFill>
                  <a:srgbClr val="20344A"/>
                </a:solidFill>
                <a:latin typeface="Arial"/>
              </a:rPr>
              <a:t>.</a:t>
            </a:r>
          </a:p>
        </p:txBody>
      </p:sp>
      <p:sp>
        <p:nvSpPr>
          <p:cNvPr id="9" name="content:line-374:0"/>
          <p:cNvSpPr txBox="1"/>
          <p:nvPr/>
        </p:nvSpPr>
        <p:spPr>
          <a:xfrm>
            <a:off x="594360" y="2985515"/>
            <a:ext cx="11003279" cy="428244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 marL="279400" indent="-215900">
              <a:lnSpc>
                <a:spcPts val="2772"/>
              </a:lnSpc>
              <a:spcBef>
                <a:spcPts val="0"/>
              </a:spcBef>
              <a:spcAft>
                <a:spcPts val="0"/>
              </a:spcAft>
              <a:defRPr sz="2100">
                <a:solidFill>
                  <a:srgbClr val="20344A"/>
                </a:solidFill>
                <a:latin typeface="Arial"/>
              </a:defRPr>
              <a:buChar char="•"/>
            </a:pPr>
            <a:r>
              <a:rPr sz="2100" b="0" i="0">
                <a:solidFill>
                  <a:srgbClr val="20344A"/>
                </a:solidFill>
                <a:latin typeface="Courier New"/>
              </a:rPr>
              <a:t>cmp</a:t>
            </a:r>
            <a:r>
              <a:rPr sz="2100" b="0" i="0">
                <a:solidFill>
                  <a:srgbClr val="20344A"/>
                </a:solidFill>
                <a:latin typeface="Arial"/>
              </a:rPr>
              <a:t>: no output and exit code 0 means identical saved results.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C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accent"/>
          <p:cNvSpPr/>
          <p:nvPr/>
        </p:nvSpPr>
        <p:spPr>
          <a:xfrm>
            <a:off x="0" y="0"/>
            <a:ext cx="12191999" cy="64008"/>
          </a:xfrm>
          <a:prstGeom prst="rect">
            <a:avLst/>
          </a:prstGeom>
          <a:solidFill>
            <a:srgbClr val="007F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section"/>
          <p:cNvSpPr txBox="1"/>
          <p:nvPr/>
        </p:nvSpPr>
        <p:spPr>
          <a:xfrm>
            <a:off x="594360" y="201168"/>
            <a:ext cx="11003279" cy="256032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1452"/>
              </a:lnSpc>
              <a:spcBef>
                <a:spcPts val="0"/>
              </a:spcBef>
              <a:spcAft>
                <a:spcPts val="0"/>
              </a:spcAft>
              <a:defRPr sz="1100">
                <a:solidFill>
                  <a:srgbClr val="53677A"/>
                </a:solidFill>
                <a:latin typeface="Arial"/>
              </a:defRPr>
            </a:pPr>
            <a:r>
              <a:t>SOURCE 25 / 27</a:t>
            </a:r>
          </a:p>
        </p:txBody>
      </p:sp>
      <p:sp>
        <p:nvSpPr>
          <p:cNvPr id="4" name="title:line-378"/>
          <p:cNvSpPr txBox="1"/>
          <p:nvPr/>
        </p:nvSpPr>
        <p:spPr>
          <a:xfrm>
            <a:off x="594360" y="530352"/>
            <a:ext cx="11003279" cy="1161288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4000"/>
              </a:lnSpc>
              <a:spcBef>
                <a:spcPts val="0"/>
              </a:spcBef>
              <a:spcAft>
                <a:spcPts val="0"/>
              </a:spcAft>
              <a:defRPr sz="3200">
                <a:solidFill>
                  <a:srgbClr val="20344A"/>
                </a:solidFill>
                <a:latin typeface="Arial"/>
              </a:defRPr>
            </a:pPr>
            <a:r>
              <a:rPr sz="3200" b="0" i="0">
                <a:solidFill>
                  <a:srgbClr val="20344A"/>
                </a:solidFill>
                <a:latin typeface="Arial"/>
              </a:rPr>
              <a:t>Practice: explain the evidence</a:t>
            </a:r>
          </a:p>
        </p:txBody>
      </p:sp>
      <p:sp>
        <p:nvSpPr>
          <p:cNvPr id="5" name="footer"/>
          <p:cNvSpPr txBox="1"/>
          <p:nvPr/>
        </p:nvSpPr>
        <p:spPr>
          <a:xfrm>
            <a:off x="594360" y="6510528"/>
            <a:ext cx="11003279" cy="219456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1320"/>
              </a:lnSpc>
              <a:spcBef>
                <a:spcPts val="0"/>
              </a:spcBef>
              <a:spcAft>
                <a:spcPts val="0"/>
              </a:spcAft>
              <a:defRPr sz="1000">
                <a:solidFill>
                  <a:srgbClr val="53677A"/>
                </a:solidFill>
                <a:latin typeface="Arial"/>
              </a:defRPr>
            </a:pPr>
            <a:r>
              <a:t>session-2.md   ·   31</a:t>
            </a:r>
          </a:p>
        </p:txBody>
      </p:sp>
      <p:sp>
        <p:nvSpPr>
          <p:cNvPr id="6" name="content:line-380:0"/>
          <p:cNvSpPr txBox="1"/>
          <p:nvPr/>
        </p:nvSpPr>
        <p:spPr>
          <a:xfrm>
            <a:off x="594360" y="1737360"/>
            <a:ext cx="11003279" cy="428244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2772"/>
              </a:lnSpc>
              <a:spcBef>
                <a:spcPts val="0"/>
              </a:spcBef>
              <a:spcAft>
                <a:spcPts val="0"/>
              </a:spcAft>
              <a:defRPr sz="2100">
                <a:solidFill>
                  <a:srgbClr val="20344A"/>
                </a:solidFill>
                <a:latin typeface="Arial"/>
              </a:defRPr>
            </a:pPr>
            <a:r>
              <a:rPr sz="2100" b="0" i="0">
                <a:solidFill>
                  <a:srgbClr val="20344A"/>
                </a:solidFill>
                <a:latin typeface="Arial"/>
              </a:rPr>
              <a:t>Next 15 minutes: discuss with a teammate.</a:t>
            </a:r>
          </a:p>
        </p:txBody>
      </p:sp>
      <p:sp>
        <p:nvSpPr>
          <p:cNvPr id="7" name="content:line-382:0"/>
          <p:cNvSpPr txBox="1"/>
          <p:nvPr/>
        </p:nvSpPr>
        <p:spPr>
          <a:xfrm>
            <a:off x="594360" y="2229612"/>
            <a:ext cx="11003279" cy="780288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 marL="279400" indent="-215900">
              <a:lnSpc>
                <a:spcPts val="2772"/>
              </a:lnSpc>
              <a:spcBef>
                <a:spcPts val="0"/>
              </a:spcBef>
              <a:spcAft>
                <a:spcPts val="0"/>
              </a:spcAft>
              <a:defRPr sz="2100">
                <a:solidFill>
                  <a:srgbClr val="20344A"/>
                </a:solidFill>
                <a:latin typeface="Arial"/>
              </a:defRPr>
              <a:buChar char="•"/>
            </a:pPr>
            <a:r>
              <a:rPr sz="2100" b="0" i="0">
                <a:solidFill>
                  <a:srgbClr val="20344A"/>
                </a:solidFill>
                <a:latin typeface="Arial"/>
              </a:rPr>
              <a:t>Run the previous Python block again: same input, same </a:t>
            </a:r>
            <a:br/>
            <a:r>
              <a:rPr sz="2100" b="0" i="0">
                <a:solidFill>
                  <a:srgbClr val="20344A"/>
                </a:solidFill>
                <a:latin typeface="Arial"/>
              </a:rPr>
              <a:t>environment.</a:t>
            </a:r>
          </a:p>
        </p:txBody>
      </p:sp>
      <p:sp>
        <p:nvSpPr>
          <p:cNvPr id="8" name="content:line-383:0"/>
          <p:cNvSpPr txBox="1"/>
          <p:nvPr/>
        </p:nvSpPr>
        <p:spPr>
          <a:xfrm>
            <a:off x="594360" y="3073908"/>
            <a:ext cx="11003279" cy="780288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 marL="279400" indent="-215900">
              <a:lnSpc>
                <a:spcPts val="2772"/>
              </a:lnSpc>
              <a:spcBef>
                <a:spcPts val="0"/>
              </a:spcBef>
              <a:spcAft>
                <a:spcPts val="0"/>
              </a:spcAft>
              <a:defRPr sz="2100">
                <a:solidFill>
                  <a:srgbClr val="20344A"/>
                </a:solidFill>
                <a:latin typeface="Arial"/>
              </a:defRPr>
              <a:buChar char="•"/>
            </a:pPr>
            <a:r>
              <a:rPr sz="2100" b="0" i="0">
                <a:solidFill>
                  <a:srgbClr val="20344A"/>
                </a:solidFill>
                <a:latin typeface="Arial"/>
              </a:rPr>
              <a:t>The saved result must still match; the DEBUG message stays </a:t>
            </a:r>
            <a:br/>
            <a:r>
              <a:rPr sz="2100" b="0" i="0">
                <a:solidFill>
                  <a:srgbClr val="20344A"/>
                </a:solidFill>
                <a:latin typeface="Arial"/>
              </a:rPr>
              <a:t>separate.</a:t>
            </a:r>
          </a:p>
        </p:txBody>
      </p:sp>
      <p:sp>
        <p:nvSpPr>
          <p:cNvPr id="9" name="content:line-384:0"/>
          <p:cNvSpPr txBox="1"/>
          <p:nvPr/>
        </p:nvSpPr>
        <p:spPr>
          <a:xfrm>
            <a:off x="594360" y="3918204"/>
            <a:ext cx="11003279" cy="428244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 marL="279400" indent="-215900">
              <a:lnSpc>
                <a:spcPts val="2772"/>
              </a:lnSpc>
              <a:spcBef>
                <a:spcPts val="0"/>
              </a:spcBef>
              <a:spcAft>
                <a:spcPts val="0"/>
              </a:spcAft>
              <a:defRPr sz="2100">
                <a:solidFill>
                  <a:srgbClr val="20344A"/>
                </a:solidFill>
                <a:latin typeface="Arial"/>
              </a:defRPr>
              <a:buChar char="•"/>
            </a:pPr>
            <a:r>
              <a:rPr sz="2100" b="0" i="0">
                <a:solidFill>
                  <a:srgbClr val="20344A"/>
                </a:solidFill>
                <a:latin typeface="Arial"/>
              </a:rPr>
              <a:t>At INFO level, the new DEBUG message should disappear.</a:t>
            </a:r>
          </a:p>
        </p:txBody>
      </p:sp>
      <p:sp>
        <p:nvSpPr>
          <p:cNvPr id="10" name="content:line-385:0"/>
          <p:cNvSpPr txBox="1"/>
          <p:nvPr/>
        </p:nvSpPr>
        <p:spPr>
          <a:xfrm>
            <a:off x="594360" y="4410456"/>
            <a:ext cx="11003279" cy="780288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 marL="279400" indent="-215900">
              <a:lnSpc>
                <a:spcPts val="2772"/>
              </a:lnSpc>
              <a:spcBef>
                <a:spcPts val="0"/>
              </a:spcBef>
              <a:spcAft>
                <a:spcPts val="0"/>
              </a:spcAft>
              <a:defRPr sz="2100">
                <a:solidFill>
                  <a:srgbClr val="20344A"/>
                </a:solidFill>
                <a:latin typeface="Arial"/>
              </a:defRPr>
              <a:buChar char="•"/>
            </a:pPr>
            <a:r>
              <a:rPr sz="2100" b="0" i="0">
                <a:solidFill>
                  <a:srgbClr val="20344A"/>
                </a:solidFill>
                <a:latin typeface="Arial"/>
              </a:rPr>
              <a:t>No message? Check log level, insertion point, and imported file </a:t>
            </a:r>
            <a:br/>
            <a:r>
              <a:rPr sz="2100" b="0" i="0">
                <a:solidFill>
                  <a:srgbClr val="20344A"/>
                </a:solidFill>
                <a:latin typeface="Arial"/>
              </a:rPr>
              <a:t>path.</a:t>
            </a:r>
          </a:p>
        </p:txBody>
      </p:sp>
      <p:sp>
        <p:nvSpPr>
          <p:cNvPr id="11" name="content:line-386:0"/>
          <p:cNvSpPr txBox="1"/>
          <p:nvPr/>
        </p:nvSpPr>
        <p:spPr>
          <a:xfrm>
            <a:off x="594360" y="5254751"/>
            <a:ext cx="11003279" cy="780288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 marL="279400" indent="-215900">
              <a:lnSpc>
                <a:spcPts val="2772"/>
              </a:lnSpc>
              <a:spcBef>
                <a:spcPts val="0"/>
              </a:spcBef>
              <a:spcAft>
                <a:spcPts val="0"/>
              </a:spcAft>
              <a:defRPr sz="2100">
                <a:solidFill>
                  <a:srgbClr val="20344A"/>
                </a:solidFill>
                <a:latin typeface="Arial"/>
              </a:defRPr>
              <a:buChar char="•"/>
            </a:pPr>
            <a:r>
              <a:rPr sz="2100" b="0" i="0">
                <a:solidFill>
                  <a:srgbClr val="20344A"/>
                </a:solidFill>
                <a:latin typeface="Arial"/>
              </a:rPr>
              <a:t>Import fails? Check environment, editable install, and working </a:t>
            </a:r>
            <a:br/>
            <a:r>
              <a:rPr sz="2100" b="0" i="0">
                <a:solidFill>
                  <a:srgbClr val="20344A"/>
                </a:solidFill>
                <a:latin typeface="Arial"/>
              </a:rPr>
              <a:t>folder.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C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accent"/>
          <p:cNvSpPr/>
          <p:nvPr/>
        </p:nvSpPr>
        <p:spPr>
          <a:xfrm>
            <a:off x="0" y="0"/>
            <a:ext cx="12191999" cy="64008"/>
          </a:xfrm>
          <a:prstGeom prst="rect">
            <a:avLst/>
          </a:prstGeom>
          <a:solidFill>
            <a:srgbClr val="007F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section"/>
          <p:cNvSpPr txBox="1"/>
          <p:nvPr/>
        </p:nvSpPr>
        <p:spPr>
          <a:xfrm>
            <a:off x="594360" y="201168"/>
            <a:ext cx="11003279" cy="256032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1452"/>
              </a:lnSpc>
              <a:spcBef>
                <a:spcPts val="0"/>
              </a:spcBef>
              <a:spcAft>
                <a:spcPts val="0"/>
              </a:spcAft>
              <a:defRPr sz="1100">
                <a:solidFill>
                  <a:srgbClr val="53677A"/>
                </a:solidFill>
                <a:latin typeface="Arial"/>
              </a:defRPr>
            </a:pPr>
            <a:r>
              <a:t>SOURCE 25 / 27  ·  CONTINUED 2</a:t>
            </a:r>
          </a:p>
        </p:txBody>
      </p:sp>
      <p:sp>
        <p:nvSpPr>
          <p:cNvPr id="4" name="title:line-378"/>
          <p:cNvSpPr txBox="1"/>
          <p:nvPr/>
        </p:nvSpPr>
        <p:spPr>
          <a:xfrm>
            <a:off x="594360" y="530352"/>
            <a:ext cx="11003279" cy="1161288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4000"/>
              </a:lnSpc>
              <a:spcBef>
                <a:spcPts val="0"/>
              </a:spcBef>
              <a:spcAft>
                <a:spcPts val="0"/>
              </a:spcAft>
              <a:defRPr sz="3200">
                <a:solidFill>
                  <a:srgbClr val="20344A"/>
                </a:solidFill>
                <a:latin typeface="Arial"/>
              </a:defRPr>
            </a:pPr>
            <a:r>
              <a:rPr sz="3200" b="0" i="0">
                <a:solidFill>
                  <a:srgbClr val="20344A"/>
                </a:solidFill>
                <a:latin typeface="Arial"/>
              </a:rPr>
              <a:t>Practice: explain the evidence</a:t>
            </a:r>
          </a:p>
        </p:txBody>
      </p:sp>
      <p:sp>
        <p:nvSpPr>
          <p:cNvPr id="5" name="footer"/>
          <p:cNvSpPr txBox="1"/>
          <p:nvPr/>
        </p:nvSpPr>
        <p:spPr>
          <a:xfrm>
            <a:off x="594360" y="6510528"/>
            <a:ext cx="11003279" cy="219456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1320"/>
              </a:lnSpc>
              <a:spcBef>
                <a:spcPts val="0"/>
              </a:spcBef>
              <a:spcAft>
                <a:spcPts val="0"/>
              </a:spcAft>
              <a:defRPr sz="1000">
                <a:solidFill>
                  <a:srgbClr val="53677A"/>
                </a:solidFill>
                <a:latin typeface="Arial"/>
              </a:defRPr>
            </a:pPr>
            <a:r>
              <a:t>session-2.md   ·   32</a:t>
            </a:r>
          </a:p>
        </p:txBody>
      </p:sp>
      <p:sp>
        <p:nvSpPr>
          <p:cNvPr id="6" name="content:line-387:0"/>
          <p:cNvSpPr txBox="1"/>
          <p:nvPr/>
        </p:nvSpPr>
        <p:spPr>
          <a:xfrm>
            <a:off x="594360" y="1737360"/>
            <a:ext cx="11003279" cy="428244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 marL="279400" indent="-215900">
              <a:lnSpc>
                <a:spcPts val="2772"/>
              </a:lnSpc>
              <a:spcBef>
                <a:spcPts val="0"/>
              </a:spcBef>
              <a:spcAft>
                <a:spcPts val="0"/>
              </a:spcAft>
              <a:defRPr sz="2100">
                <a:solidFill>
                  <a:srgbClr val="20344A"/>
                </a:solidFill>
                <a:latin typeface="Arial"/>
              </a:defRPr>
              <a:buChar char="•"/>
            </a:pPr>
            <a:r>
              <a:rPr sz="2100" b="0" i="0">
                <a:solidFill>
                  <a:srgbClr val="20344A"/>
                </a:solidFill>
                <a:latin typeface="Arial"/>
              </a:rPr>
              <a:t>A changed result needs investigation before review.</a:t>
            </a:r>
          </a:p>
        </p:txBody>
      </p:sp>
      <p:sp>
        <p:nvSpPr>
          <p:cNvPr id="7" name="content:line-388:0"/>
          <p:cNvSpPr txBox="1"/>
          <p:nvPr/>
        </p:nvSpPr>
        <p:spPr>
          <a:xfrm>
            <a:off x="594360" y="2229612"/>
            <a:ext cx="11003279" cy="780288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 marL="279400" indent="-215900">
              <a:lnSpc>
                <a:spcPts val="2772"/>
              </a:lnSpc>
              <a:spcBef>
                <a:spcPts val="0"/>
              </a:spcBef>
              <a:spcAft>
                <a:spcPts val="0"/>
              </a:spcAft>
              <a:defRPr sz="2100">
                <a:solidFill>
                  <a:srgbClr val="20344A"/>
                </a:solidFill>
                <a:latin typeface="Arial"/>
              </a:defRPr>
              <a:buChar char="•"/>
            </a:pPr>
            <a:r>
              <a:rPr sz="2100" b="0" i="0">
                <a:solidFill>
                  <a:srgbClr val="20344A"/>
                </a:solidFill>
                <a:latin typeface="Arial"/>
              </a:rPr>
              <a:t>This logging change uses exact JSON equality, with no </a:t>
            </a:r>
            <a:br/>
            <a:r>
              <a:rPr sz="2100" b="0" i="0">
                <a:solidFill>
                  <a:srgbClr val="20344A"/>
                </a:solidFill>
                <a:latin typeface="Arial"/>
              </a:rPr>
              <a:t>tolerance.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C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accent"/>
          <p:cNvSpPr/>
          <p:nvPr/>
        </p:nvSpPr>
        <p:spPr>
          <a:xfrm>
            <a:off x="0" y="0"/>
            <a:ext cx="12191999" cy="64008"/>
          </a:xfrm>
          <a:prstGeom prst="rect">
            <a:avLst/>
          </a:prstGeom>
          <a:solidFill>
            <a:srgbClr val="007F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section"/>
          <p:cNvSpPr txBox="1"/>
          <p:nvPr/>
        </p:nvSpPr>
        <p:spPr>
          <a:xfrm>
            <a:off x="594360" y="201168"/>
            <a:ext cx="11003279" cy="256032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1452"/>
              </a:lnSpc>
              <a:spcBef>
                <a:spcPts val="0"/>
              </a:spcBef>
              <a:spcAft>
                <a:spcPts val="0"/>
              </a:spcAft>
              <a:defRPr sz="1100">
                <a:solidFill>
                  <a:srgbClr val="53677A"/>
                </a:solidFill>
                <a:latin typeface="Arial"/>
              </a:defRPr>
            </a:pPr>
            <a:r>
              <a:t>SOURCE 26 / 27</a:t>
            </a:r>
          </a:p>
        </p:txBody>
      </p:sp>
      <p:sp>
        <p:nvSpPr>
          <p:cNvPr id="4" name="title:line-392"/>
          <p:cNvSpPr txBox="1"/>
          <p:nvPr/>
        </p:nvSpPr>
        <p:spPr>
          <a:xfrm>
            <a:off x="594360" y="530352"/>
            <a:ext cx="11003279" cy="1161288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4000"/>
              </a:lnSpc>
              <a:spcBef>
                <a:spcPts val="0"/>
              </a:spcBef>
              <a:spcAft>
                <a:spcPts val="0"/>
              </a:spcAft>
              <a:defRPr sz="3200">
                <a:solidFill>
                  <a:srgbClr val="20344A"/>
                </a:solidFill>
                <a:latin typeface="Arial"/>
              </a:defRPr>
            </a:pPr>
            <a:r>
              <a:rPr sz="3200" b="0" i="0">
                <a:solidFill>
                  <a:srgbClr val="20344A"/>
                </a:solidFill>
                <a:latin typeface="Arial"/>
              </a:rPr>
              <a:t>Practice: open a PR and give meaningful </a:t>
            </a:r>
            <a:br/>
            <a:r>
              <a:rPr sz="3200" b="0" i="0">
                <a:solidFill>
                  <a:srgbClr val="20344A"/>
                </a:solidFill>
                <a:latin typeface="Arial"/>
              </a:rPr>
              <a:t>review</a:t>
            </a:r>
          </a:p>
        </p:txBody>
      </p:sp>
      <p:sp>
        <p:nvSpPr>
          <p:cNvPr id="5" name="footer"/>
          <p:cNvSpPr txBox="1"/>
          <p:nvPr/>
        </p:nvSpPr>
        <p:spPr>
          <a:xfrm>
            <a:off x="594360" y="6510528"/>
            <a:ext cx="11003279" cy="219456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1320"/>
              </a:lnSpc>
              <a:spcBef>
                <a:spcPts val="0"/>
              </a:spcBef>
              <a:spcAft>
                <a:spcPts val="0"/>
              </a:spcAft>
              <a:defRPr sz="1000">
                <a:solidFill>
                  <a:srgbClr val="53677A"/>
                </a:solidFill>
                <a:latin typeface="Arial"/>
              </a:defRPr>
            </a:pPr>
            <a:r>
              <a:t>session-2.md   ·   33</a:t>
            </a:r>
          </a:p>
        </p:txBody>
      </p:sp>
      <p:sp>
        <p:nvSpPr>
          <p:cNvPr id="6" name="content:line-394:0"/>
          <p:cNvSpPr txBox="1"/>
          <p:nvPr/>
        </p:nvSpPr>
        <p:spPr>
          <a:xfrm>
            <a:off x="594360" y="1737360"/>
            <a:ext cx="11003279" cy="780288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2772"/>
              </a:lnSpc>
              <a:spcBef>
                <a:spcPts val="0"/>
              </a:spcBef>
              <a:spcAft>
                <a:spcPts val="0"/>
              </a:spcAft>
              <a:defRPr sz="2100">
                <a:solidFill>
                  <a:srgbClr val="20344A"/>
                </a:solidFill>
                <a:latin typeface="Arial"/>
              </a:defRPr>
            </a:pPr>
            <a:r>
              <a:rPr sz="2100" b="0" i="0">
                <a:solidFill>
                  <a:srgbClr val="20344A"/>
                </a:solidFill>
                <a:latin typeface="Arial"/>
              </a:rPr>
              <a:t>Final 15 minutes: inspect and publish only the small source </a:t>
            </a:r>
            <a:br/>
            <a:r>
              <a:rPr sz="2100" b="0" i="0">
                <a:solidFill>
                  <a:srgbClr val="20344A"/>
                </a:solidFill>
                <a:latin typeface="Arial"/>
              </a:rPr>
              <a:t>change.</a:t>
            </a:r>
          </a:p>
        </p:txBody>
      </p:sp>
      <p:sp>
        <p:nvSpPr>
          <p:cNvPr id="7" name="content:line-397:0"/>
          <p:cNvSpPr txBox="1"/>
          <p:nvPr/>
        </p:nvSpPr>
        <p:spPr>
          <a:xfrm>
            <a:off x="594360" y="2581656"/>
            <a:ext cx="11003279" cy="377952"/>
          </a:xfrm>
          <a:prstGeom prst="rect">
            <a:avLst/>
          </a:prstGeom>
          <a:solidFill>
            <a:srgbClr val="EDF3F6"/>
          </a:solidFill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2376"/>
              </a:lnSpc>
              <a:spcBef>
                <a:spcPts val="0"/>
              </a:spcBef>
              <a:spcAft>
                <a:spcPts val="0"/>
              </a:spcAft>
              <a:defRPr sz="1800">
                <a:solidFill>
                  <a:srgbClr val="20344A"/>
                </a:solidFill>
                <a:latin typeface="Arial"/>
              </a:defRPr>
            </a:pPr>
            <a:r>
              <a:rPr sz="1800" b="0" i="0">
                <a:solidFill>
                  <a:srgbClr val="20344A"/>
                </a:solidFill>
                <a:latin typeface="Courier New"/>
              </a:rPr>
              <a:t>git diff --check</a:t>
            </a:r>
          </a:p>
        </p:txBody>
      </p:sp>
      <p:sp>
        <p:nvSpPr>
          <p:cNvPr id="8" name="content:line-398:0"/>
          <p:cNvSpPr txBox="1"/>
          <p:nvPr/>
        </p:nvSpPr>
        <p:spPr>
          <a:xfrm>
            <a:off x="594360" y="2959607"/>
            <a:ext cx="11003279" cy="377952"/>
          </a:xfrm>
          <a:prstGeom prst="rect">
            <a:avLst/>
          </a:prstGeom>
          <a:solidFill>
            <a:srgbClr val="EDF3F6"/>
          </a:solidFill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2376"/>
              </a:lnSpc>
              <a:spcBef>
                <a:spcPts val="0"/>
              </a:spcBef>
              <a:spcAft>
                <a:spcPts val="0"/>
              </a:spcAft>
              <a:defRPr sz="1800">
                <a:solidFill>
                  <a:srgbClr val="20344A"/>
                </a:solidFill>
                <a:latin typeface="Arial"/>
              </a:defRPr>
            </a:pPr>
            <a:r>
              <a:rPr sz="1800" b="0" i="0">
                <a:solidFill>
                  <a:srgbClr val="20344A"/>
                </a:solidFill>
                <a:latin typeface="Courier New"/>
              </a:rPr>
              <a:t>git diff -- backend/stat_core/processing.py</a:t>
            </a:r>
          </a:p>
        </p:txBody>
      </p:sp>
      <p:sp>
        <p:nvSpPr>
          <p:cNvPr id="9" name="content:line-399:0"/>
          <p:cNvSpPr txBox="1"/>
          <p:nvPr/>
        </p:nvSpPr>
        <p:spPr>
          <a:xfrm>
            <a:off x="594360" y="3337559"/>
            <a:ext cx="11003279" cy="377952"/>
          </a:xfrm>
          <a:prstGeom prst="rect">
            <a:avLst/>
          </a:prstGeom>
          <a:solidFill>
            <a:srgbClr val="EDF3F6"/>
          </a:solidFill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2376"/>
              </a:lnSpc>
              <a:spcBef>
                <a:spcPts val="0"/>
              </a:spcBef>
              <a:spcAft>
                <a:spcPts val="0"/>
              </a:spcAft>
              <a:defRPr sz="1800">
                <a:solidFill>
                  <a:srgbClr val="20344A"/>
                </a:solidFill>
                <a:latin typeface="Arial"/>
              </a:defRPr>
            </a:pPr>
            <a:r>
              <a:rPr sz="1800" b="0" i="0">
                <a:solidFill>
                  <a:srgbClr val="20344A"/>
                </a:solidFill>
                <a:latin typeface="Courier New"/>
              </a:rPr>
              <a:t>git add backend/stat_core/processing.py</a:t>
            </a:r>
          </a:p>
        </p:txBody>
      </p:sp>
      <p:sp>
        <p:nvSpPr>
          <p:cNvPr id="10" name="content:line-400:0"/>
          <p:cNvSpPr txBox="1"/>
          <p:nvPr/>
        </p:nvSpPr>
        <p:spPr>
          <a:xfrm>
            <a:off x="594360" y="3715511"/>
            <a:ext cx="11003279" cy="377952"/>
          </a:xfrm>
          <a:prstGeom prst="rect">
            <a:avLst/>
          </a:prstGeom>
          <a:solidFill>
            <a:srgbClr val="EDF3F6"/>
          </a:solidFill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2376"/>
              </a:lnSpc>
              <a:spcBef>
                <a:spcPts val="0"/>
              </a:spcBef>
              <a:spcAft>
                <a:spcPts val="0"/>
              </a:spcAft>
              <a:defRPr sz="1800">
                <a:solidFill>
                  <a:srgbClr val="20344A"/>
                </a:solidFill>
                <a:latin typeface="Arial"/>
              </a:defRPr>
            </a:pPr>
            <a:r>
              <a:rPr sz="1800" b="0" i="0">
                <a:solidFill>
                  <a:srgbClr val="20344A"/>
                </a:solidFill>
                <a:latin typeface="Courier New"/>
              </a:rPr>
              <a:t>git commit -m "Log visit summary count at debug level"</a:t>
            </a:r>
          </a:p>
        </p:txBody>
      </p:sp>
      <p:sp>
        <p:nvSpPr>
          <p:cNvPr id="11" name="content:line-401:0"/>
          <p:cNvSpPr txBox="1"/>
          <p:nvPr/>
        </p:nvSpPr>
        <p:spPr>
          <a:xfrm>
            <a:off x="594360" y="4093463"/>
            <a:ext cx="11003279" cy="377952"/>
          </a:xfrm>
          <a:prstGeom prst="rect">
            <a:avLst/>
          </a:prstGeom>
          <a:solidFill>
            <a:srgbClr val="EDF3F6"/>
          </a:solidFill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2376"/>
              </a:lnSpc>
              <a:spcBef>
                <a:spcPts val="0"/>
              </a:spcBef>
              <a:spcAft>
                <a:spcPts val="0"/>
              </a:spcAft>
              <a:defRPr sz="1800">
                <a:solidFill>
                  <a:srgbClr val="20344A"/>
                </a:solidFill>
                <a:latin typeface="Arial"/>
              </a:defRPr>
            </a:pPr>
            <a:r>
              <a:rPr sz="1800" b="0" i="0">
                <a:solidFill>
                  <a:srgbClr val="20344A"/>
                </a:solidFill>
                <a:latin typeface="Courier New"/>
              </a:rPr>
              <a:t>git push -u origin feature/session-2-summary-log</a:t>
            </a:r>
          </a:p>
        </p:txBody>
      </p:sp>
      <p:sp>
        <p:nvSpPr>
          <p:cNvPr id="12" name="content:line-404:0"/>
          <p:cNvSpPr txBox="1"/>
          <p:nvPr/>
        </p:nvSpPr>
        <p:spPr>
          <a:xfrm>
            <a:off x="594360" y="4471415"/>
            <a:ext cx="11003279" cy="428244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 marL="279400" indent="-215900">
              <a:lnSpc>
                <a:spcPts val="2772"/>
              </a:lnSpc>
              <a:spcBef>
                <a:spcPts val="0"/>
              </a:spcBef>
              <a:spcAft>
                <a:spcPts val="0"/>
              </a:spcAft>
              <a:defRPr sz="2100">
                <a:solidFill>
                  <a:srgbClr val="20344A"/>
                </a:solidFill>
                <a:latin typeface="Arial"/>
              </a:defRPr>
              <a:buChar char="•"/>
            </a:pPr>
            <a:r>
              <a:rPr sz="2100" b="0" i="0">
                <a:solidFill>
                  <a:srgbClr val="20344A"/>
                </a:solidFill>
                <a:latin typeface="Arial"/>
              </a:rPr>
              <a:t>Open a pull request to the group repository's </a:t>
            </a:r>
            <a:r>
              <a:rPr sz="2100" b="0" i="0">
                <a:solidFill>
                  <a:srgbClr val="20344A"/>
                </a:solidFill>
                <a:latin typeface="Courier New"/>
              </a:rPr>
              <a:t>main</a:t>
            </a:r>
            <a:r>
              <a:rPr sz="2100" b="0" i="0">
                <a:solidFill>
                  <a:srgbClr val="20344A"/>
                </a:solidFill>
                <a:latin typeface="Arial"/>
              </a:rPr>
              <a:t> on GitHub.</a:t>
            </a:r>
          </a:p>
        </p:txBody>
      </p:sp>
      <p:sp>
        <p:nvSpPr>
          <p:cNvPr id="13" name="content:line-405:0"/>
          <p:cNvSpPr txBox="1"/>
          <p:nvPr/>
        </p:nvSpPr>
        <p:spPr>
          <a:xfrm>
            <a:off x="594360" y="4963667"/>
            <a:ext cx="11003279" cy="780288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 marL="279400" indent="-215900">
              <a:lnSpc>
                <a:spcPts val="2772"/>
              </a:lnSpc>
              <a:spcBef>
                <a:spcPts val="0"/>
              </a:spcBef>
              <a:spcAft>
                <a:spcPts val="0"/>
              </a:spcAft>
              <a:defRPr sz="2100">
                <a:solidFill>
                  <a:srgbClr val="20344A"/>
                </a:solidFill>
                <a:latin typeface="Arial"/>
              </a:defRPr>
              <a:buChar char="•"/>
            </a:pPr>
            <a:r>
              <a:rPr sz="2100" b="0" i="0">
                <a:solidFill>
                  <a:srgbClr val="20344A"/>
                </a:solidFill>
                <a:latin typeface="Arial"/>
              </a:rPr>
              <a:t>Describe the message, DEBUG output, and identical JSON </a:t>
            </a:r>
            <a:br/>
            <a:r>
              <a:rPr sz="2100" b="0" i="0">
                <a:solidFill>
                  <a:srgbClr val="20344A"/>
                </a:solidFill>
                <a:latin typeface="Arial"/>
              </a:rPr>
              <a:t>evidence.</a:t>
            </a:r>
          </a:p>
        </p:txBody>
      </p:sp>
      <p:sp>
        <p:nvSpPr>
          <p:cNvPr id="14" name="content:line-406:0"/>
          <p:cNvSpPr txBox="1"/>
          <p:nvPr/>
        </p:nvSpPr>
        <p:spPr>
          <a:xfrm>
            <a:off x="594360" y="5807963"/>
            <a:ext cx="11003279" cy="428244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 marL="279400" indent="-215900">
              <a:lnSpc>
                <a:spcPts val="2772"/>
              </a:lnSpc>
              <a:spcBef>
                <a:spcPts val="0"/>
              </a:spcBef>
              <a:spcAft>
                <a:spcPts val="0"/>
              </a:spcAft>
              <a:defRPr sz="2100">
                <a:solidFill>
                  <a:srgbClr val="20344A"/>
                </a:solidFill>
                <a:latin typeface="Arial"/>
              </a:defRPr>
              <a:buChar char="•"/>
            </a:pPr>
            <a:r>
              <a:rPr sz="2100" b="0" i="0">
                <a:solidFill>
                  <a:srgbClr val="20344A"/>
                </a:solidFill>
                <a:latin typeface="Arial"/>
              </a:rPr>
              <a:t>A teammate checks placement, clarity, and absence of row 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C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accent"/>
          <p:cNvSpPr/>
          <p:nvPr/>
        </p:nvSpPr>
        <p:spPr>
          <a:xfrm>
            <a:off x="0" y="0"/>
            <a:ext cx="12191999" cy="64008"/>
          </a:xfrm>
          <a:prstGeom prst="rect">
            <a:avLst/>
          </a:prstGeom>
          <a:solidFill>
            <a:srgbClr val="007F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section"/>
          <p:cNvSpPr txBox="1"/>
          <p:nvPr/>
        </p:nvSpPr>
        <p:spPr>
          <a:xfrm>
            <a:off x="594360" y="201168"/>
            <a:ext cx="11003279" cy="256032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1452"/>
              </a:lnSpc>
              <a:spcBef>
                <a:spcPts val="0"/>
              </a:spcBef>
              <a:spcAft>
                <a:spcPts val="0"/>
              </a:spcAft>
              <a:defRPr sz="1100">
                <a:solidFill>
                  <a:srgbClr val="53677A"/>
                </a:solidFill>
                <a:latin typeface="Arial"/>
              </a:defRPr>
            </a:pPr>
            <a:r>
              <a:t>SOURCE 26 / 27  ·  CONTINUED 2</a:t>
            </a:r>
          </a:p>
        </p:txBody>
      </p:sp>
      <p:sp>
        <p:nvSpPr>
          <p:cNvPr id="4" name="title:line-392"/>
          <p:cNvSpPr txBox="1"/>
          <p:nvPr/>
        </p:nvSpPr>
        <p:spPr>
          <a:xfrm>
            <a:off x="594360" y="530352"/>
            <a:ext cx="11003279" cy="1161288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4000"/>
              </a:lnSpc>
              <a:spcBef>
                <a:spcPts val="0"/>
              </a:spcBef>
              <a:spcAft>
                <a:spcPts val="0"/>
              </a:spcAft>
              <a:defRPr sz="3200">
                <a:solidFill>
                  <a:srgbClr val="20344A"/>
                </a:solidFill>
                <a:latin typeface="Arial"/>
              </a:defRPr>
            </a:pPr>
            <a:r>
              <a:rPr sz="3200" b="0" i="0">
                <a:solidFill>
                  <a:srgbClr val="20344A"/>
                </a:solidFill>
                <a:latin typeface="Arial"/>
              </a:rPr>
              <a:t>Practice: open a PR and give meaningful </a:t>
            </a:r>
            <a:br/>
            <a:r>
              <a:rPr sz="3200" b="0" i="0">
                <a:solidFill>
                  <a:srgbClr val="20344A"/>
                </a:solidFill>
                <a:latin typeface="Arial"/>
              </a:rPr>
              <a:t>review</a:t>
            </a:r>
          </a:p>
        </p:txBody>
      </p:sp>
      <p:sp>
        <p:nvSpPr>
          <p:cNvPr id="5" name="footer"/>
          <p:cNvSpPr txBox="1"/>
          <p:nvPr/>
        </p:nvSpPr>
        <p:spPr>
          <a:xfrm>
            <a:off x="594360" y="6510528"/>
            <a:ext cx="11003279" cy="219456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1320"/>
              </a:lnSpc>
              <a:spcBef>
                <a:spcPts val="0"/>
              </a:spcBef>
              <a:spcAft>
                <a:spcPts val="0"/>
              </a:spcAft>
              <a:defRPr sz="1000">
                <a:solidFill>
                  <a:srgbClr val="53677A"/>
                </a:solidFill>
                <a:latin typeface="Arial"/>
              </a:defRPr>
            </a:pPr>
            <a:r>
              <a:t>session-2.md   ·   34</a:t>
            </a:r>
          </a:p>
        </p:txBody>
      </p:sp>
      <p:sp>
        <p:nvSpPr>
          <p:cNvPr id="6" name="content:line-406:1"/>
          <p:cNvSpPr txBox="1"/>
          <p:nvPr/>
        </p:nvSpPr>
        <p:spPr>
          <a:xfrm>
            <a:off x="594360" y="1737360"/>
            <a:ext cx="11003279" cy="428244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 marL="279400" indent="-215900">
              <a:lnSpc>
                <a:spcPts val="2772"/>
              </a:lnSpc>
              <a:spcBef>
                <a:spcPts val="0"/>
              </a:spcBef>
              <a:spcAft>
                <a:spcPts val="0"/>
              </a:spcAft>
              <a:defRPr sz="2100">
                <a:solidFill>
                  <a:srgbClr val="20344A"/>
                </a:solidFill>
                <a:latin typeface="Arial"/>
              </a:defRPr>
              <a:buChar char=" "/>
            </a:pPr>
            <a:r>
              <a:rPr sz="2100" b="0" i="0">
                <a:solidFill>
                  <a:srgbClr val="20344A"/>
                </a:solidFill>
                <a:latin typeface="Arial"/>
              </a:rPr>
              <a:t>data.</a:t>
            </a:r>
          </a:p>
        </p:txBody>
      </p:sp>
      <p:sp>
        <p:nvSpPr>
          <p:cNvPr id="7" name="content:line-407:0"/>
          <p:cNvSpPr txBox="1"/>
          <p:nvPr/>
        </p:nvSpPr>
        <p:spPr>
          <a:xfrm>
            <a:off x="594360" y="2229612"/>
            <a:ext cx="11003279" cy="428244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 marL="279400" indent="-215900">
              <a:lnSpc>
                <a:spcPts val="2772"/>
              </a:lnSpc>
              <a:spcBef>
                <a:spcPts val="0"/>
              </a:spcBef>
              <a:spcAft>
                <a:spcPts val="0"/>
              </a:spcAft>
              <a:defRPr sz="2100">
                <a:solidFill>
                  <a:srgbClr val="20344A"/>
                </a:solidFill>
                <a:latin typeface="Arial"/>
              </a:defRPr>
              <a:buChar char="•"/>
            </a:pPr>
            <a:r>
              <a:rPr sz="2100" b="0" i="0">
                <a:solidFill>
                  <a:srgbClr val="20344A"/>
                </a:solidFill>
                <a:latin typeface="Arial"/>
              </a:rPr>
              <a:t>Inspect available PR checks; address review before merging.</a:t>
            </a:r>
          </a:p>
        </p:txBody>
      </p:sp>
      <p:sp>
        <p:nvSpPr>
          <p:cNvPr id="8" name="content:line-408:0"/>
          <p:cNvSpPr txBox="1"/>
          <p:nvPr/>
        </p:nvSpPr>
        <p:spPr>
          <a:xfrm>
            <a:off x="594360" y="2721864"/>
            <a:ext cx="11003279" cy="780288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 marL="279400" indent="-215900">
              <a:lnSpc>
                <a:spcPts val="2772"/>
              </a:lnSpc>
              <a:spcBef>
                <a:spcPts val="0"/>
              </a:spcBef>
              <a:spcAft>
                <a:spcPts val="0"/>
              </a:spcAft>
              <a:defRPr sz="2100">
                <a:solidFill>
                  <a:srgbClr val="20344A"/>
                </a:solidFill>
                <a:latin typeface="Arial"/>
              </a:defRPr>
              <a:buChar char="•"/>
            </a:pPr>
            <a:r>
              <a:rPr sz="2100" b="0" i="0">
                <a:solidFill>
                  <a:srgbClr val="20344A"/>
                </a:solidFill>
                <a:latin typeface="Arial"/>
              </a:rPr>
              <a:t>Keep an authored PR and a meaningful teammate review per </a:t>
            </a:r>
            <a:br/>
            <a:r>
              <a:rPr sz="2100" b="0" i="0">
                <a:solidFill>
                  <a:srgbClr val="20344A"/>
                </a:solidFill>
                <a:latin typeface="Arial"/>
              </a:rPr>
              <a:t>student.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C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accent"/>
          <p:cNvSpPr/>
          <p:nvPr/>
        </p:nvSpPr>
        <p:spPr>
          <a:xfrm>
            <a:off x="0" y="0"/>
            <a:ext cx="12191999" cy="64008"/>
          </a:xfrm>
          <a:prstGeom prst="rect">
            <a:avLst/>
          </a:prstGeom>
          <a:solidFill>
            <a:srgbClr val="007F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section"/>
          <p:cNvSpPr txBox="1"/>
          <p:nvPr/>
        </p:nvSpPr>
        <p:spPr>
          <a:xfrm>
            <a:off x="594360" y="201168"/>
            <a:ext cx="11003279" cy="256032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1452"/>
              </a:lnSpc>
              <a:spcBef>
                <a:spcPts val="0"/>
              </a:spcBef>
              <a:spcAft>
                <a:spcPts val="0"/>
              </a:spcAft>
              <a:defRPr sz="1100">
                <a:solidFill>
                  <a:srgbClr val="53677A"/>
                </a:solidFill>
                <a:latin typeface="Arial"/>
              </a:defRPr>
            </a:pPr>
            <a:r>
              <a:t>SOURCE 27 / 27</a:t>
            </a:r>
          </a:p>
        </p:txBody>
      </p:sp>
      <p:sp>
        <p:nvSpPr>
          <p:cNvPr id="4" name="title:line-412"/>
          <p:cNvSpPr txBox="1"/>
          <p:nvPr/>
        </p:nvSpPr>
        <p:spPr>
          <a:xfrm>
            <a:off x="594360" y="530352"/>
            <a:ext cx="11003279" cy="1161288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4000"/>
              </a:lnSpc>
              <a:spcBef>
                <a:spcPts val="0"/>
              </a:spcBef>
              <a:spcAft>
                <a:spcPts val="0"/>
              </a:spcAft>
              <a:defRPr sz="3200">
                <a:solidFill>
                  <a:srgbClr val="20344A"/>
                </a:solidFill>
                <a:latin typeface="Arial"/>
              </a:defRPr>
            </a:pPr>
            <a:r>
              <a:rPr sz="3200" b="0" i="0">
                <a:solidFill>
                  <a:srgbClr val="20344A"/>
                </a:solidFill>
                <a:latin typeface="Arial"/>
              </a:rPr>
              <a:t>Checkpoint: explain the framework in </a:t>
            </a:r>
            <a:br/>
            <a:r>
              <a:rPr sz="3200" b="0" i="0">
                <a:solidFill>
                  <a:srgbClr val="20344A"/>
                </a:solidFill>
                <a:latin typeface="Arial"/>
              </a:rPr>
              <a:t>plain English</a:t>
            </a:r>
          </a:p>
        </p:txBody>
      </p:sp>
      <p:sp>
        <p:nvSpPr>
          <p:cNvPr id="5" name="footer"/>
          <p:cNvSpPr txBox="1"/>
          <p:nvPr/>
        </p:nvSpPr>
        <p:spPr>
          <a:xfrm>
            <a:off x="594360" y="6510528"/>
            <a:ext cx="11003279" cy="219456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1320"/>
              </a:lnSpc>
              <a:spcBef>
                <a:spcPts val="0"/>
              </a:spcBef>
              <a:spcAft>
                <a:spcPts val="0"/>
              </a:spcAft>
              <a:defRPr sz="1000">
                <a:solidFill>
                  <a:srgbClr val="53677A"/>
                </a:solidFill>
                <a:latin typeface="Arial"/>
              </a:defRPr>
            </a:pPr>
            <a:r>
              <a:t>session-2.md   ·   35</a:t>
            </a:r>
          </a:p>
        </p:txBody>
      </p:sp>
      <p:sp>
        <p:nvSpPr>
          <p:cNvPr id="6" name="content:line-414:0"/>
          <p:cNvSpPr txBox="1"/>
          <p:nvPr/>
        </p:nvSpPr>
        <p:spPr>
          <a:xfrm>
            <a:off x="594360" y="1737360"/>
            <a:ext cx="11003279" cy="780288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 marL="279400" indent="-215900">
              <a:lnSpc>
                <a:spcPts val="2772"/>
              </a:lnSpc>
              <a:spcBef>
                <a:spcPts val="0"/>
              </a:spcBef>
              <a:spcAft>
                <a:spcPts val="0"/>
              </a:spcAft>
              <a:defRPr sz="2100">
                <a:solidFill>
                  <a:srgbClr val="20344A"/>
                </a:solidFill>
                <a:latin typeface="Arial"/>
              </a:defRPr>
              <a:buChar char="•"/>
            </a:pPr>
            <a:r>
              <a:rPr sz="2100" b="0" i="0">
                <a:solidFill>
                  <a:srgbClr val="20344A"/>
                </a:solidFill>
                <a:latin typeface="Arial"/>
              </a:rPr>
              <a:t>Module: one file's job; package: reusable imports plus </a:t>
            </a:r>
            <a:br/>
            <a:r>
              <a:rPr sz="2100" b="0" i="0">
                <a:solidFill>
                  <a:srgbClr val="20344A"/>
                </a:solidFill>
                <a:latin typeface="Arial"/>
              </a:rPr>
              <a:t>metadata.</a:t>
            </a:r>
          </a:p>
        </p:txBody>
      </p:sp>
      <p:sp>
        <p:nvSpPr>
          <p:cNvPr id="7" name="content:line-415:0"/>
          <p:cNvSpPr txBox="1"/>
          <p:nvPr/>
        </p:nvSpPr>
        <p:spPr>
          <a:xfrm>
            <a:off x="594360" y="2581656"/>
            <a:ext cx="11003279" cy="780288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 marL="279400" indent="-215900">
              <a:lnSpc>
                <a:spcPts val="2772"/>
              </a:lnSpc>
              <a:spcBef>
                <a:spcPts val="0"/>
              </a:spcBef>
              <a:spcAft>
                <a:spcPts val="0"/>
              </a:spcAft>
              <a:defRPr sz="2100">
                <a:solidFill>
                  <a:srgbClr val="20344A"/>
                </a:solidFill>
                <a:latin typeface="Arial"/>
              </a:defRPr>
              <a:buChar char="•"/>
            </a:pPr>
            <a:r>
              <a:rPr sz="2100" b="0" i="0">
                <a:solidFill>
                  <a:srgbClr val="20344A"/>
                </a:solidFill>
                <a:latin typeface="Arial"/>
              </a:rPr>
              <a:t>Processing owns calculations; API owns HTTP; UI owns </a:t>
            </a:r>
            <a:br/>
            <a:r>
              <a:rPr sz="2100" b="0" i="0">
                <a:solidFill>
                  <a:srgbClr val="20344A"/>
                </a:solidFill>
                <a:latin typeface="Arial"/>
              </a:rPr>
              <a:t>interaction.</a:t>
            </a:r>
          </a:p>
        </p:txBody>
      </p:sp>
      <p:sp>
        <p:nvSpPr>
          <p:cNvPr id="8" name="content:line-416:0"/>
          <p:cNvSpPr txBox="1"/>
          <p:nvPr/>
        </p:nvSpPr>
        <p:spPr>
          <a:xfrm>
            <a:off x="594360" y="3425952"/>
            <a:ext cx="11003279" cy="780288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 marL="279400" indent="-215900">
              <a:lnSpc>
                <a:spcPts val="2772"/>
              </a:lnSpc>
              <a:spcBef>
                <a:spcPts val="0"/>
              </a:spcBef>
              <a:spcAft>
                <a:spcPts val="0"/>
              </a:spcAft>
              <a:defRPr sz="2100">
                <a:solidFill>
                  <a:srgbClr val="20344A"/>
                </a:solidFill>
                <a:latin typeface="Arial"/>
              </a:defRPr>
              <a:buChar char="•"/>
            </a:pPr>
            <a:r>
              <a:rPr sz="2100" b="0" i="0">
                <a:solidFill>
                  <a:srgbClr val="20344A"/>
                </a:solidFill>
                <a:latin typeface="Arial"/>
              </a:rPr>
              <a:t>Editable install connects the environment to your source </a:t>
            </a:r>
            <a:br/>
            <a:r>
              <a:rPr sz="2100" b="0" i="0">
                <a:solidFill>
                  <a:srgbClr val="20344A"/>
                </a:solidFill>
                <a:latin typeface="Arial"/>
              </a:rPr>
              <a:t>checkout.</a:t>
            </a:r>
          </a:p>
        </p:txBody>
      </p:sp>
      <p:sp>
        <p:nvSpPr>
          <p:cNvPr id="9" name="content:line-417:0"/>
          <p:cNvSpPr txBox="1"/>
          <p:nvPr/>
        </p:nvSpPr>
        <p:spPr>
          <a:xfrm>
            <a:off x="594360" y="4270248"/>
            <a:ext cx="11003279" cy="780288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 marL="279400" indent="-215900">
              <a:lnSpc>
                <a:spcPts val="2772"/>
              </a:lnSpc>
              <a:spcBef>
                <a:spcPts val="0"/>
              </a:spcBef>
              <a:spcAft>
                <a:spcPts val="0"/>
              </a:spcAft>
              <a:defRPr sz="2100">
                <a:solidFill>
                  <a:srgbClr val="20344A"/>
                </a:solidFill>
                <a:latin typeface="Arial"/>
              </a:defRPr>
              <a:buChar char="•"/>
            </a:pPr>
            <a:r>
              <a:rPr sz="2100" b="0" i="0">
                <a:solidFill>
                  <a:srgbClr val="20344A"/>
                </a:solidFill>
                <a:latin typeface="Arial"/>
              </a:rPr>
              <a:t>Type hints describe values; validation checks them; logs explain </a:t>
            </a:r>
            <a:br/>
            <a:r>
              <a:rPr sz="2100" b="0" i="0">
                <a:solidFill>
                  <a:srgbClr val="20344A"/>
                </a:solidFill>
                <a:latin typeface="Arial"/>
              </a:rPr>
              <a:t>runs.</a:t>
            </a:r>
          </a:p>
        </p:txBody>
      </p:sp>
      <p:sp>
        <p:nvSpPr>
          <p:cNvPr id="10" name="content:line-418:0"/>
          <p:cNvSpPr txBox="1"/>
          <p:nvPr/>
        </p:nvSpPr>
        <p:spPr>
          <a:xfrm>
            <a:off x="594360" y="5114544"/>
            <a:ext cx="11003279" cy="428244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 marL="279400" indent="-215900">
              <a:lnSpc>
                <a:spcPts val="2772"/>
              </a:lnSpc>
              <a:spcBef>
                <a:spcPts val="0"/>
              </a:spcBef>
              <a:spcAft>
                <a:spcPts val="0"/>
              </a:spcAft>
              <a:defRPr sz="2100">
                <a:solidFill>
                  <a:srgbClr val="20344A"/>
                </a:solidFill>
                <a:latin typeface="Arial"/>
              </a:defRPr>
              <a:buChar char="•"/>
            </a:pPr>
            <a:r>
              <a:rPr sz="2100" b="0" i="0">
                <a:solidFill>
                  <a:srgbClr val="20344A"/>
                </a:solidFill>
                <a:latin typeface="Arial"/>
              </a:rPr>
              <a:t>Repeatability: agreement under the same conditions.</a:t>
            </a:r>
          </a:p>
        </p:txBody>
      </p:sp>
      <p:sp>
        <p:nvSpPr>
          <p:cNvPr id="11" name="content:line-419:0"/>
          <p:cNvSpPr txBox="1"/>
          <p:nvPr/>
        </p:nvSpPr>
        <p:spPr>
          <a:xfrm>
            <a:off x="594360" y="5606796"/>
            <a:ext cx="11003279" cy="428244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 marL="279400" indent="-215900">
              <a:lnSpc>
                <a:spcPts val="2772"/>
              </a:lnSpc>
              <a:spcBef>
                <a:spcPts val="0"/>
              </a:spcBef>
              <a:spcAft>
                <a:spcPts val="0"/>
              </a:spcAft>
              <a:defRPr sz="2100">
                <a:solidFill>
                  <a:srgbClr val="20344A"/>
                </a:solidFill>
                <a:latin typeface="Arial"/>
              </a:defRPr>
              <a:buChar char="•"/>
            </a:pPr>
            <a:r>
              <a:rPr sz="2100" b="0" i="0">
                <a:solidFill>
                  <a:srgbClr val="20344A"/>
                </a:solidFill>
                <a:latin typeface="Arial"/>
              </a:rPr>
              <a:t>Replicability: same process under slightly different conditions.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C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accent"/>
          <p:cNvSpPr/>
          <p:nvPr/>
        </p:nvSpPr>
        <p:spPr>
          <a:xfrm>
            <a:off x="0" y="0"/>
            <a:ext cx="12191999" cy="64008"/>
          </a:xfrm>
          <a:prstGeom prst="rect">
            <a:avLst/>
          </a:prstGeom>
          <a:solidFill>
            <a:srgbClr val="007F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section"/>
          <p:cNvSpPr txBox="1"/>
          <p:nvPr/>
        </p:nvSpPr>
        <p:spPr>
          <a:xfrm>
            <a:off x="594360" y="201168"/>
            <a:ext cx="11003279" cy="256032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1452"/>
              </a:lnSpc>
              <a:spcBef>
                <a:spcPts val="0"/>
              </a:spcBef>
              <a:spcAft>
                <a:spcPts val="0"/>
              </a:spcAft>
              <a:defRPr sz="1100">
                <a:solidFill>
                  <a:srgbClr val="53677A"/>
                </a:solidFill>
                <a:latin typeface="Arial"/>
              </a:defRPr>
            </a:pPr>
            <a:r>
              <a:t>SOURCE 27 / 27  ·  CONTINUED 2</a:t>
            </a:r>
          </a:p>
        </p:txBody>
      </p:sp>
      <p:sp>
        <p:nvSpPr>
          <p:cNvPr id="4" name="title:line-412"/>
          <p:cNvSpPr txBox="1"/>
          <p:nvPr/>
        </p:nvSpPr>
        <p:spPr>
          <a:xfrm>
            <a:off x="594360" y="530352"/>
            <a:ext cx="11003279" cy="1161288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4000"/>
              </a:lnSpc>
              <a:spcBef>
                <a:spcPts val="0"/>
              </a:spcBef>
              <a:spcAft>
                <a:spcPts val="0"/>
              </a:spcAft>
              <a:defRPr sz="3200">
                <a:solidFill>
                  <a:srgbClr val="20344A"/>
                </a:solidFill>
                <a:latin typeface="Arial"/>
              </a:defRPr>
            </a:pPr>
            <a:r>
              <a:rPr sz="3200" b="0" i="0">
                <a:solidFill>
                  <a:srgbClr val="20344A"/>
                </a:solidFill>
                <a:latin typeface="Arial"/>
              </a:rPr>
              <a:t>Checkpoint: explain the framework in </a:t>
            </a:r>
            <a:br/>
            <a:r>
              <a:rPr sz="3200" b="0" i="0">
                <a:solidFill>
                  <a:srgbClr val="20344A"/>
                </a:solidFill>
                <a:latin typeface="Arial"/>
              </a:rPr>
              <a:t>plain English</a:t>
            </a:r>
          </a:p>
        </p:txBody>
      </p:sp>
      <p:sp>
        <p:nvSpPr>
          <p:cNvPr id="5" name="footer"/>
          <p:cNvSpPr txBox="1"/>
          <p:nvPr/>
        </p:nvSpPr>
        <p:spPr>
          <a:xfrm>
            <a:off x="594360" y="6510528"/>
            <a:ext cx="11003279" cy="219456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1320"/>
              </a:lnSpc>
              <a:spcBef>
                <a:spcPts val="0"/>
              </a:spcBef>
              <a:spcAft>
                <a:spcPts val="0"/>
              </a:spcAft>
              <a:defRPr sz="1000">
                <a:solidFill>
                  <a:srgbClr val="53677A"/>
                </a:solidFill>
                <a:latin typeface="Arial"/>
              </a:defRPr>
            </a:pPr>
            <a:r>
              <a:t>session-2.md   ·   36</a:t>
            </a:r>
          </a:p>
        </p:txBody>
      </p:sp>
      <p:sp>
        <p:nvSpPr>
          <p:cNvPr id="6" name="content:line-420:0"/>
          <p:cNvSpPr txBox="1"/>
          <p:nvPr/>
        </p:nvSpPr>
        <p:spPr>
          <a:xfrm>
            <a:off x="594360" y="1737360"/>
            <a:ext cx="11003279" cy="780288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 marL="279400" indent="-215900">
              <a:lnSpc>
                <a:spcPts val="2772"/>
              </a:lnSpc>
              <a:spcBef>
                <a:spcPts val="0"/>
              </a:spcBef>
              <a:spcAft>
                <a:spcPts val="0"/>
              </a:spcAft>
              <a:defRPr sz="2100">
                <a:solidFill>
                  <a:srgbClr val="20344A"/>
                </a:solidFill>
                <a:latin typeface="Arial"/>
              </a:defRPr>
              <a:buChar char="•"/>
            </a:pPr>
            <a:r>
              <a:rPr sz="2100" b="0" i="0">
                <a:solidFill>
                  <a:srgbClr val="20344A"/>
                </a:solidFill>
                <a:latin typeface="Arial"/>
              </a:rPr>
              <a:t>Reproducibility: very different conditions, such as independent </a:t>
            </a:r>
            <a:br/>
            <a:r>
              <a:rPr sz="2100" b="0" i="0">
                <a:solidFill>
                  <a:srgbClr val="20344A"/>
                </a:solidFill>
                <a:latin typeface="Arial"/>
              </a:rPr>
              <a:t>simulation.</a:t>
            </a:r>
          </a:p>
        </p:txBody>
      </p:sp>
      <p:sp>
        <p:nvSpPr>
          <p:cNvPr id="7" name="content:line-421:0"/>
          <p:cNvSpPr txBox="1"/>
          <p:nvPr/>
        </p:nvSpPr>
        <p:spPr>
          <a:xfrm>
            <a:off x="594360" y="2581656"/>
            <a:ext cx="11003279" cy="780288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 marL="279400" indent="-215900">
              <a:lnSpc>
                <a:spcPts val="2772"/>
              </a:lnSpc>
              <a:spcBef>
                <a:spcPts val="0"/>
              </a:spcBef>
              <a:spcAft>
                <a:spcPts val="0"/>
              </a:spcAft>
              <a:defRPr sz="2100">
                <a:solidFill>
                  <a:srgbClr val="20344A"/>
                </a:solidFill>
                <a:latin typeface="Arial"/>
              </a:defRPr>
              <a:buChar char="•"/>
            </a:pPr>
            <a:r>
              <a:rPr sz="2100" b="0" i="0">
                <a:solidFill>
                  <a:srgbClr val="20344A"/>
                </a:solidFill>
                <a:latin typeface="Arial"/>
              </a:rPr>
              <a:t>Local/Docker comparison comes later; decimals need declared </a:t>
            </a:r>
            <a:br/>
            <a:r>
              <a:rPr sz="2100" b="0" i="0">
                <a:solidFill>
                  <a:srgbClr val="20344A"/>
                </a:solidFill>
                <a:latin typeface="Arial"/>
              </a:rPr>
              <a:t>tolerances.</a:t>
            </a:r>
          </a:p>
        </p:txBody>
      </p:sp>
      <p:sp>
        <p:nvSpPr>
          <p:cNvPr id="8" name="content:line-422:0"/>
          <p:cNvSpPr txBox="1"/>
          <p:nvPr/>
        </p:nvSpPr>
        <p:spPr>
          <a:xfrm>
            <a:off x="594360" y="3425952"/>
            <a:ext cx="11003279" cy="428244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 marL="279400" indent="-215900">
              <a:lnSpc>
                <a:spcPts val="2772"/>
              </a:lnSpc>
              <a:spcBef>
                <a:spcPts val="0"/>
              </a:spcBef>
              <a:spcAft>
                <a:spcPts val="0"/>
              </a:spcAft>
              <a:defRPr sz="2100">
                <a:solidFill>
                  <a:srgbClr val="20344A"/>
                </a:solidFill>
                <a:latin typeface="Arial"/>
              </a:defRPr>
              <a:buChar char="•"/>
            </a:pPr>
            <a:r>
              <a:rPr sz="2100" b="0" i="0">
                <a:solidFill>
                  <a:srgbClr val="20344A"/>
                </a:solidFill>
                <a:latin typeface="Arial"/>
              </a:rPr>
              <a:t>Course meanings and next session: </a:t>
            </a:r>
            <a:r>
              <a:rPr sz="2100" b="0" i="0">
                <a:solidFill>
                  <a:srgbClr val="007F82"/>
                </a:solidFill>
                <a:latin typeface="Arial"/>
                <a:hlinkClick r:id="rId2"/>
              </a:rPr>
              <a:t>glossary</a:t>
            </a:r>
            <a:r>
              <a:rPr sz="2100" b="0" i="0">
                <a:solidFill>
                  <a:srgbClr val="20344A"/>
                </a:solidFill>
                <a:latin typeface="Arial"/>
              </a:rPr>
              <a:t>, </a:t>
            </a:r>
            <a:r>
              <a:rPr sz="2100" b="0" i="0">
                <a:solidFill>
                  <a:srgbClr val="007F82"/>
                </a:solidFill>
                <a:latin typeface="Arial"/>
                <a:hlinkClick r:id="rId3"/>
              </a:rPr>
              <a:t>syllabus</a:t>
            </a:r>
            <a:r>
              <a:rPr sz="2100" b="0" i="0">
                <a:solidFill>
                  <a:srgbClr val="20344A"/>
                </a:solidFill>
                <a:latin typeface="Arial"/>
              </a:rPr>
              <a:t>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Session 2: From scripts to reusable modules</dc:title>
  <dc:subject>Editable slides generated from session-2.md</dc:subject>
  <dc:creator>Three-R course</dc:creator>
  <cp:keywords>editable, Markdown, course</cp:keywords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