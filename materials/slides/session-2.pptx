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sandbox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dr/0002-distribute-by-git-tag-not-registry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exercises/session-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23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2: A package other people can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install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goal: data in, data out, from the command line,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installable from GitHub.</a:t>
            </a:r>
          </a:p>
        </p:txBody>
      </p:sp>
      <p:sp>
        <p:nvSpPr>
          <p:cNvPr id="7" name="content:line-5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Generate your group's Backend repo from a template.</a:t>
            </a:r>
          </a:p>
        </p:txBody>
      </p:sp>
      <p:sp>
        <p:nvSpPr>
          <p:cNvPr id="8" name="content:line-6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it on the device data and check the answer.</a:t>
            </a:r>
          </a:p>
        </p:txBody>
      </p:sp>
      <p:sp>
        <p:nvSpPr>
          <p:cNvPr id="9" name="content:line-7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Tag a Release and install a teammate's.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23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170-minute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</a:t>
            </a:r>
          </a:p>
        </p:txBody>
      </p:sp>
      <p:sp>
        <p:nvSpPr>
          <p:cNvPr id="6" name="content:line-1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00–10: Back at the bubble tea shop; device example Stages 3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4.</a:t>
            </a:r>
          </a:p>
        </p:txBody>
      </p:sp>
      <p:sp>
        <p:nvSpPr>
          <p:cNvPr id="7" name="content:line-1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10–60: Explanation — modules, packages, cookiecutter,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command-line tool.</a:t>
            </a:r>
          </a:p>
        </p:txBody>
      </p:sp>
      <p:sp>
        <p:nvSpPr>
          <p:cNvPr id="8" name="content:line-15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60–70: Break — 10 minutes.</a:t>
            </a:r>
          </a:p>
        </p:txBody>
      </p:sp>
      <p:sp>
        <p:nvSpPr>
          <p:cNvPr id="9" name="content:line-16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70–130: Explanation — versions, Releases, installing from git,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first look at CI.</a:t>
            </a:r>
          </a:p>
        </p:txBody>
      </p:sp>
      <p:sp>
        <p:nvSpPr>
          <p:cNvPr id="10" name="content:line-17:0"/>
          <p:cNvSpPr txBox="1"/>
          <p:nvPr/>
        </p:nvSpPr>
        <p:spPr>
          <a:xfrm>
            <a:off x="594360" y="47625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130–170: Hands-on — generate, run, push, tag, install.</a:t>
            </a:r>
          </a:p>
        </p:txBody>
      </p:sp>
      <p:sp>
        <p:nvSpPr>
          <p:cNvPr id="11" name="content:line-19:0"/>
          <p:cNvSpPr txBox="1"/>
          <p:nvPr/>
        </p:nvSpPr>
        <p:spPr>
          <a:xfrm>
            <a:off x="594360" y="52547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Unfinished practice continues at home, in addition to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homework.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23</a:t>
            </a:r>
          </a:p>
        </p:txBody>
      </p:sp>
      <p:sp>
        <p:nvSpPr>
          <p:cNvPr id="4" name="title:line-2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</a:t>
            </a:r>
          </a:p>
        </p:txBody>
      </p:sp>
      <p:sp>
        <p:nvSpPr>
          <p:cNvPr id="6" name="content:line-2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Your best staff member is sick today. Can someone else still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make your tea?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23</a:t>
            </a:r>
          </a:p>
        </p:txBody>
      </p:sp>
      <p:sp>
        <p:nvSpPr>
          <p:cNvPr id="4" name="title:line-2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3: dependencies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declared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4</a:t>
            </a:r>
          </a:p>
        </p:txBody>
      </p:sp>
      <p:sp>
        <p:nvSpPr>
          <p:cNvPr id="6" name="content:line-3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Last time, Stage 2 crashed on a newer pandas. Stage 3 adds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requirements.txt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the crash is gone.</a:t>
            </a:r>
          </a:p>
        </p:txBody>
      </p:sp>
      <p:sp>
        <p:nvSpPr>
          <p:cNvPr id="7" name="content:line-32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It is still a notebook plus helper files. Run once, in order:</a:t>
            </a:r>
          </a:p>
        </p:txBody>
      </p:sp>
      <p:sp>
        <p:nvSpPr>
          <p:cNvPr id="8" name="content:line-35:0"/>
          <p:cNvSpPr txBox="1"/>
          <p:nvPr/>
        </p:nvSpPr>
        <p:spPr>
          <a:xfrm>
            <a:off x="594360" y="30739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DEV-C reaches the limit on 2026-01-16</a:t>
            </a:r>
          </a:p>
        </p:txBody>
      </p:sp>
      <p:sp>
        <p:nvSpPr>
          <p:cNvPr id="9" name="content:line-38:0"/>
          <p:cNvSpPr txBox="1"/>
          <p:nvPr/>
        </p:nvSpPr>
        <p:spPr>
          <a:xfrm>
            <a:off x="594360" y="345185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Rerun one cell that updates the data in place, and no error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appears:</a:t>
            </a:r>
          </a:p>
        </p:txBody>
      </p:sp>
      <p:sp>
        <p:nvSpPr>
          <p:cNvPr id="10" name="content:line-41:0"/>
          <p:cNvSpPr txBox="1"/>
          <p:nvPr/>
        </p:nvSpPr>
        <p:spPr>
          <a:xfrm>
            <a:off x="594360" y="429615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DEV-C reaches the limit on 2026-01-04</a:t>
            </a:r>
          </a:p>
        </p:txBody>
      </p:sp>
      <p:sp>
        <p:nvSpPr>
          <p:cNvPr id="11" name="content:line-44:0"/>
          <p:cNvSpPr txBox="1"/>
          <p:nvPr/>
        </p:nvSpPr>
        <p:spPr>
          <a:xfrm>
            <a:off x="594360" y="46741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answer depends on which cells ran, and in what order.</a:t>
            </a:r>
          </a:p>
        </p:txBody>
      </p:sp>
      <p:sp>
        <p:nvSpPr>
          <p:cNvPr id="12" name="content:line-45:0"/>
          <p:cNvSpPr txBox="1"/>
          <p:nvPr/>
        </p:nvSpPr>
        <p:spPr>
          <a:xfrm>
            <a:off x="594360" y="516635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tool for this pain: functions with inputs and outputs,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 a package.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23</a:t>
            </a:r>
          </a:p>
        </p:txBody>
      </p:sp>
      <p:sp>
        <p:nvSpPr>
          <p:cNvPr id="4" name="title:line-4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4: an installable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package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5</a:t>
            </a:r>
          </a:p>
        </p:txBody>
      </p:sp>
      <p:sp>
        <p:nvSpPr>
          <p:cNvPr id="6" name="content:line-5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analysis is now the package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device_limit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predict_limit_dates(counts)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takes a table and returns dates.</a:t>
            </a:r>
          </a:p>
        </p:txBody>
      </p:sp>
      <p:sp>
        <p:nvSpPr>
          <p:cNvPr id="7" name="content:line-52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from another folder, it fails: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FileNotFoundError: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'data/device_counts.csv'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The data path is relative to where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you stand.</a:t>
            </a:r>
          </a:p>
        </p:txBody>
      </p:sp>
      <p:sp>
        <p:nvSpPr>
          <p:cNvPr id="8" name="content:line-53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harmless-looking cleanup (drop days with zero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measurements) moves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DEV-C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from 2026-01-16 to 2026-01-06,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with no error or warning.</a:t>
            </a:r>
          </a:p>
        </p:txBody>
      </p:sp>
      <p:sp>
        <p:nvSpPr>
          <p:cNvPr id="9" name="content:line-54:0"/>
          <p:cNvSpPr txBox="1"/>
          <p:nvPr/>
        </p:nvSpPr>
        <p:spPr>
          <a:xfrm>
            <a:off x="594360" y="497433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Nothing checks the answer. Next session's tool: tests.</a:t>
            </a:r>
          </a:p>
        </p:txBody>
      </p:sp>
      <p:sp>
        <p:nvSpPr>
          <p:cNvPr id="10" name="content:line-55:0"/>
          <p:cNvSpPr txBox="1"/>
          <p:nvPr/>
        </p:nvSpPr>
        <p:spPr>
          <a:xfrm>
            <a:off x="594360" y="546658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Files: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device-example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folder of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Sandbox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23</a:t>
            </a:r>
          </a:p>
        </p:txBody>
      </p:sp>
      <p:sp>
        <p:nvSpPr>
          <p:cNvPr id="4" name="title:line-5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Data in, data out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6</a:t>
            </a:r>
          </a:p>
        </p:txBody>
      </p:sp>
      <p:sp>
        <p:nvSpPr>
          <p:cNvPr id="6" name="content:line-6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Your package will read a CSV and write a CSV. Same input, same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output, every time.</a:t>
            </a:r>
          </a:p>
        </p:txBody>
      </p:sp>
      <p:sp>
        <p:nvSpPr>
          <p:cNvPr id="7" name="content:line-64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device_counts.csv  →  device_limit  →  limits.csv</a:t>
            </a:r>
          </a:p>
        </p:txBody>
      </p:sp>
      <p:sp>
        <p:nvSpPr>
          <p:cNvPr id="8" name="content:line-65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(device_id, date,      predict the       (device_id,</a:t>
            </a:r>
          </a:p>
        </p:txBody>
      </p:sp>
      <p:sp>
        <p:nvSpPr>
          <p:cNvPr id="9" name="content:line-66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daily_count)          limit date        limit_date)</a:t>
            </a:r>
          </a:p>
        </p:txBody>
      </p:sp>
      <p:sp>
        <p:nvSpPr>
          <p:cNvPr id="10" name="content:line-69:0"/>
          <p:cNvSpPr txBox="1"/>
          <p:nvPr/>
        </p:nvSpPr>
        <p:spPr>
          <a:xfrm>
            <a:off x="594360" y="37155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Stage 4 code is already inside the package you generate.</a:t>
            </a:r>
          </a:p>
        </p:txBody>
      </p:sp>
      <p:sp>
        <p:nvSpPr>
          <p:cNvPr id="11" name="content:line-70:0"/>
          <p:cNvSpPr txBox="1"/>
          <p:nvPr/>
        </p:nvSpPr>
        <p:spPr>
          <a:xfrm>
            <a:off x="594360" y="42077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Your job today is the packaging: build it, share it, install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23</a:t>
            </a:r>
          </a:p>
        </p:txBody>
      </p:sp>
      <p:sp>
        <p:nvSpPr>
          <p:cNvPr id="4" name="title:line-7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Give each processing step a home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7</a:t>
            </a:r>
          </a:p>
        </p:txBody>
      </p:sp>
      <p:sp>
        <p:nvSpPr>
          <p:cNvPr id="6" name="content:line-7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module is a Python file with a clear responsibility.</a:t>
            </a:r>
          </a:p>
        </p:txBody>
      </p:sp>
      <p:sp>
        <p:nvSpPr>
          <p:cNvPr id="7" name="content:line-77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package groups modules that can be imported together.</a:t>
            </a:r>
          </a:p>
        </p:txBody>
      </p:sp>
      <p:sp>
        <p:nvSpPr>
          <p:cNvPr id="8" name="content:line-78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exploration in a notebook; give repeated work a function.</a:t>
            </a:r>
          </a:p>
        </p:txBody>
      </p:sp>
      <p:sp>
        <p:nvSpPr>
          <p:cNvPr id="9" name="content:line-79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Pass inputs in and return results; avoid hidden notebook state.</a:t>
            </a:r>
          </a:p>
        </p:txBody>
      </p:sp>
      <p:sp>
        <p:nvSpPr>
          <p:cNvPr id="10" name="content:line-80:0"/>
          <p:cNvSpPr txBox="1"/>
          <p:nvPr/>
        </p:nvSpPr>
        <p:spPr>
          <a:xfrm>
            <a:off x="594360" y="37063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Here,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predict_limit_dates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takes a table and returns dates;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command-line tool is a thin layer around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23</a:t>
            </a:r>
          </a:p>
        </p:txBody>
      </p:sp>
      <p:sp>
        <p:nvSpPr>
          <p:cNvPr id="4" name="title:line-8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cookiecutter turns answers into a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repository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8</a:t>
            </a:r>
          </a:p>
        </p:txBody>
      </p:sp>
      <p:sp>
        <p:nvSpPr>
          <p:cNvPr id="6" name="content:line-8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cookiecutter is a template folder plus a few questions. You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answer; it writes every file with your answers filled in.</a:t>
            </a:r>
          </a:p>
        </p:txBody>
      </p:sp>
      <p:sp>
        <p:nvSpPr>
          <p:cNvPr id="7" name="content:line-89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template + answers  →  new repository</a:t>
            </a:r>
          </a:p>
        </p:txBody>
      </p:sp>
      <p:sp>
        <p:nvSpPr>
          <p:cNvPr id="8" name="content:line-90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(course_template)      (device_limit/, setup.cfg, tests/, CI ...)</a:t>
            </a:r>
          </a:p>
        </p:txBody>
      </p:sp>
      <p:sp>
        <p:nvSpPr>
          <p:cNvPr id="9" name="content:line-93:0"/>
          <p:cNvSpPr txBox="1"/>
          <p:nvPr/>
        </p:nvSpPr>
        <p:spPr>
          <a:xfrm>
            <a:off x="594360" y="333755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same answers always produce the same files: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repeatability for project setup.</a:t>
            </a:r>
          </a:p>
        </p:txBody>
      </p:sp>
      <p:sp>
        <p:nvSpPr>
          <p:cNvPr id="10" name="content:line-94:0"/>
          <p:cNvSpPr txBox="1"/>
          <p:nvPr/>
        </p:nvSpPr>
        <p:spPr>
          <a:xfrm>
            <a:off x="594360" y="418185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You can change the template itself later and regenerate. That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is a homework idea.</a:t>
            </a:r>
          </a:p>
        </p:txBody>
      </p:sp>
      <p:sp>
        <p:nvSpPr>
          <p:cNvPr id="11" name="content:line-95:0"/>
          <p:cNvSpPr txBox="1"/>
          <p:nvPr/>
        </p:nvSpPr>
        <p:spPr>
          <a:xfrm>
            <a:off x="594360" y="502615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Install the tool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 -m pip install cookiecutter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inside a virtual environment.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23</a:t>
            </a:r>
          </a:p>
        </p:txBody>
      </p:sp>
      <p:sp>
        <p:nvSpPr>
          <p:cNvPr id="4" name="title:line-9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The five questions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9</a:t>
            </a:r>
          </a:p>
        </p:txBody>
      </p:sp>
      <p:sp>
        <p:nvSpPr>
          <p:cNvPr id="6" name="content:line-10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package_name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the Python name and the command, for example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device_limit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02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module_name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the file holding the processing, for example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model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03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repo_name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must match your GitHub repository and the folder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you cloned.</a:t>
            </a:r>
          </a:p>
        </p:txBody>
      </p:sp>
      <p:sp>
        <p:nvSpPr>
          <p:cNvPr id="9" name="content:line-104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author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author_email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written into the package metadata.</a:t>
            </a:r>
          </a:p>
        </p:txBody>
      </p:sp>
      <p:sp>
        <p:nvSpPr>
          <p:cNvPr id="10" name="content:line-106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Press Enter to keep the default shown in brackets. Everything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else comes from the template.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23</a:t>
            </a:r>
          </a:p>
        </p:txBody>
      </p:sp>
      <p:sp>
        <p:nvSpPr>
          <p:cNvPr id="4" name="title:line-1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What you get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10</a:t>
            </a:r>
          </a:p>
        </p:txBody>
      </p:sp>
      <p:sp>
        <p:nvSpPr>
          <p:cNvPr id="6" name="content:line-113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your-repo/</a:t>
            </a:r>
          </a:p>
        </p:txBody>
      </p:sp>
      <p:sp>
        <p:nvSpPr>
          <p:cNvPr id="7" name="content:line-114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├── data/             device_counts.csv, expected_limits.sha256</a:t>
            </a:r>
          </a:p>
        </p:txBody>
      </p:sp>
      <p:sp>
        <p:nvSpPr>
          <p:cNvPr id="8" name="content:line-115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├── src/device_limit/</a:t>
            </a:r>
          </a:p>
        </p:txBody>
      </p:sp>
      <p:sp>
        <p:nvSpPr>
          <p:cNvPr id="9" name="content:line-116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│   ├── __init__.py   the version, 0.1.0</a:t>
            </a:r>
          </a:p>
        </p:txBody>
      </p:sp>
      <p:sp>
        <p:nvSpPr>
          <p:cNvPr id="10" name="content:line-117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│   ├── model.py      the processing functions</a:t>
            </a:r>
          </a:p>
        </p:txBody>
      </p:sp>
      <p:sp>
        <p:nvSpPr>
          <p:cNvPr id="11" name="content:line-118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│   └── scripts/      the command-line tool</a:t>
            </a:r>
          </a:p>
        </p:txBody>
      </p:sp>
      <p:sp>
        <p:nvSpPr>
          <p:cNvPr id="12" name="content:line-119:0"/>
          <p:cNvSpPr txBox="1"/>
          <p:nvPr/>
        </p:nvSpPr>
        <p:spPr>
          <a:xfrm>
            <a:off x="594360" y="4005071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├── tests/            unit and integration tests (CI runs them in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Session 3)</a:t>
            </a:r>
          </a:p>
        </p:txBody>
      </p:sp>
      <p:sp>
        <p:nvSpPr>
          <p:cNvPr id="13" name="content:line-120:0"/>
          <p:cNvSpPr txBox="1"/>
          <p:nvPr/>
        </p:nvSpPr>
        <p:spPr>
          <a:xfrm>
            <a:off x="594360" y="46847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├── setup.cfg         metadata, dependencies, entry point</a:t>
            </a:r>
          </a:p>
        </p:txBody>
      </p:sp>
      <p:sp>
        <p:nvSpPr>
          <p:cNvPr id="14" name="content:line-121:0"/>
          <p:cNvSpPr txBox="1"/>
          <p:nvPr/>
        </p:nvSpPr>
        <p:spPr>
          <a:xfrm>
            <a:off x="594360" y="50627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├── Makefile          lint and test shortcuts</a:t>
            </a:r>
          </a:p>
        </p:txBody>
      </p:sp>
      <p:sp>
        <p:nvSpPr>
          <p:cNvPr id="15" name="content:line-122:0"/>
          <p:cNvSpPr txBox="1"/>
          <p:nvPr/>
        </p:nvSpPr>
        <p:spPr>
          <a:xfrm>
            <a:off x="594360" y="54406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└── .github/workflows/github_actions.yml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23</a:t>
            </a:r>
          </a:p>
        </p:txBody>
      </p:sp>
      <p:sp>
        <p:nvSpPr>
          <p:cNvPr id="4" name="title:line-12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setup.cfg describes the package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11</a:t>
            </a:r>
          </a:p>
        </p:txBody>
      </p:sp>
      <p:sp>
        <p:nvSpPr>
          <p:cNvPr id="6" name="content:line-12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[metadata]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name, author, and the version read from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__init__.py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30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[options]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Python version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install_requires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(click, numpy,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pandas).</a:t>
            </a:r>
          </a:p>
        </p:txBody>
      </p:sp>
      <p:sp>
        <p:nvSpPr>
          <p:cNvPr id="8" name="content:line-131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[options.extras_require]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optional extras such 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installed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pip install '.[test]'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132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[options.entry_points]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a line that creates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device_limit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command.</a:t>
            </a:r>
          </a:p>
        </p:txBody>
      </p:sp>
      <p:sp>
        <p:nvSpPr>
          <p:cNvPr id="10" name="content:line-134:0"/>
          <p:cNvSpPr txBox="1"/>
          <p:nvPr/>
        </p:nvSpPr>
        <p:spPr>
          <a:xfrm>
            <a:off x="594360" y="51145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An editable install,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pip install -e '.[test]'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lets you change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code and rerun without reinstalling.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23</a:t>
            </a:r>
          </a:p>
        </p:txBody>
      </p:sp>
      <p:sp>
        <p:nvSpPr>
          <p:cNvPr id="4" name="title:line-13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The command-line tool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12</a:t>
            </a:r>
          </a:p>
        </p:txBody>
      </p:sp>
      <p:sp>
        <p:nvSpPr>
          <p:cNvPr id="6" name="content:line-141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device_limit --input data/device_counts.csv --output limits.csv</a:t>
            </a:r>
          </a:p>
        </p:txBody>
      </p:sp>
      <p:sp>
        <p:nvSpPr>
          <p:cNvPr id="7" name="content:line-144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--input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must be an existing CSV with columns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device_id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date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daily_count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45:0"/>
          <p:cNvSpPr txBox="1"/>
          <p:nvPr/>
        </p:nvSpPr>
        <p:spPr>
          <a:xfrm>
            <a:off x="594360" y="29596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--output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the file to write: one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limit_date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per device.</a:t>
            </a:r>
          </a:p>
        </p:txBody>
      </p:sp>
      <p:sp>
        <p:nvSpPr>
          <p:cNvPr id="9" name="content:line-146:0"/>
          <p:cNvSpPr txBox="1"/>
          <p:nvPr/>
        </p:nvSpPr>
        <p:spPr>
          <a:xfrm>
            <a:off x="594360" y="34518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missing column stops the run with a clear message; it does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not write a half answer.</a:t>
            </a:r>
          </a:p>
        </p:txBody>
      </p:sp>
      <p:sp>
        <p:nvSpPr>
          <p:cNvPr id="10" name="content:line-147:0"/>
          <p:cNvSpPr txBox="1"/>
          <p:nvPr/>
        </p:nvSpPr>
        <p:spPr>
          <a:xfrm>
            <a:off x="594360" y="42961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--version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prints the package version.</a:t>
            </a:r>
          </a:p>
        </p:txBody>
      </p:sp>
      <p:sp>
        <p:nvSpPr>
          <p:cNvPr id="11" name="content:line-149:0"/>
          <p:cNvSpPr txBox="1"/>
          <p:nvPr/>
        </p:nvSpPr>
        <p:spPr>
          <a:xfrm>
            <a:off x="594360" y="47884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tool uses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click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library; the processing itself does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know about the command line.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23</a:t>
            </a:r>
          </a:p>
        </p:txBody>
      </p:sp>
      <p:sp>
        <p:nvSpPr>
          <p:cNvPr id="4" name="title:line-15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Logs tell you what ran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13</a:t>
            </a:r>
          </a:p>
        </p:txBody>
      </p:sp>
      <p:sp>
        <p:nvSpPr>
          <p:cNvPr id="6" name="content:line-15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package logs one line when it reads a file:</a:t>
            </a:r>
          </a:p>
        </p:txBody>
      </p:sp>
      <p:sp>
        <p:nvSpPr>
          <p:cNvPr id="7" name="content:line-158:0"/>
          <p:cNvSpPr txBox="1"/>
          <p:nvPr/>
        </p:nvSpPr>
        <p:spPr>
          <a:xfrm>
            <a:off x="594360" y="2229612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26/10/2026 09:31:17 (from load_counts) INFO: Read 1095 rows from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data/device_counts.csv</a:t>
            </a:r>
          </a:p>
        </p:txBody>
      </p:sp>
      <p:sp>
        <p:nvSpPr>
          <p:cNvPr id="8" name="content:line-161:0"/>
          <p:cNvSpPr txBox="1"/>
          <p:nvPr/>
        </p:nvSpPr>
        <p:spPr>
          <a:xfrm>
            <a:off x="594360" y="290931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LOGLEVEL=DEBUG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to see more, or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WARNING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to see less.</a:t>
            </a:r>
          </a:p>
        </p:txBody>
      </p:sp>
      <p:sp>
        <p:nvSpPr>
          <p:cNvPr id="9" name="content:line-162:0"/>
          <p:cNvSpPr txBox="1"/>
          <p:nvPr/>
        </p:nvSpPr>
        <p:spPr>
          <a:xfrm>
            <a:off x="594360" y="340156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Logs go to the terminal; the result goes to the output file.</a:t>
            </a:r>
          </a:p>
        </p:txBody>
      </p:sp>
      <p:sp>
        <p:nvSpPr>
          <p:cNvPr id="10" name="content:line-163:0"/>
          <p:cNvSpPr txBox="1"/>
          <p:nvPr/>
        </p:nvSpPr>
        <p:spPr>
          <a:xfrm>
            <a:off x="594360" y="389381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Prefer logging over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print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so you can change the detail without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editing code.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23</a:t>
            </a:r>
          </a:p>
        </p:txBody>
      </p:sp>
      <p:sp>
        <p:nvSpPr>
          <p:cNvPr id="4" name="title:line-16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 the answer: the reference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checksum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14</a:t>
            </a:r>
          </a:p>
        </p:txBody>
      </p:sp>
      <p:sp>
        <p:nvSpPr>
          <p:cNvPr id="6" name="content:line-16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checksum is a short fingerprint of a file. If two files have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same SHA-256, they are byte-for-byte identical.</a:t>
            </a:r>
          </a:p>
        </p:txBody>
      </p:sp>
      <p:sp>
        <p:nvSpPr>
          <p:cNvPr id="7" name="content:line-172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shasum -a 256 limits.csv</a:t>
            </a:r>
          </a:p>
        </p:txBody>
      </p:sp>
      <p:sp>
        <p:nvSpPr>
          <p:cNvPr id="8" name="content:line-175:0"/>
          <p:cNvSpPr txBox="1"/>
          <p:nvPr/>
        </p:nvSpPr>
        <p:spPr>
          <a:xfrm>
            <a:off x="594360" y="2959607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Compare the result with the value in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data/expected_limits.sha256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Your classmates' output must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match too: that is repeatability, checked by a machine.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23</a:t>
            </a:r>
          </a:p>
        </p:txBody>
      </p:sp>
      <p:sp>
        <p:nvSpPr>
          <p:cNvPr id="4" name="title:line-17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Release is a version someone else can pin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15</a:t>
            </a:r>
          </a:p>
        </p:txBody>
      </p:sp>
      <p:sp>
        <p:nvSpPr>
          <p:cNvPr id="6" name="content:line-18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Three steps, always in this order:</a:t>
            </a:r>
          </a:p>
        </p:txBody>
      </p:sp>
      <p:sp>
        <p:nvSpPr>
          <p:cNvPr id="7" name="content:line-183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Change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__version__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src/&lt;package&gt;/__init__.py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through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reviewed pull request.</a:t>
            </a:r>
          </a:p>
        </p:txBody>
      </p:sp>
      <p:sp>
        <p:nvSpPr>
          <p:cNvPr id="8" name="content:line-184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After it is merged, tag the merge commit: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tag v0.1.0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185:0"/>
          <p:cNvSpPr txBox="1"/>
          <p:nvPr/>
        </p:nvSpPr>
        <p:spPr>
          <a:xfrm>
            <a:off x="594360" y="35661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Push the tag: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push origin v0.1.0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(or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push --tags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).</a:t>
            </a:r>
          </a:p>
        </p:txBody>
      </p:sp>
      <p:sp>
        <p:nvSpPr>
          <p:cNvPr id="10" name="content:line-187:0"/>
          <p:cNvSpPr txBox="1"/>
          <p:nvPr/>
        </p:nvSpPr>
        <p:spPr>
          <a:xfrm>
            <a:off x="594360" y="40584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tag is now a fixed point. Anyone who installs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v0.1.0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gets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exactly that code, even after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moves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23</a:t>
            </a:r>
          </a:p>
        </p:txBody>
      </p:sp>
      <p:sp>
        <p:nvSpPr>
          <p:cNvPr id="4" name="title:line-19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Install a Release from its git URL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16</a:t>
            </a:r>
          </a:p>
        </p:txBody>
      </p:sp>
      <p:sp>
        <p:nvSpPr>
          <p:cNvPr id="6" name="content:line-194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python3.12 -m venv .venv</a:t>
            </a:r>
          </a:p>
        </p:txBody>
      </p:sp>
      <p:sp>
        <p:nvSpPr>
          <p:cNvPr id="7" name="content:line-195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8" name="content:line-196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pip install "git+https://github.com/ORG/REPO.git@v0.1.0"</a:t>
            </a:r>
          </a:p>
        </p:txBody>
      </p:sp>
      <p:sp>
        <p:nvSpPr>
          <p:cNvPr id="9" name="content:line-197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device_limit --input data.csv --output limits.csv</a:t>
            </a:r>
          </a:p>
        </p:txBody>
      </p:sp>
      <p:sp>
        <p:nvSpPr>
          <p:cNvPr id="10" name="content:line-200:0"/>
          <p:cNvSpPr txBox="1"/>
          <p:nvPr/>
        </p:nvSpPr>
        <p:spPr>
          <a:xfrm>
            <a:off x="594360" y="32491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@v0.1.0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pins the tag; without it you get whatever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today.</a:t>
            </a:r>
          </a:p>
        </p:txBody>
      </p:sp>
      <p:sp>
        <p:nvSpPr>
          <p:cNvPr id="11" name="content:line-201:0"/>
          <p:cNvSpPr txBox="1"/>
          <p:nvPr/>
        </p:nvSpPr>
        <p:spPr>
          <a:xfrm>
            <a:off x="594360" y="40934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a fresh virtual environment so leftovers cannot hide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problem.</a:t>
            </a:r>
          </a:p>
        </p:txBody>
      </p:sp>
      <p:sp>
        <p:nvSpPr>
          <p:cNvPr id="12" name="content:line-202:0"/>
          <p:cNvSpPr txBox="1"/>
          <p:nvPr/>
        </p:nvSpPr>
        <p:spPr>
          <a:xfrm>
            <a:off x="594360" y="49377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works because your repository is public: no account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token is needed.</a:t>
            </a:r>
          </a:p>
        </p:txBody>
      </p:sp>
      <p:sp>
        <p:nvSpPr>
          <p:cNvPr id="13" name="content:line-204:0"/>
          <p:cNvSpPr txBox="1"/>
          <p:nvPr/>
        </p:nvSpPr>
        <p:spPr>
          <a:xfrm>
            <a:off x="594360" y="57820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why we install from git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23</a:t>
            </a:r>
          </a:p>
        </p:txBody>
      </p:sp>
      <p:sp>
        <p:nvSpPr>
          <p:cNvPr id="4" name="title:line-20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What about PyPI?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17</a:t>
            </a:r>
          </a:p>
        </p:txBody>
      </p:sp>
      <p:sp>
        <p:nvSpPr>
          <p:cNvPr id="6" name="content:line-210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PyPI is the public index behind a plain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pip install pandas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Mature packages are published there.</a:t>
            </a:r>
          </a:p>
        </p:txBody>
      </p:sp>
      <p:sp>
        <p:nvSpPr>
          <p:cNvPr id="7" name="content:line-212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Uploads are permanent: a name and version can never be reused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or removed cleanly.</a:t>
            </a:r>
          </a:p>
        </p:txBody>
      </p:sp>
      <p:sp>
        <p:nvSpPr>
          <p:cNvPr id="8" name="content:line-213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Immature student packages and name clashes would stay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public.</a:t>
            </a:r>
          </a:p>
        </p:txBody>
      </p:sp>
      <p:sp>
        <p:nvSpPr>
          <p:cNvPr id="9" name="content:line-214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TestPyPI is a safe practice index, but it needs accounts,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two-factor setup and publisher configuration.</a:t>
            </a:r>
          </a:p>
        </p:txBody>
      </p:sp>
      <p:sp>
        <p:nvSpPr>
          <p:cNvPr id="10" name="content:line-216:0"/>
          <p:cNvSpPr txBox="1"/>
          <p:nvPr/>
        </p:nvSpPr>
        <p:spPr>
          <a:xfrm>
            <a:off x="594360" y="511454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this course a tagged Release on GitHub gives the same lesson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without the permanence. You would move to PyPI when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 is stable and has a good name.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23</a:t>
            </a:r>
          </a:p>
        </p:txBody>
      </p:sp>
      <p:sp>
        <p:nvSpPr>
          <p:cNvPr id="4" name="title:line-22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CI: a first look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18</a:t>
            </a:r>
          </a:p>
        </p:txBody>
      </p:sp>
      <p:sp>
        <p:nvSpPr>
          <p:cNvPr id="6" name="content:line-22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Continuous integration (CI) runs automated checks on every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push.</a:t>
            </a:r>
          </a:p>
        </p:txBody>
      </p:sp>
      <p:sp>
        <p:nvSpPr>
          <p:cNvPr id="7" name="content:line-224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Your repo ships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.github/workflows/github_actions.yml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25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It installs the package and runs the formatting and lint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checks, then the command on the sample data.</a:t>
            </a:r>
          </a:p>
        </p:txBody>
      </p:sp>
      <p:sp>
        <p:nvSpPr>
          <p:cNvPr id="9" name="content:line-226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green check reports success for one commit; it does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prove every requirement.</a:t>
            </a:r>
          </a:p>
        </p:txBody>
      </p:sp>
      <p:sp>
        <p:nvSpPr>
          <p:cNvPr id="10" name="content:line-227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test job is commented out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#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In Session 3 you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remove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#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it starts running your tests.</a:t>
            </a:r>
          </a:p>
        </p:txBody>
      </p:sp>
      <p:sp>
        <p:nvSpPr>
          <p:cNvPr id="11" name="content:line-228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Later, a repository rule can require the check before merging.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23</a:t>
            </a:r>
          </a:p>
        </p:txBody>
      </p:sp>
      <p:sp>
        <p:nvSpPr>
          <p:cNvPr id="4" name="title:line-23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generate the repository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19</a:t>
            </a:r>
          </a:p>
        </p:txBody>
      </p:sp>
      <p:sp>
        <p:nvSpPr>
          <p:cNvPr id="6" name="content:line-23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Create an empty public repository on GitHub, then:</a:t>
            </a:r>
          </a:p>
        </p:txBody>
      </p:sp>
      <p:sp>
        <p:nvSpPr>
          <p:cNvPr id="7" name="content:line-23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clone git@github.com:ORG/REPO.git</a:t>
            </a:r>
          </a:p>
        </p:txBody>
      </p:sp>
      <p:sp>
        <p:nvSpPr>
          <p:cNvPr id="8" name="content:line-23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cd REPO</a:t>
            </a:r>
          </a:p>
        </p:txBody>
      </p:sp>
      <p:sp>
        <p:nvSpPr>
          <p:cNvPr id="9" name="content:line-239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python3.12 -m venv .venv</a:t>
            </a:r>
          </a:p>
        </p:txBody>
      </p:sp>
      <p:sp>
        <p:nvSpPr>
          <p:cNvPr id="10" name="content:line-240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11" name="content:line-241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cookiecutter</a:t>
            </a:r>
          </a:p>
        </p:txBody>
      </p:sp>
      <p:sp>
        <p:nvSpPr>
          <p:cNvPr id="12" name="content:line-242:0"/>
          <p:cNvSpPr txBox="1"/>
          <p:nvPr/>
        </p:nvSpPr>
        <p:spPr>
          <a:xfrm>
            <a:off x="594360" y="4119371"/>
            <a:ext cx="11003279" cy="981455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cookiecutter -f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git@github.com:drweihungpan-lab/devops-python-package-template.git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--directory course_template -o ..</a:t>
            </a:r>
          </a:p>
        </p:txBody>
      </p:sp>
      <p:sp>
        <p:nvSpPr>
          <p:cNvPr id="13" name="content:line-245:0"/>
          <p:cNvSpPr txBox="1"/>
          <p:nvPr/>
        </p:nvSpPr>
        <p:spPr>
          <a:xfrm>
            <a:off x="594360" y="5100827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Answer the five questions. Use the same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REPO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repo_name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-o ..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writes the files into your clone, one folder up from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where you stand.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23</a:t>
            </a:r>
          </a:p>
        </p:txBody>
      </p:sp>
      <p:sp>
        <p:nvSpPr>
          <p:cNvPr id="4" name="title:line-24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install it and run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20</a:t>
            </a:r>
          </a:p>
        </p:txBody>
      </p:sp>
      <p:sp>
        <p:nvSpPr>
          <p:cNvPr id="6" name="content:line-25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generated files are now in your clone. Install it with 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test tools:</a:t>
            </a:r>
          </a:p>
        </p:txBody>
      </p:sp>
      <p:sp>
        <p:nvSpPr>
          <p:cNvPr id="7" name="content:line-254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pip install -e '.[test]'</a:t>
            </a:r>
          </a:p>
        </p:txBody>
      </p:sp>
      <p:sp>
        <p:nvSpPr>
          <p:cNvPr id="8" name="content:line-255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device_limit --input data/device_counts.csv --output limits.csv</a:t>
            </a:r>
          </a:p>
        </p:txBody>
      </p:sp>
      <p:sp>
        <p:nvSpPr>
          <p:cNvPr id="9" name="content:line-256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cat limits.csv</a:t>
            </a:r>
          </a:p>
        </p:txBody>
      </p:sp>
      <p:sp>
        <p:nvSpPr>
          <p:cNvPr id="10" name="content:line-257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shasum -a 256 limits.csv</a:t>
            </a:r>
          </a:p>
        </p:txBody>
      </p:sp>
      <p:sp>
        <p:nvSpPr>
          <p:cNvPr id="11" name="content:line-260:0"/>
          <p:cNvSpPr txBox="1"/>
          <p:nvPr/>
        </p:nvSpPr>
        <p:spPr>
          <a:xfrm>
            <a:off x="594360" y="40934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three rows, DEV-A to DEV-C, and a SHA-256 that equals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data/expected_limits.sha256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23</a:t>
            </a:r>
          </a:p>
        </p:txBody>
      </p:sp>
      <p:sp>
        <p:nvSpPr>
          <p:cNvPr id="4" name="title:line-26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pull request, merge, tag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21</a:t>
            </a:r>
          </a:p>
        </p:txBody>
      </p:sp>
      <p:sp>
        <p:nvSpPr>
          <p:cNvPr id="6" name="content:line-267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feature/generate-package</a:t>
            </a:r>
          </a:p>
        </p:txBody>
      </p:sp>
      <p:sp>
        <p:nvSpPr>
          <p:cNvPr id="7" name="content:line-268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.</a:t>
            </a:r>
          </a:p>
        </p:txBody>
      </p:sp>
      <p:sp>
        <p:nvSpPr>
          <p:cNvPr id="8" name="content:line-269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"Generate package from course template"</a:t>
            </a:r>
          </a:p>
        </p:txBody>
      </p:sp>
      <p:sp>
        <p:nvSpPr>
          <p:cNvPr id="9" name="content:line-270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 -u origin feature/generate-package</a:t>
            </a:r>
          </a:p>
        </p:txBody>
      </p:sp>
      <p:sp>
        <p:nvSpPr>
          <p:cNvPr id="10" name="content:line-273:0"/>
          <p:cNvSpPr txBox="1"/>
          <p:nvPr/>
        </p:nvSpPr>
        <p:spPr>
          <a:xfrm>
            <a:off x="594360" y="32491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the pull request, watch the check run, ask a teammate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review, then merge on GitHub.</a:t>
            </a:r>
          </a:p>
        </p:txBody>
      </p:sp>
      <p:sp>
        <p:nvSpPr>
          <p:cNvPr id="11" name="content:line-276:0"/>
          <p:cNvSpPr txBox="1"/>
          <p:nvPr/>
        </p:nvSpPr>
        <p:spPr>
          <a:xfrm>
            <a:off x="594360" y="40934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main</a:t>
            </a:r>
          </a:p>
        </p:txBody>
      </p:sp>
      <p:sp>
        <p:nvSpPr>
          <p:cNvPr id="12" name="content:line-277:0"/>
          <p:cNvSpPr txBox="1"/>
          <p:nvPr/>
        </p:nvSpPr>
        <p:spPr>
          <a:xfrm>
            <a:off x="594360" y="447141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pull --ff-only origin main</a:t>
            </a:r>
          </a:p>
        </p:txBody>
      </p:sp>
      <p:sp>
        <p:nvSpPr>
          <p:cNvPr id="13" name="content:line-278:0"/>
          <p:cNvSpPr txBox="1"/>
          <p:nvPr/>
        </p:nvSpPr>
        <p:spPr>
          <a:xfrm>
            <a:off x="594360" y="48493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tag v0.1.0</a:t>
            </a:r>
          </a:p>
        </p:txBody>
      </p:sp>
      <p:sp>
        <p:nvSpPr>
          <p:cNvPr id="14" name="content:line-279:0"/>
          <p:cNvSpPr txBox="1"/>
          <p:nvPr/>
        </p:nvSpPr>
        <p:spPr>
          <a:xfrm>
            <a:off x="594360" y="52273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 origin v0.1.0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23</a:t>
            </a:r>
          </a:p>
        </p:txBody>
      </p:sp>
      <p:sp>
        <p:nvSpPr>
          <p:cNvPr id="4" name="title:line-28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Hands-on: 40 minutes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22</a:t>
            </a:r>
          </a:p>
        </p:txBody>
      </p:sp>
      <p:sp>
        <p:nvSpPr>
          <p:cNvPr id="6" name="content:line-28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 minutes: create the repository, generate it, install it,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 the checksum.</a:t>
            </a:r>
          </a:p>
        </p:txBody>
      </p:sp>
      <p:sp>
        <p:nvSpPr>
          <p:cNvPr id="7" name="content:line-287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 minutes: open the pull request, get a review, merge.</a:t>
            </a:r>
          </a:p>
        </p:txBody>
      </p:sp>
      <p:sp>
        <p:nvSpPr>
          <p:cNvPr id="8" name="content:line-288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5 minutes: tag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v0.1.0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push the tag.</a:t>
            </a:r>
          </a:p>
        </p:txBody>
      </p:sp>
      <p:sp>
        <p:nvSpPr>
          <p:cNvPr id="9" name="content:line-289:0"/>
          <p:cNvSpPr txBox="1"/>
          <p:nvPr/>
        </p:nvSpPr>
        <p:spPr>
          <a:xfrm>
            <a:off x="594360" y="3566159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install a teammate's Release into a fresh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 and confirm their output matches the reference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checksum.</a:t>
            </a:r>
          </a:p>
        </p:txBody>
      </p:sp>
      <p:sp>
        <p:nvSpPr>
          <p:cNvPr id="10" name="content:line-291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the exercise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stuck. Your Backend repo is where your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pull request and review count as final evidence.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23</a:t>
            </a:r>
          </a:p>
        </p:txBody>
      </p:sp>
      <p:sp>
        <p:nvSpPr>
          <p:cNvPr id="4" name="title:line-29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 and next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23</a:t>
            </a:r>
          </a:p>
        </p:txBody>
      </p:sp>
      <p:sp>
        <p:nvSpPr>
          <p:cNvPr id="6" name="content:line-29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checkpoint: each group has a public Backend repo with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tagged Release that someone else installed and ran, matching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reference checksum.</a:t>
            </a:r>
          </a:p>
        </p:txBody>
      </p:sp>
      <p:sp>
        <p:nvSpPr>
          <p:cNvPr id="7" name="content:line-299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 is approximately two hours; details will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 posted separately.</a:t>
            </a:r>
          </a:p>
        </p:txBody>
      </p:sp>
      <p:sp>
        <p:nvSpPr>
          <p:cNvPr id="8" name="content:line-30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session: tests with pytest, and switching on the test job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 CI.</a:t>
            </a:r>
          </a:p>
        </p:txBody>
      </p:sp>
      <p:sp>
        <p:nvSpPr>
          <p:cNvPr id="9" name="content:line-302:0"/>
          <p:cNvSpPr txBox="1"/>
          <p:nvPr/>
        </p:nvSpPr>
        <p:spPr>
          <a:xfrm>
            <a:off x="594360" y="462229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the full course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2: A package other people can install</dc:title>
  <dc:subject>Editable slides generated from session-2.md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