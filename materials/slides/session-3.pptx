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device-exampl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app/main.py" TargetMode="External"/><Relationship Id="rId3" Type="http://schemas.openxmlformats.org/officeDocument/2006/relationships/hyperlink" Target="../../backend/stat_core/__init__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#input-rules-and-error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tests/test_processing.py" TargetMode="External"/><Relationship Id="rId3" Type="http://schemas.openxmlformats.org/officeDocument/2006/relationships/hyperlink" Target="../../backend/tests/test_validation.py" TargetMode="External"/><Relationship Id="rId4" Type="http://schemas.openxmlformats.org/officeDocument/2006/relationships/hyperlink" Target="../../backend/tests/test_api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tests/conftest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docs/testing.md#exact-and-approximate-comparisons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app/main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tests/test_processing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sting.md#controlled-failure-and-recover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i.md#inspect-a-failure-and-its-correction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github/workflows/backend-tests.y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24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3: Validation, pytest, and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automated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a CSV request through FastAPI into reusable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accepted inputs, missing values, and useful errors.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tests, diagnose a failure, and inspect automated checks.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supplied synthetic example; no model building is needed.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24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A customer orders a tea with −20% sugar. What do you do?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24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5: tests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4's package gains tests. One test pins the expected limit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date for each device on the fixed synthetic data.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CI runs the tests on every push and pull request.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same "cleanup" as last session (drop zero-count days)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now arrives as a pull request:</a:t>
            </a:r>
          </a:p>
        </p:txBody>
      </p:sp>
      <p:sp>
        <p:nvSpPr>
          <p:cNvPr id="9" name="content:line-23:0"/>
          <p:cNvSpPr txBox="1"/>
          <p:nvPr/>
        </p:nvSpPr>
        <p:spPr>
          <a:xfrm>
            <a:off x="594360" y="39182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FAILED test_limit_dates_are_pinned_for_the_fixed_synthetic_data</a:t>
            </a:r>
          </a:p>
        </p:txBody>
      </p:sp>
      <p:sp>
        <p:nvSpPr>
          <p:cNvPr id="10" name="content:line-24:0"/>
          <p:cNvSpPr txBox="1"/>
          <p:nvPr/>
        </p:nvSpPr>
        <p:spPr>
          <a:xfrm>
            <a:off x="594360" y="42961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3 failed, 3 passed   CI: red</a:t>
            </a:r>
          </a:p>
        </p:txBody>
      </p:sp>
      <p:sp>
        <p:nvSpPr>
          <p:cNvPr id="11" name="content:line-27:0"/>
          <p:cNvSpPr txBox="1"/>
          <p:nvPr/>
        </p:nvSpPr>
        <p:spPr>
          <a:xfrm>
            <a:off x="594360" y="46741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check catches exactly the bug that slipped through before.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stays green.</a:t>
            </a:r>
          </a:p>
        </p:txBody>
      </p:sp>
      <p:sp>
        <p:nvSpPr>
          <p:cNvPr id="12" name="content:line-28:0"/>
          <p:cNvSpPr txBox="1"/>
          <p:nvPr/>
        </p:nvSpPr>
        <p:spPr>
          <a:xfrm>
            <a:off x="594360" y="55184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Stage 5 also runs from any folder: the data path no longer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depends on where you stand.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24  ·  CONTINUED 2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5: tests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4</a:t>
            </a:r>
          </a:p>
        </p:txBody>
      </p:sp>
      <p:sp>
        <p:nvSpPr>
          <p:cNvPr id="6" name="content:line-2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Files: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3R-device-example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24</a:t>
            </a:r>
          </a:p>
        </p:txBody>
      </p:sp>
      <p:sp>
        <p:nvSpPr>
          <p:cNvPr id="4" name="title:line-3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5</a:t>
            </a:r>
          </a:p>
        </p:txBody>
      </p:sp>
      <p:sp>
        <p:nvSpPr>
          <p:cNvPr id="6" name="content:line-3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0–10: device example — Stage 5.</a:t>
            </a:r>
          </a:p>
        </p:txBody>
      </p:sp>
      <p:sp>
        <p:nvSpPr>
          <p:cNvPr id="7" name="content:line-36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10–45: explanation — contracts, validation, fixtures,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comparisons.</a:t>
            </a:r>
          </a:p>
        </p:txBody>
      </p:sp>
      <p:sp>
        <p:nvSpPr>
          <p:cNvPr id="8" name="content:line-37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requests, failure, correction, local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CI checks.</a:t>
            </a:r>
          </a:p>
        </p:txBody>
      </p:sp>
      <p:sp>
        <p:nvSpPr>
          <p:cNvPr id="9" name="content:line-38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10" name="content:line-39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trace 15, inspect 20, change 20, check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20, review 15.</a:t>
            </a:r>
          </a:p>
        </p:txBody>
      </p:sp>
      <p:sp>
        <p:nvSpPr>
          <p:cNvPr id="11" name="content:line-40:0"/>
          <p:cNvSpPr txBox="1"/>
          <p:nvPr/>
        </p:nvSpPr>
        <p:spPr>
          <a:xfrm>
            <a:off x="594360" y="52547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Timings are provisional;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24</a:t>
            </a:r>
          </a:p>
        </p:txBody>
      </p:sp>
      <p:sp>
        <p:nvSpPr>
          <p:cNvPr id="4" name="title:line-4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Follow the request across public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boundaries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6</a:t>
            </a:r>
          </a:p>
        </p:txBody>
      </p:sp>
      <p:sp>
        <p:nvSpPr>
          <p:cNvPr id="6" name="content:line-4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An API is a defined way for programs to exchange inputs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results.</a:t>
            </a:r>
          </a:p>
        </p:txBody>
      </p:sp>
      <p:sp>
        <p:nvSpPr>
          <p:cNvPr id="7" name="content:line-49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POST /process: two CSV file uploads</a:t>
            </a:r>
          </a:p>
        </p:txBody>
      </p:sp>
      <p:sp>
        <p:nvSpPr>
          <p:cNvPr id="8" name="content:line-50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backend/app/main.py: read uploads, decode UTF-8</a:t>
            </a:r>
          </a:p>
        </p:txBody>
      </p:sp>
      <p:sp>
        <p:nvSpPr>
          <p:cNvPr id="9" name="content:line-51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stat_core.process_csv: validate, join, summarize</a:t>
            </a:r>
          </a:p>
        </p:txBody>
      </p:sp>
      <p:sp>
        <p:nvSpPr>
          <p:cNvPr id="10" name="content:line-52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ProcessResult: check the result shape</a:t>
            </a:r>
          </a:p>
        </p:txBody>
      </p:sp>
      <p:sp>
        <p:nvSpPr>
          <p:cNvPr id="11" name="content:line-53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HTTP 200: return JSON</a:t>
            </a:r>
          </a:p>
        </p:txBody>
      </p:sp>
      <p:sp>
        <p:nvSpPr>
          <p:cNvPr id="12" name="content:line-56:0"/>
          <p:cNvSpPr txBox="1"/>
          <p:nvPr/>
        </p:nvSpPr>
        <p:spPr>
          <a:xfrm>
            <a:off x="594360" y="44714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accepts CSV contents, not paths or HTTP objects.</a:t>
            </a:r>
          </a:p>
        </p:txBody>
      </p:sp>
      <p:sp>
        <p:nvSpPr>
          <p:cNvPr id="13" name="content:line-57:0"/>
          <p:cNvSpPr txBox="1"/>
          <p:nvPr/>
        </p:nvSpPr>
        <p:spPr>
          <a:xfrm>
            <a:off x="594360" y="49636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API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public processing entry point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24</a:t>
            </a:r>
          </a:p>
        </p:txBody>
      </p:sp>
      <p:sp>
        <p:nvSpPr>
          <p:cNvPr id="4" name="title:line-6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contract tells callers what to expect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7</a:t>
            </a:r>
          </a:p>
        </p:txBody>
      </p:sp>
      <p:sp>
        <p:nvSpPr>
          <p:cNvPr id="6" name="content:line-6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Multipart means named file parts: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participants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laboratory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6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FastAPI checks the upload fields; CSV validation checks their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contents.</a:t>
            </a:r>
          </a:p>
        </p:txBody>
      </p:sp>
      <p:sp>
        <p:nvSpPr>
          <p:cNvPr id="8" name="content:line-65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Pydantic models describe and check result and error shapes.</a:t>
            </a:r>
          </a:p>
        </p:txBody>
      </p:sp>
      <p:sp>
        <p:nvSpPr>
          <p:cNvPr id="9" name="content:line-66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ProcessResult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contains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67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value: float | None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allows a number or unavailable value;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JSON uses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68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inspect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/openapi.json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</a:t>
            </a:r>
          </a:p>
        </p:txBody>
      </p:sp>
      <p:sp>
        <p:nvSpPr>
          <p:cNvPr id="4" name="title:line-7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Validate meaning as well as type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8</a:t>
            </a:r>
          </a:p>
        </p:txBody>
      </p:sp>
      <p:sp>
        <p:nvSpPr>
          <p:cNvPr id="6" name="content:line-7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DM: participants. LB: laboratory observations.</a:t>
            </a:r>
          </a:p>
        </p:txBody>
      </p:sp>
      <p:sp>
        <p:nvSpPr>
          <p:cNvPr id="7" name="content:line-7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Join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STUDYID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preserve text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such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76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 key: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(STUDYID, USUBJID)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LB adds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LBSEQ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uniqueness.</a:t>
            </a:r>
          </a:p>
        </p:txBody>
      </p:sp>
      <p:sp>
        <p:nvSpPr>
          <p:cNvPr id="9" name="content:line-77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must be a nonnegative integer in years.</a:t>
            </a:r>
          </a:p>
        </p:txBody>
      </p:sp>
      <p:sp>
        <p:nvSpPr>
          <p:cNvPr id="10" name="content:line-78:0"/>
          <p:cNvSpPr txBox="1"/>
          <p:nvPr/>
        </p:nvSpPr>
        <p:spPr>
          <a:xfrm>
            <a:off x="594360" y="40584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LBORRES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LBSTRESN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must agree: finite, nonnegative numbers.</a:t>
            </a:r>
          </a:p>
        </p:txBody>
      </p:sp>
      <p:sp>
        <p:nvSpPr>
          <p:cNvPr id="11" name="content:line-79:0"/>
          <p:cNvSpPr txBox="1"/>
          <p:nvPr/>
        </p:nvSpPr>
        <p:spPr>
          <a:xfrm>
            <a:off x="594360" y="45506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Both result units: exactly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nmol/L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no conversion.</a:t>
            </a:r>
          </a:p>
        </p:txBody>
      </p:sp>
      <p:sp>
        <p:nvSpPr>
          <p:cNvPr id="12" name="content:line-80:0"/>
          <p:cNvSpPr txBox="1"/>
          <p:nvPr/>
        </p:nvSpPr>
        <p:spPr>
          <a:xfrm>
            <a:off x="594360" y="504291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Input rules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also cover visits, dates, test names, and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columns.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</a:t>
            </a:r>
          </a:p>
        </p:txBody>
      </p:sp>
      <p:sp>
        <p:nvSpPr>
          <p:cNvPr id="4" name="title:line-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Missing values carry information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9</a:t>
            </a:r>
          </a:p>
        </p:txBody>
      </p:sp>
      <p:sp>
        <p:nvSpPr>
          <p:cNvPr id="6" name="content:line-8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Missing: both result cells empty,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LBSTAT=NOT DONE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LBREASND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nonempty.</a:t>
            </a:r>
          </a:p>
        </p:txBody>
      </p:sp>
      <p:sp>
        <p:nvSpPr>
          <p:cNvPr id="7" name="content:line-8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Observed: numeric results, empty status and reason; zero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observed.</a:t>
            </a:r>
          </a:p>
        </p:txBody>
      </p:sp>
      <p:sp>
        <p:nvSpPr>
          <p:cNvPr id="8" name="content:line-88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Output missing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value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percent_change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remain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89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Means use observed values only; an all-missing group has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mean=null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90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Unavailable baseline: null changes. Zero baseline: null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percentage change.</a:t>
            </a:r>
          </a:p>
        </p:txBody>
      </p:sp>
      <p:sp>
        <p:nvSpPr>
          <p:cNvPr id="11" name="content:line-91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Omitted visits add no rows to the missing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24</a:t>
            </a:r>
          </a:p>
        </p:txBody>
      </p:sp>
      <p:sp>
        <p:nvSpPr>
          <p:cNvPr id="4" name="title:line-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HTTP status and error location guide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repair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10</a:t>
            </a:r>
          </a:p>
        </p:txBody>
      </p:sp>
      <p:sp>
        <p:nvSpPr>
          <p:cNvPr id="6" name="content:line-9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200: processing succeeded; inspect the returned result.</a:t>
            </a:r>
          </a:p>
        </p:txBody>
      </p:sp>
      <p:sp>
        <p:nvSpPr>
          <p:cNvPr id="7" name="content:line-98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422: invalid CSV, invalid UTF-8, or missing upload fields.</a:t>
            </a:r>
          </a:p>
        </p:txBody>
      </p:sp>
      <p:sp>
        <p:nvSpPr>
          <p:cNvPr id="8" name="content:line-99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413: one upload exceeds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MAX_UPLOAD_BYTES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default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5,242,880 bytes per file.</a:t>
            </a:r>
          </a:p>
        </p:txBody>
      </p:sp>
      <p:sp>
        <p:nvSpPr>
          <p:cNvPr id="9" name="content:line-100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Errors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detail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containing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row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field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message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01:0"/>
          <p:cNvSpPr txBox="1"/>
          <p:nvPr/>
        </p:nvSpPr>
        <p:spPr>
          <a:xfrm>
            <a:off x="594360" y="40584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header is line 1; file-level errors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row=null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102:0"/>
          <p:cNvSpPr txBox="1"/>
          <p:nvPr/>
        </p:nvSpPr>
        <p:spPr>
          <a:xfrm>
            <a:off x="594360" y="45506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validation reports the first detected error; fix it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retry.</a:t>
            </a:r>
          </a:p>
        </p:txBody>
      </p:sp>
      <p:sp>
        <p:nvSpPr>
          <p:cNvPr id="12" name="content:line-103:0"/>
          <p:cNvSpPr txBox="1"/>
          <p:nvPr/>
        </p:nvSpPr>
        <p:spPr>
          <a:xfrm>
            <a:off x="594360" y="53949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Python callers receive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InvalidInputError.issues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callers receive JSON.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</a:t>
            </a:r>
          </a:p>
        </p:txBody>
      </p:sp>
      <p:sp>
        <p:nvSpPr>
          <p:cNvPr id="4" name="title:line-10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Test behavior callers can observe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11</a:t>
            </a:r>
          </a:p>
        </p:txBody>
      </p:sp>
      <p:sp>
        <p:nvSpPr>
          <p:cNvPr id="6" name="content:line-10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test compares a public result with a declared expectation.</a:t>
            </a:r>
          </a:p>
        </p:txBody>
      </p:sp>
      <p:sp>
        <p:nvSpPr>
          <p:cNvPr id="7" name="content:line-111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Processing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records, summaries, and missingness via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12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Validation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rejected inputs and error issues.</a:t>
            </a:r>
          </a:p>
        </p:txBody>
      </p:sp>
      <p:sp>
        <p:nvSpPr>
          <p:cNvPr id="9" name="content:line-113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API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multipart requests, status codes, and response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schemas.</a:t>
            </a:r>
          </a:p>
        </p:txBody>
      </p:sp>
      <p:sp>
        <p:nvSpPr>
          <p:cNvPr id="10" name="content:line-114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TestClient sends requests inside Python; no server is needed.</a:t>
            </a:r>
          </a:p>
        </p:txBody>
      </p:sp>
      <p:sp>
        <p:nvSpPr>
          <p:cNvPr id="11" name="content:line-115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results independently of production helpers or internal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call order.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</a:t>
            </a:r>
          </a:p>
        </p:txBody>
      </p:sp>
      <p:sp>
        <p:nvSpPr>
          <p:cNvPr id="4" name="title:line-11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Fixtures provide reusable inputs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12</a:t>
            </a:r>
          </a:p>
        </p:txBody>
      </p:sp>
      <p:sp>
        <p:nvSpPr>
          <p:cNvPr id="6" name="content:line-12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pytest fixture provides named inputs or resources to a test.</a:t>
            </a:r>
          </a:p>
        </p:txBody>
      </p:sp>
      <p:sp>
        <p:nvSpPr>
          <p:cNvPr id="7" name="content:line-12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conftest.py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pytest discovers it automatically.</a:t>
            </a:r>
          </a:p>
        </p:txBody>
      </p:sp>
      <p:sp>
        <p:nvSpPr>
          <p:cNvPr id="8" name="content:line-12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supplied_csv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unchanged synthetic DM and LB contents.</a:t>
            </a:r>
          </a:p>
        </p:txBody>
      </p:sp>
      <p:sp>
        <p:nvSpPr>
          <p:cNvPr id="9" name="content:line-125:0"/>
          <p:cNvSpPr txBox="1"/>
          <p:nvPr/>
        </p:nvSpPr>
        <p:spPr>
          <a:xfrm>
            <a:off x="594360" y="32141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tiny_rows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fresh DM and LB dictionaries so tests do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affect each other.</a:t>
            </a:r>
          </a:p>
        </p:txBody>
      </p:sp>
      <p:sp>
        <p:nvSpPr>
          <p:cNvPr id="10" name="content:line-126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csv_text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turns those rows into CSV;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tiny_csv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supplies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 strings.</a:t>
            </a:r>
          </a:p>
        </p:txBody>
      </p:sp>
      <p:sp>
        <p:nvSpPr>
          <p:cNvPr id="11" name="content:line-127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client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supplies TestClient;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uploads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names the two multipart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24</a:t>
            </a:r>
          </a:p>
        </p:txBody>
      </p:sp>
      <p:sp>
        <p:nvSpPr>
          <p:cNvPr id="4" name="title:line-13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Work out the expected answer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independently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13</a:t>
            </a:r>
          </a:p>
        </p:txBody>
      </p:sp>
      <p:sp>
        <p:nvSpPr>
          <p:cNvPr id="6" name="content:line-13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Tiny inputs: Active participants have values 10 → 5 and 20 → 15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nmol/L.</a:t>
            </a:r>
          </a:p>
        </p:txBody>
      </p:sp>
      <p:sp>
        <p:nvSpPr>
          <p:cNvPr id="7" name="content:line-13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Baseline mean: 15; DAY 15 mean: 10 nmol/L.</a:t>
            </a:r>
          </a:p>
        </p:txBody>
      </p:sp>
      <p:sp>
        <p:nvSpPr>
          <p:cNvPr id="8" name="content:line-13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Changes: −5 nmol/L each; percentage changes: −50 and −25.</a:t>
            </a:r>
          </a:p>
        </p:txBody>
      </p:sp>
      <p:sp>
        <p:nvSpPr>
          <p:cNvPr id="9" name="content:line-13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third participant has no LB rows but still counts in DM.</a:t>
            </a:r>
          </a:p>
        </p:txBody>
      </p:sp>
      <p:sp>
        <p:nvSpPr>
          <p:cNvPr id="10" name="content:line-137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Expected totals: 3 participants, 4 records, 4 observed, 0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missing.</a:t>
            </a:r>
          </a:p>
        </p:txBody>
      </p:sp>
      <p:sp>
        <p:nvSpPr>
          <p:cNvPr id="11" name="content:line-138:0"/>
          <p:cNvSpPr txBox="1"/>
          <p:nvPr/>
        </p:nvSpPr>
        <p:spPr>
          <a:xfrm>
            <a:off x="594360" y="49027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worked literals let tests detect a wrong calculation.</a:t>
            </a:r>
          </a:p>
        </p:txBody>
      </p:sp>
      <p:sp>
        <p:nvSpPr>
          <p:cNvPr id="12" name="content:line-139:0"/>
          <p:cNvSpPr txBox="1"/>
          <p:nvPr/>
        </p:nvSpPr>
        <p:spPr>
          <a:xfrm>
            <a:off x="594360" y="53949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Engineering checks do not establish a clinical conclusion.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24</a:t>
            </a:r>
          </a:p>
        </p:txBody>
      </p:sp>
      <p:sp>
        <p:nvSpPr>
          <p:cNvPr id="4" name="title:line-14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Declare exact and approximate 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14</a:t>
            </a:r>
          </a:p>
        </p:txBody>
      </p:sp>
      <p:sp>
        <p:nvSpPr>
          <p:cNvPr id="6" name="content:line-14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identifiers, dates, order, units, counts, raw values,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copied baselines, and nulls.</a:t>
            </a:r>
          </a:p>
        </p:txBody>
      </p:sp>
      <p:sp>
        <p:nvSpPr>
          <p:cNvPr id="7" name="content:line-146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Approximate: only calculated means, changes, and percentages.</a:t>
            </a:r>
          </a:p>
        </p:txBody>
      </p:sp>
      <p:sp>
        <p:nvSpPr>
          <p:cNvPr id="8" name="content:line-149:0"/>
          <p:cNvSpPr txBox="1"/>
          <p:nvPr/>
        </p:nvSpPr>
        <p:spPr>
          <a:xfrm>
            <a:off x="594360" y="30739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assert actual == pytest.approx(expected, rel=1e-9, abs=1e-9)</a:t>
            </a:r>
          </a:p>
        </p:txBody>
      </p:sp>
      <p:sp>
        <p:nvSpPr>
          <p:cNvPr id="9" name="content:line-152:0"/>
          <p:cNvSpPr txBox="1"/>
          <p:nvPr/>
        </p:nvSpPr>
        <p:spPr>
          <a:xfrm>
            <a:off x="594360" y="34518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Allowed difference: the larger of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1e-9 * abs(expected)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1e-9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53:0"/>
          <p:cNvSpPr txBox="1"/>
          <p:nvPr/>
        </p:nvSpPr>
        <p:spPr>
          <a:xfrm>
            <a:off x="594360" y="429615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Absolute units: nmol/L for means/changes; percentage points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percentages.</a:t>
            </a:r>
          </a:p>
        </p:txBody>
      </p:sp>
      <p:sp>
        <p:nvSpPr>
          <p:cNvPr id="11" name="content:line-154:0"/>
          <p:cNvSpPr txBox="1"/>
          <p:nvPr/>
        </p:nvSpPr>
        <p:spPr>
          <a:xfrm>
            <a:off x="594360" y="51404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Relative tolerance has no unit. Preserve full precision.</a:t>
            </a:r>
          </a:p>
        </p:txBody>
      </p:sp>
      <p:sp>
        <p:nvSpPr>
          <p:cNvPr id="12" name="content:line-155:0"/>
          <p:cNvSpPr txBox="1"/>
          <p:nvPr/>
        </p:nvSpPr>
        <p:spPr>
          <a:xfrm>
            <a:off x="594360" y="563270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is an engineering rule, not a clinical threshold.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</a:t>
            </a:r>
          </a:p>
        </p:txBody>
      </p:sp>
      <p:sp>
        <p:nvSpPr>
          <p:cNvPr id="4" name="title:line-15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Connect checks to 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15</a:t>
            </a:r>
          </a:p>
        </p:txBody>
      </p:sp>
      <p:sp>
        <p:nvSpPr>
          <p:cNvPr id="6" name="content:line-16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runs under the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conditions.</a:t>
            </a:r>
          </a:p>
        </p:txBody>
      </p:sp>
      <p:sp>
        <p:nvSpPr>
          <p:cNvPr id="7" name="content:line-162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Repeated local runs also compare decimals exactly.</a:t>
            </a:r>
          </a:p>
        </p:txBody>
      </p:sp>
      <p:sp>
        <p:nvSpPr>
          <p:cNvPr id="8" name="content:line-163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local versus Docker.</a:t>
            </a:r>
          </a:p>
        </p:txBody>
      </p:sp>
      <p:sp>
        <p:nvSpPr>
          <p:cNvPr id="9" name="content:line-164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Passing CI alone does not compare local and Docker outputs.</a:t>
            </a:r>
          </a:p>
        </p:txBody>
      </p:sp>
      <p:sp>
        <p:nvSpPr>
          <p:cNvPr id="10" name="content:line-165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independent simulation; conceptual here.</a:t>
            </a:r>
          </a:p>
        </p:txBody>
      </p:sp>
      <p:sp>
        <p:nvSpPr>
          <p:cNvPr id="11" name="content:line-166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Session 4 compares outputs; 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comparison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rules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</a:t>
            </a:r>
          </a:p>
        </p:txBody>
      </p:sp>
      <p:sp>
        <p:nvSpPr>
          <p:cNvPr id="4" name="title:line-1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start from the working backend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16</a:t>
            </a:r>
          </a:p>
        </p:txBody>
      </p:sp>
      <p:sp>
        <p:nvSpPr>
          <p:cNvPr id="6" name="content:line-17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Python 3.12 and the activated backend development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Run commands from the repository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root.</a:t>
            </a:r>
          </a:p>
        </p:txBody>
      </p:sp>
      <p:sp>
        <p:nvSpPr>
          <p:cNvPr id="7" name="content:line-17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8" name="content:line-17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9" name="content:line-179:0"/>
          <p:cNvSpPr txBox="1"/>
          <p:nvPr/>
        </p:nvSpPr>
        <p:spPr>
          <a:xfrm>
            <a:off x="594360" y="36896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this terminal running; use a second terminal for requests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tests.</a:t>
            </a:r>
          </a:p>
        </p:txBody>
      </p:sp>
      <p:sp>
        <p:nvSpPr>
          <p:cNvPr id="10" name="content:line-180:0"/>
          <p:cNvSpPr txBox="1"/>
          <p:nvPr/>
        </p:nvSpPr>
        <p:spPr>
          <a:xfrm>
            <a:off x="594360" y="45339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inspect schemas and try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uploads.</a:t>
            </a:r>
          </a:p>
        </p:txBody>
      </p:sp>
      <p:sp>
        <p:nvSpPr>
          <p:cNvPr id="11" name="content:line-181:0"/>
          <p:cNvSpPr txBox="1"/>
          <p:nvPr/>
        </p:nvSpPr>
        <p:spPr>
          <a:xfrm>
            <a:off x="594360" y="53781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GET 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checks service availability, not data validity.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</a:t>
            </a:r>
          </a:p>
        </p:txBody>
      </p:sp>
      <p:sp>
        <p:nvSpPr>
          <p:cNvPr id="4" name="title:line-18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send a valid multipart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17</a:t>
            </a:r>
          </a:p>
        </p:txBody>
      </p:sp>
      <p:sp>
        <p:nvSpPr>
          <p:cNvPr id="6" name="content:line-188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7" name="content:line-189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8" name="content:line-190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9" name="content:line-193:0"/>
          <p:cNvSpPr txBox="1"/>
          <p:nvPr/>
        </p:nvSpPr>
        <p:spPr>
          <a:xfrm>
            <a:off x="594360" y="28712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200: 24 participants, 96 records, 95 observed, 1 missing.</a:t>
            </a:r>
          </a:p>
        </p:txBody>
      </p:sp>
      <p:sp>
        <p:nvSpPr>
          <p:cNvPr id="10" name="content:line-194:0"/>
          <p:cNvSpPr txBox="1"/>
          <p:nvPr/>
        </p:nvSpPr>
        <p:spPr>
          <a:xfrm>
            <a:off x="594360" y="33634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well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as counts.</a:t>
            </a:r>
          </a:p>
        </p:txBody>
      </p:sp>
      <p:sp>
        <p:nvSpPr>
          <p:cNvPr id="11" name="content:line-195:0"/>
          <p:cNvSpPr txBox="1"/>
          <p:nvPr/>
        </p:nvSpPr>
        <p:spPr>
          <a:xfrm>
            <a:off x="594360" y="42077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EDU-LPA-007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at DAY 30: null value,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NOT DONE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SPECIMEN NOT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AVAILABLE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196:0"/>
          <p:cNvSpPr txBox="1"/>
          <p:nvPr/>
        </p:nvSpPr>
        <p:spPr>
          <a:xfrm>
            <a:off x="594360" y="50520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request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main.py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</a:t>
            </a:r>
          </a:p>
        </p:txBody>
      </p:sp>
      <p:sp>
        <p:nvSpPr>
          <p:cNvPr id="4" name="title:line-20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reject an invalid 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18</a:t>
            </a:r>
          </a:p>
        </p:txBody>
      </p:sp>
      <p:sp>
        <p:nvSpPr>
          <p:cNvPr id="6" name="content:line-20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Copy DM, then edit the first data row's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forty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the copy.</a:t>
            </a:r>
          </a:p>
        </p:txBody>
      </p:sp>
      <p:sp>
        <p:nvSpPr>
          <p:cNvPr id="7" name="content:line-205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cp data/synthetic/dm.csv /tmp/session-3-dm-invalid.csv</a:t>
            </a:r>
          </a:p>
        </p:txBody>
      </p:sp>
      <p:sp>
        <p:nvSpPr>
          <p:cNvPr id="8" name="content:line-208:0"/>
          <p:cNvSpPr txBox="1"/>
          <p:nvPr/>
        </p:nvSpPr>
        <p:spPr>
          <a:xfrm>
            <a:off x="594360" y="26075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POST /process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→ Try it out.</a:t>
            </a:r>
          </a:p>
        </p:txBody>
      </p:sp>
      <p:sp>
        <p:nvSpPr>
          <p:cNvPr id="9" name="content:line-209:0"/>
          <p:cNvSpPr txBox="1"/>
          <p:nvPr/>
        </p:nvSpPr>
        <p:spPr>
          <a:xfrm>
            <a:off x="594360" y="30998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the copy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participants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data/synthetic/lb.csv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laboratory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210:0"/>
          <p:cNvSpPr txBox="1"/>
          <p:nvPr/>
        </p:nvSpPr>
        <p:spPr>
          <a:xfrm>
            <a:off x="594360" y="39441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Execute: HTTP 422,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detail[0]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participants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row 2,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211:0"/>
          <p:cNvSpPr txBox="1"/>
          <p:nvPr/>
        </p:nvSpPr>
        <p:spPr>
          <a:xfrm>
            <a:off x="594360" y="44363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Message: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Expected a nonnegative integer.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Restore the age;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retry for HTTP 200.</a:t>
            </a:r>
          </a:p>
        </p:txBody>
      </p:sp>
      <p:sp>
        <p:nvSpPr>
          <p:cNvPr id="12" name="content:line-212:0"/>
          <p:cNvSpPr txBox="1"/>
          <p:nvPr/>
        </p:nvSpPr>
        <p:spPr>
          <a:xfrm>
            <a:off x="594360" y="52806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keep supplied data unchanged.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24</a:t>
            </a:r>
          </a:p>
        </p:txBody>
      </p:sp>
      <p:sp>
        <p:nvSpPr>
          <p:cNvPr id="4" name="title:line-2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tests and read one public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behavior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19</a:t>
            </a:r>
          </a:p>
        </p:txBody>
      </p:sp>
      <p:sp>
        <p:nvSpPr>
          <p:cNvPr id="6" name="content:line-21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7" name="content:line-222:0"/>
          <p:cNvSpPr txBox="1"/>
          <p:nvPr/>
        </p:nvSpPr>
        <p:spPr>
          <a:xfrm>
            <a:off x="594360" y="21153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test_processing.py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using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tiny_csv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fixture:</a:t>
            </a:r>
          </a:p>
        </p:txBody>
      </p:sp>
      <p:sp>
        <p:nvSpPr>
          <p:cNvPr id="8" name="content:line-225:0"/>
          <p:cNvSpPr txBox="1"/>
          <p:nvPr/>
        </p:nvSpPr>
        <p:spPr>
          <a:xfrm>
            <a:off x="594360" y="2607564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test_worked_summaries_include_dm_participants_without_lab_rows(tiny_c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sv):</a:t>
            </a:r>
          </a:p>
        </p:txBody>
      </p:sp>
      <p:sp>
        <p:nvSpPr>
          <p:cNvPr id="9" name="content:line-226:0"/>
          <p:cNvSpPr txBox="1"/>
          <p:nvPr/>
        </p:nvSpPr>
        <p:spPr>
          <a:xfrm>
            <a:off x="594360" y="358902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result = process_csv(*tiny_csv)</a:t>
            </a:r>
          </a:p>
        </p:txBody>
      </p:sp>
      <p:sp>
        <p:nvSpPr>
          <p:cNvPr id="10" name="content:line-229:0"/>
          <p:cNvSpPr txBox="1"/>
          <p:nvPr/>
        </p:nvSpPr>
        <p:spPr>
          <a:xfrm>
            <a:off x="594360" y="396697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*tiny_csv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passes the two CSV strings separately to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230:0"/>
          <p:cNvSpPr txBox="1"/>
          <p:nvPr/>
        </p:nvSpPr>
        <p:spPr>
          <a:xfrm>
            <a:off x="594360" y="481126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literal counts and mean expectations in this test.</a:t>
            </a:r>
          </a:p>
        </p:txBody>
      </p:sp>
      <p:sp>
        <p:nvSpPr>
          <p:cNvPr id="12" name="content:line-231:0"/>
          <p:cNvSpPr txBox="1"/>
          <p:nvPr/>
        </p:nvSpPr>
        <p:spPr>
          <a:xfrm>
            <a:off x="594360" y="530352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Pytest discovers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test_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functions; a failed assertion identifies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mismatch.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24</a:t>
            </a:r>
          </a:p>
        </p:txBody>
      </p:sp>
      <p:sp>
        <p:nvSpPr>
          <p:cNvPr id="4" name="title:line-23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introduce one controlled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20</a:t>
            </a:r>
          </a:p>
        </p:txBody>
      </p:sp>
      <p:sp>
        <p:nvSpPr>
          <p:cNvPr id="6" name="content:line-23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 disposable teaching branch or copy, edit only this test's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expected baseline mean: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[15.0, 10.0]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→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[16.0, 10.0]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40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\</a:t>
            </a:r>
          </a:p>
        </p:txBody>
      </p:sp>
      <p:sp>
        <p:nvSpPr>
          <p:cNvPr id="8" name="content:line-241:0"/>
          <p:cNvSpPr txBox="1"/>
          <p:nvPr/>
        </p:nvSpPr>
        <p:spPr>
          <a:xfrm>
            <a:off x="594360" y="2959607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backend/tests/test_processing.py::test_worked_summaries_include_dm_pa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rticipants_without_lab_rows \</a:t>
            </a:r>
          </a:p>
        </p:txBody>
      </p:sp>
      <p:sp>
        <p:nvSpPr>
          <p:cNvPr id="9" name="content:line-242:0"/>
          <p:cNvSpPr txBox="1"/>
          <p:nvPr/>
        </p:nvSpPr>
        <p:spPr>
          <a:xfrm>
            <a:off x="594360" y="39410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-q</a:t>
            </a:r>
          </a:p>
        </p:txBody>
      </p:sp>
      <p:sp>
        <p:nvSpPr>
          <p:cNvPr id="10" name="content:line-245:0"/>
          <p:cNvSpPr txBox="1"/>
          <p:nvPr/>
        </p:nvSpPr>
        <p:spPr>
          <a:xfrm>
            <a:off x="594360" y="43190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::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selects this exact test;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-q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reduces routine output.</a:t>
            </a:r>
          </a:p>
        </p:txBody>
      </p:sp>
      <p:sp>
        <p:nvSpPr>
          <p:cNvPr id="11" name="content:line-246:0"/>
          <p:cNvSpPr txBox="1"/>
          <p:nvPr/>
        </p:nvSpPr>
        <p:spPr>
          <a:xfrm>
            <a:off x="594360" y="48112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1 failed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Obtained: 15.0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Expected: 16.0 ± 1.6e-08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247:0"/>
          <p:cNvSpPr txBox="1"/>
          <p:nvPr/>
        </p:nvSpPr>
        <p:spPr>
          <a:xfrm>
            <a:off x="594360" y="53035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input baseline values 10 and 20 support 15; the edited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expectation is wrong.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</a:t>
            </a:r>
          </a:p>
        </p:txBody>
      </p:sp>
      <p:sp>
        <p:nvSpPr>
          <p:cNvPr id="4" name="title:line-25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correct the expectation and check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again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21</a:t>
            </a:r>
          </a:p>
        </p:txBody>
      </p:sp>
      <p:sp>
        <p:nvSpPr>
          <p:cNvPr id="6" name="content:line-25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Restore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[15.0, 10.0]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then repeat the exact command on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previous slide: 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1 passed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56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8" name="content:line-257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backend/tests/test_processing.py</a:t>
            </a:r>
          </a:p>
        </p:txBody>
      </p:sp>
      <p:sp>
        <p:nvSpPr>
          <p:cNvPr id="9" name="content:line-260:0"/>
          <p:cNvSpPr txBox="1"/>
          <p:nvPr/>
        </p:nvSpPr>
        <p:spPr>
          <a:xfrm>
            <a:off x="594360" y="33375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Confirm the full suite passes and the temporary edit is gone.</a:t>
            </a:r>
          </a:p>
        </p:txBody>
      </p:sp>
      <p:sp>
        <p:nvSpPr>
          <p:cNvPr id="10" name="content:line-261:0"/>
          <p:cNvSpPr txBox="1"/>
          <p:nvPr/>
        </p:nvSpPr>
        <p:spPr>
          <a:xfrm>
            <a:off x="594360" y="38298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Correct the expectation, rather than changing processing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tolerance.</a:t>
            </a:r>
          </a:p>
        </p:txBody>
      </p:sp>
      <p:sp>
        <p:nvSpPr>
          <p:cNvPr id="11" name="content:line-262:0"/>
          <p:cNvSpPr txBox="1"/>
          <p:nvPr/>
        </p:nvSpPr>
        <p:spPr>
          <a:xfrm>
            <a:off x="594360" y="46741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the distributed example passing;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failure and recovery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</a:t>
            </a:r>
          </a:p>
        </p:txBody>
      </p:sp>
      <p:sp>
        <p:nvSpPr>
          <p:cNvPr id="4" name="title:line-26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inspect the same checks on GitHub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22</a:t>
            </a:r>
          </a:p>
        </p:txBody>
      </p:sp>
      <p:sp>
        <p:nvSpPr>
          <p:cNvPr id="6" name="content:line-26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 Checks → Backend tests → Run backend tests.</a:t>
            </a:r>
          </a:p>
        </p:txBody>
      </p:sp>
      <p:sp>
        <p:nvSpPr>
          <p:cNvPr id="7" name="content:line-26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Actions → Backend CI: check branch and commit ID (SHA).</a:t>
            </a:r>
          </a:p>
        </p:txBody>
      </p:sp>
      <p:sp>
        <p:nvSpPr>
          <p:cNvPr id="8" name="content:line-270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Ubuntu/Python 3.12: install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./backend[dev]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pytest backend/tests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71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Disposable teaching PR: push the wrong expectation, inspect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failure, push correction.</a:t>
            </a:r>
          </a:p>
        </p:txBody>
      </p:sp>
      <p:sp>
        <p:nvSpPr>
          <p:cNvPr id="10" name="content:line-272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Verify the corrected commit succeeds; rerunning the old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tests old code.</a:t>
            </a:r>
          </a:p>
        </p:txBody>
      </p:sp>
      <p:sp>
        <p:nvSpPr>
          <p:cNvPr id="11" name="content:line-273:0"/>
          <p:cNvSpPr txBox="1"/>
          <p:nvPr/>
        </p:nvSpPr>
        <p:spPr>
          <a:xfrm>
            <a:off x="594360" y="52547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failed step: setup/install or pytest.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CI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</a:t>
            </a:r>
          </a:p>
        </p:txBody>
      </p:sp>
      <p:sp>
        <p:nvSpPr>
          <p:cNvPr id="4" name="title:line-27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Reporting a check is different from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requiring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23</a:t>
            </a:r>
          </a:p>
        </p:txBody>
      </p:sp>
      <p:sp>
        <p:nvSpPr>
          <p:cNvPr id="6" name="content:line-27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Backend CI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runs for every PR, including documentation.</a:t>
            </a:r>
          </a:p>
        </p:txBody>
      </p:sp>
      <p:sp>
        <p:nvSpPr>
          <p:cNvPr id="7" name="content:line-280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Pushes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authoring integration branch also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trigger it.</a:t>
            </a:r>
          </a:p>
        </p:txBody>
      </p:sp>
      <p:sp>
        <p:nvSpPr>
          <p:cNvPr id="8" name="content:line-281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workflow reports results; it does not itself block merging.</a:t>
            </a:r>
          </a:p>
        </p:txBody>
      </p:sp>
      <p:sp>
        <p:nvSpPr>
          <p:cNvPr id="9" name="content:line-282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administrator must require PRs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 rule.</a:t>
            </a:r>
          </a:p>
        </p:txBody>
      </p:sp>
      <p:sp>
        <p:nvSpPr>
          <p:cNvPr id="10" name="content:line-283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Student workflow: feature branch → PR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→ peer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 → checked merge.</a:t>
            </a:r>
          </a:p>
        </p:txBody>
      </p:sp>
      <p:sp>
        <p:nvSpPr>
          <p:cNvPr id="11" name="content:line-284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dependency cache saves downloads; it does not lock package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</a:t>
            </a:r>
          </a:p>
        </p:txBody>
      </p:sp>
      <p:sp>
        <p:nvSpPr>
          <p:cNvPr id="4" name="title:line-2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24</a:t>
            </a:r>
          </a:p>
        </p:txBody>
      </p:sp>
      <p:sp>
        <p:nvSpPr>
          <p:cNvPr id="6" name="content:line-29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before practice.</a:t>
            </a:r>
          </a:p>
        </p:txBody>
      </p:sp>
      <p:sp>
        <p:nvSpPr>
          <p:cNvPr id="7" name="content:line-291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trace a request and its four result fields.</a:t>
            </a:r>
          </a:p>
        </p:txBody>
      </p:sp>
      <p:sp>
        <p:nvSpPr>
          <p:cNvPr id="8" name="content:line-292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inspect missingness, units, keys, and fixtures.</a:t>
            </a:r>
          </a:p>
        </p:txBody>
      </p:sp>
      <p:sp>
        <p:nvSpPr>
          <p:cNvPr id="9" name="content:line-293:0"/>
          <p:cNvSpPr txBox="1"/>
          <p:nvPr/>
        </p:nvSpPr>
        <p:spPr>
          <a:xfrm>
            <a:off x="594360" y="32141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use a disposable copy for the 15 → 16 → 15 failure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correction.</a:t>
            </a:r>
          </a:p>
        </p:txBody>
      </p:sp>
      <p:sp>
        <p:nvSpPr>
          <p:cNvPr id="10" name="content:line-294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one small test or validation change on a feature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branch; check behavior and the full suite.</a:t>
            </a:r>
          </a:p>
        </p:txBody>
      </p:sp>
      <p:sp>
        <p:nvSpPr>
          <p:cNvPr id="11" name="content:line-295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inspect the corrected PR check; review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teammate's behavior, tests, or clarity.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</a:t>
            </a:r>
          </a:p>
        </p:txBody>
      </p:sp>
      <p:sp>
        <p:nvSpPr>
          <p:cNvPr id="4" name="title:line-29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next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25</a:t>
            </a:r>
          </a:p>
        </p:txBody>
      </p:sp>
      <p:sp>
        <p:nvSpPr>
          <p:cNvPr id="6" name="content:line-30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an accepted input, rejection, and missing value.</a:t>
            </a:r>
          </a:p>
        </p:txBody>
      </p:sp>
      <p:sp>
        <p:nvSpPr>
          <p:cNvPr id="7" name="content:line-302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local tests and the corrected commit's PR check.</a:t>
            </a:r>
          </a:p>
        </p:txBody>
      </p:sp>
      <p:sp>
        <p:nvSpPr>
          <p:cNvPr id="8" name="content:line-303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why raw values compare exactly and calculated values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use tolerance.</a:t>
            </a:r>
          </a:p>
        </p:txBody>
      </p:sp>
      <p:sp>
        <p:nvSpPr>
          <p:cNvPr id="9" name="content:line-304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homework: about two hours on tests for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group's declared behavior and invalid inputs, plus peer review.</a:t>
            </a:r>
          </a:p>
        </p:txBody>
      </p:sp>
      <p:sp>
        <p:nvSpPr>
          <p:cNvPr id="10" name="content:line-305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evidence for the final presentation. This checkpoint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preparation, not a separate assessed submission.</a:t>
            </a:r>
          </a:p>
        </p:txBody>
      </p:sp>
      <p:sp>
        <p:nvSpPr>
          <p:cNvPr id="11" name="content:line-306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Next: interface, containers, and local/Docker output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3: Validation, pytest, and automated CI</dc:title>
  <dc:subject>Editable slides generated from session-3.md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