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SYLLABUS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app/main.py" TargetMode="External"/><Relationship Id="rId3" Type="http://schemas.openxmlformats.org/officeDocument/2006/relationships/hyperlink" Target="../../backend/stat_core/__init__.p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api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api.md#input-rules-and-error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tests/test_processing.py" TargetMode="External"/><Relationship Id="rId3" Type="http://schemas.openxmlformats.org/officeDocument/2006/relationships/hyperlink" Target="../../backend/tests/test_validation.py" TargetMode="External"/><Relationship Id="rId4" Type="http://schemas.openxmlformats.org/officeDocument/2006/relationships/hyperlink" Target="../../backend/tests/test_api.p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tests/conftest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GLOSSARY.md" TargetMode="External"/><Relationship Id="rId3" Type="http://schemas.openxmlformats.org/officeDocument/2006/relationships/hyperlink" Target="../../docs/testing.md#exact-and-approximate-comparison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setup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app/main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api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backend/tests/test_processing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testing.md#controlled-failure-and-recovery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i.md#inspect-a-failure-and-its-correction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github/workflows/backend-tests.y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 / 22</a:t>
            </a:r>
          </a:p>
        </p:txBody>
      </p:sp>
      <p:sp>
        <p:nvSpPr>
          <p:cNvPr id="4" name="title:line-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Session 3: Validation, pytest, and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automated CI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</a:t>
            </a:r>
          </a:p>
        </p:txBody>
      </p:sp>
      <p:sp>
        <p:nvSpPr>
          <p:cNvPr id="6" name="content:line-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a CSV request through FastAPI into reusable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processing.</a:t>
            </a:r>
          </a:p>
        </p:txBody>
      </p:sp>
      <p:sp>
        <p:nvSpPr>
          <p:cNvPr id="7" name="content:line-4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accepted inputs, missing values, and useful errors.</a:t>
            </a:r>
          </a:p>
        </p:txBody>
      </p:sp>
      <p:sp>
        <p:nvSpPr>
          <p:cNvPr id="8" name="content:line-5:0"/>
          <p:cNvSpPr txBox="1"/>
          <p:nvPr/>
        </p:nvSpPr>
        <p:spPr>
          <a:xfrm>
            <a:off x="594360" y="307390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tests, diagnose a failure, and inspect automated checks.</a:t>
            </a:r>
          </a:p>
        </p:txBody>
      </p:sp>
      <p:sp>
        <p:nvSpPr>
          <p:cNvPr id="9" name="content:line-6:0"/>
          <p:cNvSpPr txBox="1"/>
          <p:nvPr/>
        </p:nvSpPr>
        <p:spPr>
          <a:xfrm>
            <a:off x="594360" y="35661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supplied synthetic example; no model building is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 / 22</a:t>
            </a:r>
          </a:p>
        </p:txBody>
      </p:sp>
      <p:sp>
        <p:nvSpPr>
          <p:cNvPr id="4" name="title:line-1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Our 180-minute agenda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2</a:t>
            </a:r>
          </a:p>
        </p:txBody>
      </p:sp>
      <p:sp>
        <p:nvSpPr>
          <p:cNvPr id="6" name="content:line-1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0–45: explanation — contracts, validation, fixtures,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comparisons.</a:t>
            </a:r>
          </a:p>
        </p:txBody>
      </p:sp>
      <p:sp>
        <p:nvSpPr>
          <p:cNvPr id="7" name="content:line-13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45–75: demonstration — requests, failure, correction, local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CI checks.</a:t>
            </a:r>
          </a:p>
        </p:txBody>
      </p:sp>
      <p:sp>
        <p:nvSpPr>
          <p:cNvPr id="8" name="content:line-14:0"/>
          <p:cNvSpPr txBox="1"/>
          <p:nvPr/>
        </p:nvSpPr>
        <p:spPr>
          <a:xfrm>
            <a:off x="594360" y="342595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75–90: break — 15 minutes.</a:t>
            </a:r>
          </a:p>
        </p:txBody>
      </p:sp>
      <p:sp>
        <p:nvSpPr>
          <p:cNvPr id="9" name="content:line-15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90–180: guided practice — trace 15, inspect 20, change 20, check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20, review 15.</a:t>
            </a:r>
          </a:p>
        </p:txBody>
      </p:sp>
      <p:sp>
        <p:nvSpPr>
          <p:cNvPr id="10" name="content:line-16:0"/>
          <p:cNvSpPr txBox="1"/>
          <p:nvPr/>
        </p:nvSpPr>
        <p:spPr>
          <a:xfrm>
            <a:off x="594360" y="476250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Timings are provisional; see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3 / 22</a:t>
            </a:r>
          </a:p>
        </p:txBody>
      </p:sp>
      <p:sp>
        <p:nvSpPr>
          <p:cNvPr id="4" name="title:line-2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Follow the request across public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boundaries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3</a:t>
            </a:r>
          </a:p>
        </p:txBody>
      </p:sp>
      <p:sp>
        <p:nvSpPr>
          <p:cNvPr id="6" name="content:line-2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An API is a defined way for programs to exchange inputs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results.</a:t>
            </a:r>
          </a:p>
        </p:txBody>
      </p:sp>
      <p:sp>
        <p:nvSpPr>
          <p:cNvPr id="7" name="content:line-25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POST /process: two CSV file uploads</a:t>
            </a:r>
          </a:p>
        </p:txBody>
      </p:sp>
      <p:sp>
        <p:nvSpPr>
          <p:cNvPr id="8" name="content:line-26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backend/app/main.py: read uploads, decode UTF-8</a:t>
            </a:r>
          </a:p>
        </p:txBody>
      </p:sp>
      <p:sp>
        <p:nvSpPr>
          <p:cNvPr id="9" name="content:line-27:0"/>
          <p:cNvSpPr txBox="1"/>
          <p:nvPr/>
        </p:nvSpPr>
        <p:spPr>
          <a:xfrm>
            <a:off x="594360" y="33375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stat_core.process_csv: validate, join, summarize</a:t>
            </a:r>
          </a:p>
        </p:txBody>
      </p:sp>
      <p:sp>
        <p:nvSpPr>
          <p:cNvPr id="10" name="content:line-28:0"/>
          <p:cNvSpPr txBox="1"/>
          <p:nvPr/>
        </p:nvSpPr>
        <p:spPr>
          <a:xfrm>
            <a:off x="594360" y="37155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ProcessResult: check the result shape</a:t>
            </a:r>
          </a:p>
        </p:txBody>
      </p:sp>
      <p:sp>
        <p:nvSpPr>
          <p:cNvPr id="11" name="content:line-29:0"/>
          <p:cNvSpPr txBox="1"/>
          <p:nvPr/>
        </p:nvSpPr>
        <p:spPr>
          <a:xfrm>
            <a:off x="594360" y="40934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HTTP 200: return JSON</a:t>
            </a:r>
          </a:p>
        </p:txBody>
      </p:sp>
      <p:sp>
        <p:nvSpPr>
          <p:cNvPr id="12" name="content:line-32:0"/>
          <p:cNvSpPr txBox="1"/>
          <p:nvPr/>
        </p:nvSpPr>
        <p:spPr>
          <a:xfrm>
            <a:off x="594360" y="44714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accepts CSV contents, not paths or HTTP objects.</a:t>
            </a:r>
          </a:p>
        </p:txBody>
      </p:sp>
      <p:sp>
        <p:nvSpPr>
          <p:cNvPr id="13" name="content:line-33:0"/>
          <p:cNvSpPr txBox="1"/>
          <p:nvPr/>
        </p:nvSpPr>
        <p:spPr>
          <a:xfrm>
            <a:off x="594360" y="49636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Trace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API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public processing entry point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22</a:t>
            </a:r>
          </a:p>
        </p:txBody>
      </p:sp>
      <p:sp>
        <p:nvSpPr>
          <p:cNvPr id="4" name="title:line-3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 contract tells callers what to expect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4</a:t>
            </a:r>
          </a:p>
        </p:txBody>
      </p:sp>
      <p:sp>
        <p:nvSpPr>
          <p:cNvPr id="6" name="content:line-3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Multipart means named file parts: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participants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laboratory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40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FastAPI checks the upload fields; CSV validation checks their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contents.</a:t>
            </a:r>
          </a:p>
        </p:txBody>
      </p:sp>
      <p:sp>
        <p:nvSpPr>
          <p:cNvPr id="8" name="content:line-41:0"/>
          <p:cNvSpPr txBox="1"/>
          <p:nvPr/>
        </p:nvSpPr>
        <p:spPr>
          <a:xfrm>
            <a:off x="594360" y="342595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Pydantic models describe and check result and error shapes.</a:t>
            </a:r>
          </a:p>
        </p:txBody>
      </p:sp>
      <p:sp>
        <p:nvSpPr>
          <p:cNvPr id="9" name="content:line-42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ProcessResult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contains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counts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records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arm_summaries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visit_summaries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43:0"/>
          <p:cNvSpPr txBox="1"/>
          <p:nvPr/>
        </p:nvSpPr>
        <p:spPr>
          <a:xfrm>
            <a:off x="594360" y="47625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value: float | None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allows a number or unavailable value;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JSON uses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null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1" name="content:line-44:0"/>
          <p:cNvSpPr txBox="1"/>
          <p:nvPr/>
        </p:nvSpPr>
        <p:spPr>
          <a:xfrm>
            <a:off x="594360" y="56067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inspect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/docs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/openapi.json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5 / 22</a:t>
            </a:r>
          </a:p>
        </p:txBody>
      </p:sp>
      <p:sp>
        <p:nvSpPr>
          <p:cNvPr id="4" name="title:line-4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Validate meaning as well as type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5</a:t>
            </a:r>
          </a:p>
        </p:txBody>
      </p:sp>
      <p:sp>
        <p:nvSpPr>
          <p:cNvPr id="6" name="content:line-5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DM: participants. LB: laboratory observations.</a:t>
            </a:r>
          </a:p>
        </p:txBody>
      </p:sp>
      <p:sp>
        <p:nvSpPr>
          <p:cNvPr id="7" name="content:line-51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Join 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STUDYID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USUBJID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preserve text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SUBJID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such as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001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52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DM key: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(STUDYID, USUBJID)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LB adds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LBSEQ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or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VISIT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uniqueness.</a:t>
            </a:r>
          </a:p>
        </p:txBody>
      </p:sp>
      <p:sp>
        <p:nvSpPr>
          <p:cNvPr id="9" name="content:line-53:0"/>
          <p:cNvSpPr txBox="1"/>
          <p:nvPr/>
        </p:nvSpPr>
        <p:spPr>
          <a:xfrm>
            <a:off x="594360" y="35661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must be a nonnegative integer in years.</a:t>
            </a:r>
          </a:p>
        </p:txBody>
      </p:sp>
      <p:sp>
        <p:nvSpPr>
          <p:cNvPr id="10" name="content:line-54:0"/>
          <p:cNvSpPr txBox="1"/>
          <p:nvPr/>
        </p:nvSpPr>
        <p:spPr>
          <a:xfrm>
            <a:off x="594360" y="40584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LBORRES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LBSTRESN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must agree: finite, nonnegative numbers.</a:t>
            </a:r>
          </a:p>
        </p:txBody>
      </p:sp>
      <p:sp>
        <p:nvSpPr>
          <p:cNvPr id="11" name="content:line-55:0"/>
          <p:cNvSpPr txBox="1"/>
          <p:nvPr/>
        </p:nvSpPr>
        <p:spPr>
          <a:xfrm>
            <a:off x="594360" y="45506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Both result units: exactly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nmol/L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no conversion.</a:t>
            </a:r>
          </a:p>
        </p:txBody>
      </p:sp>
      <p:sp>
        <p:nvSpPr>
          <p:cNvPr id="12" name="content:line-56:0"/>
          <p:cNvSpPr txBox="1"/>
          <p:nvPr/>
        </p:nvSpPr>
        <p:spPr>
          <a:xfrm>
            <a:off x="594360" y="504291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Input rules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also cover visits, dates, test names, and required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6 / 22</a:t>
            </a:r>
          </a:p>
        </p:txBody>
      </p:sp>
      <p:sp>
        <p:nvSpPr>
          <p:cNvPr id="4" name="title:line-6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Missing values carry information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6</a:t>
            </a:r>
          </a:p>
        </p:txBody>
      </p:sp>
      <p:sp>
        <p:nvSpPr>
          <p:cNvPr id="6" name="content:line-6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Missing: both result cells empty,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LBSTAT=NOT DONE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LBREASND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nonempty.</a:t>
            </a:r>
          </a:p>
        </p:txBody>
      </p:sp>
      <p:sp>
        <p:nvSpPr>
          <p:cNvPr id="7" name="content:line-63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Observed: numeric results, empty status and reason; zero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observed.</a:t>
            </a:r>
          </a:p>
        </p:txBody>
      </p:sp>
      <p:sp>
        <p:nvSpPr>
          <p:cNvPr id="8" name="content:line-64:0"/>
          <p:cNvSpPr txBox="1"/>
          <p:nvPr/>
        </p:nvSpPr>
        <p:spPr>
          <a:xfrm>
            <a:off x="594360" y="342595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Output missing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value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change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percent_change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remain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null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65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Means use observed values only; an all-missing group has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mean=null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66:0"/>
          <p:cNvSpPr txBox="1"/>
          <p:nvPr/>
        </p:nvSpPr>
        <p:spPr>
          <a:xfrm>
            <a:off x="594360" y="47625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Unavailable baseline: null changes. Zero baseline: null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percentage change.</a:t>
            </a:r>
          </a:p>
        </p:txBody>
      </p:sp>
      <p:sp>
        <p:nvSpPr>
          <p:cNvPr id="11" name="content:line-67:0"/>
          <p:cNvSpPr txBox="1"/>
          <p:nvPr/>
        </p:nvSpPr>
        <p:spPr>
          <a:xfrm>
            <a:off x="594360" y="56067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Omitted visits add no rows to the missing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22</a:t>
            </a:r>
          </a:p>
        </p:txBody>
      </p:sp>
      <p:sp>
        <p:nvSpPr>
          <p:cNvPr id="4" name="title:line-7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HTTP status and error location guide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repair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7</a:t>
            </a:r>
          </a:p>
        </p:txBody>
      </p:sp>
      <p:sp>
        <p:nvSpPr>
          <p:cNvPr id="6" name="content:line-7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200: processing succeeded; inspect the returned result.</a:t>
            </a:r>
          </a:p>
        </p:txBody>
      </p:sp>
      <p:sp>
        <p:nvSpPr>
          <p:cNvPr id="7" name="content:line-74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422: invalid CSV, invalid UTF-8, or missing upload fields.</a:t>
            </a:r>
          </a:p>
        </p:txBody>
      </p:sp>
      <p:sp>
        <p:nvSpPr>
          <p:cNvPr id="8" name="content:line-75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413: one upload exceeds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MAX_UPLOAD_BYTES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default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5,242,880 bytes per file.</a:t>
            </a:r>
          </a:p>
        </p:txBody>
      </p:sp>
      <p:sp>
        <p:nvSpPr>
          <p:cNvPr id="9" name="content:line-76:0"/>
          <p:cNvSpPr txBox="1"/>
          <p:nvPr/>
        </p:nvSpPr>
        <p:spPr>
          <a:xfrm>
            <a:off x="594360" y="35661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Errors use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detail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containing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file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row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field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message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77:0"/>
          <p:cNvSpPr txBox="1"/>
          <p:nvPr/>
        </p:nvSpPr>
        <p:spPr>
          <a:xfrm>
            <a:off x="594360" y="40584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CSV header is line 1; file-level errors use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row=null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1" name="content:line-78:0"/>
          <p:cNvSpPr txBox="1"/>
          <p:nvPr/>
        </p:nvSpPr>
        <p:spPr>
          <a:xfrm>
            <a:off x="594360" y="45506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CSV validation reports the first detected error; fix it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retry.</a:t>
            </a:r>
          </a:p>
        </p:txBody>
      </p:sp>
      <p:sp>
        <p:nvSpPr>
          <p:cNvPr id="12" name="content:line-79:0"/>
          <p:cNvSpPr txBox="1"/>
          <p:nvPr/>
        </p:nvSpPr>
        <p:spPr>
          <a:xfrm>
            <a:off x="594360" y="53949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Python callers receive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InvalidInputError.issues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HTTP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callers receive 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22</a:t>
            </a:r>
          </a:p>
        </p:txBody>
      </p:sp>
      <p:sp>
        <p:nvSpPr>
          <p:cNvPr id="4" name="title:line-8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Test behavior callers can observe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8</a:t>
            </a:r>
          </a:p>
        </p:txBody>
      </p:sp>
      <p:sp>
        <p:nvSpPr>
          <p:cNvPr id="6" name="content:line-8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test compares a public result with a declared expectation.</a:t>
            </a:r>
          </a:p>
        </p:txBody>
      </p:sp>
      <p:sp>
        <p:nvSpPr>
          <p:cNvPr id="7" name="content:line-87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Processing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records, summaries, and missingness via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88:0"/>
          <p:cNvSpPr txBox="1"/>
          <p:nvPr/>
        </p:nvSpPr>
        <p:spPr>
          <a:xfrm>
            <a:off x="594360" y="30739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Validation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rejected inputs and error issues.</a:t>
            </a:r>
          </a:p>
        </p:txBody>
      </p:sp>
      <p:sp>
        <p:nvSpPr>
          <p:cNvPr id="9" name="content:line-89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4"/>
              </a:rPr>
              <a:t>API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multipart requests, status codes, and response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schemas.</a:t>
            </a:r>
          </a:p>
        </p:txBody>
      </p:sp>
      <p:sp>
        <p:nvSpPr>
          <p:cNvPr id="10" name="content:line-90:0"/>
          <p:cNvSpPr txBox="1"/>
          <p:nvPr/>
        </p:nvSpPr>
        <p:spPr>
          <a:xfrm>
            <a:off x="594360" y="44104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TestClient sends requests inside Python; no server is needed.</a:t>
            </a:r>
          </a:p>
        </p:txBody>
      </p:sp>
      <p:sp>
        <p:nvSpPr>
          <p:cNvPr id="11" name="content:line-91:0"/>
          <p:cNvSpPr txBox="1"/>
          <p:nvPr/>
        </p:nvSpPr>
        <p:spPr>
          <a:xfrm>
            <a:off x="594360" y="49027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results independently of production helpers or internal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call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9 / 22</a:t>
            </a:r>
          </a:p>
        </p:txBody>
      </p:sp>
      <p:sp>
        <p:nvSpPr>
          <p:cNvPr id="4" name="title:line-9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Fixtures provide reusable inputs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9</a:t>
            </a:r>
          </a:p>
        </p:txBody>
      </p:sp>
      <p:sp>
        <p:nvSpPr>
          <p:cNvPr id="6" name="content:line-97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pytest fixture provides named inputs or resources to a test.</a:t>
            </a:r>
          </a:p>
        </p:txBody>
      </p:sp>
      <p:sp>
        <p:nvSpPr>
          <p:cNvPr id="7" name="content:line-99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conftest.py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pytest discovers it automatically.</a:t>
            </a:r>
          </a:p>
        </p:txBody>
      </p:sp>
      <p:sp>
        <p:nvSpPr>
          <p:cNvPr id="8" name="content:line-100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supplied_csv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unchanged synthetic DM and LB contents.</a:t>
            </a:r>
          </a:p>
        </p:txBody>
      </p:sp>
      <p:sp>
        <p:nvSpPr>
          <p:cNvPr id="9" name="content:line-101:0"/>
          <p:cNvSpPr txBox="1"/>
          <p:nvPr/>
        </p:nvSpPr>
        <p:spPr>
          <a:xfrm>
            <a:off x="594360" y="32141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tiny_rows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fresh DM and LB dictionaries so tests do not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affect each other.</a:t>
            </a:r>
          </a:p>
        </p:txBody>
      </p:sp>
      <p:sp>
        <p:nvSpPr>
          <p:cNvPr id="10" name="content:line-102:0"/>
          <p:cNvSpPr txBox="1"/>
          <p:nvPr/>
        </p:nvSpPr>
        <p:spPr>
          <a:xfrm>
            <a:off x="594360" y="40584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csv_text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turns those rows into CSV;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tiny_csv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supplies both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CSV strings.</a:t>
            </a:r>
          </a:p>
        </p:txBody>
      </p:sp>
      <p:sp>
        <p:nvSpPr>
          <p:cNvPr id="11" name="content:line-103:0"/>
          <p:cNvSpPr txBox="1"/>
          <p:nvPr/>
        </p:nvSpPr>
        <p:spPr>
          <a:xfrm>
            <a:off x="594360" y="49027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client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supplies TestClient;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uploads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names the two multipart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22</a:t>
            </a:r>
          </a:p>
        </p:txBody>
      </p:sp>
      <p:sp>
        <p:nvSpPr>
          <p:cNvPr id="4" name="title:line-10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Work out the expected answer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independently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10</a:t>
            </a:r>
          </a:p>
        </p:txBody>
      </p:sp>
      <p:sp>
        <p:nvSpPr>
          <p:cNvPr id="6" name="content:line-10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Tiny inputs: Active participants have values 10 → 5 and 20 → 15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nmol/L.</a:t>
            </a:r>
          </a:p>
        </p:txBody>
      </p:sp>
      <p:sp>
        <p:nvSpPr>
          <p:cNvPr id="7" name="content:line-110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Baseline mean: 15; DAY 15 mean: 10 nmol/L.</a:t>
            </a:r>
          </a:p>
        </p:txBody>
      </p:sp>
      <p:sp>
        <p:nvSpPr>
          <p:cNvPr id="8" name="content:line-111:0"/>
          <p:cNvSpPr txBox="1"/>
          <p:nvPr/>
        </p:nvSpPr>
        <p:spPr>
          <a:xfrm>
            <a:off x="594360" y="307390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Changes: −5 nmol/L each; percentage changes: −50 and −25.</a:t>
            </a:r>
          </a:p>
        </p:txBody>
      </p:sp>
      <p:sp>
        <p:nvSpPr>
          <p:cNvPr id="9" name="content:line-112:0"/>
          <p:cNvSpPr txBox="1"/>
          <p:nvPr/>
        </p:nvSpPr>
        <p:spPr>
          <a:xfrm>
            <a:off x="594360" y="35661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third participant has no LB rows but still counts in DM.</a:t>
            </a:r>
          </a:p>
        </p:txBody>
      </p:sp>
      <p:sp>
        <p:nvSpPr>
          <p:cNvPr id="10" name="content:line-113:0"/>
          <p:cNvSpPr txBox="1"/>
          <p:nvPr/>
        </p:nvSpPr>
        <p:spPr>
          <a:xfrm>
            <a:off x="594360" y="40584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Expected totals: 3 participants, 4 records, 4 observed, 0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missing.</a:t>
            </a:r>
          </a:p>
        </p:txBody>
      </p:sp>
      <p:sp>
        <p:nvSpPr>
          <p:cNvPr id="11" name="content:line-114:0"/>
          <p:cNvSpPr txBox="1"/>
          <p:nvPr/>
        </p:nvSpPr>
        <p:spPr>
          <a:xfrm>
            <a:off x="594360" y="49027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worked literals let tests detect a wrong calculation.</a:t>
            </a:r>
          </a:p>
        </p:txBody>
      </p:sp>
      <p:sp>
        <p:nvSpPr>
          <p:cNvPr id="12" name="content:line-115:0"/>
          <p:cNvSpPr txBox="1"/>
          <p:nvPr/>
        </p:nvSpPr>
        <p:spPr>
          <a:xfrm>
            <a:off x="594360" y="53949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Engineering checks do not establish a clinical conclusion.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22</a:t>
            </a:r>
          </a:p>
        </p:txBody>
      </p:sp>
      <p:sp>
        <p:nvSpPr>
          <p:cNvPr id="4" name="title:line-11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Declare exact and approximate agreement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11</a:t>
            </a:r>
          </a:p>
        </p:txBody>
      </p:sp>
      <p:sp>
        <p:nvSpPr>
          <p:cNvPr id="6" name="content:line-121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Exact: identifiers, dates, order, units, counts, raw values,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copied baselines, and nulls.</a:t>
            </a:r>
          </a:p>
        </p:txBody>
      </p:sp>
      <p:sp>
        <p:nvSpPr>
          <p:cNvPr id="7" name="content:line-122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Approximate: only calculated means, changes, and percentages.</a:t>
            </a:r>
          </a:p>
        </p:txBody>
      </p:sp>
      <p:sp>
        <p:nvSpPr>
          <p:cNvPr id="8" name="content:line-125:0"/>
          <p:cNvSpPr txBox="1"/>
          <p:nvPr/>
        </p:nvSpPr>
        <p:spPr>
          <a:xfrm>
            <a:off x="594360" y="30739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assert actual == pytest.approx(expected, rel=1e-9, abs=1e-9)</a:t>
            </a:r>
          </a:p>
        </p:txBody>
      </p:sp>
      <p:sp>
        <p:nvSpPr>
          <p:cNvPr id="9" name="content:line-128:0"/>
          <p:cNvSpPr txBox="1"/>
          <p:nvPr/>
        </p:nvSpPr>
        <p:spPr>
          <a:xfrm>
            <a:off x="594360" y="3451859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Allowed difference: the larger of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1e-9 * abs(expected)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1e-9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129:0"/>
          <p:cNvSpPr txBox="1"/>
          <p:nvPr/>
        </p:nvSpPr>
        <p:spPr>
          <a:xfrm>
            <a:off x="594360" y="429615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Absolute units: nmol/L for means/changes; percentage points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for percentages.</a:t>
            </a:r>
          </a:p>
        </p:txBody>
      </p:sp>
      <p:sp>
        <p:nvSpPr>
          <p:cNvPr id="11" name="content:line-130:0"/>
          <p:cNvSpPr txBox="1"/>
          <p:nvPr/>
        </p:nvSpPr>
        <p:spPr>
          <a:xfrm>
            <a:off x="594360" y="514045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Relative tolerance has no unit. Preserve full precision.</a:t>
            </a:r>
          </a:p>
        </p:txBody>
      </p:sp>
      <p:sp>
        <p:nvSpPr>
          <p:cNvPr id="12" name="content:line-131:0"/>
          <p:cNvSpPr txBox="1"/>
          <p:nvPr/>
        </p:nvSpPr>
        <p:spPr>
          <a:xfrm>
            <a:off x="594360" y="5632703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This is an engineering rule, not a clinical threshold.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12 / 22</a:t>
            </a:r>
          </a:p>
        </p:txBody>
      </p:sp>
      <p:sp>
        <p:nvSpPr>
          <p:cNvPr id="4" name="title:line-13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Connect checks to the course's three Rs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12</a:t>
            </a:r>
          </a:p>
        </p:txBody>
      </p:sp>
      <p:sp>
        <p:nvSpPr>
          <p:cNvPr id="6" name="content:line-13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Repeatability: agreement across runs under the same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conditions.</a:t>
            </a:r>
          </a:p>
        </p:txBody>
      </p:sp>
      <p:sp>
        <p:nvSpPr>
          <p:cNvPr id="7" name="content:line-138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Repeated local runs also compare decimals exactly.</a:t>
            </a:r>
          </a:p>
        </p:txBody>
      </p:sp>
      <p:sp>
        <p:nvSpPr>
          <p:cNvPr id="8" name="content:line-139:0"/>
          <p:cNvSpPr txBox="1"/>
          <p:nvPr/>
        </p:nvSpPr>
        <p:spPr>
          <a:xfrm>
            <a:off x="594360" y="307390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Replicability: agreement under slightly different conditions,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such as local versus Docker.</a:t>
            </a:r>
          </a:p>
        </p:txBody>
      </p:sp>
      <p:sp>
        <p:nvSpPr>
          <p:cNvPr id="9" name="content:line-140:0"/>
          <p:cNvSpPr txBox="1"/>
          <p:nvPr/>
        </p:nvSpPr>
        <p:spPr>
          <a:xfrm>
            <a:off x="594360" y="391820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Passing CI alone does not compare local and Docker outputs.</a:t>
            </a:r>
          </a:p>
        </p:txBody>
      </p:sp>
      <p:sp>
        <p:nvSpPr>
          <p:cNvPr id="10" name="content:line-141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Reproducibility: agreement under very different conditions,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such as independent simulation; conceptual here.</a:t>
            </a:r>
          </a:p>
        </p:txBody>
      </p:sp>
      <p:sp>
        <p:nvSpPr>
          <p:cNvPr id="11" name="content:line-142:0"/>
          <p:cNvSpPr txBox="1"/>
          <p:nvPr/>
        </p:nvSpPr>
        <p:spPr>
          <a:xfrm>
            <a:off x="594360" y="525475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Session 4 compares outputs; read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glossary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comparison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rules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22</a:t>
            </a:r>
          </a:p>
        </p:txBody>
      </p:sp>
      <p:sp>
        <p:nvSpPr>
          <p:cNvPr id="4" name="title:line-14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start from the working backend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13</a:t>
            </a:r>
          </a:p>
        </p:txBody>
      </p:sp>
      <p:sp>
        <p:nvSpPr>
          <p:cNvPr id="6" name="content:line-148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Python 3.12 and the activated backend development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 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Run commands from the repository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root.</a:t>
            </a:r>
          </a:p>
        </p:txBody>
      </p:sp>
      <p:sp>
        <p:nvSpPr>
          <p:cNvPr id="7" name="content:line-151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uvicorn app.main:app --app-dir backend \</a:t>
            </a:r>
          </a:p>
        </p:txBody>
      </p:sp>
      <p:sp>
        <p:nvSpPr>
          <p:cNvPr id="8" name="content:line-152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--host 127.0.0.1 --port 8000</a:t>
            </a:r>
          </a:p>
        </p:txBody>
      </p:sp>
      <p:sp>
        <p:nvSpPr>
          <p:cNvPr id="9" name="content:line-155:0"/>
          <p:cNvSpPr txBox="1"/>
          <p:nvPr/>
        </p:nvSpPr>
        <p:spPr>
          <a:xfrm>
            <a:off x="594360" y="36896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this terminal running; use a second terminal for requests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tests.</a:t>
            </a:r>
          </a:p>
        </p:txBody>
      </p:sp>
      <p:sp>
        <p:nvSpPr>
          <p:cNvPr id="10" name="content:line-156:0"/>
          <p:cNvSpPr txBox="1"/>
          <p:nvPr/>
        </p:nvSpPr>
        <p:spPr>
          <a:xfrm>
            <a:off x="594360" y="45339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http://127.0.0.1:8000/docs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to inspect schemas and try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uploads.</a:t>
            </a:r>
          </a:p>
        </p:txBody>
      </p:sp>
      <p:sp>
        <p:nvSpPr>
          <p:cNvPr id="11" name="content:line-157:0"/>
          <p:cNvSpPr txBox="1"/>
          <p:nvPr/>
        </p:nvSpPr>
        <p:spPr>
          <a:xfrm>
            <a:off x="594360" y="53781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GET /health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checks service availability, not data validity.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22</a:t>
            </a:r>
          </a:p>
        </p:txBody>
      </p:sp>
      <p:sp>
        <p:nvSpPr>
          <p:cNvPr id="4" name="title:line-16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send a valid multipart request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14</a:t>
            </a:r>
          </a:p>
        </p:txBody>
      </p:sp>
      <p:sp>
        <p:nvSpPr>
          <p:cNvPr id="6" name="content:line-164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curl --fail-with-body http://127.0.0.1:8000/process \</a:t>
            </a:r>
          </a:p>
        </p:txBody>
      </p:sp>
      <p:sp>
        <p:nvSpPr>
          <p:cNvPr id="7" name="content:line-165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participants=@data/synthetic/dm.csv \</a:t>
            </a:r>
          </a:p>
        </p:txBody>
      </p:sp>
      <p:sp>
        <p:nvSpPr>
          <p:cNvPr id="8" name="content:line-166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-F laboratory=@data/synthetic/lb.csv</a:t>
            </a:r>
          </a:p>
        </p:txBody>
      </p:sp>
      <p:sp>
        <p:nvSpPr>
          <p:cNvPr id="9" name="content:line-169:0"/>
          <p:cNvSpPr txBox="1"/>
          <p:nvPr/>
        </p:nvSpPr>
        <p:spPr>
          <a:xfrm>
            <a:off x="594360" y="28712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HTTP 200: 24 participants, 96 records, 95 observed, 1 missing.</a:t>
            </a:r>
          </a:p>
        </p:txBody>
      </p:sp>
      <p:sp>
        <p:nvSpPr>
          <p:cNvPr id="10" name="content:line-170:0"/>
          <p:cNvSpPr txBox="1"/>
          <p:nvPr/>
        </p:nvSpPr>
        <p:spPr>
          <a:xfrm>
            <a:off x="594360" y="336346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records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arm_summaries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visit_summaries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as well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as counts.</a:t>
            </a:r>
          </a:p>
        </p:txBody>
      </p:sp>
      <p:sp>
        <p:nvSpPr>
          <p:cNvPr id="11" name="content:line-171:0"/>
          <p:cNvSpPr txBox="1"/>
          <p:nvPr/>
        </p:nvSpPr>
        <p:spPr>
          <a:xfrm>
            <a:off x="594360" y="42077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EDU-LPA-007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at DAY 30: null value,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NOT DONE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SPECIMEN NOT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AVAILABLE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2" name="content:line-172:0"/>
          <p:cNvSpPr txBox="1"/>
          <p:nvPr/>
        </p:nvSpPr>
        <p:spPr>
          <a:xfrm>
            <a:off x="594360" y="50520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the request in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main.py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22</a:t>
            </a:r>
          </a:p>
        </p:txBody>
      </p:sp>
      <p:sp>
        <p:nvSpPr>
          <p:cNvPr id="4" name="title:line-17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reject an invalid age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15</a:t>
            </a:r>
          </a:p>
        </p:txBody>
      </p:sp>
      <p:sp>
        <p:nvSpPr>
          <p:cNvPr id="6" name="content:line-178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Copy DM, then edit the first data row's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forty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 the copy.</a:t>
            </a:r>
          </a:p>
        </p:txBody>
      </p:sp>
      <p:sp>
        <p:nvSpPr>
          <p:cNvPr id="7" name="content:line-181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cp data/synthetic/dm.csv /tmp/session-3-dm-invalid.csv</a:t>
            </a:r>
          </a:p>
        </p:txBody>
      </p:sp>
      <p:sp>
        <p:nvSpPr>
          <p:cNvPr id="8" name="content:line-184:0"/>
          <p:cNvSpPr txBox="1"/>
          <p:nvPr/>
        </p:nvSpPr>
        <p:spPr>
          <a:xfrm>
            <a:off x="594360" y="26075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/docs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POST /process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→ Try it out.</a:t>
            </a:r>
          </a:p>
        </p:txBody>
      </p:sp>
      <p:sp>
        <p:nvSpPr>
          <p:cNvPr id="9" name="content:line-185:0"/>
          <p:cNvSpPr txBox="1"/>
          <p:nvPr/>
        </p:nvSpPr>
        <p:spPr>
          <a:xfrm>
            <a:off x="594360" y="30998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Upload the copy as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participants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data/synthetic/lb.csv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as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laboratory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0" name="content:line-186:0"/>
          <p:cNvSpPr txBox="1"/>
          <p:nvPr/>
        </p:nvSpPr>
        <p:spPr>
          <a:xfrm>
            <a:off x="594360" y="394411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Execute: HTTP 422,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detail[0]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participants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row 2,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AGE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1" name="content:line-187:0"/>
          <p:cNvSpPr txBox="1"/>
          <p:nvPr/>
        </p:nvSpPr>
        <p:spPr>
          <a:xfrm>
            <a:off x="594360" y="4436363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Message: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Expected a nonnegative integer.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Restore the age;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retry for HTTP 200.</a:t>
            </a:r>
          </a:p>
        </p:txBody>
      </p:sp>
      <p:sp>
        <p:nvSpPr>
          <p:cNvPr id="12" name="content:line-188:0"/>
          <p:cNvSpPr txBox="1"/>
          <p:nvPr/>
        </p:nvSpPr>
        <p:spPr>
          <a:xfrm>
            <a:off x="594360" y="52806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contract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keep supplied data unchanged.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22</a:t>
            </a:r>
          </a:p>
        </p:txBody>
      </p:sp>
      <p:sp>
        <p:nvSpPr>
          <p:cNvPr id="4" name="title:line-19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run tests and read one public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behavior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16</a:t>
            </a:r>
          </a:p>
        </p:txBody>
      </p:sp>
      <p:sp>
        <p:nvSpPr>
          <p:cNvPr id="6" name="content:line-195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backend/tests</a:t>
            </a:r>
          </a:p>
        </p:txBody>
      </p:sp>
      <p:sp>
        <p:nvSpPr>
          <p:cNvPr id="7" name="content:line-198:0"/>
          <p:cNvSpPr txBox="1"/>
          <p:nvPr/>
        </p:nvSpPr>
        <p:spPr>
          <a:xfrm>
            <a:off x="594360" y="21153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From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test_processing.py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using the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tiny_csv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fixture:</a:t>
            </a:r>
          </a:p>
        </p:txBody>
      </p:sp>
      <p:sp>
        <p:nvSpPr>
          <p:cNvPr id="8" name="content:line-201:0"/>
          <p:cNvSpPr txBox="1"/>
          <p:nvPr/>
        </p:nvSpPr>
        <p:spPr>
          <a:xfrm>
            <a:off x="594360" y="2607564"/>
            <a:ext cx="11003279" cy="981455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def 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test_worked_summaries_include_dm_participants_without_lab_rows(tiny_c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sv):</a:t>
            </a:r>
          </a:p>
        </p:txBody>
      </p:sp>
      <p:sp>
        <p:nvSpPr>
          <p:cNvPr id="9" name="content:line-202:0"/>
          <p:cNvSpPr txBox="1"/>
          <p:nvPr/>
        </p:nvSpPr>
        <p:spPr>
          <a:xfrm>
            <a:off x="594360" y="358902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result = process_csv(*tiny_csv)</a:t>
            </a:r>
          </a:p>
        </p:txBody>
      </p:sp>
      <p:sp>
        <p:nvSpPr>
          <p:cNvPr id="10" name="content:line-205:0"/>
          <p:cNvSpPr txBox="1"/>
          <p:nvPr/>
        </p:nvSpPr>
        <p:spPr>
          <a:xfrm>
            <a:off x="594360" y="396697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*tiny_csv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passes the two CSV strings separately to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process_csv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1" name="content:line-206:0"/>
          <p:cNvSpPr txBox="1"/>
          <p:nvPr/>
        </p:nvSpPr>
        <p:spPr>
          <a:xfrm>
            <a:off x="594360" y="481126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the literal counts and mean expectations in this test.</a:t>
            </a:r>
          </a:p>
        </p:txBody>
      </p:sp>
      <p:sp>
        <p:nvSpPr>
          <p:cNvPr id="12" name="content:line-207:0"/>
          <p:cNvSpPr txBox="1"/>
          <p:nvPr/>
        </p:nvSpPr>
        <p:spPr>
          <a:xfrm>
            <a:off x="594360" y="530352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Pytest discovers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test_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functions; a failed assertion identifies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the mismatch.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22</a:t>
            </a:r>
          </a:p>
        </p:txBody>
      </p:sp>
      <p:sp>
        <p:nvSpPr>
          <p:cNvPr id="4" name="title:line-21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introduce one controlled failure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17</a:t>
            </a:r>
          </a:p>
        </p:txBody>
      </p:sp>
      <p:sp>
        <p:nvSpPr>
          <p:cNvPr id="6" name="content:line-21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a disposable teaching branch or copy, edit only this test's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expected baseline mean: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[15.0, 10.0]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→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[16.0, 10.0]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16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\</a:t>
            </a:r>
          </a:p>
        </p:txBody>
      </p:sp>
      <p:sp>
        <p:nvSpPr>
          <p:cNvPr id="8" name="content:line-217:0"/>
          <p:cNvSpPr txBox="1"/>
          <p:nvPr/>
        </p:nvSpPr>
        <p:spPr>
          <a:xfrm>
            <a:off x="594360" y="2959607"/>
            <a:ext cx="11003279" cy="981455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backend/tests/test_processing.py::test_worked_summaries_include_dm_pa</a:t>
            </a:r>
            <a:br/>
            <a:r>
              <a:rPr sz="1800" b="0" i="0">
                <a:solidFill>
                  <a:srgbClr val="20344A"/>
                </a:solidFill>
                <a:latin typeface="Courier New"/>
              </a:rPr>
              <a:t>rticipants_without_lab_rows \</a:t>
            </a:r>
          </a:p>
        </p:txBody>
      </p:sp>
      <p:sp>
        <p:nvSpPr>
          <p:cNvPr id="9" name="content:line-218:0"/>
          <p:cNvSpPr txBox="1"/>
          <p:nvPr/>
        </p:nvSpPr>
        <p:spPr>
          <a:xfrm>
            <a:off x="594360" y="39410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-q</a:t>
            </a:r>
          </a:p>
        </p:txBody>
      </p:sp>
      <p:sp>
        <p:nvSpPr>
          <p:cNvPr id="10" name="content:line-221:0"/>
          <p:cNvSpPr txBox="1"/>
          <p:nvPr/>
        </p:nvSpPr>
        <p:spPr>
          <a:xfrm>
            <a:off x="594360" y="43190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::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selects this exact test;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-q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reduces routine output.</a:t>
            </a:r>
          </a:p>
        </p:txBody>
      </p:sp>
      <p:sp>
        <p:nvSpPr>
          <p:cNvPr id="11" name="content:line-222:0"/>
          <p:cNvSpPr txBox="1"/>
          <p:nvPr/>
        </p:nvSpPr>
        <p:spPr>
          <a:xfrm>
            <a:off x="594360" y="481126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1 failed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Obtained: 15.0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Expected: 16.0 ± 1.6e-08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2" name="content:line-223:0"/>
          <p:cNvSpPr txBox="1"/>
          <p:nvPr/>
        </p:nvSpPr>
        <p:spPr>
          <a:xfrm>
            <a:off x="594360" y="5303519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input baseline values 10 and 20 support 15; the edited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expectation is wrong.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22</a:t>
            </a:r>
          </a:p>
        </p:txBody>
      </p:sp>
      <p:sp>
        <p:nvSpPr>
          <p:cNvPr id="4" name="title:line-22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correct the expectation and check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again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18</a:t>
            </a:r>
          </a:p>
        </p:txBody>
      </p:sp>
      <p:sp>
        <p:nvSpPr>
          <p:cNvPr id="6" name="content:line-229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Restore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[15.0, 10.0]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then repeat the exact command on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previous slide: expect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1 passed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32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backend/tests</a:t>
            </a:r>
          </a:p>
        </p:txBody>
      </p:sp>
      <p:sp>
        <p:nvSpPr>
          <p:cNvPr id="8" name="content:line-233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 backend/tests/test_processing.py</a:t>
            </a:r>
          </a:p>
        </p:txBody>
      </p:sp>
      <p:sp>
        <p:nvSpPr>
          <p:cNvPr id="9" name="content:line-236:0"/>
          <p:cNvSpPr txBox="1"/>
          <p:nvPr/>
        </p:nvSpPr>
        <p:spPr>
          <a:xfrm>
            <a:off x="594360" y="33375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Confirm the full suite passes and the temporary edit is gone.</a:t>
            </a:r>
          </a:p>
        </p:txBody>
      </p:sp>
      <p:sp>
        <p:nvSpPr>
          <p:cNvPr id="10" name="content:line-237:0"/>
          <p:cNvSpPr txBox="1"/>
          <p:nvPr/>
        </p:nvSpPr>
        <p:spPr>
          <a:xfrm>
            <a:off x="594360" y="38298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Correct the expectation, rather than changing processing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tolerance.</a:t>
            </a:r>
          </a:p>
        </p:txBody>
      </p:sp>
      <p:sp>
        <p:nvSpPr>
          <p:cNvPr id="11" name="content:line-238:0"/>
          <p:cNvSpPr txBox="1"/>
          <p:nvPr/>
        </p:nvSpPr>
        <p:spPr>
          <a:xfrm>
            <a:off x="594360" y="46741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the distributed example passing;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failure and recovery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19 / 22</a:t>
            </a:r>
          </a:p>
        </p:txBody>
      </p:sp>
      <p:sp>
        <p:nvSpPr>
          <p:cNvPr id="4" name="title:line-24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inspect the same checks on GitHub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19</a:t>
            </a:r>
          </a:p>
        </p:txBody>
      </p:sp>
      <p:sp>
        <p:nvSpPr>
          <p:cNvPr id="6" name="content:line-24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PR Checks → Backend tests → Run backend tests.</a:t>
            </a:r>
          </a:p>
        </p:txBody>
      </p:sp>
      <p:sp>
        <p:nvSpPr>
          <p:cNvPr id="7" name="content:line-245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Actions → Backend CI: check branch and commit ID (SHA).</a:t>
            </a:r>
          </a:p>
        </p:txBody>
      </p:sp>
      <p:sp>
        <p:nvSpPr>
          <p:cNvPr id="8" name="content:line-246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Ubuntu/Python 3.12: install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./backend[dev]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run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python -m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pytest backend/tests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247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Disposable teaching PR: push the wrong expectation, inspect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failure, push correction.</a:t>
            </a:r>
          </a:p>
        </p:txBody>
      </p:sp>
      <p:sp>
        <p:nvSpPr>
          <p:cNvPr id="10" name="content:line-248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Verify the corrected commit succeeds; rerunning the old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 tests old code.</a:t>
            </a:r>
          </a:p>
        </p:txBody>
      </p:sp>
      <p:sp>
        <p:nvSpPr>
          <p:cNvPr id="11" name="content:line-249:0"/>
          <p:cNvSpPr txBox="1"/>
          <p:nvPr/>
        </p:nvSpPr>
        <p:spPr>
          <a:xfrm>
            <a:off x="594360" y="5254751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the failed step: setup/install or pytest.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CI guide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22</a:t>
            </a:r>
          </a:p>
        </p:txBody>
      </p:sp>
      <p:sp>
        <p:nvSpPr>
          <p:cNvPr id="4" name="title:line-25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Reporting a check is different from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requiring it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20</a:t>
            </a:r>
          </a:p>
        </p:txBody>
      </p:sp>
      <p:sp>
        <p:nvSpPr>
          <p:cNvPr id="6" name="content:line-25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Backend CI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runs for every PR, including documentation.</a:t>
            </a:r>
          </a:p>
        </p:txBody>
      </p:sp>
      <p:sp>
        <p:nvSpPr>
          <p:cNvPr id="7" name="content:line-256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Pushes 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the authoring integration branch also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trigger it.</a:t>
            </a:r>
          </a:p>
        </p:txBody>
      </p:sp>
      <p:sp>
        <p:nvSpPr>
          <p:cNvPr id="8" name="content:line-257:0"/>
          <p:cNvSpPr txBox="1"/>
          <p:nvPr/>
        </p:nvSpPr>
        <p:spPr>
          <a:xfrm>
            <a:off x="594360" y="307390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workflow reports results; it does not itself block merging.</a:t>
            </a:r>
          </a:p>
        </p:txBody>
      </p:sp>
      <p:sp>
        <p:nvSpPr>
          <p:cNvPr id="9" name="content:line-258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An administrator must require PRs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 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branch rule.</a:t>
            </a:r>
          </a:p>
        </p:txBody>
      </p:sp>
      <p:sp>
        <p:nvSpPr>
          <p:cNvPr id="10" name="content:line-259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Student workflow: feature branch → PR into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→ peer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review → checked merge.</a:t>
            </a:r>
          </a:p>
        </p:txBody>
      </p:sp>
      <p:sp>
        <p:nvSpPr>
          <p:cNvPr id="11" name="content:line-260:0"/>
          <p:cNvSpPr txBox="1"/>
          <p:nvPr/>
        </p:nvSpPr>
        <p:spPr>
          <a:xfrm>
            <a:off x="594360" y="52547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dependency cache saves downloads; it does not lock package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versions.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22</a:t>
            </a:r>
          </a:p>
        </p:txBody>
      </p:sp>
      <p:sp>
        <p:nvSpPr>
          <p:cNvPr id="4" name="title:line-26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Break, then 90 minutes of guided practice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21</a:t>
            </a:r>
          </a:p>
        </p:txBody>
      </p:sp>
      <p:sp>
        <p:nvSpPr>
          <p:cNvPr id="6" name="content:line-266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Take a 15-minute break before practice.</a:t>
            </a:r>
          </a:p>
        </p:txBody>
      </p:sp>
      <p:sp>
        <p:nvSpPr>
          <p:cNvPr id="7" name="content:line-267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15 minutes: trace a request and its four result fields.</a:t>
            </a:r>
          </a:p>
        </p:txBody>
      </p:sp>
      <p:sp>
        <p:nvSpPr>
          <p:cNvPr id="8" name="content:line-268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20 minutes: inspect missingness, units, keys, and fixtures.</a:t>
            </a:r>
          </a:p>
        </p:txBody>
      </p:sp>
      <p:sp>
        <p:nvSpPr>
          <p:cNvPr id="9" name="content:line-269:0"/>
          <p:cNvSpPr txBox="1"/>
          <p:nvPr/>
        </p:nvSpPr>
        <p:spPr>
          <a:xfrm>
            <a:off x="594360" y="3214115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20 minutes: use a disposable copy for the 15 → 16 → 15 failure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correction.</a:t>
            </a:r>
          </a:p>
        </p:txBody>
      </p:sp>
      <p:sp>
        <p:nvSpPr>
          <p:cNvPr id="10" name="content:line-270:0"/>
          <p:cNvSpPr txBox="1"/>
          <p:nvPr/>
        </p:nvSpPr>
        <p:spPr>
          <a:xfrm>
            <a:off x="594360" y="40584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20 minutes: one small test or validation change on a feature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branch; check behavior and the full suite.</a:t>
            </a:r>
          </a:p>
        </p:txBody>
      </p:sp>
      <p:sp>
        <p:nvSpPr>
          <p:cNvPr id="11" name="content:line-271:0"/>
          <p:cNvSpPr txBox="1"/>
          <p:nvPr/>
        </p:nvSpPr>
        <p:spPr>
          <a:xfrm>
            <a:off x="594360" y="49027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15 minutes: inspect the corrected PR check; review a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teammate's behavior, tests, or clarity.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22</a:t>
            </a:r>
          </a:p>
        </p:txBody>
      </p:sp>
      <p:sp>
        <p:nvSpPr>
          <p:cNvPr id="4" name="title:line-27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Checkpoint and next step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session-3.md   ·   22</a:t>
            </a:r>
          </a:p>
        </p:txBody>
      </p:sp>
      <p:sp>
        <p:nvSpPr>
          <p:cNvPr id="6" name="content:line-277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an accepted input, rejection, and missing value.</a:t>
            </a:r>
          </a:p>
        </p:txBody>
      </p:sp>
      <p:sp>
        <p:nvSpPr>
          <p:cNvPr id="7" name="content:line-278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Show local tests and the corrected commit's PR check.</a:t>
            </a:r>
          </a:p>
        </p:txBody>
      </p:sp>
      <p:sp>
        <p:nvSpPr>
          <p:cNvPr id="8" name="content:line-279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Explain why raw values compare exactly and calculated values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use tolerance.</a:t>
            </a:r>
          </a:p>
        </p:txBody>
      </p:sp>
      <p:sp>
        <p:nvSpPr>
          <p:cNvPr id="9" name="content:line-280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Mandatory homework: about two hours on tests for your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group's declared behavior and invalid inputs, plus peer review.</a:t>
            </a:r>
          </a:p>
        </p:txBody>
      </p:sp>
      <p:sp>
        <p:nvSpPr>
          <p:cNvPr id="10" name="content:line-281:0"/>
          <p:cNvSpPr txBox="1"/>
          <p:nvPr/>
        </p:nvSpPr>
        <p:spPr>
          <a:xfrm>
            <a:off x="594360" y="44104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evidence for the final presentation. This checkpoint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preparation, not a separate assessed submission.</a:t>
            </a:r>
          </a:p>
        </p:txBody>
      </p:sp>
      <p:sp>
        <p:nvSpPr>
          <p:cNvPr id="11" name="content:line-282:0"/>
          <p:cNvSpPr txBox="1"/>
          <p:nvPr/>
        </p:nvSpPr>
        <p:spPr>
          <a:xfrm>
            <a:off x="594360" y="525475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Next: interface, containers, and local/Docker output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Validation, pytest, and automated CI</dc:title>
  <dc:subject>Editable slides generated from session-3.md</dc:subject>
  <dc:creator>Three-R course</dc:creator>
  <cp:keywords>editable, Markdown, course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