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sandbox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github.com/en/repositories/configuring-branches-and-merges-in-your-repository/managing-protected-branches/about-protected-branche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exercises/session-3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16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3: Tests and automated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Protect the behavior you declared, and let GitHub check it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Write tests for expected results and for invalid input.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Switch on the test job already waiting in your CI workflow.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a red check, fix it, and see it turn green.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16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00–10: Back at the bubble tea shop; device example Stage 5.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10–60: Explanation — what a test is, pytest, fixtures,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tolerances, invalid input.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60–70: Break — 10 minutes.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70–130: Demonstration — add tests, switch on CI, a controlled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failure.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4104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130–170: Hands-on — in your Backend repo.</a:t>
            </a:r>
          </a:p>
        </p:txBody>
      </p:sp>
      <p:sp>
        <p:nvSpPr>
          <p:cNvPr id="11" name="content:line-19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Unfinished practice continues at home, in addition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homework.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16</a:t>
            </a:r>
          </a:p>
        </p:txBody>
      </p:sp>
      <p:sp>
        <p:nvSpPr>
          <p:cNvPr id="4" name="title:line-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3</a:t>
            </a:r>
          </a:p>
        </p:txBody>
      </p:sp>
      <p:sp>
        <p:nvSpPr>
          <p:cNvPr id="6" name="content:line-2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A customer orders a tea with −20% sugar. What do you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16</a:t>
            </a:r>
          </a:p>
        </p:txBody>
      </p:sp>
      <p:sp>
        <p:nvSpPr>
          <p:cNvPr id="4" name="title:line-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5: tests and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4</a:t>
            </a:r>
          </a:p>
        </p:txBody>
      </p:sp>
      <p:sp>
        <p:nvSpPr>
          <p:cNvPr id="6" name="content:line-3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4's package gains tests. One test pins the expected limit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date for each device on the fixed synthetic data.</a:t>
            </a:r>
          </a:p>
        </p:txBody>
      </p:sp>
      <p:sp>
        <p:nvSpPr>
          <p:cNvPr id="7" name="content:line-32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CI runs the tests on every push and pull request.</a:t>
            </a:r>
          </a:p>
        </p:txBody>
      </p:sp>
      <p:sp>
        <p:nvSpPr>
          <p:cNvPr id="8" name="content:line-33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"cleanup" as last session (drop zero-count days)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now arrives as a pull request:</a:t>
            </a:r>
          </a:p>
        </p:txBody>
      </p:sp>
      <p:sp>
        <p:nvSpPr>
          <p:cNvPr id="9" name="content:line-36:0"/>
          <p:cNvSpPr txBox="1"/>
          <p:nvPr/>
        </p:nvSpPr>
        <p:spPr>
          <a:xfrm>
            <a:off x="594360" y="39182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FAILED test_limit_dates_are_pinned_for_the_fixed_synthetic_data</a:t>
            </a:r>
          </a:p>
        </p:txBody>
      </p:sp>
      <p:sp>
        <p:nvSpPr>
          <p:cNvPr id="10" name="content:line-37:0"/>
          <p:cNvSpPr txBox="1"/>
          <p:nvPr/>
        </p:nvSpPr>
        <p:spPr>
          <a:xfrm>
            <a:off x="594360" y="42961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3 failed, 3 passed   CI: red</a:t>
            </a:r>
          </a:p>
        </p:txBody>
      </p:sp>
      <p:sp>
        <p:nvSpPr>
          <p:cNvPr id="11" name="content:line-40:0"/>
          <p:cNvSpPr txBox="1"/>
          <p:nvPr/>
        </p:nvSpPr>
        <p:spPr>
          <a:xfrm>
            <a:off x="594360" y="46741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check catches exactly the bug that slipped through before.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stays green.</a:t>
            </a:r>
          </a:p>
        </p:txBody>
      </p:sp>
      <p:sp>
        <p:nvSpPr>
          <p:cNvPr id="12" name="content:line-41:0"/>
          <p:cNvSpPr txBox="1"/>
          <p:nvPr/>
        </p:nvSpPr>
        <p:spPr>
          <a:xfrm>
            <a:off x="594360" y="55184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5 also runs from any folder: the data path no longer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depends on where you stand.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16  ·  CONTINUED 2</a:t>
            </a:r>
          </a:p>
        </p:txBody>
      </p:sp>
      <p:sp>
        <p:nvSpPr>
          <p:cNvPr id="4" name="title:line-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5: tests and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5</a:t>
            </a:r>
          </a:p>
        </p:txBody>
      </p:sp>
      <p:sp>
        <p:nvSpPr>
          <p:cNvPr id="6" name="content:line-4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Files: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folder of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Sandbox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16</a:t>
            </a:r>
          </a:p>
        </p:txBody>
      </p:sp>
      <p:sp>
        <p:nvSpPr>
          <p:cNvPr id="4" name="title:line-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test states what you expect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6</a:t>
            </a:r>
          </a:p>
        </p:txBody>
      </p:sp>
      <p:sp>
        <p:nvSpPr>
          <p:cNvPr id="6" name="content:line-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test calls your code with a known input and checks the result.</a:t>
            </a:r>
          </a:p>
        </p:txBody>
      </p:sp>
      <p:sp>
        <p:nvSpPr>
          <p:cNvPr id="7" name="content:line-51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test_limit_dates_are_pinned_for_the_fixed_synthetic_data():</a:t>
            </a:r>
          </a:p>
        </p:txBody>
      </p:sp>
      <p:sp>
        <p:nvSpPr>
          <p:cNvPr id="8" name="content:line-52:0"/>
          <p:cNvSpPr txBox="1"/>
          <p:nvPr/>
        </p:nvSpPr>
        <p:spPr>
          <a:xfrm>
            <a:off x="594360" y="2607564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assert predict_limit_dates(load_counts(DATA)) ==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EXPECTED_LIMIT_DATES</a:t>
            </a:r>
          </a:p>
        </p:txBody>
      </p:sp>
      <p:sp>
        <p:nvSpPr>
          <p:cNvPr id="9" name="content:line-55:0"/>
          <p:cNvSpPr txBox="1"/>
          <p:nvPr/>
        </p:nvSpPr>
        <p:spPr>
          <a:xfrm>
            <a:off x="594360" y="328726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expected values are written down in advance, from 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independent source.</a:t>
            </a:r>
          </a:p>
        </p:txBody>
      </p:sp>
      <p:sp>
        <p:nvSpPr>
          <p:cNvPr id="10" name="content:line-56:0"/>
          <p:cNvSpPr txBox="1"/>
          <p:nvPr/>
        </p:nvSpPr>
        <p:spPr>
          <a:xfrm>
            <a:off x="594360" y="41315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passing test says the behavior still holds. It does not prove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statistics are right.</a:t>
            </a:r>
          </a:p>
        </p:txBody>
      </p:sp>
      <p:sp>
        <p:nvSpPr>
          <p:cNvPr id="11" name="content:line-57:0"/>
          <p:cNvSpPr txBox="1"/>
          <p:nvPr/>
        </p:nvSpPr>
        <p:spPr>
          <a:xfrm>
            <a:off x="594360" y="49758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 behavior callers can observe, not how the function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built inside.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16</a:t>
            </a:r>
          </a:p>
        </p:txBody>
      </p:sp>
      <p:sp>
        <p:nvSpPr>
          <p:cNvPr id="4" name="title:line-6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pytest finds and runs tests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7</a:t>
            </a:r>
          </a:p>
        </p:txBody>
      </p:sp>
      <p:sp>
        <p:nvSpPr>
          <p:cNvPr id="6" name="content:line-6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Files named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test_*.py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functions named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test_*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collected automatically.</a:t>
            </a:r>
          </a:p>
        </p:txBody>
      </p:sp>
      <p:sp>
        <p:nvSpPr>
          <p:cNvPr id="7" name="content:line-6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pytest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prints a dot per pass and an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per failure, then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summary.</a:t>
            </a:r>
          </a:p>
        </p:txBody>
      </p:sp>
      <p:sp>
        <p:nvSpPr>
          <p:cNvPr id="8" name="content:line-65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failing line shows the expected and actual values side by side.</a:t>
            </a:r>
          </a:p>
        </p:txBody>
      </p:sp>
      <p:sp>
        <p:nvSpPr>
          <p:cNvPr id="9" name="content:line-66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repo has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tests/unit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tests/integration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make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test-pytest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runs both.</a:t>
            </a:r>
          </a:p>
        </p:txBody>
      </p:sp>
      <p:sp>
        <p:nvSpPr>
          <p:cNvPr id="10" name="content:line-69:0"/>
          <p:cNvSpPr txBox="1"/>
          <p:nvPr/>
        </p:nvSpPr>
        <p:spPr>
          <a:xfrm>
            <a:off x="594360" y="47625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pytest -q</a:t>
            </a:r>
          </a:p>
        </p:txBody>
      </p:sp>
      <p:sp>
        <p:nvSpPr>
          <p:cNvPr id="11" name="content:line-70:0"/>
          <p:cNvSpPr txBox="1"/>
          <p:nvPr/>
        </p:nvSpPr>
        <p:spPr>
          <a:xfrm>
            <a:off x="594360" y="51404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pytest tests/unit -k pinned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16</a:t>
            </a:r>
          </a:p>
        </p:txBody>
      </p:sp>
      <p:sp>
        <p:nvSpPr>
          <p:cNvPr id="4" name="title:line-7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Fixtures provide reusable inputs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8</a:t>
            </a:r>
          </a:p>
        </p:txBody>
      </p:sp>
      <p:sp>
        <p:nvSpPr>
          <p:cNvPr id="6" name="content:line-7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fixture builds an input once and hands it to every test that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asks for it.</a:t>
            </a:r>
          </a:p>
        </p:txBody>
      </p:sp>
      <p:sp>
        <p:nvSpPr>
          <p:cNvPr id="7" name="content:line-80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@pytest.fixture</a:t>
            </a:r>
          </a:p>
        </p:txBody>
      </p:sp>
      <p:sp>
        <p:nvSpPr>
          <p:cNvPr id="8" name="content:line-81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counts():</a:t>
            </a:r>
          </a:p>
        </p:txBody>
      </p:sp>
      <p:sp>
        <p:nvSpPr>
          <p:cNvPr id="9" name="content:line-82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return load_counts(DATA)</a:t>
            </a:r>
          </a:p>
        </p:txBody>
      </p:sp>
      <p:sp>
        <p:nvSpPr>
          <p:cNvPr id="10" name="content:line-83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1" name="content:line-84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test_pinned_dates(counts):</a:t>
            </a:r>
          </a:p>
        </p:txBody>
      </p:sp>
      <p:sp>
        <p:nvSpPr>
          <p:cNvPr id="12" name="content:line-85:0"/>
          <p:cNvSpPr txBox="1"/>
          <p:nvPr/>
        </p:nvSpPr>
        <p:spPr>
          <a:xfrm>
            <a:off x="594360" y="44714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assert predict_limit_dates(counts) == EXPECTED_LIMIT_DATES</a:t>
            </a:r>
          </a:p>
        </p:txBody>
      </p:sp>
      <p:sp>
        <p:nvSpPr>
          <p:cNvPr id="13" name="content:line-88:0"/>
          <p:cNvSpPr txBox="1"/>
          <p:nvPr/>
        </p:nvSpPr>
        <p:spPr>
          <a:xfrm>
            <a:off x="594360" y="4849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test names the fixture as an argument; pytest supplies it.</a:t>
            </a:r>
          </a:p>
        </p:txBody>
      </p:sp>
      <p:sp>
        <p:nvSpPr>
          <p:cNvPr id="14" name="content:line-89:0"/>
          <p:cNvSpPr txBox="1"/>
          <p:nvPr/>
        </p:nvSpPr>
        <p:spPr>
          <a:xfrm>
            <a:off x="594360" y="53416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tmp_path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files a test creates, so nothing leaks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between tests.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16</a:t>
            </a:r>
          </a:p>
        </p:txBody>
      </p:sp>
      <p:sp>
        <p:nvSpPr>
          <p:cNvPr id="4" name="title:line-9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Declare exact and approximate 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9</a:t>
            </a:r>
          </a:p>
        </p:txBody>
      </p:sp>
      <p:sp>
        <p:nvSpPr>
          <p:cNvPr id="6" name="content:line-9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identifiers, dates, order, counts, and copied baselines.</a:t>
            </a:r>
          </a:p>
        </p:txBody>
      </p:sp>
      <p:sp>
        <p:nvSpPr>
          <p:cNvPr id="7" name="content:line-96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Approximate: only calculated decimals such as means.</a:t>
            </a:r>
          </a:p>
        </p:txBody>
      </p:sp>
      <p:sp>
        <p:nvSpPr>
          <p:cNvPr id="8" name="content:line-99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assert mean == pytest.approx(210, rel=0.02)</a:t>
            </a:r>
          </a:p>
        </p:txBody>
      </p:sp>
      <p:sp>
        <p:nvSpPr>
          <p:cNvPr id="9" name="content:line-102:0"/>
          <p:cNvSpPr txBox="1"/>
          <p:nvPr/>
        </p:nvSpPr>
        <p:spPr>
          <a:xfrm>
            <a:off x="594360" y="30998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rel=0.02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allows a 2% difference. Say why that is acceptable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comment or the test name.</a:t>
            </a:r>
          </a:p>
        </p:txBody>
      </p:sp>
      <p:sp>
        <p:nvSpPr>
          <p:cNvPr id="10" name="content:line-103:0"/>
          <p:cNvSpPr txBox="1"/>
          <p:nvPr/>
        </p:nvSpPr>
        <p:spPr>
          <a:xfrm>
            <a:off x="594360" y="39441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limit dates in this course are whole days, so they 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compared exactly.</a:t>
            </a:r>
          </a:p>
        </p:txBody>
      </p:sp>
      <p:sp>
        <p:nvSpPr>
          <p:cNvPr id="11" name="content:line-104:0"/>
          <p:cNvSpPr txBox="1"/>
          <p:nvPr/>
        </p:nvSpPr>
        <p:spPr>
          <a:xfrm>
            <a:off x="594360" y="47884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is an engineering rule, not a statistical threshold.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16</a:t>
            </a:r>
          </a:p>
        </p:txBody>
      </p:sp>
      <p:sp>
        <p:nvSpPr>
          <p:cNvPr id="4" name="title:line-10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Invalid input must fail clearly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10</a:t>
            </a:r>
          </a:p>
        </p:txBody>
      </p:sp>
      <p:sp>
        <p:nvSpPr>
          <p:cNvPr id="6" name="content:line-11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 the bad cases as deliberately as the good ones.</a:t>
            </a:r>
          </a:p>
        </p:txBody>
      </p:sp>
      <p:sp>
        <p:nvSpPr>
          <p:cNvPr id="7" name="content:line-113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test_negative_count_is_rejected(tmp_path):</a:t>
            </a:r>
          </a:p>
        </p:txBody>
      </p:sp>
      <p:sp>
        <p:nvSpPr>
          <p:cNvPr id="8" name="content:line-114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bad = tmp_path / "bad.csv"</a:t>
            </a:r>
          </a:p>
        </p:txBody>
      </p:sp>
      <p:sp>
        <p:nvSpPr>
          <p:cNvPr id="9" name="content:line-115:0"/>
          <p:cNvSpPr txBox="1"/>
          <p:nvPr/>
        </p:nvSpPr>
        <p:spPr>
          <a:xfrm>
            <a:off x="594360" y="2985515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bad.write_text("device_id,date,daily_count\nDEV-A,2025-01-01,-5\n")</a:t>
            </a:r>
          </a:p>
        </p:txBody>
      </p:sp>
      <p:sp>
        <p:nvSpPr>
          <p:cNvPr id="10" name="content:line-116:0"/>
          <p:cNvSpPr txBox="1"/>
          <p:nvPr/>
        </p:nvSpPr>
        <p:spPr>
          <a:xfrm>
            <a:off x="594360" y="36652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with pytest.raises(ValueError, match="negative"):</a:t>
            </a:r>
          </a:p>
        </p:txBody>
      </p:sp>
      <p:sp>
        <p:nvSpPr>
          <p:cNvPr id="11" name="content:line-117:0"/>
          <p:cNvSpPr txBox="1"/>
          <p:nvPr/>
        </p:nvSpPr>
        <p:spPr>
          <a:xfrm>
            <a:off x="594360" y="40431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load_counts(bad)</a:t>
            </a:r>
          </a:p>
        </p:txBody>
      </p:sp>
      <p:sp>
        <p:nvSpPr>
          <p:cNvPr id="12" name="content:line-120:0"/>
          <p:cNvSpPr txBox="1"/>
          <p:nvPr/>
        </p:nvSpPr>
        <p:spPr>
          <a:xfrm>
            <a:off x="594360" y="44211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error message should say what is wrong and where.</a:t>
            </a:r>
          </a:p>
        </p:txBody>
      </p:sp>
      <p:sp>
        <p:nvSpPr>
          <p:cNvPr id="13" name="content:line-121:0"/>
          <p:cNvSpPr txBox="1"/>
          <p:nvPr/>
        </p:nvSpPr>
        <p:spPr>
          <a:xfrm>
            <a:off x="594360" y="491337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command-line tool turns the error into a readable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message, not a stack trace.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16</a:t>
            </a:r>
          </a:p>
        </p:txBody>
      </p:sp>
      <p:sp>
        <p:nvSpPr>
          <p:cNvPr id="4" name="title:line-1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Connect checks to the course's three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11</a:t>
            </a:r>
          </a:p>
        </p:txBody>
      </p:sp>
      <p:sp>
        <p:nvSpPr>
          <p:cNvPr id="6" name="content:line-12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across runs under the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conditions.</a:t>
            </a:r>
          </a:p>
        </p:txBody>
      </p:sp>
      <p:sp>
        <p:nvSpPr>
          <p:cNvPr id="7" name="content:line-128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under slightly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a Release installed on another machine, or local versus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Docker.</a:t>
            </a:r>
          </a:p>
        </p:txBody>
      </p:sp>
      <p:sp>
        <p:nvSpPr>
          <p:cNvPr id="8" name="content:line-129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agreement under very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an independent simulation; conceptual here.</a:t>
            </a:r>
          </a:p>
        </p:txBody>
      </p:sp>
      <p:sp>
        <p:nvSpPr>
          <p:cNvPr id="9" name="content:line-130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Passing CI alone does not compare local and Docker outputs.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Session 4 does that.</a:t>
            </a:r>
          </a:p>
        </p:txBody>
      </p:sp>
      <p:sp>
        <p:nvSpPr>
          <p:cNvPr id="10" name="content:line-132:0"/>
          <p:cNvSpPr txBox="1"/>
          <p:nvPr/>
        </p:nvSpPr>
        <p:spPr>
          <a:xfrm>
            <a:off x="594360" y="546658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definitions.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16</a:t>
            </a:r>
          </a:p>
        </p:txBody>
      </p:sp>
      <p:sp>
        <p:nvSpPr>
          <p:cNvPr id="4" name="title:line-13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Switch on the test job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12</a:t>
            </a:r>
          </a:p>
        </p:txBody>
      </p:sp>
      <p:sp>
        <p:nvSpPr>
          <p:cNvPr id="6" name="content:line-13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.github/workflows/github_actions.yml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test-pytest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job is commented out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# 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40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Select its lines and toggle the comment in your editor (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Ctrl+/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Cmd+/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).</a:t>
            </a:r>
          </a:p>
        </p:txBody>
      </p:sp>
      <p:sp>
        <p:nvSpPr>
          <p:cNvPr id="8" name="content:line-141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Leave the OPTIONAL release job commented.</a:t>
            </a:r>
          </a:p>
        </p:txBody>
      </p:sp>
      <p:sp>
        <p:nvSpPr>
          <p:cNvPr id="9" name="content:line-142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Commit and push on a branch; the pull request now shows two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checks.</a:t>
            </a:r>
          </a:p>
        </p:txBody>
      </p:sp>
      <p:sp>
        <p:nvSpPr>
          <p:cNvPr id="10" name="content:line-145:0"/>
          <p:cNvSpPr txBox="1"/>
          <p:nvPr/>
        </p:nvSpPr>
        <p:spPr>
          <a:xfrm>
            <a:off x="594360" y="47625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test-formatting-linting   passes</a:t>
            </a:r>
          </a:p>
        </p:txBody>
      </p:sp>
      <p:sp>
        <p:nvSpPr>
          <p:cNvPr id="11" name="content:line-146:0"/>
          <p:cNvSpPr txBox="1"/>
          <p:nvPr/>
        </p:nvSpPr>
        <p:spPr>
          <a:xfrm>
            <a:off x="594360" y="51404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test-pytest               passes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16</a:t>
            </a:r>
          </a:p>
        </p:txBody>
      </p:sp>
      <p:sp>
        <p:nvSpPr>
          <p:cNvPr id="4" name="title:line-15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Reporting a check is different from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requiring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13</a:t>
            </a:r>
          </a:p>
        </p:txBody>
      </p:sp>
      <p:sp>
        <p:nvSpPr>
          <p:cNvPr id="6" name="content:line-15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green check reports one commit's result. A repository rule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 </a:t>
            </a:r>
            <a:r>
              <a:rPr sz="2100" b="0" i="1">
                <a:solidFill>
                  <a:srgbClr val="20344A"/>
                </a:solidFill>
                <a:latin typeface="Arial"/>
              </a:rPr>
              <a:t>require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it before merging.</a:t>
            </a:r>
          </a:p>
        </p:txBody>
      </p:sp>
      <p:sp>
        <p:nvSpPr>
          <p:cNvPr id="7" name="content:line-155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Look at the merge box: does it block when a check fails?</a:t>
            </a:r>
          </a:p>
        </p:txBody>
      </p:sp>
      <p:sp>
        <p:nvSpPr>
          <p:cNvPr id="8" name="content:line-156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Required checks and approvals are set in the repository's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 protection settings.</a:t>
            </a:r>
          </a:p>
        </p:txBody>
      </p:sp>
      <p:sp>
        <p:nvSpPr>
          <p:cNvPr id="9" name="content:line-157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the latest commit: new commits start new check runs.</a:t>
            </a:r>
          </a:p>
        </p:txBody>
      </p:sp>
      <p:sp>
        <p:nvSpPr>
          <p:cNvPr id="10" name="content:line-159:0"/>
          <p:cNvSpPr txBox="1"/>
          <p:nvPr/>
        </p:nvSpPr>
        <p:spPr>
          <a:xfrm>
            <a:off x="594360" y="44104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GitHub's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protected branches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16</a:t>
            </a:r>
          </a:p>
        </p:txBody>
      </p:sp>
      <p:sp>
        <p:nvSpPr>
          <p:cNvPr id="4" name="title:line-1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add a validation and its test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14</a:t>
            </a:r>
          </a:p>
        </p:txBody>
      </p:sp>
      <p:sp>
        <p:nvSpPr>
          <p:cNvPr id="6" name="content:line-16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src/&lt;package&gt;/model.py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load_counts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rejects a negative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daily_count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68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if (counts["daily_count"] &lt; 0).any():</a:t>
            </a:r>
          </a:p>
        </p:txBody>
      </p:sp>
      <p:sp>
        <p:nvSpPr>
          <p:cNvPr id="8" name="content:line-169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raise ValueError(f"{path} has negative daily_count values")</a:t>
            </a:r>
          </a:p>
        </p:txBody>
      </p:sp>
      <p:sp>
        <p:nvSpPr>
          <p:cNvPr id="9" name="content:line-172:0"/>
          <p:cNvSpPr txBox="1"/>
          <p:nvPr/>
        </p:nvSpPr>
        <p:spPr>
          <a:xfrm>
            <a:off x="594360" y="33375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Add the test from the earlier slide, then run:</a:t>
            </a:r>
          </a:p>
        </p:txBody>
      </p:sp>
      <p:sp>
        <p:nvSpPr>
          <p:cNvPr id="10" name="content:line-175:0"/>
          <p:cNvSpPr txBox="1"/>
          <p:nvPr/>
        </p:nvSpPr>
        <p:spPr>
          <a:xfrm>
            <a:off x="594360" y="38298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make format</a:t>
            </a:r>
          </a:p>
        </p:txBody>
      </p:sp>
      <p:sp>
        <p:nvSpPr>
          <p:cNvPr id="11" name="content:line-176:0"/>
          <p:cNvSpPr txBox="1"/>
          <p:nvPr/>
        </p:nvSpPr>
        <p:spPr>
          <a:xfrm>
            <a:off x="594360" y="42077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make test-all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16</a:t>
            </a:r>
          </a:p>
        </p:txBody>
      </p:sp>
      <p:sp>
        <p:nvSpPr>
          <p:cNvPr id="4" name="title:line-1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a controlled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15</a:t>
            </a:r>
          </a:p>
        </p:txBody>
      </p:sp>
      <p:sp>
        <p:nvSpPr>
          <p:cNvPr id="6" name="content:line-18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Change one expected date in a test, for example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date(2026, 4,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1)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date(2026, 4, 2)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push.</a:t>
            </a:r>
          </a:p>
        </p:txBody>
      </p:sp>
      <p:sp>
        <p:nvSpPr>
          <p:cNvPr id="7" name="content:line-186:0"/>
          <p:cNvSpPr txBox="1"/>
          <p:nvPr/>
        </p:nvSpPr>
        <p:spPr>
          <a:xfrm>
            <a:off x="594360" y="2581656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FAILED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tests/unit/test_model.py::test_limit_dates_are_pinned_for_the_fixed_s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ynthetic_data</a:t>
            </a:r>
          </a:p>
        </p:txBody>
      </p:sp>
      <p:sp>
        <p:nvSpPr>
          <p:cNvPr id="8" name="content:line-187:0"/>
          <p:cNvSpPr txBox="1"/>
          <p:nvPr/>
        </p:nvSpPr>
        <p:spPr>
          <a:xfrm>
            <a:off x="594360" y="35631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{'DEV-B': date(2026, 4, 1)} != {'DEV-B': date(2026, 4, 2)}</a:t>
            </a:r>
          </a:p>
        </p:txBody>
      </p:sp>
      <p:sp>
        <p:nvSpPr>
          <p:cNvPr id="9" name="content:line-190:0"/>
          <p:cNvSpPr txBox="1"/>
          <p:nvPr/>
        </p:nvSpPr>
        <p:spPr>
          <a:xfrm>
            <a:off x="594360" y="39410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pull request shows the red check; the log shows the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message.</a:t>
            </a:r>
          </a:p>
        </p:txBody>
      </p:sp>
      <p:sp>
        <p:nvSpPr>
          <p:cNvPr id="10" name="content:line-191:0"/>
          <p:cNvSpPr txBox="1"/>
          <p:nvPr/>
        </p:nvSpPr>
        <p:spPr>
          <a:xfrm>
            <a:off x="594360" y="47853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Restore the date, push again, and the check turns green.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16</a:t>
            </a:r>
          </a:p>
        </p:txBody>
      </p:sp>
      <p:sp>
        <p:nvSpPr>
          <p:cNvPr id="4" name="title:line-1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Hands-on: 40 minutes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16</a:t>
            </a:r>
          </a:p>
        </p:txBody>
      </p:sp>
      <p:sp>
        <p:nvSpPr>
          <p:cNvPr id="6" name="content:line-19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switch on the test job in a branch, open a pull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request, see both checks.</a:t>
            </a:r>
          </a:p>
        </p:txBody>
      </p:sp>
      <p:sp>
        <p:nvSpPr>
          <p:cNvPr id="7" name="content:line-19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add the validation and its test, plus one fixture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test of your own.</a:t>
            </a:r>
          </a:p>
        </p:txBody>
      </p:sp>
      <p:sp>
        <p:nvSpPr>
          <p:cNvPr id="8" name="content:line-19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the controlled failure — break, read the red check,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fix.</a:t>
            </a:r>
          </a:p>
        </p:txBody>
      </p:sp>
      <p:sp>
        <p:nvSpPr>
          <p:cNvPr id="9" name="content:line-20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5 minutes: request a teammate's review and record the CI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link.</a:t>
            </a:r>
          </a:p>
        </p:txBody>
      </p:sp>
      <p:sp>
        <p:nvSpPr>
          <p:cNvPr id="10" name="content:line-202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the exercise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stuck.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16</a:t>
            </a:r>
          </a:p>
        </p:txBody>
      </p:sp>
      <p:sp>
        <p:nvSpPr>
          <p:cNvPr id="4" name="title:line-20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next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17</a:t>
            </a:r>
          </a:p>
        </p:txBody>
      </p:sp>
      <p:sp>
        <p:nvSpPr>
          <p:cNvPr id="6" name="content:line-20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checkpoint: passing local tests and passing CI in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Backend repo, with a review on the pull request.</a:t>
            </a:r>
          </a:p>
        </p:txBody>
      </p:sp>
      <p:sp>
        <p:nvSpPr>
          <p:cNvPr id="7" name="content:line-210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is approximately two hours; details will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 posted separately.</a:t>
            </a:r>
          </a:p>
        </p:txBody>
      </p:sp>
      <p:sp>
        <p:nvSpPr>
          <p:cNvPr id="8" name="content:line-211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session: put an API in front of the same function,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containerize it, and run it with the supplied frontend.</a:t>
            </a:r>
          </a:p>
        </p:txBody>
      </p:sp>
      <p:sp>
        <p:nvSpPr>
          <p:cNvPr id="9" name="content:line-213:0"/>
          <p:cNvSpPr txBox="1"/>
          <p:nvPr/>
        </p:nvSpPr>
        <p:spPr>
          <a:xfrm>
            <a:off x="594360" y="4270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3: Tests and automated CI</dc:title>
  <dc:subject>Editable slides generated from session-3.md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