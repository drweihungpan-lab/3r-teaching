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SYLLABUS.md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backend/app/main.py" TargetMode="External"/><Relationship Id="rId3" Type="http://schemas.openxmlformats.org/officeDocument/2006/relationships/hyperlink" Target="../../backend/stat_core/__init__.py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docs/api.md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docs/api.md#input-rules-and-errors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backend/tests/test_processing.py" TargetMode="External"/><Relationship Id="rId3" Type="http://schemas.openxmlformats.org/officeDocument/2006/relationships/hyperlink" Target="../../backend/tests/test_validation.py" TargetMode="External"/><Relationship Id="rId4" Type="http://schemas.openxmlformats.org/officeDocument/2006/relationships/hyperlink" Target="../../backend/tests/test_api.py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backend/tests/conftest.py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GLOSSARY.md" TargetMode="External"/><Relationship Id="rId3" Type="http://schemas.openxmlformats.org/officeDocument/2006/relationships/hyperlink" Target="../../docs/testing.md#exact-and-approximate-comparisons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docs/setup.md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backend/app/main.py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docs/api.md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backend/tests/test_processing.py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docs/testing.md#controlled-failure-and-recovery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docs/ci.md#inspect-a-failure-and-its-correction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.github/workflows/backend-tests.yml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 / 23</a:t>
            </a:r>
          </a:p>
        </p:txBody>
      </p:sp>
      <p:sp>
        <p:nvSpPr>
          <p:cNvPr id="4" name="title:line-1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Session 3: Validation, pytest, and </a:t>
            </a:r>
            <a:br/>
            <a:r>
              <a:rPr sz="3200" b="0" i="0">
                <a:solidFill>
                  <a:srgbClr val="20344A"/>
                </a:solidFill>
                <a:latin typeface="Arial"/>
              </a:rPr>
              <a:t>automated CI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session-3.md   ·   1</a:t>
            </a:r>
          </a:p>
        </p:txBody>
      </p:sp>
      <p:sp>
        <p:nvSpPr>
          <p:cNvPr id="6" name="content:line-3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Follow a CSV request through FastAPI into reusable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processing.</a:t>
            </a:r>
          </a:p>
        </p:txBody>
      </p:sp>
      <p:sp>
        <p:nvSpPr>
          <p:cNvPr id="7" name="content:line-4:0"/>
          <p:cNvSpPr txBox="1"/>
          <p:nvPr/>
        </p:nvSpPr>
        <p:spPr>
          <a:xfrm>
            <a:off x="594360" y="2581656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Explain accepted inputs, missing values, and useful errors.</a:t>
            </a:r>
          </a:p>
        </p:txBody>
      </p:sp>
      <p:sp>
        <p:nvSpPr>
          <p:cNvPr id="8" name="content:line-5:0"/>
          <p:cNvSpPr txBox="1"/>
          <p:nvPr/>
        </p:nvSpPr>
        <p:spPr>
          <a:xfrm>
            <a:off x="594360" y="3073907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Read tests, diagnose a failure, and inspect automated checks.</a:t>
            </a:r>
          </a:p>
        </p:txBody>
      </p:sp>
      <p:sp>
        <p:nvSpPr>
          <p:cNvPr id="9" name="content:line-6:0"/>
          <p:cNvSpPr txBox="1"/>
          <p:nvPr/>
        </p:nvSpPr>
        <p:spPr>
          <a:xfrm>
            <a:off x="594360" y="3566159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Use the supplied synthetic example; no model building is needed.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 / 23</a:t>
            </a:r>
          </a:p>
        </p:txBody>
      </p:sp>
      <p:sp>
        <p:nvSpPr>
          <p:cNvPr id="4" name="title:line-10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Back at the bubble tea shop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session-3.md   ·   2</a:t>
            </a:r>
          </a:p>
        </p:txBody>
      </p:sp>
      <p:sp>
        <p:nvSpPr>
          <p:cNvPr id="6" name="content:line-12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1" i="0">
                <a:solidFill>
                  <a:srgbClr val="20344A"/>
                </a:solidFill>
                <a:latin typeface="Arial"/>
              </a:rPr>
              <a:t>A customer orders a tea with −20% sugar. What do you do?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3 / 23</a:t>
            </a:r>
          </a:p>
        </p:txBody>
      </p:sp>
      <p:sp>
        <p:nvSpPr>
          <p:cNvPr id="4" name="title:line-16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Our 180-minute agenda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session-3.md   ·   3</a:t>
            </a:r>
          </a:p>
        </p:txBody>
      </p:sp>
      <p:sp>
        <p:nvSpPr>
          <p:cNvPr id="6" name="content:line-18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0–45: explanation — contracts, validation, fixtures,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comparisons.</a:t>
            </a:r>
          </a:p>
        </p:txBody>
      </p:sp>
      <p:sp>
        <p:nvSpPr>
          <p:cNvPr id="7" name="content:line-19:0"/>
          <p:cNvSpPr txBox="1"/>
          <p:nvPr/>
        </p:nvSpPr>
        <p:spPr>
          <a:xfrm>
            <a:off x="594360" y="258165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45–75: demonstration — requests, failure, correction, local and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CI checks.</a:t>
            </a:r>
          </a:p>
        </p:txBody>
      </p:sp>
      <p:sp>
        <p:nvSpPr>
          <p:cNvPr id="8" name="content:line-20:0"/>
          <p:cNvSpPr txBox="1"/>
          <p:nvPr/>
        </p:nvSpPr>
        <p:spPr>
          <a:xfrm>
            <a:off x="594360" y="3425952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75–90: break — 15 minutes.</a:t>
            </a:r>
          </a:p>
        </p:txBody>
      </p:sp>
      <p:sp>
        <p:nvSpPr>
          <p:cNvPr id="9" name="content:line-21:0"/>
          <p:cNvSpPr txBox="1"/>
          <p:nvPr/>
        </p:nvSpPr>
        <p:spPr>
          <a:xfrm>
            <a:off x="594360" y="3918204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90–180: guided practice — trace 15, inspect 20, change 20, check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20, review 15.</a:t>
            </a:r>
          </a:p>
        </p:txBody>
      </p:sp>
      <p:sp>
        <p:nvSpPr>
          <p:cNvPr id="10" name="content:line-22:0"/>
          <p:cNvSpPr txBox="1"/>
          <p:nvPr/>
        </p:nvSpPr>
        <p:spPr>
          <a:xfrm>
            <a:off x="594360" y="476250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Timings are provisional; see the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syllabus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4 / 23</a:t>
            </a:r>
          </a:p>
        </p:txBody>
      </p:sp>
      <p:sp>
        <p:nvSpPr>
          <p:cNvPr id="4" name="title:line-26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Follow the request across public </a:t>
            </a:r>
            <a:br/>
            <a:r>
              <a:rPr sz="3200" b="0" i="0">
                <a:solidFill>
                  <a:srgbClr val="20344A"/>
                </a:solidFill>
                <a:latin typeface="Arial"/>
              </a:rPr>
              <a:t>boundaries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session-3.md   ·   4</a:t>
            </a:r>
          </a:p>
        </p:txBody>
      </p:sp>
      <p:sp>
        <p:nvSpPr>
          <p:cNvPr id="6" name="content:line-28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An API is a defined way for programs to exchange inputs and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results.</a:t>
            </a:r>
          </a:p>
        </p:txBody>
      </p:sp>
      <p:sp>
        <p:nvSpPr>
          <p:cNvPr id="7" name="content:line-31:0"/>
          <p:cNvSpPr txBox="1"/>
          <p:nvPr/>
        </p:nvSpPr>
        <p:spPr>
          <a:xfrm>
            <a:off x="594360" y="2581656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POST /process: two CSV file uploads</a:t>
            </a:r>
          </a:p>
        </p:txBody>
      </p:sp>
      <p:sp>
        <p:nvSpPr>
          <p:cNvPr id="8" name="content:line-32:0"/>
          <p:cNvSpPr txBox="1"/>
          <p:nvPr/>
        </p:nvSpPr>
        <p:spPr>
          <a:xfrm>
            <a:off x="594360" y="2959607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backend/app/main.py: read uploads, decode UTF-8</a:t>
            </a:r>
          </a:p>
        </p:txBody>
      </p:sp>
      <p:sp>
        <p:nvSpPr>
          <p:cNvPr id="9" name="content:line-33:0"/>
          <p:cNvSpPr txBox="1"/>
          <p:nvPr/>
        </p:nvSpPr>
        <p:spPr>
          <a:xfrm>
            <a:off x="594360" y="3337559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stat_core.process_csv: validate, join, summarize</a:t>
            </a:r>
          </a:p>
        </p:txBody>
      </p:sp>
      <p:sp>
        <p:nvSpPr>
          <p:cNvPr id="10" name="content:line-34:0"/>
          <p:cNvSpPr txBox="1"/>
          <p:nvPr/>
        </p:nvSpPr>
        <p:spPr>
          <a:xfrm>
            <a:off x="594360" y="3715511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ProcessResult: check the result shape</a:t>
            </a:r>
          </a:p>
        </p:txBody>
      </p:sp>
      <p:sp>
        <p:nvSpPr>
          <p:cNvPr id="11" name="content:line-35:0"/>
          <p:cNvSpPr txBox="1"/>
          <p:nvPr/>
        </p:nvSpPr>
        <p:spPr>
          <a:xfrm>
            <a:off x="594360" y="4093463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HTTP 200: return JSON</a:t>
            </a:r>
          </a:p>
        </p:txBody>
      </p:sp>
      <p:sp>
        <p:nvSpPr>
          <p:cNvPr id="12" name="content:line-38:0"/>
          <p:cNvSpPr txBox="1"/>
          <p:nvPr/>
        </p:nvSpPr>
        <p:spPr>
          <a:xfrm>
            <a:off x="594360" y="4471415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Courier New"/>
              </a:rPr>
              <a:t>process_csv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accepts CSV contents, not paths or HTTP objects.</a:t>
            </a:r>
          </a:p>
        </p:txBody>
      </p:sp>
      <p:sp>
        <p:nvSpPr>
          <p:cNvPr id="13" name="content:line-39:0"/>
          <p:cNvSpPr txBox="1"/>
          <p:nvPr/>
        </p:nvSpPr>
        <p:spPr>
          <a:xfrm>
            <a:off x="594360" y="4963667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Trace the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API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and </a:t>
            </a:r>
            <a:r>
              <a:rPr sz="2100" b="0" i="0">
                <a:solidFill>
                  <a:srgbClr val="007F82"/>
                </a:solidFill>
                <a:latin typeface="Arial"/>
                <a:hlinkClick r:id="rId3"/>
              </a:rPr>
              <a:t>public processing entry point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5 / 23</a:t>
            </a:r>
          </a:p>
        </p:txBody>
      </p:sp>
      <p:sp>
        <p:nvSpPr>
          <p:cNvPr id="4" name="title:line-43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A contract tells callers what to expect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session-3.md   ·   5</a:t>
            </a:r>
          </a:p>
        </p:txBody>
      </p:sp>
      <p:sp>
        <p:nvSpPr>
          <p:cNvPr id="6" name="content:line-45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Multipart means named file parts: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participants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and </a:t>
            </a:r>
            <a:br/>
            <a:r>
              <a:rPr sz="2100" b="0" i="0">
                <a:solidFill>
                  <a:srgbClr val="20344A"/>
                </a:solidFill>
                <a:latin typeface="Courier New"/>
              </a:rPr>
              <a:t>laboratory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7" name="content:line-46:0"/>
          <p:cNvSpPr txBox="1"/>
          <p:nvPr/>
        </p:nvSpPr>
        <p:spPr>
          <a:xfrm>
            <a:off x="594360" y="258165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FastAPI checks the upload fields; CSV validation checks their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contents.</a:t>
            </a:r>
          </a:p>
        </p:txBody>
      </p:sp>
      <p:sp>
        <p:nvSpPr>
          <p:cNvPr id="8" name="content:line-47:0"/>
          <p:cNvSpPr txBox="1"/>
          <p:nvPr/>
        </p:nvSpPr>
        <p:spPr>
          <a:xfrm>
            <a:off x="594360" y="3425952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Pydantic models describe and check result and error shapes.</a:t>
            </a:r>
          </a:p>
        </p:txBody>
      </p:sp>
      <p:sp>
        <p:nvSpPr>
          <p:cNvPr id="9" name="content:line-48:0"/>
          <p:cNvSpPr txBox="1"/>
          <p:nvPr/>
        </p:nvSpPr>
        <p:spPr>
          <a:xfrm>
            <a:off x="594360" y="3918204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Courier New"/>
              </a:rPr>
              <a:t>ProcessResult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contains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counts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records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arm_summaries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</a:t>
            </a:r>
            <a:br/>
            <a:r>
              <a:rPr sz="2100" b="0" i="0">
                <a:solidFill>
                  <a:srgbClr val="20344A"/>
                </a:solidFill>
                <a:latin typeface="Courier New"/>
              </a:rPr>
              <a:t>visit_summaries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10" name="content:line-49:0"/>
          <p:cNvSpPr txBox="1"/>
          <p:nvPr/>
        </p:nvSpPr>
        <p:spPr>
          <a:xfrm>
            <a:off x="594360" y="476250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Courier New"/>
              </a:rPr>
              <a:t>value: float | None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allows a number or unavailable value;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JSON uses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null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11" name="content:line-50:0"/>
          <p:cNvSpPr txBox="1"/>
          <p:nvPr/>
        </p:nvSpPr>
        <p:spPr>
          <a:xfrm>
            <a:off x="594360" y="5606796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Read the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contract</a:t>
            </a:r>
            <a:r>
              <a:rPr sz="2100" b="0" i="0">
                <a:solidFill>
                  <a:srgbClr val="20344A"/>
                </a:solidFill>
                <a:latin typeface="Arial"/>
              </a:rPr>
              <a:t>; inspect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/docs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and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/openapi.json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6 / 23</a:t>
            </a:r>
          </a:p>
        </p:txBody>
      </p:sp>
      <p:sp>
        <p:nvSpPr>
          <p:cNvPr id="4" name="title:line-54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Validate meaning as well as type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session-3.md   ·   6</a:t>
            </a:r>
          </a:p>
        </p:txBody>
      </p:sp>
      <p:sp>
        <p:nvSpPr>
          <p:cNvPr id="6" name="content:line-56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DM: participants. LB: laboratory observations.</a:t>
            </a:r>
          </a:p>
        </p:txBody>
      </p:sp>
      <p:sp>
        <p:nvSpPr>
          <p:cNvPr id="7" name="content:line-57:0"/>
          <p:cNvSpPr txBox="1"/>
          <p:nvPr/>
        </p:nvSpPr>
        <p:spPr>
          <a:xfrm>
            <a:off x="594360" y="2229612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Join on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STUDYID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and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USUBJID</a:t>
            </a:r>
            <a:r>
              <a:rPr sz="2100" b="0" i="0">
                <a:solidFill>
                  <a:srgbClr val="20344A"/>
                </a:solidFill>
                <a:latin typeface="Arial"/>
              </a:rPr>
              <a:t>; preserve text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SUBJID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such as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001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8" name="content:line-58:0"/>
          <p:cNvSpPr txBox="1"/>
          <p:nvPr/>
        </p:nvSpPr>
        <p:spPr>
          <a:xfrm>
            <a:off x="594360" y="2721864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DM key: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(STUDYID, USUBJID)</a:t>
            </a:r>
            <a:r>
              <a:rPr sz="2100" b="0" i="0">
                <a:solidFill>
                  <a:srgbClr val="20344A"/>
                </a:solidFill>
                <a:latin typeface="Arial"/>
              </a:rPr>
              <a:t>; LB adds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LBSEQ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or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VISIT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for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uniqueness.</a:t>
            </a:r>
          </a:p>
        </p:txBody>
      </p:sp>
      <p:sp>
        <p:nvSpPr>
          <p:cNvPr id="9" name="content:line-59:0"/>
          <p:cNvSpPr txBox="1"/>
          <p:nvPr/>
        </p:nvSpPr>
        <p:spPr>
          <a:xfrm>
            <a:off x="594360" y="35661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Courier New"/>
              </a:rPr>
              <a:t>AGE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must be a nonnegative integer in years.</a:t>
            </a:r>
          </a:p>
        </p:txBody>
      </p:sp>
      <p:sp>
        <p:nvSpPr>
          <p:cNvPr id="10" name="content:line-60:0"/>
          <p:cNvSpPr txBox="1"/>
          <p:nvPr/>
        </p:nvSpPr>
        <p:spPr>
          <a:xfrm>
            <a:off x="594360" y="4058412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Courier New"/>
              </a:rPr>
              <a:t>LBORRES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and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LBSTRESN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must agree: finite, nonnegative numbers.</a:t>
            </a:r>
          </a:p>
        </p:txBody>
      </p:sp>
      <p:sp>
        <p:nvSpPr>
          <p:cNvPr id="11" name="content:line-61:0"/>
          <p:cNvSpPr txBox="1"/>
          <p:nvPr/>
        </p:nvSpPr>
        <p:spPr>
          <a:xfrm>
            <a:off x="594360" y="4550664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Both result units: exactly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nmol/L</a:t>
            </a:r>
            <a:r>
              <a:rPr sz="2100" b="0" i="0">
                <a:solidFill>
                  <a:srgbClr val="20344A"/>
                </a:solidFill>
                <a:latin typeface="Arial"/>
              </a:rPr>
              <a:t>; no conversion.</a:t>
            </a:r>
          </a:p>
        </p:txBody>
      </p:sp>
      <p:sp>
        <p:nvSpPr>
          <p:cNvPr id="12" name="content:line-62:0"/>
          <p:cNvSpPr txBox="1"/>
          <p:nvPr/>
        </p:nvSpPr>
        <p:spPr>
          <a:xfrm>
            <a:off x="594360" y="504291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Input rules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also cover visits, dates, test names, and required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columns.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7 / 23</a:t>
            </a:r>
          </a:p>
        </p:txBody>
      </p:sp>
      <p:sp>
        <p:nvSpPr>
          <p:cNvPr id="4" name="title:line-66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Missing values carry information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session-3.md   ·   7</a:t>
            </a:r>
          </a:p>
        </p:txBody>
      </p:sp>
      <p:sp>
        <p:nvSpPr>
          <p:cNvPr id="6" name="content:line-68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Missing: both result cells empty,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LBSTAT=NOT DONE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LBREASND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nonempty.</a:t>
            </a:r>
          </a:p>
        </p:txBody>
      </p:sp>
      <p:sp>
        <p:nvSpPr>
          <p:cNvPr id="7" name="content:line-69:0"/>
          <p:cNvSpPr txBox="1"/>
          <p:nvPr/>
        </p:nvSpPr>
        <p:spPr>
          <a:xfrm>
            <a:off x="594360" y="258165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Observed: numeric results, empty status and reason; zero is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observed.</a:t>
            </a:r>
          </a:p>
        </p:txBody>
      </p:sp>
      <p:sp>
        <p:nvSpPr>
          <p:cNvPr id="8" name="content:line-70:0"/>
          <p:cNvSpPr txBox="1"/>
          <p:nvPr/>
        </p:nvSpPr>
        <p:spPr>
          <a:xfrm>
            <a:off x="594360" y="3425952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Output missing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value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change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percent_change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remain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null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9" name="content:line-71:0"/>
          <p:cNvSpPr txBox="1"/>
          <p:nvPr/>
        </p:nvSpPr>
        <p:spPr>
          <a:xfrm>
            <a:off x="594360" y="3918204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Means use observed values only; an all-missing group has </a:t>
            </a:r>
            <a:br/>
            <a:r>
              <a:rPr sz="2100" b="0" i="0">
                <a:solidFill>
                  <a:srgbClr val="20344A"/>
                </a:solidFill>
                <a:latin typeface="Courier New"/>
              </a:rPr>
              <a:t>mean=null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10" name="content:line-72:0"/>
          <p:cNvSpPr txBox="1"/>
          <p:nvPr/>
        </p:nvSpPr>
        <p:spPr>
          <a:xfrm>
            <a:off x="594360" y="476250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Unavailable baseline: null changes. Zero baseline: null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percentage change.</a:t>
            </a:r>
          </a:p>
        </p:txBody>
      </p:sp>
      <p:sp>
        <p:nvSpPr>
          <p:cNvPr id="11" name="content:line-73:0"/>
          <p:cNvSpPr txBox="1"/>
          <p:nvPr/>
        </p:nvSpPr>
        <p:spPr>
          <a:xfrm>
            <a:off x="594360" y="5606796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Omitted visits add no rows to the missing count.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8 / 23</a:t>
            </a:r>
          </a:p>
        </p:txBody>
      </p:sp>
      <p:sp>
        <p:nvSpPr>
          <p:cNvPr id="4" name="title:line-77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HTTP status and error location guide </a:t>
            </a:r>
            <a:br/>
            <a:r>
              <a:rPr sz="3200" b="0" i="0">
                <a:solidFill>
                  <a:srgbClr val="20344A"/>
                </a:solidFill>
                <a:latin typeface="Arial"/>
              </a:rPr>
              <a:t>repair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session-3.md   ·   8</a:t>
            </a:r>
          </a:p>
        </p:txBody>
      </p:sp>
      <p:sp>
        <p:nvSpPr>
          <p:cNvPr id="6" name="content:line-79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HTTP 200: processing succeeded; inspect the returned result.</a:t>
            </a:r>
          </a:p>
        </p:txBody>
      </p:sp>
      <p:sp>
        <p:nvSpPr>
          <p:cNvPr id="7" name="content:line-80:0"/>
          <p:cNvSpPr txBox="1"/>
          <p:nvPr/>
        </p:nvSpPr>
        <p:spPr>
          <a:xfrm>
            <a:off x="594360" y="2229612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HTTP 422: invalid CSV, invalid UTF-8, or missing upload fields.</a:t>
            </a:r>
          </a:p>
        </p:txBody>
      </p:sp>
      <p:sp>
        <p:nvSpPr>
          <p:cNvPr id="8" name="content:line-81:0"/>
          <p:cNvSpPr txBox="1"/>
          <p:nvPr/>
        </p:nvSpPr>
        <p:spPr>
          <a:xfrm>
            <a:off x="594360" y="2721864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HTTP 413: one upload exceeds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MAX_UPLOAD_BYTES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; default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5,242,880 bytes per file.</a:t>
            </a:r>
          </a:p>
        </p:txBody>
      </p:sp>
      <p:sp>
        <p:nvSpPr>
          <p:cNvPr id="9" name="content:line-82:0"/>
          <p:cNvSpPr txBox="1"/>
          <p:nvPr/>
        </p:nvSpPr>
        <p:spPr>
          <a:xfrm>
            <a:off x="594360" y="35661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Errors use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detail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containing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file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row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field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message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10" name="content:line-83:0"/>
          <p:cNvSpPr txBox="1"/>
          <p:nvPr/>
        </p:nvSpPr>
        <p:spPr>
          <a:xfrm>
            <a:off x="594360" y="4058412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CSV header is line 1; file-level errors use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row=null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11" name="content:line-84:0"/>
          <p:cNvSpPr txBox="1"/>
          <p:nvPr/>
        </p:nvSpPr>
        <p:spPr>
          <a:xfrm>
            <a:off x="594360" y="4550664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CSV validation reports the first detected error; fix it and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retry.</a:t>
            </a:r>
          </a:p>
        </p:txBody>
      </p:sp>
      <p:sp>
        <p:nvSpPr>
          <p:cNvPr id="12" name="content:line-85:0"/>
          <p:cNvSpPr txBox="1"/>
          <p:nvPr/>
        </p:nvSpPr>
        <p:spPr>
          <a:xfrm>
            <a:off x="594360" y="53949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Python callers receive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InvalidInputError.issues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; HTTP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callers receive JSON.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9 / 23</a:t>
            </a:r>
          </a:p>
        </p:txBody>
      </p:sp>
      <p:sp>
        <p:nvSpPr>
          <p:cNvPr id="4" name="title:line-89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Test behavior callers can observe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session-3.md   ·   9</a:t>
            </a:r>
          </a:p>
        </p:txBody>
      </p:sp>
      <p:sp>
        <p:nvSpPr>
          <p:cNvPr id="6" name="content:line-91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A test compares a public result with a declared expectation.</a:t>
            </a:r>
          </a:p>
        </p:txBody>
      </p:sp>
      <p:sp>
        <p:nvSpPr>
          <p:cNvPr id="7" name="content:line-93:0"/>
          <p:cNvSpPr txBox="1"/>
          <p:nvPr/>
        </p:nvSpPr>
        <p:spPr>
          <a:xfrm>
            <a:off x="594360" y="222961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Processing tests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: records, summaries, and missingness via </a:t>
            </a:r>
            <a:br/>
            <a:r>
              <a:rPr sz="2100" b="0" i="0">
                <a:solidFill>
                  <a:srgbClr val="20344A"/>
                </a:solidFill>
                <a:latin typeface="Courier New"/>
              </a:rPr>
              <a:t>process_csv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8" name="content:line-94:0"/>
          <p:cNvSpPr txBox="1"/>
          <p:nvPr/>
        </p:nvSpPr>
        <p:spPr>
          <a:xfrm>
            <a:off x="594360" y="3073908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007F82"/>
                </a:solidFill>
                <a:latin typeface="Arial"/>
                <a:hlinkClick r:id="rId3"/>
              </a:rPr>
              <a:t>Validation tests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: rejected inputs and error issues.</a:t>
            </a:r>
          </a:p>
        </p:txBody>
      </p:sp>
      <p:sp>
        <p:nvSpPr>
          <p:cNvPr id="9" name="content:line-95:0"/>
          <p:cNvSpPr txBox="1"/>
          <p:nvPr/>
        </p:nvSpPr>
        <p:spPr>
          <a:xfrm>
            <a:off x="594360" y="35661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007F82"/>
                </a:solidFill>
                <a:latin typeface="Arial"/>
                <a:hlinkClick r:id="rId4"/>
              </a:rPr>
              <a:t>API tests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: multipart requests, status codes, and response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schemas.</a:t>
            </a:r>
          </a:p>
        </p:txBody>
      </p:sp>
      <p:sp>
        <p:nvSpPr>
          <p:cNvPr id="10" name="content:line-96:0"/>
          <p:cNvSpPr txBox="1"/>
          <p:nvPr/>
        </p:nvSpPr>
        <p:spPr>
          <a:xfrm>
            <a:off x="594360" y="4410456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TestClient sends requests inside Python; no server is needed.</a:t>
            </a:r>
          </a:p>
        </p:txBody>
      </p:sp>
      <p:sp>
        <p:nvSpPr>
          <p:cNvPr id="11" name="content:line-97:0"/>
          <p:cNvSpPr txBox="1"/>
          <p:nvPr/>
        </p:nvSpPr>
        <p:spPr>
          <a:xfrm>
            <a:off x="594360" y="4902708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Expect results independently of production helpers or internal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call order.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10 / 23</a:t>
            </a:r>
          </a:p>
        </p:txBody>
      </p:sp>
      <p:sp>
        <p:nvSpPr>
          <p:cNvPr id="4" name="title:line-101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Fixtures provide reusable inputs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session-3.md   ·   10</a:t>
            </a:r>
          </a:p>
        </p:txBody>
      </p:sp>
      <p:sp>
        <p:nvSpPr>
          <p:cNvPr id="6" name="content:line-103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A pytest fixture provides named inputs or resources to a test.</a:t>
            </a:r>
          </a:p>
        </p:txBody>
      </p:sp>
      <p:sp>
        <p:nvSpPr>
          <p:cNvPr id="7" name="content:line-105:0"/>
          <p:cNvSpPr txBox="1"/>
          <p:nvPr/>
        </p:nvSpPr>
        <p:spPr>
          <a:xfrm>
            <a:off x="594360" y="2229612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Read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conftest.py</a:t>
            </a:r>
            <a:r>
              <a:rPr sz="2100" b="0" i="0">
                <a:solidFill>
                  <a:srgbClr val="20344A"/>
                </a:solidFill>
                <a:latin typeface="Arial"/>
              </a:rPr>
              <a:t>; pytest discovers it automatically.</a:t>
            </a:r>
          </a:p>
        </p:txBody>
      </p:sp>
      <p:sp>
        <p:nvSpPr>
          <p:cNvPr id="8" name="content:line-106:0"/>
          <p:cNvSpPr txBox="1"/>
          <p:nvPr/>
        </p:nvSpPr>
        <p:spPr>
          <a:xfrm>
            <a:off x="594360" y="2721864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Courier New"/>
              </a:rPr>
              <a:t>supplied_csv</a:t>
            </a:r>
            <a:r>
              <a:rPr sz="2100" b="0" i="0">
                <a:solidFill>
                  <a:srgbClr val="20344A"/>
                </a:solidFill>
                <a:latin typeface="Arial"/>
              </a:rPr>
              <a:t>: unchanged synthetic DM and LB contents.</a:t>
            </a:r>
          </a:p>
        </p:txBody>
      </p:sp>
      <p:sp>
        <p:nvSpPr>
          <p:cNvPr id="9" name="content:line-107:0"/>
          <p:cNvSpPr txBox="1"/>
          <p:nvPr/>
        </p:nvSpPr>
        <p:spPr>
          <a:xfrm>
            <a:off x="594360" y="3214115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Courier New"/>
              </a:rPr>
              <a:t>tiny_rows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: fresh DM and LB dictionaries so tests do not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affect each other.</a:t>
            </a:r>
          </a:p>
        </p:txBody>
      </p:sp>
      <p:sp>
        <p:nvSpPr>
          <p:cNvPr id="10" name="content:line-108:0"/>
          <p:cNvSpPr txBox="1"/>
          <p:nvPr/>
        </p:nvSpPr>
        <p:spPr>
          <a:xfrm>
            <a:off x="594360" y="4058411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Courier New"/>
              </a:rPr>
              <a:t>csv_text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turns those rows into CSV;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tiny_csv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supplies both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CSV strings.</a:t>
            </a:r>
          </a:p>
        </p:txBody>
      </p:sp>
      <p:sp>
        <p:nvSpPr>
          <p:cNvPr id="11" name="content:line-109:0"/>
          <p:cNvSpPr txBox="1"/>
          <p:nvPr/>
        </p:nvSpPr>
        <p:spPr>
          <a:xfrm>
            <a:off x="594360" y="4902708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Courier New"/>
              </a:rPr>
              <a:t>client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supplies TestClient;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uploads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names the two multipart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files.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11 / 23</a:t>
            </a:r>
          </a:p>
        </p:txBody>
      </p:sp>
      <p:sp>
        <p:nvSpPr>
          <p:cNvPr id="4" name="title:line-113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Work out the expected answer </a:t>
            </a:r>
            <a:br/>
            <a:r>
              <a:rPr sz="3200" b="0" i="0">
                <a:solidFill>
                  <a:srgbClr val="20344A"/>
                </a:solidFill>
                <a:latin typeface="Arial"/>
              </a:rPr>
              <a:t>independently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session-3.md   ·   11</a:t>
            </a:r>
          </a:p>
        </p:txBody>
      </p:sp>
      <p:sp>
        <p:nvSpPr>
          <p:cNvPr id="6" name="content:line-115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Tiny inputs: Active participants have values 10 → 5 and 20 → 15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nmol/L.</a:t>
            </a:r>
          </a:p>
        </p:txBody>
      </p:sp>
      <p:sp>
        <p:nvSpPr>
          <p:cNvPr id="7" name="content:line-116:0"/>
          <p:cNvSpPr txBox="1"/>
          <p:nvPr/>
        </p:nvSpPr>
        <p:spPr>
          <a:xfrm>
            <a:off x="594360" y="2581656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Baseline mean: 15; DAY 15 mean: 10 nmol/L.</a:t>
            </a:r>
          </a:p>
        </p:txBody>
      </p:sp>
      <p:sp>
        <p:nvSpPr>
          <p:cNvPr id="8" name="content:line-117:0"/>
          <p:cNvSpPr txBox="1"/>
          <p:nvPr/>
        </p:nvSpPr>
        <p:spPr>
          <a:xfrm>
            <a:off x="594360" y="3073907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Changes: −5 nmol/L each; percentage changes: −50 and −25.</a:t>
            </a:r>
          </a:p>
        </p:txBody>
      </p:sp>
      <p:sp>
        <p:nvSpPr>
          <p:cNvPr id="9" name="content:line-118:0"/>
          <p:cNvSpPr txBox="1"/>
          <p:nvPr/>
        </p:nvSpPr>
        <p:spPr>
          <a:xfrm>
            <a:off x="594360" y="3566159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 third participant has no LB rows but still counts in DM.</a:t>
            </a:r>
          </a:p>
        </p:txBody>
      </p:sp>
      <p:sp>
        <p:nvSpPr>
          <p:cNvPr id="10" name="content:line-119:0"/>
          <p:cNvSpPr txBox="1"/>
          <p:nvPr/>
        </p:nvSpPr>
        <p:spPr>
          <a:xfrm>
            <a:off x="594360" y="4058411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Expected totals: 3 participants, 4 records, 4 observed, 0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missing.</a:t>
            </a:r>
          </a:p>
        </p:txBody>
      </p:sp>
      <p:sp>
        <p:nvSpPr>
          <p:cNvPr id="11" name="content:line-120:0"/>
          <p:cNvSpPr txBox="1"/>
          <p:nvPr/>
        </p:nvSpPr>
        <p:spPr>
          <a:xfrm>
            <a:off x="594360" y="4902708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These worked literals let tests detect a wrong calculation.</a:t>
            </a:r>
          </a:p>
        </p:txBody>
      </p:sp>
      <p:sp>
        <p:nvSpPr>
          <p:cNvPr id="12" name="content:line-121:0"/>
          <p:cNvSpPr txBox="1"/>
          <p:nvPr/>
        </p:nvSpPr>
        <p:spPr>
          <a:xfrm>
            <a:off x="594360" y="5394959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Engineering checks do not establish a clinical conclusion.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12 / 23</a:t>
            </a:r>
          </a:p>
        </p:txBody>
      </p:sp>
      <p:sp>
        <p:nvSpPr>
          <p:cNvPr id="4" name="title:line-125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Declare exact and approximate agreement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session-3.md   ·   12</a:t>
            </a:r>
          </a:p>
        </p:txBody>
      </p:sp>
      <p:sp>
        <p:nvSpPr>
          <p:cNvPr id="6" name="content:line-127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Exact: identifiers, dates, order, units, counts, raw values,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copied baselines, and nulls.</a:t>
            </a:r>
          </a:p>
        </p:txBody>
      </p:sp>
      <p:sp>
        <p:nvSpPr>
          <p:cNvPr id="7" name="content:line-128:0"/>
          <p:cNvSpPr txBox="1"/>
          <p:nvPr/>
        </p:nvSpPr>
        <p:spPr>
          <a:xfrm>
            <a:off x="594360" y="2581656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Approximate: only calculated means, changes, and percentages.</a:t>
            </a:r>
          </a:p>
        </p:txBody>
      </p:sp>
      <p:sp>
        <p:nvSpPr>
          <p:cNvPr id="8" name="content:line-131:0"/>
          <p:cNvSpPr txBox="1"/>
          <p:nvPr/>
        </p:nvSpPr>
        <p:spPr>
          <a:xfrm>
            <a:off x="594360" y="3073907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assert actual == pytest.approx(expected, rel=1e-9, abs=1e-9)</a:t>
            </a:r>
          </a:p>
        </p:txBody>
      </p:sp>
      <p:sp>
        <p:nvSpPr>
          <p:cNvPr id="9" name="content:line-134:0"/>
          <p:cNvSpPr txBox="1"/>
          <p:nvPr/>
        </p:nvSpPr>
        <p:spPr>
          <a:xfrm>
            <a:off x="594360" y="3451859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Allowed difference: the larger of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1e-9 * abs(expected)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and </a:t>
            </a:r>
            <a:br/>
            <a:r>
              <a:rPr sz="2100" b="0" i="0">
                <a:solidFill>
                  <a:srgbClr val="20344A"/>
                </a:solidFill>
                <a:latin typeface="Courier New"/>
              </a:rPr>
              <a:t>1e-9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10" name="content:line-135:0"/>
          <p:cNvSpPr txBox="1"/>
          <p:nvPr/>
        </p:nvSpPr>
        <p:spPr>
          <a:xfrm>
            <a:off x="594360" y="4296155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Absolute units: nmol/L for means/changes; percentage points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for percentages.</a:t>
            </a:r>
          </a:p>
        </p:txBody>
      </p:sp>
      <p:sp>
        <p:nvSpPr>
          <p:cNvPr id="11" name="content:line-136:0"/>
          <p:cNvSpPr txBox="1"/>
          <p:nvPr/>
        </p:nvSpPr>
        <p:spPr>
          <a:xfrm>
            <a:off x="594360" y="5140451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Relative tolerance has no unit. Preserve full precision.</a:t>
            </a:r>
          </a:p>
        </p:txBody>
      </p:sp>
      <p:sp>
        <p:nvSpPr>
          <p:cNvPr id="12" name="content:line-137:0"/>
          <p:cNvSpPr txBox="1"/>
          <p:nvPr/>
        </p:nvSpPr>
        <p:spPr>
          <a:xfrm>
            <a:off x="594360" y="5632703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This is an engineering rule, not a clinical threshold.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13 / 23</a:t>
            </a:r>
          </a:p>
        </p:txBody>
      </p:sp>
      <p:sp>
        <p:nvSpPr>
          <p:cNvPr id="4" name="title:line-141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Connect checks to the course's three Rs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session-3.md   ·   13</a:t>
            </a:r>
          </a:p>
        </p:txBody>
      </p:sp>
      <p:sp>
        <p:nvSpPr>
          <p:cNvPr id="6" name="content:line-143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Repeatability: agreement across runs under the same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conditions.</a:t>
            </a:r>
          </a:p>
        </p:txBody>
      </p:sp>
      <p:sp>
        <p:nvSpPr>
          <p:cNvPr id="7" name="content:line-144:0"/>
          <p:cNvSpPr txBox="1"/>
          <p:nvPr/>
        </p:nvSpPr>
        <p:spPr>
          <a:xfrm>
            <a:off x="594360" y="2581656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Repeated local runs also compare decimals exactly.</a:t>
            </a:r>
          </a:p>
        </p:txBody>
      </p:sp>
      <p:sp>
        <p:nvSpPr>
          <p:cNvPr id="8" name="content:line-145:0"/>
          <p:cNvSpPr txBox="1"/>
          <p:nvPr/>
        </p:nvSpPr>
        <p:spPr>
          <a:xfrm>
            <a:off x="594360" y="3073907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Replicability: agreement under slightly different conditions,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such as local versus Docker.</a:t>
            </a:r>
          </a:p>
        </p:txBody>
      </p:sp>
      <p:sp>
        <p:nvSpPr>
          <p:cNvPr id="9" name="content:line-146:0"/>
          <p:cNvSpPr txBox="1"/>
          <p:nvPr/>
        </p:nvSpPr>
        <p:spPr>
          <a:xfrm>
            <a:off x="594360" y="3918204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Passing CI alone does not compare local and Docker outputs.</a:t>
            </a:r>
          </a:p>
        </p:txBody>
      </p:sp>
      <p:sp>
        <p:nvSpPr>
          <p:cNvPr id="10" name="content:line-147:0"/>
          <p:cNvSpPr txBox="1"/>
          <p:nvPr/>
        </p:nvSpPr>
        <p:spPr>
          <a:xfrm>
            <a:off x="594360" y="441045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Reproducibility: agreement under very different conditions,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such as independent simulation; conceptual here.</a:t>
            </a:r>
          </a:p>
        </p:txBody>
      </p:sp>
      <p:sp>
        <p:nvSpPr>
          <p:cNvPr id="11" name="content:line-148:0"/>
          <p:cNvSpPr txBox="1"/>
          <p:nvPr/>
        </p:nvSpPr>
        <p:spPr>
          <a:xfrm>
            <a:off x="594360" y="5254751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Session 4 compares outputs; read the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glossary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and </a:t>
            </a:r>
            <a:r>
              <a:rPr sz="2100" b="0" i="0">
                <a:solidFill>
                  <a:srgbClr val="007F82"/>
                </a:solidFill>
                <a:latin typeface="Arial"/>
                <a:hlinkClick r:id="rId3"/>
              </a:rPr>
              <a:t>comparison </a:t>
            </a:r>
            <a:br/>
            <a:r>
              <a:rPr sz="2100" b="0" i="0">
                <a:solidFill>
                  <a:srgbClr val="007F82"/>
                </a:solidFill>
                <a:latin typeface="Arial"/>
                <a:hlinkClick r:id="rId3"/>
              </a:rPr>
              <a:t>rules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14 / 23</a:t>
            </a:r>
          </a:p>
        </p:txBody>
      </p:sp>
      <p:sp>
        <p:nvSpPr>
          <p:cNvPr id="4" name="title:line-152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Demo: start from the working backend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session-3.md   ·   14</a:t>
            </a:r>
          </a:p>
        </p:txBody>
      </p:sp>
      <p:sp>
        <p:nvSpPr>
          <p:cNvPr id="6" name="content:line-154:0"/>
          <p:cNvSpPr txBox="1"/>
          <p:nvPr/>
        </p:nvSpPr>
        <p:spPr>
          <a:xfrm>
            <a:off x="594360" y="1737360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Use Python 3.12 and the activated backend development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environment from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setup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 Run commands from the repository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root.</a:t>
            </a:r>
          </a:p>
        </p:txBody>
      </p:sp>
      <p:sp>
        <p:nvSpPr>
          <p:cNvPr id="7" name="content:line-157:0"/>
          <p:cNvSpPr txBox="1"/>
          <p:nvPr/>
        </p:nvSpPr>
        <p:spPr>
          <a:xfrm>
            <a:off x="594360" y="2933700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python -m uvicorn app.main:app --app-dir backend \</a:t>
            </a:r>
          </a:p>
        </p:txBody>
      </p:sp>
      <p:sp>
        <p:nvSpPr>
          <p:cNvPr id="8" name="content:line-158:0"/>
          <p:cNvSpPr txBox="1"/>
          <p:nvPr/>
        </p:nvSpPr>
        <p:spPr>
          <a:xfrm>
            <a:off x="594360" y="3311652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--host 127.0.0.1 --port 8000</a:t>
            </a:r>
          </a:p>
        </p:txBody>
      </p:sp>
      <p:sp>
        <p:nvSpPr>
          <p:cNvPr id="9" name="content:line-161:0"/>
          <p:cNvSpPr txBox="1"/>
          <p:nvPr/>
        </p:nvSpPr>
        <p:spPr>
          <a:xfrm>
            <a:off x="594360" y="3689604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Keep this terminal running; use a second terminal for requests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and tests.</a:t>
            </a:r>
          </a:p>
        </p:txBody>
      </p:sp>
      <p:sp>
        <p:nvSpPr>
          <p:cNvPr id="10" name="content:line-162:0"/>
          <p:cNvSpPr txBox="1"/>
          <p:nvPr/>
        </p:nvSpPr>
        <p:spPr>
          <a:xfrm>
            <a:off x="594360" y="453390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Open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http://127.0.0.1:8000/docs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to inspect schemas and try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uploads.</a:t>
            </a:r>
          </a:p>
        </p:txBody>
      </p:sp>
      <p:sp>
        <p:nvSpPr>
          <p:cNvPr id="11" name="content:line-163:0"/>
          <p:cNvSpPr txBox="1"/>
          <p:nvPr/>
        </p:nvSpPr>
        <p:spPr>
          <a:xfrm>
            <a:off x="594360" y="5378196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Courier New"/>
              </a:rPr>
              <a:t>GET /health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checks service availability, not data validity.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15 / 23</a:t>
            </a:r>
          </a:p>
        </p:txBody>
      </p:sp>
      <p:sp>
        <p:nvSpPr>
          <p:cNvPr id="4" name="title:line-167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Demo: send a valid multipart request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session-3.md   ·   15</a:t>
            </a:r>
          </a:p>
        </p:txBody>
      </p:sp>
      <p:sp>
        <p:nvSpPr>
          <p:cNvPr id="6" name="content:line-170:0"/>
          <p:cNvSpPr txBox="1"/>
          <p:nvPr/>
        </p:nvSpPr>
        <p:spPr>
          <a:xfrm>
            <a:off x="594360" y="1737360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curl --fail-with-body http://127.0.0.1:8000/process \</a:t>
            </a:r>
          </a:p>
        </p:txBody>
      </p:sp>
      <p:sp>
        <p:nvSpPr>
          <p:cNvPr id="7" name="content:line-171:0"/>
          <p:cNvSpPr txBox="1"/>
          <p:nvPr/>
        </p:nvSpPr>
        <p:spPr>
          <a:xfrm>
            <a:off x="594360" y="2115312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-F participants=@data/synthetic/dm.csv \</a:t>
            </a:r>
          </a:p>
        </p:txBody>
      </p:sp>
      <p:sp>
        <p:nvSpPr>
          <p:cNvPr id="8" name="content:line-172:0"/>
          <p:cNvSpPr txBox="1"/>
          <p:nvPr/>
        </p:nvSpPr>
        <p:spPr>
          <a:xfrm>
            <a:off x="594360" y="2493264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-F laboratory=@data/synthetic/lb.csv</a:t>
            </a:r>
          </a:p>
        </p:txBody>
      </p:sp>
      <p:sp>
        <p:nvSpPr>
          <p:cNvPr id="9" name="content:line-175:0"/>
          <p:cNvSpPr txBox="1"/>
          <p:nvPr/>
        </p:nvSpPr>
        <p:spPr>
          <a:xfrm>
            <a:off x="594360" y="2871215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HTTP 200: 24 participants, 96 records, 95 observed, 1 missing.</a:t>
            </a:r>
          </a:p>
        </p:txBody>
      </p:sp>
      <p:sp>
        <p:nvSpPr>
          <p:cNvPr id="10" name="content:line-176:0"/>
          <p:cNvSpPr txBox="1"/>
          <p:nvPr/>
        </p:nvSpPr>
        <p:spPr>
          <a:xfrm>
            <a:off x="594360" y="3363467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Inspect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records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arm_summaries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and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visit_summaries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as well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as counts.</a:t>
            </a:r>
          </a:p>
        </p:txBody>
      </p:sp>
      <p:sp>
        <p:nvSpPr>
          <p:cNvPr id="11" name="content:line-177:0"/>
          <p:cNvSpPr txBox="1"/>
          <p:nvPr/>
        </p:nvSpPr>
        <p:spPr>
          <a:xfrm>
            <a:off x="594360" y="4207764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Find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EDU-LPA-007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at DAY 30: null value,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NOT DONE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SPECIMEN NOT </a:t>
            </a:r>
            <a:br/>
            <a:r>
              <a:rPr sz="2100" b="0" i="0">
                <a:solidFill>
                  <a:srgbClr val="20344A"/>
                </a:solidFill>
                <a:latin typeface="Courier New"/>
              </a:rPr>
              <a:t>AVAILABLE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12" name="content:line-178:0"/>
          <p:cNvSpPr txBox="1"/>
          <p:nvPr/>
        </p:nvSpPr>
        <p:spPr>
          <a:xfrm>
            <a:off x="594360" y="50520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Follow the request in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main.py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into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process_csv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16 / 23</a:t>
            </a:r>
          </a:p>
        </p:txBody>
      </p:sp>
      <p:sp>
        <p:nvSpPr>
          <p:cNvPr id="4" name="title:line-182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Demo: reject an invalid age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session-3.md   ·   16</a:t>
            </a:r>
          </a:p>
        </p:txBody>
      </p:sp>
      <p:sp>
        <p:nvSpPr>
          <p:cNvPr id="6" name="content:line-184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Copy DM, then edit the first data row's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AGE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to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forty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in the copy.</a:t>
            </a:r>
          </a:p>
        </p:txBody>
      </p:sp>
      <p:sp>
        <p:nvSpPr>
          <p:cNvPr id="7" name="content:line-187:0"/>
          <p:cNvSpPr txBox="1"/>
          <p:nvPr/>
        </p:nvSpPr>
        <p:spPr>
          <a:xfrm>
            <a:off x="594360" y="2229612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cp data/synthetic/dm.csv /tmp/session-3-dm-invalid.csv</a:t>
            </a:r>
          </a:p>
        </p:txBody>
      </p:sp>
      <p:sp>
        <p:nvSpPr>
          <p:cNvPr id="8" name="content:line-190:0"/>
          <p:cNvSpPr txBox="1"/>
          <p:nvPr/>
        </p:nvSpPr>
        <p:spPr>
          <a:xfrm>
            <a:off x="594360" y="2607564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In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/docs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: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POST /process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→ Try it out.</a:t>
            </a:r>
          </a:p>
        </p:txBody>
      </p:sp>
      <p:sp>
        <p:nvSpPr>
          <p:cNvPr id="9" name="content:line-191:0"/>
          <p:cNvSpPr txBox="1"/>
          <p:nvPr/>
        </p:nvSpPr>
        <p:spPr>
          <a:xfrm>
            <a:off x="594360" y="3099815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Upload the copy as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participants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;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data/synthetic/lb.csv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as </a:t>
            </a:r>
            <a:br/>
            <a:r>
              <a:rPr sz="2100" b="0" i="0">
                <a:solidFill>
                  <a:srgbClr val="20344A"/>
                </a:solidFill>
                <a:latin typeface="Courier New"/>
              </a:rPr>
              <a:t>laboratory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10" name="content:line-192:0"/>
          <p:cNvSpPr txBox="1"/>
          <p:nvPr/>
        </p:nvSpPr>
        <p:spPr>
          <a:xfrm>
            <a:off x="594360" y="3944111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Execute: HTTP 422,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detail[0]</a:t>
            </a:r>
            <a:r>
              <a:rPr sz="2100" b="0" i="0">
                <a:solidFill>
                  <a:srgbClr val="20344A"/>
                </a:solidFill>
                <a:latin typeface="Arial"/>
              </a:rPr>
              <a:t>: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participants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row 2,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AGE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11" name="content:line-193:0"/>
          <p:cNvSpPr txBox="1"/>
          <p:nvPr/>
        </p:nvSpPr>
        <p:spPr>
          <a:xfrm>
            <a:off x="594360" y="4436363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Message: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Expected a nonnegative integer.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Restore the age;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retry for HTTP 200.</a:t>
            </a:r>
          </a:p>
        </p:txBody>
      </p:sp>
      <p:sp>
        <p:nvSpPr>
          <p:cNvPr id="12" name="content:line-194:0"/>
          <p:cNvSpPr txBox="1"/>
          <p:nvPr/>
        </p:nvSpPr>
        <p:spPr>
          <a:xfrm>
            <a:off x="594360" y="5280659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Follow the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contract</a:t>
            </a:r>
            <a:r>
              <a:rPr sz="2100" b="0" i="0">
                <a:solidFill>
                  <a:srgbClr val="20344A"/>
                </a:solidFill>
                <a:latin typeface="Arial"/>
              </a:rPr>
              <a:t>; keep supplied data unchanged.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17 / 23</a:t>
            </a:r>
          </a:p>
        </p:txBody>
      </p:sp>
      <p:sp>
        <p:nvSpPr>
          <p:cNvPr id="4" name="title:line-198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Demo: run tests and read one public </a:t>
            </a:r>
            <a:br/>
            <a:r>
              <a:rPr sz="3200" b="0" i="0">
                <a:solidFill>
                  <a:srgbClr val="20344A"/>
                </a:solidFill>
                <a:latin typeface="Arial"/>
              </a:rPr>
              <a:t>behavior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session-3.md   ·   17</a:t>
            </a:r>
          </a:p>
        </p:txBody>
      </p:sp>
      <p:sp>
        <p:nvSpPr>
          <p:cNvPr id="6" name="content:line-201:0"/>
          <p:cNvSpPr txBox="1"/>
          <p:nvPr/>
        </p:nvSpPr>
        <p:spPr>
          <a:xfrm>
            <a:off x="594360" y="1737360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python -m pytest backend/tests</a:t>
            </a:r>
          </a:p>
        </p:txBody>
      </p:sp>
      <p:sp>
        <p:nvSpPr>
          <p:cNvPr id="7" name="content:line-204:0"/>
          <p:cNvSpPr txBox="1"/>
          <p:nvPr/>
        </p:nvSpPr>
        <p:spPr>
          <a:xfrm>
            <a:off x="594360" y="2115312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From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test_processing.py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using the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tiny_csv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fixture:</a:t>
            </a:r>
          </a:p>
        </p:txBody>
      </p:sp>
      <p:sp>
        <p:nvSpPr>
          <p:cNvPr id="8" name="content:line-207:0"/>
          <p:cNvSpPr txBox="1"/>
          <p:nvPr/>
        </p:nvSpPr>
        <p:spPr>
          <a:xfrm>
            <a:off x="594360" y="2607564"/>
            <a:ext cx="11003279" cy="981455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def </a:t>
            </a:r>
            <a:br/>
            <a:r>
              <a:rPr sz="1800" b="0" i="0">
                <a:solidFill>
                  <a:srgbClr val="20344A"/>
                </a:solidFill>
                <a:latin typeface="Courier New"/>
              </a:rPr>
              <a:t>test_worked_summaries_include_dm_participants_without_lab_rows(tiny_c</a:t>
            </a:r>
            <a:br/>
            <a:r>
              <a:rPr sz="1800" b="0" i="0">
                <a:solidFill>
                  <a:srgbClr val="20344A"/>
                </a:solidFill>
                <a:latin typeface="Courier New"/>
              </a:rPr>
              <a:t>sv):</a:t>
            </a:r>
          </a:p>
        </p:txBody>
      </p:sp>
      <p:sp>
        <p:nvSpPr>
          <p:cNvPr id="9" name="content:line-208:0"/>
          <p:cNvSpPr txBox="1"/>
          <p:nvPr/>
        </p:nvSpPr>
        <p:spPr>
          <a:xfrm>
            <a:off x="594360" y="3589020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  result = process_csv(*tiny_csv)</a:t>
            </a:r>
          </a:p>
        </p:txBody>
      </p:sp>
      <p:sp>
        <p:nvSpPr>
          <p:cNvPr id="10" name="content:line-211:0"/>
          <p:cNvSpPr txBox="1"/>
          <p:nvPr/>
        </p:nvSpPr>
        <p:spPr>
          <a:xfrm>
            <a:off x="594360" y="3966971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Courier New"/>
              </a:rPr>
              <a:t>*tiny_csv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passes the two CSV strings separately to </a:t>
            </a:r>
            <a:br/>
            <a:r>
              <a:rPr sz="2100" b="0" i="0">
                <a:solidFill>
                  <a:srgbClr val="20344A"/>
                </a:solidFill>
                <a:latin typeface="Courier New"/>
              </a:rPr>
              <a:t>process_csv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11" name="content:line-212:0"/>
          <p:cNvSpPr txBox="1"/>
          <p:nvPr/>
        </p:nvSpPr>
        <p:spPr>
          <a:xfrm>
            <a:off x="594360" y="4811268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Read the literal counts and mean expectations in this test.</a:t>
            </a:r>
          </a:p>
        </p:txBody>
      </p:sp>
      <p:sp>
        <p:nvSpPr>
          <p:cNvPr id="12" name="content:line-213:0"/>
          <p:cNvSpPr txBox="1"/>
          <p:nvPr/>
        </p:nvSpPr>
        <p:spPr>
          <a:xfrm>
            <a:off x="594360" y="530352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Pytest discovers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test_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functions; a failed assertion identifies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the mismatch.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18 / 23</a:t>
            </a:r>
          </a:p>
        </p:txBody>
      </p:sp>
      <p:sp>
        <p:nvSpPr>
          <p:cNvPr id="4" name="title:line-217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Demo: introduce one controlled failure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session-3.md   ·   18</a:t>
            </a:r>
          </a:p>
        </p:txBody>
      </p:sp>
      <p:sp>
        <p:nvSpPr>
          <p:cNvPr id="6" name="content:line-219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In a disposable teaching branch or copy, edit only this test's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expected baseline mean: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[15.0, 10.0]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→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[16.0, 10.0]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7" name="content:line-222:0"/>
          <p:cNvSpPr txBox="1"/>
          <p:nvPr/>
        </p:nvSpPr>
        <p:spPr>
          <a:xfrm>
            <a:off x="594360" y="2581656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python -m pytest \</a:t>
            </a:r>
          </a:p>
        </p:txBody>
      </p:sp>
      <p:sp>
        <p:nvSpPr>
          <p:cNvPr id="8" name="content:line-223:0"/>
          <p:cNvSpPr txBox="1"/>
          <p:nvPr/>
        </p:nvSpPr>
        <p:spPr>
          <a:xfrm>
            <a:off x="594360" y="2959607"/>
            <a:ext cx="11003279" cy="981455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</a:t>
            </a:r>
            <a:br/>
            <a:r>
              <a:rPr sz="1800" b="0" i="0">
                <a:solidFill>
                  <a:srgbClr val="20344A"/>
                </a:solidFill>
                <a:latin typeface="Courier New"/>
              </a:rPr>
              <a:t>backend/tests/test_processing.py::test_worked_summaries_include_dm_pa</a:t>
            </a:r>
            <a:br/>
            <a:r>
              <a:rPr sz="1800" b="0" i="0">
                <a:solidFill>
                  <a:srgbClr val="20344A"/>
                </a:solidFill>
                <a:latin typeface="Courier New"/>
              </a:rPr>
              <a:t>rticipants_without_lab_rows \</a:t>
            </a:r>
          </a:p>
        </p:txBody>
      </p:sp>
      <p:sp>
        <p:nvSpPr>
          <p:cNvPr id="9" name="content:line-224:0"/>
          <p:cNvSpPr txBox="1"/>
          <p:nvPr/>
        </p:nvSpPr>
        <p:spPr>
          <a:xfrm>
            <a:off x="594360" y="3941063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-q</a:t>
            </a:r>
          </a:p>
        </p:txBody>
      </p:sp>
      <p:sp>
        <p:nvSpPr>
          <p:cNvPr id="10" name="content:line-227:0"/>
          <p:cNvSpPr txBox="1"/>
          <p:nvPr/>
        </p:nvSpPr>
        <p:spPr>
          <a:xfrm>
            <a:off x="594360" y="4319015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Courier New"/>
              </a:rPr>
              <a:t>::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selects this exact test;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-q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reduces routine output.</a:t>
            </a:r>
          </a:p>
        </p:txBody>
      </p:sp>
      <p:sp>
        <p:nvSpPr>
          <p:cNvPr id="11" name="content:line-228:0"/>
          <p:cNvSpPr txBox="1"/>
          <p:nvPr/>
        </p:nvSpPr>
        <p:spPr>
          <a:xfrm>
            <a:off x="594360" y="4811267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Expect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1 failed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Obtained: 15.0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Expected: 16.0 ± 1.6e-08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12" name="content:line-229:0"/>
          <p:cNvSpPr txBox="1"/>
          <p:nvPr/>
        </p:nvSpPr>
        <p:spPr>
          <a:xfrm>
            <a:off x="594360" y="5303519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input baseline values 10 and 20 support 15; the edited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expectation is wrong.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19 / 23</a:t>
            </a:r>
          </a:p>
        </p:txBody>
      </p:sp>
      <p:sp>
        <p:nvSpPr>
          <p:cNvPr id="4" name="title:line-233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Demo: correct the expectation and check </a:t>
            </a:r>
            <a:br/>
            <a:r>
              <a:rPr sz="3200" b="0" i="0">
                <a:solidFill>
                  <a:srgbClr val="20344A"/>
                </a:solidFill>
                <a:latin typeface="Arial"/>
              </a:rPr>
              <a:t>again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session-3.md   ·   19</a:t>
            </a:r>
          </a:p>
        </p:txBody>
      </p:sp>
      <p:sp>
        <p:nvSpPr>
          <p:cNvPr id="6" name="content:line-235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Restore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[15.0, 10.0]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then repeat the exact command on the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previous slide: expect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1 passed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7" name="content:line-238:0"/>
          <p:cNvSpPr txBox="1"/>
          <p:nvPr/>
        </p:nvSpPr>
        <p:spPr>
          <a:xfrm>
            <a:off x="594360" y="2581656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python -m pytest backend/tests</a:t>
            </a:r>
          </a:p>
        </p:txBody>
      </p:sp>
      <p:sp>
        <p:nvSpPr>
          <p:cNvPr id="8" name="content:line-239:0"/>
          <p:cNvSpPr txBox="1"/>
          <p:nvPr/>
        </p:nvSpPr>
        <p:spPr>
          <a:xfrm>
            <a:off x="594360" y="2959607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diff -- backend/tests/test_processing.py</a:t>
            </a:r>
          </a:p>
        </p:txBody>
      </p:sp>
      <p:sp>
        <p:nvSpPr>
          <p:cNvPr id="9" name="content:line-242:0"/>
          <p:cNvSpPr txBox="1"/>
          <p:nvPr/>
        </p:nvSpPr>
        <p:spPr>
          <a:xfrm>
            <a:off x="594360" y="3337559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Confirm the full suite passes and the temporary edit is gone.</a:t>
            </a:r>
          </a:p>
        </p:txBody>
      </p:sp>
      <p:sp>
        <p:nvSpPr>
          <p:cNvPr id="10" name="content:line-243:0"/>
          <p:cNvSpPr txBox="1"/>
          <p:nvPr/>
        </p:nvSpPr>
        <p:spPr>
          <a:xfrm>
            <a:off x="594360" y="3829811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Correct the expectation, rather than changing processing or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tolerance.</a:t>
            </a:r>
          </a:p>
        </p:txBody>
      </p:sp>
      <p:sp>
        <p:nvSpPr>
          <p:cNvPr id="11" name="content:line-244:0"/>
          <p:cNvSpPr txBox="1"/>
          <p:nvPr/>
        </p:nvSpPr>
        <p:spPr>
          <a:xfrm>
            <a:off x="594360" y="4674108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Keep the distributed example passing; see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failure and recovery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20 / 23</a:t>
            </a:r>
          </a:p>
        </p:txBody>
      </p:sp>
      <p:sp>
        <p:nvSpPr>
          <p:cNvPr id="4" name="title:line-248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Demo: inspect the same checks on GitHub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session-3.md   ·   20</a:t>
            </a:r>
          </a:p>
        </p:txBody>
      </p:sp>
      <p:sp>
        <p:nvSpPr>
          <p:cNvPr id="6" name="content:line-250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PR Checks → Backend tests → Run backend tests.</a:t>
            </a:r>
          </a:p>
        </p:txBody>
      </p:sp>
      <p:sp>
        <p:nvSpPr>
          <p:cNvPr id="7" name="content:line-251:0"/>
          <p:cNvSpPr txBox="1"/>
          <p:nvPr/>
        </p:nvSpPr>
        <p:spPr>
          <a:xfrm>
            <a:off x="594360" y="2229612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Actions → Backend CI: check branch and commit ID (SHA).</a:t>
            </a:r>
          </a:p>
        </p:txBody>
      </p:sp>
      <p:sp>
        <p:nvSpPr>
          <p:cNvPr id="8" name="content:line-252:0"/>
          <p:cNvSpPr txBox="1"/>
          <p:nvPr/>
        </p:nvSpPr>
        <p:spPr>
          <a:xfrm>
            <a:off x="594360" y="2721864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Ubuntu/Python 3.12: install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./backend[dev]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run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python -m </a:t>
            </a:r>
            <a:br/>
            <a:r>
              <a:rPr sz="2100" b="0" i="0">
                <a:solidFill>
                  <a:srgbClr val="20344A"/>
                </a:solidFill>
                <a:latin typeface="Courier New"/>
              </a:rPr>
              <a:t>pytest backend/tests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9" name="content:line-253:0"/>
          <p:cNvSpPr txBox="1"/>
          <p:nvPr/>
        </p:nvSpPr>
        <p:spPr>
          <a:xfrm>
            <a:off x="594360" y="35661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Disposable teaching PR: push the wrong expectation, inspect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failure, push correction.</a:t>
            </a:r>
          </a:p>
        </p:txBody>
      </p:sp>
      <p:sp>
        <p:nvSpPr>
          <p:cNvPr id="10" name="content:line-254:0"/>
          <p:cNvSpPr txBox="1"/>
          <p:nvPr/>
        </p:nvSpPr>
        <p:spPr>
          <a:xfrm>
            <a:off x="594360" y="441045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Verify the corrected commit succeeds; rerunning the old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commit tests old code.</a:t>
            </a:r>
          </a:p>
        </p:txBody>
      </p:sp>
      <p:sp>
        <p:nvSpPr>
          <p:cNvPr id="11" name="content:line-255:0"/>
          <p:cNvSpPr txBox="1"/>
          <p:nvPr/>
        </p:nvSpPr>
        <p:spPr>
          <a:xfrm>
            <a:off x="594360" y="5254751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Read the failed step: setup/install or pytest.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CI guide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21 / 23</a:t>
            </a:r>
          </a:p>
        </p:txBody>
      </p:sp>
      <p:sp>
        <p:nvSpPr>
          <p:cNvPr id="4" name="title:line-259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Reporting a check is different from </a:t>
            </a:r>
            <a:br/>
            <a:r>
              <a:rPr sz="3200" b="0" i="0">
                <a:solidFill>
                  <a:srgbClr val="20344A"/>
                </a:solidFill>
                <a:latin typeface="Arial"/>
              </a:rPr>
              <a:t>requiring it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session-3.md   ·   21</a:t>
            </a:r>
          </a:p>
        </p:txBody>
      </p:sp>
      <p:sp>
        <p:nvSpPr>
          <p:cNvPr id="6" name="content:line-261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Backend CI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runs for every PR, including documentation.</a:t>
            </a:r>
          </a:p>
        </p:txBody>
      </p:sp>
      <p:sp>
        <p:nvSpPr>
          <p:cNvPr id="7" name="content:line-262:0"/>
          <p:cNvSpPr txBox="1"/>
          <p:nvPr/>
        </p:nvSpPr>
        <p:spPr>
          <a:xfrm>
            <a:off x="594360" y="222961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Pushes to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main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and the authoring integration branch also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trigger it.</a:t>
            </a:r>
          </a:p>
        </p:txBody>
      </p:sp>
      <p:sp>
        <p:nvSpPr>
          <p:cNvPr id="8" name="content:line-263:0"/>
          <p:cNvSpPr txBox="1"/>
          <p:nvPr/>
        </p:nvSpPr>
        <p:spPr>
          <a:xfrm>
            <a:off x="594360" y="3073908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 workflow reports results; it does not itself block merging.</a:t>
            </a:r>
          </a:p>
        </p:txBody>
      </p:sp>
      <p:sp>
        <p:nvSpPr>
          <p:cNvPr id="9" name="content:line-264:0"/>
          <p:cNvSpPr txBox="1"/>
          <p:nvPr/>
        </p:nvSpPr>
        <p:spPr>
          <a:xfrm>
            <a:off x="594360" y="35661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An administrator must require PRs and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Backend tests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in a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branch rule.</a:t>
            </a:r>
          </a:p>
        </p:txBody>
      </p:sp>
      <p:sp>
        <p:nvSpPr>
          <p:cNvPr id="10" name="content:line-265:0"/>
          <p:cNvSpPr txBox="1"/>
          <p:nvPr/>
        </p:nvSpPr>
        <p:spPr>
          <a:xfrm>
            <a:off x="594360" y="441045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Student workflow: feature branch → PR into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main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→ peer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review → checked merge.</a:t>
            </a:r>
          </a:p>
        </p:txBody>
      </p:sp>
      <p:sp>
        <p:nvSpPr>
          <p:cNvPr id="11" name="content:line-266:0"/>
          <p:cNvSpPr txBox="1"/>
          <p:nvPr/>
        </p:nvSpPr>
        <p:spPr>
          <a:xfrm>
            <a:off x="594360" y="525475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 dependency cache saves downloads; it does not lock package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versions.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22 / 23</a:t>
            </a:r>
          </a:p>
        </p:txBody>
      </p:sp>
      <p:sp>
        <p:nvSpPr>
          <p:cNvPr id="4" name="title:line-270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Break, then 90 minutes of guided practice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session-3.md   ·   22</a:t>
            </a:r>
          </a:p>
        </p:txBody>
      </p:sp>
      <p:sp>
        <p:nvSpPr>
          <p:cNvPr id="6" name="content:line-272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Take a 15-minute break before practice.</a:t>
            </a:r>
          </a:p>
        </p:txBody>
      </p:sp>
      <p:sp>
        <p:nvSpPr>
          <p:cNvPr id="7" name="content:line-273:0"/>
          <p:cNvSpPr txBox="1"/>
          <p:nvPr/>
        </p:nvSpPr>
        <p:spPr>
          <a:xfrm>
            <a:off x="594360" y="2229612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15 minutes: trace a request and its four result fields.</a:t>
            </a:r>
          </a:p>
        </p:txBody>
      </p:sp>
      <p:sp>
        <p:nvSpPr>
          <p:cNvPr id="8" name="content:line-274:0"/>
          <p:cNvSpPr txBox="1"/>
          <p:nvPr/>
        </p:nvSpPr>
        <p:spPr>
          <a:xfrm>
            <a:off x="594360" y="2721864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20 minutes: inspect missingness, units, keys, and fixtures.</a:t>
            </a:r>
          </a:p>
        </p:txBody>
      </p:sp>
      <p:sp>
        <p:nvSpPr>
          <p:cNvPr id="9" name="content:line-275:0"/>
          <p:cNvSpPr txBox="1"/>
          <p:nvPr/>
        </p:nvSpPr>
        <p:spPr>
          <a:xfrm>
            <a:off x="594360" y="3214115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20 minutes: use a disposable copy for the 15 → 16 → 15 failure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and correction.</a:t>
            </a:r>
          </a:p>
        </p:txBody>
      </p:sp>
      <p:sp>
        <p:nvSpPr>
          <p:cNvPr id="10" name="content:line-276:0"/>
          <p:cNvSpPr txBox="1"/>
          <p:nvPr/>
        </p:nvSpPr>
        <p:spPr>
          <a:xfrm>
            <a:off x="594360" y="4058411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20 minutes: one small test or validation change on a feature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branch; check behavior and the full suite.</a:t>
            </a:r>
          </a:p>
        </p:txBody>
      </p:sp>
      <p:sp>
        <p:nvSpPr>
          <p:cNvPr id="11" name="content:line-277:0"/>
          <p:cNvSpPr txBox="1"/>
          <p:nvPr/>
        </p:nvSpPr>
        <p:spPr>
          <a:xfrm>
            <a:off x="594360" y="4902708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15 minutes: inspect the corrected PR check; review a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teammate's behavior, tests, or clarity.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23 / 23</a:t>
            </a:r>
          </a:p>
        </p:txBody>
      </p:sp>
      <p:sp>
        <p:nvSpPr>
          <p:cNvPr id="4" name="title:line-281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Checkpoint and next step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session-3.md   ·   23</a:t>
            </a:r>
          </a:p>
        </p:txBody>
      </p:sp>
      <p:sp>
        <p:nvSpPr>
          <p:cNvPr id="6" name="content:line-283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Explain an accepted input, rejection, and missing value.</a:t>
            </a:r>
          </a:p>
        </p:txBody>
      </p:sp>
      <p:sp>
        <p:nvSpPr>
          <p:cNvPr id="7" name="content:line-284:0"/>
          <p:cNvSpPr txBox="1"/>
          <p:nvPr/>
        </p:nvSpPr>
        <p:spPr>
          <a:xfrm>
            <a:off x="594360" y="2229612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Show local tests and the corrected commit's PR check.</a:t>
            </a:r>
          </a:p>
        </p:txBody>
      </p:sp>
      <p:sp>
        <p:nvSpPr>
          <p:cNvPr id="8" name="content:line-285:0"/>
          <p:cNvSpPr txBox="1"/>
          <p:nvPr/>
        </p:nvSpPr>
        <p:spPr>
          <a:xfrm>
            <a:off x="594360" y="2721864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Explain why raw values compare exactly and calculated values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use tolerance.</a:t>
            </a:r>
          </a:p>
        </p:txBody>
      </p:sp>
      <p:sp>
        <p:nvSpPr>
          <p:cNvPr id="9" name="content:line-286:0"/>
          <p:cNvSpPr txBox="1"/>
          <p:nvPr/>
        </p:nvSpPr>
        <p:spPr>
          <a:xfrm>
            <a:off x="594360" y="35661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Mandatory homework: about two hours on tests for your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group's declared behavior and invalid inputs, plus peer review.</a:t>
            </a:r>
          </a:p>
        </p:txBody>
      </p:sp>
      <p:sp>
        <p:nvSpPr>
          <p:cNvPr id="10" name="content:line-287:0"/>
          <p:cNvSpPr txBox="1"/>
          <p:nvPr/>
        </p:nvSpPr>
        <p:spPr>
          <a:xfrm>
            <a:off x="594360" y="441045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Keep evidence for the final presentation. This checkpoint is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preparation, not a separate assessed submission.</a:t>
            </a:r>
          </a:p>
        </p:txBody>
      </p:sp>
      <p:sp>
        <p:nvSpPr>
          <p:cNvPr id="11" name="content:line-288:0"/>
          <p:cNvSpPr txBox="1"/>
          <p:nvPr/>
        </p:nvSpPr>
        <p:spPr>
          <a:xfrm>
            <a:off x="594360" y="5254751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Next: interface, containers, and local/Docker output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comparison.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3: Validation, pytest, and automated CI</dc:title>
  <dc:subject>Editable slides generated from session-3.md</dc:subject>
  <dc:creator>Three-R course</dc:creator>
  <cp:keywords>editable, Markdown, course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