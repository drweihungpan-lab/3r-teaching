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device-example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frontend/app.py" TargetMode="External"/><Relationship Id="rId3" Type="http://schemas.openxmlformats.org/officeDocument/2006/relationships/hyperlink" Target="../../backend/app/main.py" TargetMode="External"/><Relationship Id="rId4" Type="http://schemas.openxmlformats.org/officeDocument/2006/relationships/hyperlink" Target="../../docs/api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Dockerfile" TargetMode="External"/><Relationship Id="rId3" Type="http://schemas.openxmlformats.org/officeDocument/2006/relationships/hyperlink" Target="../../frontend/Dockerfil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compose.ya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ose.md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arisons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frontend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frontend.md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arisons.md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#assessment-policy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Relationship Id="rId3" Type="http://schemas.openxmlformats.org/officeDocument/2006/relationships/hyperlink" Target="../../GLOSSARY.md" TargetMode="External"/><Relationship Id="rId4" Type="http://schemas.openxmlformats.org/officeDocument/2006/relationships/hyperlink" Target="../../docs/frontend.md" TargetMode="External"/><Relationship Id="rId5" Type="http://schemas.openxmlformats.org/officeDocument/2006/relationships/hyperlink" Target="../../docs/compose.md" TargetMode="External"/><Relationship Id="rId6" Type="http://schemas.openxmlformats.org/officeDocument/2006/relationships/hyperlink" Target="../../docs/comparisons.md" TargetMode="External"/><Relationship Id="rId7" Type="http://schemas.openxmlformats.org/officeDocument/2006/relationships/hyperlink" Target="../../backend/Dockerfile" TargetMode="External"/><Relationship Id="rId8" Type="http://schemas.openxmlformats.org/officeDocument/2006/relationships/hyperlink" Target="../../frontend/Dockerfile" TargetMode="External"/><Relationship Id="rId9" Type="http://schemas.openxmlformats.org/officeDocument/2006/relationships/hyperlink" Target="../../compose.yaml" TargetMode="External"/><Relationship Id="rId10" Type="http://schemas.openxmlformats.org/officeDocument/2006/relationships/hyperlink" Target="../../data/synthetic/README.md" TargetMode="External"/><Relationship Id="rId11" Type="http://schemas.openxmlformats.org/officeDocument/2006/relationships/hyperlink" Target="../../docs/api.md" TargetMode="External"/><Relationship Id="rId12" Type="http://schemas.openxmlformats.org/officeDocument/2006/relationships/hyperlink" Target="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24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4: Containers and output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comparisons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CSV uploads through the supplied Streamlit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 services.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container addresses, startup, and recoverable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connection failures.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repeated local runs and local/Docker results using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rules.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complete synthetic example; focus on engineering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24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Back at the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You open a second shop in Hsinchu Science Park. How do you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make sure it tastes the same?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</a:t>
            </a:r>
          </a:p>
        </p:txBody>
      </p:sp>
      <p:sp>
        <p:nvSpPr>
          <p:cNvPr id="4" name="title:line-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6: an API and a page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</a:t>
            </a:r>
          </a:p>
        </p:txBody>
      </p:sp>
      <p:sp>
        <p:nvSpPr>
          <p:cNvPr id="6" name="content:line-18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FastAPI endpoint returns each device's predicted limit date.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one-page Streamlit app shows it to someone who does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program.</a:t>
            </a:r>
          </a:p>
        </p:txBody>
      </p:sp>
      <p:sp>
        <p:nvSpPr>
          <p:cNvPr id="7" name="content:line-1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uses the same layout as our healthcare template: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frontend/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data/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2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 works only on a correctly set-up machine: the right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right packages, and two terminals running at once.</a:t>
            </a:r>
          </a:p>
        </p:txBody>
      </p:sp>
      <p:sp>
        <p:nvSpPr>
          <p:cNvPr id="9" name="content:line-23:0"/>
          <p:cNvSpPr txBox="1"/>
          <p:nvPr/>
        </p:nvSpPr>
        <p:spPr>
          <a:xfrm>
            <a:off x="594360" y="462229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terminal 1: uvicorn app.main:app   (API on port 8000)</a:t>
            </a:r>
          </a:p>
        </p:txBody>
      </p:sp>
      <p:sp>
        <p:nvSpPr>
          <p:cNvPr id="10" name="content:line-24:0"/>
          <p:cNvSpPr txBox="1"/>
          <p:nvPr/>
        </p:nvSpPr>
        <p:spPr>
          <a:xfrm>
            <a:off x="594360" y="50002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terminal 2: streamlit run frontend/app.py   (page on port 8501)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24</a:t>
            </a:r>
          </a:p>
        </p:txBody>
      </p:sp>
      <p:sp>
        <p:nvSpPr>
          <p:cNvPr id="4" name="title:line-2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Device example, Stage 7: Docker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4</a:t>
            </a:r>
          </a:p>
        </p:txBody>
      </p:sp>
      <p:sp>
        <p:nvSpPr>
          <p:cNvPr id="6" name="content:line-3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Docker Compose starts the API and the page together,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command.</a:t>
            </a:r>
          </a:p>
        </p:txBody>
      </p:sp>
      <p:sp>
        <p:nvSpPr>
          <p:cNvPr id="7" name="content:line-32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the limit dates from a local run and a Docker run,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exactly:</a:t>
            </a:r>
          </a:p>
        </p:txBody>
      </p:sp>
      <p:sp>
        <p:nvSpPr>
          <p:cNvPr id="8" name="content:line-35:0"/>
          <p:cNvSpPr txBox="1"/>
          <p:nvPr/>
        </p:nvSpPr>
        <p:spPr>
          <a:xfrm>
            <a:off x="594360" y="34259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local  DEV-C 2026-01-16</a:t>
            </a:r>
          </a:p>
        </p:txBody>
      </p:sp>
      <p:sp>
        <p:nvSpPr>
          <p:cNvPr id="9" name="content:line-36:0"/>
          <p:cNvSpPr txBox="1"/>
          <p:nvPr/>
        </p:nvSpPr>
        <p:spPr>
          <a:xfrm>
            <a:off x="594360" y="38039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DEV-C 2026-01-16</a:t>
            </a:r>
          </a:p>
        </p:txBody>
      </p:sp>
      <p:sp>
        <p:nvSpPr>
          <p:cNvPr id="10" name="content:line-37:0"/>
          <p:cNvSpPr txBox="1"/>
          <p:nvPr/>
        </p:nvSpPr>
        <p:spPr>
          <a:xfrm>
            <a:off x="594360" y="41818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MATCH: local and Docker limit dates are identical</a:t>
            </a:r>
          </a:p>
        </p:txBody>
      </p:sp>
      <p:sp>
        <p:nvSpPr>
          <p:cNvPr id="11" name="content:line-40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Same code and data, a slightly different environment,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answer: replicability.</a:t>
            </a:r>
          </a:p>
        </p:txBody>
      </p:sp>
      <p:sp>
        <p:nvSpPr>
          <p:cNvPr id="12" name="content:line-41:0"/>
          <p:cNvSpPr txBox="1"/>
          <p:nvPr/>
        </p:nvSpPr>
        <p:spPr>
          <a:xfrm>
            <a:off x="594360" y="54041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Session 5 recaps all seven stages. Files: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3R-device-example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24</a:t>
            </a:r>
          </a:p>
        </p:txBody>
      </p:sp>
      <p:sp>
        <p:nvSpPr>
          <p:cNvPr id="4" name="title:line-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5</a:t>
            </a:r>
          </a:p>
        </p:txBody>
      </p:sp>
      <p:sp>
        <p:nvSpPr>
          <p:cNvPr id="6" name="content:line-4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0–10: device example — Stages 6 to 7.</a:t>
            </a:r>
          </a:p>
        </p:txBody>
      </p:sp>
      <p:sp>
        <p:nvSpPr>
          <p:cNvPr id="7" name="content:line-4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10–45: explanation — request flow, images, networking,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readiness, agreement.</a:t>
            </a:r>
          </a:p>
        </p:txBody>
      </p:sp>
      <p:sp>
        <p:nvSpPr>
          <p:cNvPr id="8" name="content:line-49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launch 8, diagnose/recover 7,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outputs 15 minutes.</a:t>
            </a:r>
          </a:p>
        </p:txBody>
      </p:sp>
      <p:sp>
        <p:nvSpPr>
          <p:cNvPr id="9" name="content:line-50:0"/>
          <p:cNvSpPr txBox="1"/>
          <p:nvPr/>
        </p:nvSpPr>
        <p:spPr>
          <a:xfrm>
            <a:off x="594360" y="39182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10" name="content:line-51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trace 15, run 20, recover 15,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25, review 15 minutes.</a:t>
            </a:r>
          </a:p>
        </p:txBody>
      </p:sp>
      <p:sp>
        <p:nvSpPr>
          <p:cNvPr id="11" name="content:line-52:0"/>
          <p:cNvSpPr txBox="1"/>
          <p:nvPr/>
        </p:nvSpPr>
        <p:spPr>
          <a:xfrm>
            <a:off x="594360" y="525475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Timings are provisional;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</a:t>
            </a:r>
          </a:p>
        </p:txBody>
      </p:sp>
      <p:sp>
        <p:nvSpPr>
          <p:cNvPr id="4" name="title:line-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complete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6</a:t>
            </a:r>
          </a:p>
        </p:txBody>
      </p:sp>
      <p:sp>
        <p:nvSpPr>
          <p:cNvPr id="6" name="content:line-58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is the request/response protocol connecting these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programs. Multipart means one request contains named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parts.</a:t>
            </a:r>
          </a:p>
        </p:txBody>
      </p:sp>
      <p:sp>
        <p:nvSpPr>
          <p:cNvPr id="7" name="content:line-61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Browser -&gt; Streamlit Python: upload DM and LB</a:t>
            </a:r>
          </a:p>
        </p:txBody>
      </p:sp>
      <p:sp>
        <p:nvSpPr>
          <p:cNvPr id="8" name="content:line-62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-&gt; FastAPI: POST /process</a:t>
            </a:r>
          </a:p>
        </p:txBody>
      </p:sp>
      <p:sp>
        <p:nvSpPr>
          <p:cNvPr id="9" name="content:line-63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multipart fields: participants, laboratory</a:t>
            </a:r>
          </a:p>
        </p:txBody>
      </p:sp>
      <p:sp>
        <p:nvSpPr>
          <p:cNvPr id="10" name="content:line-64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stat_core.process_csv: validate, join, summarize</a:t>
            </a:r>
          </a:p>
        </p:txBody>
      </p:sp>
      <p:sp>
        <p:nvSpPr>
          <p:cNvPr id="11" name="content:line-65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Streamlit: JSON result</a:t>
            </a:r>
          </a:p>
        </p:txBody>
      </p:sp>
      <p:sp>
        <p:nvSpPr>
          <p:cNvPr id="12" name="content:line-66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-&gt; Browser: counts, records, summaries, chart</a:t>
            </a:r>
          </a:p>
        </p:txBody>
      </p:sp>
      <p:sp>
        <p:nvSpPr>
          <p:cNvPr id="13" name="content:line-69:0"/>
          <p:cNvSpPr txBox="1"/>
          <p:nvPr/>
        </p:nvSpPr>
        <p:spPr>
          <a:xfrm>
            <a:off x="594360" y="5201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displays backend results; it does not import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  ·  CONTINUED 2</a:t>
            </a:r>
          </a:p>
        </p:txBody>
      </p:sp>
      <p:sp>
        <p:nvSpPr>
          <p:cNvPr id="4" name="title:line-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complete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7</a:t>
            </a:r>
          </a:p>
        </p:txBody>
      </p:sp>
      <p:sp>
        <p:nvSpPr>
          <p:cNvPr id="6" name="content:line-7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 code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API code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</a:t>
            </a:r>
          </a:p>
        </p:txBody>
      </p:sp>
      <p:sp>
        <p:nvSpPr>
          <p:cNvPr id="4" name="title:line-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image is a recipe's built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8</a:t>
            </a:r>
          </a:p>
        </p:txBody>
      </p:sp>
      <p:sp>
        <p:nvSpPr>
          <p:cNvPr id="6" name="content:line-7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Dockerfile describes how to assemble an image: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dependencies, code, and a startup command.</a:t>
            </a:r>
          </a:p>
        </p:txBody>
      </p:sp>
      <p:sp>
        <p:nvSpPr>
          <p:cNvPr id="7" name="content:line-77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image is a packaged filesystem and defaults; a container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running instance of it.</a:t>
            </a:r>
          </a:p>
        </p:txBody>
      </p:sp>
      <p:sp>
        <p:nvSpPr>
          <p:cNvPr id="8" name="content:line-78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isolates Python packages; containers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also supply user-space system files and process/network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isolation.</a:t>
            </a:r>
          </a:p>
        </p:txBody>
      </p:sp>
      <p:sp>
        <p:nvSpPr>
          <p:cNvPr id="9" name="content:line-79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Containers share a host kernel; packaging alone does not prove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matching outputs.</a:t>
            </a:r>
          </a:p>
        </p:txBody>
      </p:sp>
      <p:sp>
        <p:nvSpPr>
          <p:cNvPr id="10" name="content:line-80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build context is the directory Docker can copy from: here,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repository root.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</a:t>
            </a:r>
          </a:p>
        </p:txBody>
      </p:sp>
      <p:sp>
        <p:nvSpPr>
          <p:cNvPr id="4" name="title:line-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two supplied Dockerfiles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9</a:t>
            </a:r>
          </a:p>
        </p:txBody>
      </p:sp>
      <p:sp>
        <p:nvSpPr>
          <p:cNvPr id="6" name="content:line-86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Both start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python:3.12-slim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 small Python base image.</a:t>
            </a:r>
          </a:p>
        </p:txBody>
      </p:sp>
      <p:sp>
        <p:nvSpPr>
          <p:cNvPr id="7" name="content:line-87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 Dockerfile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copies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metadata; installs the package and includes synthetic CSVs.</a:t>
            </a:r>
          </a:p>
        </p:txBody>
      </p:sp>
      <p:sp>
        <p:nvSpPr>
          <p:cNvPr id="8" name="content:line-88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starts Uvicorn, the API server,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0.0.0.0:8000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89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Frontend Dockerfile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installs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frontend/requirements.txt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copies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frontend/app.py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starts Streamlit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0.0.0.0:8501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90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0.0.0.0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listens on all container interfaces; it is not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browser destination.</a:t>
            </a:r>
          </a:p>
        </p:txBody>
      </p:sp>
      <p:sp>
        <p:nvSpPr>
          <p:cNvPr id="11" name="content:line-91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EXPOSE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documents an internal port. Compose publishes a port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 the host.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24</a:t>
            </a:r>
          </a:p>
        </p:txBody>
      </p:sp>
      <p:sp>
        <p:nvSpPr>
          <p:cNvPr id="4" name="title:line-9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10</a:t>
            </a:r>
          </a:p>
        </p:txBody>
      </p:sp>
      <p:sp>
        <p:nvSpPr>
          <p:cNvPr id="6" name="content:line-9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service is a named application component. Compose builds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 the supplied services together.</a:t>
            </a:r>
          </a:p>
        </p:txBody>
      </p:sp>
      <p:sp>
        <p:nvSpPr>
          <p:cNvPr id="7" name="content:line-100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compose.yaml</a:t>
            </a:r>
          </a:p>
        </p:txBody>
      </p:sp>
      <p:sp>
        <p:nvSpPr>
          <p:cNvPr id="8" name="content:line-101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backend: root context, backend/Dockerfile</a:t>
            </a:r>
          </a:p>
        </p:txBody>
      </p:sp>
      <p:sp>
        <p:nvSpPr>
          <p:cNvPr id="9" name="content:line-102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127.0.0.1:8000 -&gt; container 8000</a:t>
            </a:r>
          </a:p>
        </p:txBody>
      </p:sp>
      <p:sp>
        <p:nvSpPr>
          <p:cNvPr id="10" name="content:line-103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frontend: root context, frontend/Dockerfile</a:t>
            </a:r>
          </a:p>
        </p:txBody>
      </p:sp>
      <p:sp>
        <p:nvSpPr>
          <p:cNvPr id="11" name="content:line-104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127.0.0.1:8501 -&gt; container 8501</a:t>
            </a:r>
          </a:p>
        </p:txBody>
      </p:sp>
      <p:sp>
        <p:nvSpPr>
          <p:cNvPr id="12" name="content:line-105:0"/>
          <p:cNvSpPr txBox="1"/>
          <p:nvPr/>
        </p:nvSpPr>
        <p:spPr>
          <a:xfrm>
            <a:off x="594360" y="44714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BACKEND_URL=http://backend:8000</a:t>
            </a:r>
          </a:p>
        </p:txBody>
      </p:sp>
      <p:sp>
        <p:nvSpPr>
          <p:cNvPr id="13" name="content:line-108:0"/>
          <p:cNvSpPr txBox="1"/>
          <p:nvPr/>
        </p:nvSpPr>
        <p:spPr>
          <a:xfrm>
            <a:off x="594360" y="4849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compose.yaml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maps host to container ports.</a:t>
            </a:r>
          </a:p>
        </p:txBody>
      </p:sp>
      <p:sp>
        <p:nvSpPr>
          <p:cNvPr id="14" name="content:line-109:0"/>
          <p:cNvSpPr txBox="1"/>
          <p:nvPr/>
        </p:nvSpPr>
        <p:spPr>
          <a:xfrm>
            <a:off x="594360" y="53416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host bindings accept connections from this computer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only.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</a:t>
            </a:r>
          </a:p>
        </p:txBody>
      </p:sp>
      <p:sp>
        <p:nvSpPr>
          <p:cNvPr id="4" name="title:line-1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Addresses depend on who is calling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11</a:t>
            </a:r>
          </a:p>
        </p:txBody>
      </p:sp>
      <p:sp>
        <p:nvSpPr>
          <p:cNvPr id="6" name="content:line-11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on host → Streamlit: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16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curl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17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inside Compose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118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health probe → itself: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119:0"/>
          <p:cNvSpPr txBox="1"/>
          <p:nvPr/>
        </p:nvSpPr>
        <p:spPr>
          <a:xfrm>
            <a:off x="594360" y="3706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DNS means looking up an address by name. Compose resolves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its shared network.</a:t>
            </a:r>
          </a:p>
        </p:txBody>
      </p:sp>
      <p:sp>
        <p:nvSpPr>
          <p:cNvPr id="11" name="content:line-120:0"/>
          <p:cNvSpPr txBox="1"/>
          <p:nvPr/>
        </p:nvSpPr>
        <p:spPr>
          <a:xfrm>
            <a:off x="594360" y="455066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localhost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the caller's own network environment.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Inside frontend, it points to frontend; the host browser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resolve Compose service names.</a:t>
            </a:r>
          </a:p>
        </p:txBody>
      </p:sp>
      <p:sp>
        <p:nvSpPr>
          <p:cNvPr id="12" name="content:line-121:0"/>
          <p:cNvSpPr txBox="1"/>
          <p:nvPr/>
        </p:nvSpPr>
        <p:spPr>
          <a:xfrm>
            <a:off x="594360" y="57470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address and troubleshooting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</a:t>
            </a:r>
          </a:p>
        </p:txBody>
      </p:sp>
      <p:sp>
        <p:nvSpPr>
          <p:cNvPr id="4" name="title:line-1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Started is different from ready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12</a:t>
            </a:r>
          </a:p>
        </p:txBody>
      </p:sp>
      <p:sp>
        <p:nvSpPr>
          <p:cNvPr id="6" name="content:line-12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{"status":"ok"}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says the API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available, not that uploaded data are valid.</a:t>
            </a:r>
          </a:p>
        </p:txBody>
      </p:sp>
      <p:sp>
        <p:nvSpPr>
          <p:cNvPr id="7" name="content:line-12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backend healthcheck probes that endpoint inside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8" name="content:line-12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Frontend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depends_on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condition: service_healthy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wait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backend health before starting frontend.</a:t>
            </a:r>
          </a:p>
        </p:txBody>
      </p:sp>
      <p:sp>
        <p:nvSpPr>
          <p:cNvPr id="9" name="content:line-13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startup gate does not guarantee later backend availability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restart frontend after a later failure.</a:t>
            </a:r>
          </a:p>
        </p:txBody>
      </p:sp>
      <p:sp>
        <p:nvSpPr>
          <p:cNvPr id="10" name="content:line-131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Streamlit readiness separately at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/_stcore/health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logs instead of adding an arbitrary sleep.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24</a:t>
            </a:r>
          </a:p>
        </p:txBody>
      </p:sp>
      <p:sp>
        <p:nvSpPr>
          <p:cNvPr id="4" name="title:line-13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13</a:t>
            </a:r>
          </a:p>
        </p:txBody>
      </p:sp>
      <p:sp>
        <p:nvSpPr>
          <p:cNvPr id="6" name="content:line-13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successive runs under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conditions; run locally twice.</a:t>
            </a:r>
          </a:p>
        </p:txBody>
      </p:sp>
      <p:sp>
        <p:nvSpPr>
          <p:cNvPr id="7" name="content:line-13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for the same process under slightly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different conditions; compare local Python with Docker.</a:t>
            </a:r>
          </a:p>
        </p:txBody>
      </p:sp>
      <p:sp>
        <p:nvSpPr>
          <p:cNvPr id="8" name="content:line-13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discussed conceptually here.</a:t>
            </a:r>
          </a:p>
        </p:txBody>
      </p:sp>
      <p:sp>
        <p:nvSpPr>
          <p:cNvPr id="9" name="content:line-14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bytes unchanged across captures. Record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differences.</a:t>
            </a:r>
          </a:p>
        </p:txBody>
      </p:sp>
      <p:sp>
        <p:nvSpPr>
          <p:cNvPr id="10" name="content:line-141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these meanings; terminology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varies by discipline.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</a:t>
            </a:r>
          </a:p>
        </p:txBody>
      </p:sp>
      <p:sp>
        <p:nvSpPr>
          <p:cNvPr id="4" name="title:line-1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Decide agreement before comparing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14</a:t>
            </a:r>
          </a:p>
        </p:txBody>
      </p:sp>
      <p:sp>
        <p:nvSpPr>
          <p:cNvPr id="6" name="content:line-14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structure, types, list order, identifiers, raw cleaned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values, copied baselines, counts, and nulls.</a:t>
            </a:r>
          </a:p>
        </p:txBody>
      </p:sp>
      <p:sp>
        <p:nvSpPr>
          <p:cNvPr id="7" name="content:line-14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missing value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never zero; a missing field is not a null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field.</a:t>
            </a:r>
          </a:p>
        </p:txBody>
      </p:sp>
      <p:sp>
        <p:nvSpPr>
          <p:cNvPr id="8" name="content:line-14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record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percent_change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visit-summary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mean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use tolerance in both comparisons.</a:t>
            </a:r>
          </a:p>
        </p:txBody>
      </p:sp>
      <p:sp>
        <p:nvSpPr>
          <p:cNvPr id="9" name="content:line-152:0"/>
          <p:cNvSpPr txBox="1"/>
          <p:nvPr/>
        </p:nvSpPr>
        <p:spPr>
          <a:xfrm>
            <a:off x="594360" y="42702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abs(actual - expected) &lt;= max(1e-9, 1e-9 * abs(expected))</a:t>
            </a:r>
          </a:p>
        </p:txBody>
      </p:sp>
      <p:sp>
        <p:nvSpPr>
          <p:cNvPr id="10" name="content:line-155:0"/>
          <p:cNvSpPr txBox="1"/>
          <p:nvPr/>
        </p:nvSpPr>
        <p:spPr>
          <a:xfrm>
            <a:off x="594360" y="46482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file is the reference. Relative tolerance has no unit;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absolute tolerance is nmol/L for change/mean, percentage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points for percentage change.</a:t>
            </a:r>
          </a:p>
        </p:txBody>
      </p:sp>
      <p:sp>
        <p:nvSpPr>
          <p:cNvPr id="11" name="content:line-156:0"/>
          <p:cNvSpPr txBox="1"/>
          <p:nvPr/>
        </p:nvSpPr>
        <p:spPr>
          <a:xfrm>
            <a:off x="594360" y="584454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engineering rule is not a clinical threshold. See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  ·  CONTINUED 2</a:t>
            </a:r>
          </a:p>
        </p:txBody>
      </p:sp>
      <p:sp>
        <p:nvSpPr>
          <p:cNvPr id="4" name="title:line-1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Decide agreement before comparing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15</a:t>
            </a:r>
          </a:p>
        </p:txBody>
      </p:sp>
      <p:sp>
        <p:nvSpPr>
          <p:cNvPr id="6" name="content:line-156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comparison 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</a:t>
            </a:r>
          </a:p>
        </p:txBody>
      </p:sp>
      <p:sp>
        <p:nvSpPr>
          <p:cNvPr id="4" name="title:line-1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launch the supplied stack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16</a:t>
            </a:r>
          </a:p>
        </p:txBody>
      </p:sp>
      <p:sp>
        <p:nvSpPr>
          <p:cNvPr id="6" name="content:line-16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running Docker engine and Compose v2. All commands start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at the repository root; activate Python 3.12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local captures.</a:t>
            </a:r>
          </a:p>
        </p:txBody>
      </p:sp>
      <p:sp>
        <p:nvSpPr>
          <p:cNvPr id="7" name="content:line-16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version</a:t>
            </a:r>
          </a:p>
        </p:txBody>
      </p:sp>
      <p:sp>
        <p:nvSpPr>
          <p:cNvPr id="8" name="content:line-16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config --quiet</a:t>
            </a:r>
          </a:p>
        </p:txBody>
      </p:sp>
      <p:sp>
        <p:nvSpPr>
          <p:cNvPr id="9" name="content:line-16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10" name="content:line-170:0"/>
          <p:cNvSpPr txBox="1"/>
          <p:nvPr/>
        </p:nvSpPr>
        <p:spPr>
          <a:xfrm>
            <a:off x="594360" y="40675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 second terminal at the same root:</a:t>
            </a:r>
          </a:p>
        </p:txBody>
      </p:sp>
      <p:sp>
        <p:nvSpPr>
          <p:cNvPr id="11" name="content:line-173:0"/>
          <p:cNvSpPr txBox="1"/>
          <p:nvPr/>
        </p:nvSpPr>
        <p:spPr>
          <a:xfrm>
            <a:off x="594360" y="45598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ps</a:t>
            </a:r>
          </a:p>
        </p:txBody>
      </p:sp>
      <p:sp>
        <p:nvSpPr>
          <p:cNvPr id="12" name="content:line-174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http://127.0.0.1:8000/health</a:t>
            </a:r>
          </a:p>
        </p:txBody>
      </p:sp>
      <p:sp>
        <p:nvSpPr>
          <p:cNvPr id="13" name="content:line-177:0"/>
          <p:cNvSpPr txBox="1"/>
          <p:nvPr/>
        </p:nvSpPr>
        <p:spPr>
          <a:xfrm>
            <a:off x="594360" y="53157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backend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Keep the first terminal open for logs.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</a:t>
            </a:r>
          </a:p>
        </p:txBody>
      </p:sp>
      <p:sp>
        <p:nvSpPr>
          <p:cNvPr id="4" name="title:line-1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upload and inspect the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17</a:t>
            </a:r>
          </a:p>
        </p:txBody>
      </p:sp>
      <p:sp>
        <p:nvSpPr>
          <p:cNvPr id="6" name="content:line-18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displayed backend should be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8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Participants CSV (DM)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Laboratory CSV (LB).</a:t>
            </a:r>
          </a:p>
        </p:txBody>
      </p:sp>
      <p:sp>
        <p:nvSpPr>
          <p:cNvPr id="8" name="content:line-18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Select Process CSVs: expect 24 participants, 96 joined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records, 95 observed, 1 missing.</a:t>
            </a:r>
          </a:p>
        </p:txBody>
      </p:sp>
      <p:sp>
        <p:nvSpPr>
          <p:cNvPr id="9" name="content:line-18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joined records, arm/visit summaries, and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observed mean chart in nmol/L.</a:t>
            </a:r>
          </a:p>
        </p:txBody>
      </p:sp>
      <p:sp>
        <p:nvSpPr>
          <p:cNvPr id="10" name="content:line-187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EDU-LPA-007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at DAY 30 stays unavailable. Synthetic descriptive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 do not establish clinical benefit.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  ·  CONTINUED 2</a:t>
            </a:r>
          </a:p>
        </p:txBody>
      </p:sp>
      <p:sp>
        <p:nvSpPr>
          <p:cNvPr id="4" name="title:line-18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upload and inspect the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18</a:t>
            </a:r>
          </a:p>
        </p:txBody>
      </p:sp>
      <p:sp>
        <p:nvSpPr>
          <p:cNvPr id="6" name="content:line-18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Repeating a chart is useful inspection; use captured outputs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formal agreement evidence.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 walkthrough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</a:t>
            </a:r>
          </a:p>
        </p:txBody>
      </p:sp>
      <p:sp>
        <p:nvSpPr>
          <p:cNvPr id="4" name="title:line-1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isolate a connection problem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19</a:t>
            </a:r>
          </a:p>
        </p:txBody>
      </p:sp>
      <p:sp>
        <p:nvSpPr>
          <p:cNvPr id="6" name="content:line-19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check the API independently of Streamlit:</a:t>
            </a:r>
          </a:p>
        </p:txBody>
      </p:sp>
      <p:sp>
        <p:nvSpPr>
          <p:cNvPr id="7" name="content:line-19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8" name="content:line-19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9" name="content:line-19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0" name="content:line-20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logs --tail=100 backend frontend</a:t>
            </a:r>
          </a:p>
        </p:txBody>
      </p:sp>
      <p:sp>
        <p:nvSpPr>
          <p:cNvPr id="11" name="content:line-20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exec frontend python -c \</a:t>
            </a:r>
          </a:p>
        </p:txBody>
      </p:sp>
      <p:sp>
        <p:nvSpPr>
          <p:cNvPr id="12" name="content:line-202:0"/>
          <p:cNvSpPr txBox="1"/>
          <p:nvPr/>
        </p:nvSpPr>
        <p:spPr>
          <a:xfrm>
            <a:off x="594360" y="4119371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"import urllib.request;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print(urllib.request.urlopen('http://backend:8000/health',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timeout=2).read().decode())"</a:t>
            </a:r>
          </a:p>
        </p:txBody>
      </p:sp>
      <p:sp>
        <p:nvSpPr>
          <p:cNvPr id="13" name="content:line-205:0"/>
          <p:cNvSpPr txBox="1"/>
          <p:nvPr/>
        </p:nvSpPr>
        <p:spPr>
          <a:xfrm>
            <a:off x="594360" y="510082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health succeeds but internal request fails: inspect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name, port, and shared Compose project.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  ·  CONTINUED 2</a:t>
            </a:r>
          </a:p>
        </p:txBody>
      </p:sp>
      <p:sp>
        <p:nvSpPr>
          <p:cNvPr id="4" name="title:line-19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isolate a connection problem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20</a:t>
            </a:r>
          </a:p>
        </p:txBody>
      </p:sp>
      <p:sp>
        <p:nvSpPr>
          <p:cNvPr id="6" name="content:line-20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422 response means input rejection; a connection error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means the request could not reach the API.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</a:t>
            </a:r>
          </a:p>
        </p:txBody>
      </p:sp>
      <p:sp>
        <p:nvSpPr>
          <p:cNvPr id="4" name="title:line-2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cause a recoverable local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21</a:t>
            </a:r>
          </a:p>
        </p:txBody>
      </p:sp>
      <p:sp>
        <p:nvSpPr>
          <p:cNvPr id="6" name="content:line-21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Compose to free ports, then start the local backend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 A. Use the activated environment with frontend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local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1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down</a:t>
            </a:r>
          </a:p>
        </p:txBody>
      </p:sp>
      <p:sp>
        <p:nvSpPr>
          <p:cNvPr id="8" name="content:line-21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21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220:0"/>
          <p:cNvSpPr txBox="1"/>
          <p:nvPr/>
        </p:nvSpPr>
        <p:spPr>
          <a:xfrm>
            <a:off x="594360" y="40675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terminal B, first confirm port 8999 is unused; if occupied,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choose another unused port. Apply this override to this one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 only:</a:t>
            </a:r>
          </a:p>
        </p:txBody>
      </p:sp>
      <p:sp>
        <p:nvSpPr>
          <p:cNvPr id="11" name="content:line-223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BACKEND_URL=http://127.0.0.1:8999 \</a:t>
            </a:r>
          </a:p>
        </p:txBody>
      </p:sp>
      <p:sp>
        <p:nvSpPr>
          <p:cNvPr id="12" name="content:line-224:0"/>
          <p:cNvSpPr txBox="1"/>
          <p:nvPr/>
        </p:nvSpPr>
        <p:spPr>
          <a:xfrm>
            <a:off x="594360" y="56418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  ·  CONTINUED 2</a:t>
            </a:r>
          </a:p>
        </p:txBody>
      </p:sp>
      <p:sp>
        <p:nvSpPr>
          <p:cNvPr id="4" name="title:line-2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cause a recoverable local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22</a:t>
            </a:r>
          </a:p>
        </p:txBody>
      </p:sp>
      <p:sp>
        <p:nvSpPr>
          <p:cNvPr id="6" name="content:line-225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7" name="content:line-228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both files: expect “Could not connect to the backend.”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 source 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edits are needed.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</a:t>
            </a:r>
          </a:p>
        </p:txBody>
      </p:sp>
      <p:sp>
        <p:nvSpPr>
          <p:cNvPr id="4" name="title:line-2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restore the working connection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23</a:t>
            </a:r>
          </a:p>
        </p:txBody>
      </p:sp>
      <p:sp>
        <p:nvSpPr>
          <p:cNvPr id="6" name="content:line-23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the failing Streamlit process with Ctrl-C in terminal B;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restart with the correct address:</a:t>
            </a:r>
          </a:p>
        </p:txBody>
      </p:sp>
      <p:sp>
        <p:nvSpPr>
          <p:cNvPr id="7" name="content:line-237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BACKEND_URL=http://127.0.0.1:8000 \</a:t>
            </a:r>
          </a:p>
        </p:txBody>
      </p:sp>
      <p:sp>
        <p:nvSpPr>
          <p:cNvPr id="8" name="content:line-238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9" name="content:line-239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0" name="content:line-242:0"/>
          <p:cNvSpPr txBox="1"/>
          <p:nvPr/>
        </p:nvSpPr>
        <p:spPr>
          <a:xfrm>
            <a:off x="594360" y="37155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again: expect 24/96/95/1 and visible results.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original shell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settings were never changed.</a:t>
            </a:r>
          </a:p>
        </p:txBody>
      </p:sp>
      <p:sp>
        <p:nvSpPr>
          <p:cNvPr id="11" name="content:line-243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both local servers with Ctrl-C before restarting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Compose on those ports.</a:t>
            </a:r>
          </a:p>
        </p:txBody>
      </p:sp>
      <p:sp>
        <p:nvSpPr>
          <p:cNvPr id="12" name="content:line-244:0"/>
          <p:cNvSpPr txBox="1"/>
          <p:nvPr/>
        </p:nvSpPr>
        <p:spPr>
          <a:xfrm>
            <a:off x="594360" y="54041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Compose explicitly sets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changing local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cannot override that service setting.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  ·  CONTINUED 2</a:t>
            </a:r>
          </a:p>
        </p:txBody>
      </p:sp>
      <p:sp>
        <p:nvSpPr>
          <p:cNvPr id="4" name="title:line-2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restore the working connection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24</a:t>
            </a:r>
          </a:p>
        </p:txBody>
      </p:sp>
      <p:sp>
        <p:nvSpPr>
          <p:cNvPr id="6" name="content:line-245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Restore by restarting the process with the right address; do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commit a broken configuration.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</a:t>
            </a:r>
          </a:p>
        </p:txBody>
      </p:sp>
      <p:sp>
        <p:nvSpPr>
          <p:cNvPr id="4" name="title:line-24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repeated local outputs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25</a:t>
            </a:r>
          </a:p>
        </p:txBody>
      </p:sp>
      <p:sp>
        <p:nvSpPr>
          <p:cNvPr id="6" name="content:line-251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same checkout, unchanged CSVs, and activated Python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 Backslashes continue one shell command across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readable lines.</a:t>
            </a:r>
          </a:p>
        </p:txBody>
      </p:sp>
      <p:sp>
        <p:nvSpPr>
          <p:cNvPr id="7" name="content:line-254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stat_core.capture \</a:t>
            </a:r>
          </a:p>
        </p:txBody>
      </p:sp>
      <p:sp>
        <p:nvSpPr>
          <p:cNvPr id="8" name="content:line-255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9" name="content:line-256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\</a:t>
            </a:r>
          </a:p>
        </p:txBody>
      </p:sp>
      <p:sp>
        <p:nvSpPr>
          <p:cNvPr id="10" name="content:line-257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--output outputs/local-1.json</a:t>
            </a:r>
          </a:p>
        </p:txBody>
      </p:sp>
      <p:sp>
        <p:nvSpPr>
          <p:cNvPr id="11" name="content:line-258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stat_core.capture \</a:t>
            </a:r>
          </a:p>
        </p:txBody>
      </p:sp>
      <p:sp>
        <p:nvSpPr>
          <p:cNvPr id="12" name="content:line-259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13" name="content:line-260:0"/>
          <p:cNvSpPr txBox="1"/>
          <p:nvPr/>
        </p:nvSpPr>
        <p:spPr>
          <a:xfrm>
            <a:off x="594360" y="52014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\</a:t>
            </a:r>
          </a:p>
        </p:txBody>
      </p:sp>
      <p:sp>
        <p:nvSpPr>
          <p:cNvPr id="14" name="content:line-261:0"/>
          <p:cNvSpPr txBox="1"/>
          <p:nvPr/>
        </p:nvSpPr>
        <p:spPr>
          <a:xfrm>
            <a:off x="594360" y="55793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--output outputs/local-2.json</a:t>
            </a:r>
          </a:p>
        </p:txBody>
      </p:sp>
      <p:sp>
        <p:nvSpPr>
          <p:cNvPr id="15" name="content:line-262:0"/>
          <p:cNvSpPr txBox="1"/>
          <p:nvPr/>
        </p:nvSpPr>
        <p:spPr>
          <a:xfrm>
            <a:off x="594360" y="59573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stat_core.comparison \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  ·  CONTINUED 2</a:t>
            </a:r>
          </a:p>
        </p:txBody>
      </p:sp>
      <p:sp>
        <p:nvSpPr>
          <p:cNvPr id="4" name="title:line-24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repeated local outputs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26</a:t>
            </a:r>
          </a:p>
        </p:txBody>
      </p:sp>
      <p:sp>
        <p:nvSpPr>
          <p:cNvPr id="6" name="content:line-263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outputs/local-1.json outputs/local-2.json</a:t>
            </a:r>
          </a:p>
        </p:txBody>
      </p:sp>
      <p:sp>
        <p:nvSpPr>
          <p:cNvPr id="7" name="content:line-266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 agree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exit code 0. Captures call the public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generated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ignored.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the actual Docker run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27</a:t>
            </a:r>
          </a:p>
        </p:txBody>
      </p:sp>
      <p:sp>
        <p:nvSpPr>
          <p:cNvPr id="6" name="content:line-27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local servers first; keep the two local captures. Rebuild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after code, dependency, or bundled data changes: these images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copy files and do not live-update from the checkout.</a:t>
            </a:r>
          </a:p>
        </p:txBody>
      </p:sp>
      <p:sp>
        <p:nvSpPr>
          <p:cNvPr id="7" name="content:line-27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build</a:t>
            </a:r>
          </a:p>
        </p:txBody>
      </p:sp>
      <p:sp>
        <p:nvSpPr>
          <p:cNvPr id="8" name="content:line-27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-d --wait --wait-timeout 120</a:t>
            </a:r>
          </a:p>
        </p:txBody>
      </p:sp>
      <p:sp>
        <p:nvSpPr>
          <p:cNvPr id="9" name="content:line-27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http://127.0.0.1:8000/health</a:t>
            </a:r>
          </a:p>
        </p:txBody>
      </p:sp>
      <p:sp>
        <p:nvSpPr>
          <p:cNvPr id="10" name="content:line-278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--retry 20 --retry-all-errors \</a:t>
            </a:r>
          </a:p>
        </p:txBody>
      </p:sp>
      <p:sp>
        <p:nvSpPr>
          <p:cNvPr id="11" name="content:line-279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--retry-delay 2 http://127.0.0.1:8501/_stcore/health</a:t>
            </a:r>
          </a:p>
        </p:txBody>
      </p:sp>
      <p:sp>
        <p:nvSpPr>
          <p:cNvPr id="12" name="content:line-280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exec -T backend python -m stat_core.capture \</a:t>
            </a:r>
          </a:p>
        </p:txBody>
      </p:sp>
      <p:sp>
        <p:nvSpPr>
          <p:cNvPr id="13" name="content:line-281:0"/>
          <p:cNvSpPr txBox="1"/>
          <p:nvPr/>
        </p:nvSpPr>
        <p:spPr>
          <a:xfrm>
            <a:off x="594360" y="52014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14" name="content:line-282:0"/>
          <p:cNvSpPr txBox="1"/>
          <p:nvPr/>
        </p:nvSpPr>
        <p:spPr>
          <a:xfrm>
            <a:off x="594360" y="55793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&gt; outputs/docker.json</a:t>
            </a:r>
          </a:p>
        </p:txBody>
      </p:sp>
      <p:sp>
        <p:nvSpPr>
          <p:cNvPr id="15" name="content:line-283:0"/>
          <p:cNvSpPr txBox="1"/>
          <p:nvPr/>
        </p:nvSpPr>
        <p:spPr>
          <a:xfrm>
            <a:off x="594360" y="59573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stat_core.comparison \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  ·  CONTINUED 2</a:t>
            </a:r>
          </a:p>
        </p:txBody>
      </p:sp>
      <p:sp>
        <p:nvSpPr>
          <p:cNvPr id="4" name="title:line-27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the actual Docker run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28</a:t>
            </a:r>
          </a:p>
        </p:txBody>
      </p:sp>
      <p:sp>
        <p:nvSpPr>
          <p:cNvPr id="6" name="content:line-284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outputs/local-1.json outputs/docker.json</a:t>
            </a:r>
          </a:p>
        </p:txBody>
      </p:sp>
      <p:sp>
        <p:nvSpPr>
          <p:cNvPr id="7" name="content:line-287:0"/>
          <p:cNvSpPr txBox="1"/>
          <p:nvPr/>
        </p:nvSpPr>
        <p:spPr>
          <a:xfrm>
            <a:off x="594360" y="211531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 agree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exit code 0.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disables terminal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formatting for redirected JSON. Full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capture/API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include a multipart result comparison.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</a:t>
            </a:r>
          </a:p>
        </p:txBody>
      </p:sp>
      <p:sp>
        <p:nvSpPr>
          <p:cNvPr id="4" name="title:line-29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evidence and diagnose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disagreement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29</a:t>
            </a:r>
          </a:p>
        </p:txBody>
      </p:sp>
      <p:sp>
        <p:nvSpPr>
          <p:cNvPr id="6" name="content:line-293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capture has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plus metadata: Python, platform,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dependency versions, and SHA-256 hashes of code and exact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bytes.</a:t>
            </a:r>
          </a:p>
        </p:txBody>
      </p:sp>
      <p:sp>
        <p:nvSpPr>
          <p:cNvPr id="7" name="content:line-294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hash is a file fingerprint. Code/data hashes must agree;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expected environment differences separately.</a:t>
            </a:r>
          </a:p>
        </p:txBody>
      </p:sp>
      <p:sp>
        <p:nvSpPr>
          <p:cNvPr id="8" name="content:line-295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Results preserve stable ordering; comparison does not sort,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round, or replace nulls to force agreement.</a:t>
            </a:r>
          </a:p>
        </p:txBody>
      </p:sp>
      <p:sp>
        <p:nvSpPr>
          <p:cNvPr id="9" name="content:line-296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Nonzero exit and a field such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counts.missing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locate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disagreement. Hash mismatch: recover matching code/data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rebuild.</a:t>
            </a:r>
          </a:p>
        </p:txBody>
      </p:sp>
      <p:sp>
        <p:nvSpPr>
          <p:cNvPr id="10" name="content:line-297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Derived decimal outside tolerance: investigate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  ·  CONTINUED 2</a:t>
            </a:r>
          </a:p>
        </p:txBody>
      </p:sp>
      <p:sp>
        <p:nvSpPr>
          <p:cNvPr id="4" name="title:line-29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evidence and diagnose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disagreement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30</a:t>
            </a:r>
          </a:p>
        </p:txBody>
      </p:sp>
      <p:sp>
        <p:nvSpPr>
          <p:cNvPr id="6" name="content:line-297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processing/dependencies; keep the declared tolerance.</a:t>
            </a:r>
          </a:p>
        </p:txBody>
      </p:sp>
      <p:sp>
        <p:nvSpPr>
          <p:cNvPr id="7" name="content:line-29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captures and logs together; a chart or passing unrelated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test alone does not establish agreement.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</a:t>
            </a:r>
          </a:p>
        </p:txBody>
      </p:sp>
      <p:sp>
        <p:nvSpPr>
          <p:cNvPr id="4" name="title:line-3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31</a:t>
            </a:r>
          </a:p>
        </p:txBody>
      </p:sp>
      <p:sp>
        <p:nvSpPr>
          <p:cNvPr id="6" name="content:line-30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before practice.</a:t>
            </a:r>
          </a:p>
        </p:txBody>
      </p:sp>
      <p:sp>
        <p:nvSpPr>
          <p:cNvPr id="7" name="content:line-305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trace uploads, HTTP,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each caller's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address.</a:t>
            </a:r>
          </a:p>
        </p:txBody>
      </p:sp>
      <p:sp>
        <p:nvSpPr>
          <p:cNvPr id="8" name="content:line-306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launch the supplied stack, upload both CSVs,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health and logs.</a:t>
            </a:r>
          </a:p>
        </p:txBody>
      </p:sp>
      <p:sp>
        <p:nvSpPr>
          <p:cNvPr id="9" name="content:line-307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repeat the temporary local address failure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recovery; restore a working stack.</a:t>
            </a:r>
          </a:p>
        </p:txBody>
      </p:sp>
      <p:sp>
        <p:nvSpPr>
          <p:cNvPr id="10" name="content:line-308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25 minutes: capture twice locally and once in Docker;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explain exact fields, nulls, and tolerance.</a:t>
            </a:r>
          </a:p>
        </p:txBody>
      </p:sp>
      <p:sp>
        <p:nvSpPr>
          <p:cNvPr id="11" name="content:line-309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review a teammate's commands and evidence;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  ·  CONTINUED 2</a:t>
            </a:r>
          </a:p>
        </p:txBody>
      </p:sp>
      <p:sp>
        <p:nvSpPr>
          <p:cNvPr id="4" name="title:line-3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32</a:t>
            </a:r>
          </a:p>
        </p:txBody>
      </p:sp>
      <p:sp>
        <p:nvSpPr>
          <p:cNvPr id="6" name="content:line-309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code/data hashes and any environment differences.</a:t>
            </a:r>
          </a:p>
        </p:txBody>
      </p:sp>
      <p:sp>
        <p:nvSpPr>
          <p:cNvPr id="7" name="content:line-310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supplied framework and your group's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behavior; UI polish and model complexity are not priorities.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</a:t>
            </a:r>
          </a:p>
        </p:txBody>
      </p:sp>
      <p:sp>
        <p:nvSpPr>
          <p:cNvPr id="4" name="title:line-31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33</a:t>
            </a:r>
          </a:p>
        </p:txBody>
      </p:sp>
      <p:sp>
        <p:nvSpPr>
          <p:cNvPr id="6" name="content:line-316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images versus containers, internal versus published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ports, and startup readiness.</a:t>
            </a:r>
          </a:p>
        </p:txBody>
      </p:sp>
      <p:sp>
        <p:nvSpPr>
          <p:cNvPr id="7" name="content:line-317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working uploads, restored configuration, and matching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outputs; retain commands, conditions, captures,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logs.</a:t>
            </a:r>
          </a:p>
        </p:txBody>
      </p:sp>
      <p:sp>
        <p:nvSpPr>
          <p:cNvPr id="8" name="content:line-318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Finish the demonstration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host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CSVs and built images remain.</a:t>
            </a:r>
          </a:p>
        </p:txBody>
      </p:sp>
      <p:sp>
        <p:nvSpPr>
          <p:cNvPr id="9" name="content:line-319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homework: about two hours rehearsing application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startup, validation, tests, comparisons, and navigation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PR/review evidence.</a:t>
            </a:r>
          </a:p>
        </p:txBody>
      </p:sp>
      <p:sp>
        <p:nvSpPr>
          <p:cNvPr id="10" name="content:line-320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student needs an authored PR and meaningful peer 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  ·  CONTINUED 2</a:t>
            </a:r>
          </a:p>
        </p:txBody>
      </p:sp>
      <p:sp>
        <p:nvSpPr>
          <p:cNvPr id="4" name="title:line-31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34</a:t>
            </a:r>
          </a:p>
        </p:txBody>
      </p:sp>
      <p:sp>
        <p:nvSpPr>
          <p:cNvPr id="6" name="content:line-320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review. Prepare for the final presentation's pass/fail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checks.</a:t>
            </a:r>
          </a:p>
        </p:txBody>
      </p:sp>
      <p:sp>
        <p:nvSpPr>
          <p:cNvPr id="7" name="content:line-321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checkpoint is preparation, not a separate assessed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submission. Final presentation has no resubmission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reassessment;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assessment policy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</a:t>
            </a:r>
          </a:p>
        </p:txBody>
      </p:sp>
      <p:sp>
        <p:nvSpPr>
          <p:cNvPr id="4" name="title:line-32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Source map for rehearsal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35</a:t>
            </a:r>
          </a:p>
        </p:txBody>
      </p:sp>
      <p:sp>
        <p:nvSpPr>
          <p:cNvPr id="6" name="content:line-327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three-R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328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Local frontend and recovery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5"/>
              </a:rPr>
              <a:t>Compose operation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6"/>
              </a:rPr>
              <a:t>output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6"/>
              </a:rPr>
              <a:t>capture/comparison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329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7"/>
              </a:rPr>
              <a:t>Backend image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8"/>
              </a:rPr>
              <a:t>frontend image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9"/>
              </a:rPr>
              <a:t>service configuration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30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10"/>
              </a:rPr>
              <a:t>Synthetic input provenance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11"/>
              </a:rPr>
              <a:t>API 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331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12"/>
              </a:rPr>
              <a:t>Supported slide Markdown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4: Containers and output comparisons</dc:title>
  <dc:subject>Editable slides generated from session-4.md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