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SYLLABUS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frontend/app.py" TargetMode="External"/><Relationship Id="rId3" Type="http://schemas.openxmlformats.org/officeDocument/2006/relationships/hyperlink" Target="../../backend/app/main.py" TargetMode="External"/><Relationship Id="rId4" Type="http://schemas.openxmlformats.org/officeDocument/2006/relationships/hyperlink" Target="../../docs/api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Dockerfile" TargetMode="External"/><Relationship Id="rId3" Type="http://schemas.openxmlformats.org/officeDocument/2006/relationships/hyperlink" Target="../../frontend/Dockerfil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compose.ya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mpose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GLOSSARY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mparisons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setup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ata/synthetic/dm.csv" TargetMode="External"/><Relationship Id="rId3" Type="http://schemas.openxmlformats.org/officeDocument/2006/relationships/hyperlink" Target="../../data/synthetic/lb.csv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frontend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frontend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mparisons.m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rweihungpan-lab/3R-teaching/actions/runs/38876609585" TargetMode="External"/><Relationship Id="rId3" Type="http://schemas.openxmlformats.org/officeDocument/2006/relationships/hyperlink" Target="../../.github/workflows/backend-tests.y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README.m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SYLLABUS.md#assessment-policy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specs/course-framework-and-teaching-materials.md" TargetMode="External"/><Relationship Id="rId3" Type="http://schemas.openxmlformats.org/officeDocument/2006/relationships/hyperlink" Target="../../SYLLABUS.md" TargetMode="External"/><Relationship Id="rId4" Type="http://schemas.openxmlformats.org/officeDocument/2006/relationships/hyperlink" Target="../../GLOSSARY.md" TargetMode="External"/><Relationship Id="rId5" Type="http://schemas.openxmlformats.org/officeDocument/2006/relationships/hyperlink" Target="../../docs/frontend.md" TargetMode="External"/><Relationship Id="rId6" Type="http://schemas.openxmlformats.org/officeDocument/2006/relationships/hyperlink" Target="../../docs/compose.md" TargetMode="External"/><Relationship Id="rId7" Type="http://schemas.openxmlformats.org/officeDocument/2006/relationships/hyperlink" Target="../../docs/comparisons.md" TargetMode="External"/><Relationship Id="rId8" Type="http://schemas.openxmlformats.org/officeDocument/2006/relationships/hyperlink" Target="../../backend/Dockerfile" TargetMode="External"/><Relationship Id="rId9" Type="http://schemas.openxmlformats.org/officeDocument/2006/relationships/hyperlink" Target="../../frontend/Dockerfile" TargetMode="External"/><Relationship Id="rId10" Type="http://schemas.openxmlformats.org/officeDocument/2006/relationships/hyperlink" Target="../../compose.yaml" TargetMode="External"/><Relationship Id="rId11" Type="http://schemas.openxmlformats.org/officeDocument/2006/relationships/hyperlink" Target="../../data/synthetic/README.md" TargetMode="External"/><Relationship Id="rId12" Type="http://schemas.openxmlformats.org/officeDocument/2006/relationships/hyperlink" Target="../../docs/api.md" TargetMode="External"/><Relationship Id="rId13" Type="http://schemas.openxmlformats.org/officeDocument/2006/relationships/hyperlink" Target="../../docs/tickets/16-session-4-markdown-slides.md" TargetMode="External"/><Relationship Id="rId14" Type="http://schemas.openxmlformats.org/officeDocument/2006/relationships/hyperlink" Target="README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 / 23</a:t>
            </a:r>
          </a:p>
        </p:txBody>
      </p:sp>
      <p:sp>
        <p:nvSpPr>
          <p:cNvPr id="4" name="title:line-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Session 4: Containers and output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comparisons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</a:t>
            </a:r>
          </a:p>
        </p:txBody>
      </p:sp>
      <p:sp>
        <p:nvSpPr>
          <p:cNvPr id="6" name="content:line-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CSV uploads through the supplied Streamlit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FastAPI services.</a:t>
            </a:r>
          </a:p>
        </p:txBody>
      </p:sp>
      <p:sp>
        <p:nvSpPr>
          <p:cNvPr id="7" name="content:line-4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container addresses, startup, and recoverable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connection failures.</a:t>
            </a:r>
          </a:p>
        </p:txBody>
      </p:sp>
      <p:sp>
        <p:nvSpPr>
          <p:cNvPr id="8" name="content:line-5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Compare repeated local runs and local/Docker results using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declared rules.</a:t>
            </a:r>
          </a:p>
        </p:txBody>
      </p:sp>
      <p:sp>
        <p:nvSpPr>
          <p:cNvPr id="9" name="content:line-6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complete synthetic example; focus on engineering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workflow.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 / 23</a:t>
            </a:r>
          </a:p>
        </p:txBody>
      </p:sp>
      <p:sp>
        <p:nvSpPr>
          <p:cNvPr id="4" name="title:line-1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Back at the bubble tea shop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</a:t>
            </a:r>
          </a:p>
        </p:txBody>
      </p:sp>
      <p:sp>
        <p:nvSpPr>
          <p:cNvPr id="6" name="content:line-1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1" i="0">
                <a:solidFill>
                  <a:srgbClr val="20344A"/>
                </a:solidFill>
                <a:latin typeface="Arial"/>
              </a:rPr>
              <a:t>You open a second shop in Hsinchu Science Park. How do you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make sure it tastes the same?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3 / 23</a:t>
            </a:r>
          </a:p>
        </p:txBody>
      </p:sp>
      <p:sp>
        <p:nvSpPr>
          <p:cNvPr id="4" name="title:line-1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Our 180-minute agenda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</a:t>
            </a:r>
          </a:p>
        </p:txBody>
      </p:sp>
      <p:sp>
        <p:nvSpPr>
          <p:cNvPr id="6" name="content:line-1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0–45: explanation — request flow, images, networking,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readiness, agreement.</a:t>
            </a:r>
          </a:p>
        </p:txBody>
      </p:sp>
      <p:sp>
        <p:nvSpPr>
          <p:cNvPr id="7" name="content:line-19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45–75: demonstration — launch 8, diagnose/recover 7, compare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outputs 15 minutes.</a:t>
            </a:r>
          </a:p>
        </p:txBody>
      </p:sp>
      <p:sp>
        <p:nvSpPr>
          <p:cNvPr id="8" name="content:line-20:0"/>
          <p:cNvSpPr txBox="1"/>
          <p:nvPr/>
        </p:nvSpPr>
        <p:spPr>
          <a:xfrm>
            <a:off x="594360" y="342595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75–90: break — 15 minutes.</a:t>
            </a:r>
          </a:p>
        </p:txBody>
      </p:sp>
      <p:sp>
        <p:nvSpPr>
          <p:cNvPr id="9" name="content:line-21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90–180: guided practice — trace 15, run 20, recover 15, compare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25, review 15 minutes.</a:t>
            </a:r>
          </a:p>
        </p:txBody>
      </p:sp>
      <p:sp>
        <p:nvSpPr>
          <p:cNvPr id="10" name="content:line-22:0"/>
          <p:cNvSpPr txBox="1"/>
          <p:nvPr/>
        </p:nvSpPr>
        <p:spPr>
          <a:xfrm>
            <a:off x="594360" y="476250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Timings are provisional; see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23</a:t>
            </a:r>
          </a:p>
        </p:txBody>
      </p:sp>
      <p:sp>
        <p:nvSpPr>
          <p:cNvPr id="4" name="title:line-2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Trace the complete request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4</a:t>
            </a:r>
          </a:p>
        </p:txBody>
      </p:sp>
      <p:sp>
        <p:nvSpPr>
          <p:cNvPr id="6" name="content:line-28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is the request/response protocol connecting these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programs. Multipart means one request contains named file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parts.</a:t>
            </a:r>
          </a:p>
        </p:txBody>
      </p:sp>
      <p:sp>
        <p:nvSpPr>
          <p:cNvPr id="7" name="content:line-31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Browser -&gt; Streamlit Python: upload DM and LB</a:t>
            </a:r>
          </a:p>
        </p:txBody>
      </p:sp>
      <p:sp>
        <p:nvSpPr>
          <p:cNvPr id="8" name="content:line-32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Streamlit -&gt; FastAPI: POST /process</a:t>
            </a:r>
          </a:p>
        </p:txBody>
      </p:sp>
      <p:sp>
        <p:nvSpPr>
          <p:cNvPr id="9" name="content:line-33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multipart fields: participants, laboratory</a:t>
            </a:r>
          </a:p>
        </p:txBody>
      </p:sp>
      <p:sp>
        <p:nvSpPr>
          <p:cNvPr id="10" name="content:line-34:0"/>
          <p:cNvSpPr txBox="1"/>
          <p:nvPr/>
        </p:nvSpPr>
        <p:spPr>
          <a:xfrm>
            <a:off x="594360" y="40675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FastAPI -&gt; stat_core.process_csv: validate, join, summarize</a:t>
            </a:r>
          </a:p>
        </p:txBody>
      </p:sp>
      <p:sp>
        <p:nvSpPr>
          <p:cNvPr id="11" name="content:line-35:0"/>
          <p:cNvSpPr txBox="1"/>
          <p:nvPr/>
        </p:nvSpPr>
        <p:spPr>
          <a:xfrm>
            <a:off x="594360" y="444550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FastAPI -&gt; Streamlit: JSON result</a:t>
            </a:r>
          </a:p>
        </p:txBody>
      </p:sp>
      <p:sp>
        <p:nvSpPr>
          <p:cNvPr id="12" name="content:line-36:0"/>
          <p:cNvSpPr txBox="1"/>
          <p:nvPr/>
        </p:nvSpPr>
        <p:spPr>
          <a:xfrm>
            <a:off x="594360" y="48234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Streamlit -&gt; Browser: counts, records, summaries, chart</a:t>
            </a:r>
          </a:p>
        </p:txBody>
      </p:sp>
      <p:sp>
        <p:nvSpPr>
          <p:cNvPr id="13" name="content:line-39:0"/>
          <p:cNvSpPr txBox="1"/>
          <p:nvPr/>
        </p:nvSpPr>
        <p:spPr>
          <a:xfrm>
            <a:off x="594360" y="52014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Streamlit displays backend results; it does not import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stat_core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23  ·  CONTINUED 2</a:t>
            </a:r>
          </a:p>
        </p:txBody>
      </p:sp>
      <p:sp>
        <p:nvSpPr>
          <p:cNvPr id="4" name="title:line-2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Trace the complete request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5</a:t>
            </a:r>
          </a:p>
        </p:txBody>
      </p:sp>
      <p:sp>
        <p:nvSpPr>
          <p:cNvPr id="6" name="content:line-4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Trace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frontend code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API code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4"/>
              </a:rPr>
              <a:t>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5 / 23</a:t>
            </a:r>
          </a:p>
        </p:txBody>
      </p:sp>
      <p:sp>
        <p:nvSpPr>
          <p:cNvPr id="4" name="title:line-4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An image is a recipe's built result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6</a:t>
            </a:r>
          </a:p>
        </p:txBody>
      </p:sp>
      <p:sp>
        <p:nvSpPr>
          <p:cNvPr id="6" name="content:line-46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Dockerfile describes how to assemble an image: Python,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dependencies, code, and a startup command.</a:t>
            </a:r>
          </a:p>
        </p:txBody>
      </p:sp>
      <p:sp>
        <p:nvSpPr>
          <p:cNvPr id="7" name="content:line-47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An image is a packaged filesystem and defaults; a container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 running instance of it.</a:t>
            </a:r>
          </a:p>
        </p:txBody>
      </p:sp>
      <p:sp>
        <p:nvSpPr>
          <p:cNvPr id="8" name="content:line-48:0"/>
          <p:cNvSpPr txBox="1"/>
          <p:nvPr/>
        </p:nvSpPr>
        <p:spPr>
          <a:xfrm>
            <a:off x="594360" y="342595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virtual environment isolates Python packages; containers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also supply user-space system files and process/network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isolation.</a:t>
            </a:r>
          </a:p>
        </p:txBody>
      </p:sp>
      <p:sp>
        <p:nvSpPr>
          <p:cNvPr id="9" name="content:line-49:0"/>
          <p:cNvSpPr txBox="1"/>
          <p:nvPr/>
        </p:nvSpPr>
        <p:spPr>
          <a:xfrm>
            <a:off x="594360" y="462229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Containers share a host kernel; packaging alone does not prove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matching outputs.</a:t>
            </a:r>
          </a:p>
        </p:txBody>
      </p:sp>
      <p:sp>
        <p:nvSpPr>
          <p:cNvPr id="10" name="content:line-50:0"/>
          <p:cNvSpPr txBox="1"/>
          <p:nvPr/>
        </p:nvSpPr>
        <p:spPr>
          <a:xfrm>
            <a:off x="594360" y="546658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build context is the directory Docker can copy from: here,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the repository root.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6 / 23</a:t>
            </a:r>
          </a:p>
        </p:txBody>
      </p:sp>
      <p:sp>
        <p:nvSpPr>
          <p:cNvPr id="4" name="title:line-5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Read the two supplied Dockerfiles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7</a:t>
            </a:r>
          </a:p>
        </p:txBody>
      </p:sp>
      <p:sp>
        <p:nvSpPr>
          <p:cNvPr id="6" name="content:line-56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Both start from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python:3.12-slim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 small Python base image.</a:t>
            </a:r>
          </a:p>
        </p:txBody>
      </p:sp>
      <p:sp>
        <p:nvSpPr>
          <p:cNvPr id="7" name="content:line-57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Backend Dockerfile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copies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app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package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metadata; installs the package and includes synthetic CSVs.</a:t>
            </a:r>
          </a:p>
        </p:txBody>
      </p:sp>
      <p:sp>
        <p:nvSpPr>
          <p:cNvPr id="8" name="content:line-58:0"/>
          <p:cNvSpPr txBox="1"/>
          <p:nvPr/>
        </p:nvSpPr>
        <p:spPr>
          <a:xfrm>
            <a:off x="594360" y="30739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Backend starts Uvicorn, the API server, 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0.0.0.0:8000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59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Frontend Dockerfile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installs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frontend/requirements.txt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copies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frontend/app.py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starts Streamlit 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0.0.0.0:8501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60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0.0.0.0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listens on all container interfaces; it is not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browser destination.</a:t>
            </a:r>
          </a:p>
        </p:txBody>
      </p:sp>
      <p:sp>
        <p:nvSpPr>
          <p:cNvPr id="11" name="content:line-61:0"/>
          <p:cNvSpPr txBox="1"/>
          <p:nvPr/>
        </p:nvSpPr>
        <p:spPr>
          <a:xfrm>
            <a:off x="594360" y="52547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EXPOSE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documents an internal port. Compose publishes a port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to the host.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23</a:t>
            </a:r>
          </a:p>
        </p:txBody>
      </p:sp>
      <p:sp>
        <p:nvSpPr>
          <p:cNvPr id="4" name="title:line-6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Compose connects two services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8</a:t>
            </a:r>
          </a:p>
        </p:txBody>
      </p:sp>
      <p:sp>
        <p:nvSpPr>
          <p:cNvPr id="6" name="content:line-6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service is a named application component. Compose builds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runs the supplied services together.</a:t>
            </a:r>
          </a:p>
        </p:txBody>
      </p:sp>
      <p:sp>
        <p:nvSpPr>
          <p:cNvPr id="7" name="content:line-70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compose.yaml</a:t>
            </a:r>
          </a:p>
        </p:txBody>
      </p:sp>
      <p:sp>
        <p:nvSpPr>
          <p:cNvPr id="8" name="content:line-71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backend: root context, backend/Dockerfile</a:t>
            </a:r>
          </a:p>
        </p:txBody>
      </p:sp>
      <p:sp>
        <p:nvSpPr>
          <p:cNvPr id="9" name="content:line-72:0"/>
          <p:cNvSpPr txBox="1"/>
          <p:nvPr/>
        </p:nvSpPr>
        <p:spPr>
          <a:xfrm>
            <a:off x="594360" y="33375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host 127.0.0.1:8000 -&gt; container 8000</a:t>
            </a:r>
          </a:p>
        </p:txBody>
      </p:sp>
      <p:sp>
        <p:nvSpPr>
          <p:cNvPr id="10" name="content:line-73:0"/>
          <p:cNvSpPr txBox="1"/>
          <p:nvPr/>
        </p:nvSpPr>
        <p:spPr>
          <a:xfrm>
            <a:off x="594360" y="37155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frontend: root context, frontend/Dockerfile</a:t>
            </a:r>
          </a:p>
        </p:txBody>
      </p:sp>
      <p:sp>
        <p:nvSpPr>
          <p:cNvPr id="11" name="content:line-74:0"/>
          <p:cNvSpPr txBox="1"/>
          <p:nvPr/>
        </p:nvSpPr>
        <p:spPr>
          <a:xfrm>
            <a:off x="594360" y="40934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host 127.0.0.1:8501 -&gt; container 8501</a:t>
            </a:r>
          </a:p>
        </p:txBody>
      </p:sp>
      <p:sp>
        <p:nvSpPr>
          <p:cNvPr id="12" name="content:line-75:0"/>
          <p:cNvSpPr txBox="1"/>
          <p:nvPr/>
        </p:nvSpPr>
        <p:spPr>
          <a:xfrm>
            <a:off x="594360" y="44714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BACKEND_URL=http://backend:8000</a:t>
            </a:r>
          </a:p>
        </p:txBody>
      </p:sp>
      <p:sp>
        <p:nvSpPr>
          <p:cNvPr id="13" name="content:line-78:0"/>
          <p:cNvSpPr txBox="1"/>
          <p:nvPr/>
        </p:nvSpPr>
        <p:spPr>
          <a:xfrm>
            <a:off x="594360" y="48493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compose.yaml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ports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maps host to container ports.</a:t>
            </a:r>
          </a:p>
        </p:txBody>
      </p:sp>
      <p:sp>
        <p:nvSpPr>
          <p:cNvPr id="14" name="content:line-79:0"/>
          <p:cNvSpPr txBox="1"/>
          <p:nvPr/>
        </p:nvSpPr>
        <p:spPr>
          <a:xfrm>
            <a:off x="594360" y="5341619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host bindings accept connections from this computer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23</a:t>
            </a:r>
          </a:p>
        </p:txBody>
      </p:sp>
      <p:sp>
        <p:nvSpPr>
          <p:cNvPr id="4" name="title:line-8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Addresses depend on who is calling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9</a:t>
            </a:r>
          </a:p>
        </p:txBody>
      </p:sp>
      <p:sp>
        <p:nvSpPr>
          <p:cNvPr id="6" name="content:line-8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Browser on host → Streamlit: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http://127.0.0.1:8501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86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Host curl → API: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87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Streamlit inside Compose → API: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http://backend:8000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88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Backend health probe → itself: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http://127.0.0.1:8000/health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89:0"/>
          <p:cNvSpPr txBox="1"/>
          <p:nvPr/>
        </p:nvSpPr>
        <p:spPr>
          <a:xfrm>
            <a:off x="594360" y="370636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DNS means looking up an address by name. Compose resolves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service name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on its shared network.</a:t>
            </a:r>
          </a:p>
        </p:txBody>
      </p:sp>
      <p:sp>
        <p:nvSpPr>
          <p:cNvPr id="11" name="content:line-90:0"/>
          <p:cNvSpPr txBox="1"/>
          <p:nvPr/>
        </p:nvSpPr>
        <p:spPr>
          <a:xfrm>
            <a:off x="594360" y="4550664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localhost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means the caller's own network environment.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Inside frontend, it points to frontend; the host browser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cannot resolve Compose service names.</a:t>
            </a:r>
          </a:p>
        </p:txBody>
      </p:sp>
      <p:sp>
        <p:nvSpPr>
          <p:cNvPr id="12" name="content:line-91:0"/>
          <p:cNvSpPr txBox="1"/>
          <p:nvPr/>
        </p:nvSpPr>
        <p:spPr>
          <a:xfrm>
            <a:off x="594360" y="574700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address and troubleshooting guide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9 / 23</a:t>
            </a:r>
          </a:p>
        </p:txBody>
      </p:sp>
      <p:sp>
        <p:nvSpPr>
          <p:cNvPr id="4" name="title:line-9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Started is different from ready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10</a:t>
            </a:r>
          </a:p>
        </p:txBody>
      </p:sp>
      <p:sp>
        <p:nvSpPr>
          <p:cNvPr id="6" name="content:line-9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GET /health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returning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{"status":"ok"}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says the API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available, not that uploaded data are valid.</a:t>
            </a:r>
          </a:p>
        </p:txBody>
      </p:sp>
      <p:sp>
        <p:nvSpPr>
          <p:cNvPr id="7" name="content:line-98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backend healthcheck probes that endpoint inside its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container.</a:t>
            </a:r>
          </a:p>
        </p:txBody>
      </p:sp>
      <p:sp>
        <p:nvSpPr>
          <p:cNvPr id="8" name="content:line-99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Frontend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depends_on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uses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condition: service_healthy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wait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for backend health before starting frontend.</a:t>
            </a:r>
          </a:p>
        </p:txBody>
      </p:sp>
      <p:sp>
        <p:nvSpPr>
          <p:cNvPr id="9" name="content:line-100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startup gate does not guarantee later backend availability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or restart frontend after a later failure.</a:t>
            </a:r>
          </a:p>
        </p:txBody>
      </p:sp>
      <p:sp>
        <p:nvSpPr>
          <p:cNvPr id="10" name="content:line-101:0"/>
          <p:cNvSpPr txBox="1"/>
          <p:nvPr/>
        </p:nvSpPr>
        <p:spPr>
          <a:xfrm>
            <a:off x="594360" y="511454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Check Streamlit readiness separately at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/_stcore/health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inspect logs instead of adding an arbitrary sleep.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23</a:t>
            </a:r>
          </a:p>
        </p:txBody>
      </p:sp>
      <p:sp>
        <p:nvSpPr>
          <p:cNvPr id="4" name="title:line-10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The course's three Rs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11</a:t>
            </a:r>
          </a:p>
        </p:txBody>
      </p:sp>
      <p:sp>
        <p:nvSpPr>
          <p:cNvPr id="6" name="content:line-10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Repeatability: agreement across successive runs under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same conditions; run locally twice.</a:t>
            </a:r>
          </a:p>
        </p:txBody>
      </p:sp>
      <p:sp>
        <p:nvSpPr>
          <p:cNvPr id="7" name="content:line-108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Replicability: agreement for the same process under slightly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different conditions; compare local Python with Docker.</a:t>
            </a:r>
          </a:p>
        </p:txBody>
      </p:sp>
      <p:sp>
        <p:nvSpPr>
          <p:cNvPr id="8" name="content:line-109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Reproducibility: agreement under very different conditions,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such as independent simulation; discussed conceptually here.</a:t>
            </a:r>
          </a:p>
        </p:txBody>
      </p:sp>
      <p:sp>
        <p:nvSpPr>
          <p:cNvPr id="9" name="content:line-110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code and CSV bytes unchanged across captures. Record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 differences.</a:t>
            </a:r>
          </a:p>
        </p:txBody>
      </p:sp>
      <p:sp>
        <p:nvSpPr>
          <p:cNvPr id="10" name="content:line-111:0"/>
          <p:cNvSpPr txBox="1"/>
          <p:nvPr/>
        </p:nvSpPr>
        <p:spPr>
          <a:xfrm>
            <a:off x="594360" y="511454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course glossary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governs these meanings; terminology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varies by discipline.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23</a:t>
            </a:r>
          </a:p>
        </p:txBody>
      </p:sp>
      <p:sp>
        <p:nvSpPr>
          <p:cNvPr id="4" name="title:line-1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Decide agreement before comparing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12</a:t>
            </a:r>
          </a:p>
        </p:txBody>
      </p:sp>
      <p:sp>
        <p:nvSpPr>
          <p:cNvPr id="6" name="content:line-11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Exact: structure, types, list order, identifiers, raw cleaned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values, copied baselines, counts, and nulls.</a:t>
            </a:r>
          </a:p>
        </p:txBody>
      </p:sp>
      <p:sp>
        <p:nvSpPr>
          <p:cNvPr id="7" name="content:line-118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missing value is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null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never zero; a missing field is not a null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field.</a:t>
            </a:r>
          </a:p>
        </p:txBody>
      </p:sp>
      <p:sp>
        <p:nvSpPr>
          <p:cNvPr id="8" name="content:line-119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Only record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change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percent_change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visit-summary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mean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use tolerance in both comparisons.</a:t>
            </a:r>
          </a:p>
        </p:txBody>
      </p:sp>
      <p:sp>
        <p:nvSpPr>
          <p:cNvPr id="9" name="content:line-122:0"/>
          <p:cNvSpPr txBox="1"/>
          <p:nvPr/>
        </p:nvSpPr>
        <p:spPr>
          <a:xfrm>
            <a:off x="594360" y="427024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abs(actual - expected) &lt;= max(1e-9, 1e-9 * abs(expected))</a:t>
            </a:r>
          </a:p>
        </p:txBody>
      </p:sp>
      <p:sp>
        <p:nvSpPr>
          <p:cNvPr id="10" name="content:line-125:0"/>
          <p:cNvSpPr txBox="1"/>
          <p:nvPr/>
        </p:nvSpPr>
        <p:spPr>
          <a:xfrm>
            <a:off x="594360" y="464820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First file is the reference. Relative tolerance has no unit;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absolute tolerance is nmol/L for change/mean, percentage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points for percentage change.</a:t>
            </a:r>
          </a:p>
        </p:txBody>
      </p:sp>
      <p:sp>
        <p:nvSpPr>
          <p:cNvPr id="11" name="content:line-126:0"/>
          <p:cNvSpPr txBox="1"/>
          <p:nvPr/>
        </p:nvSpPr>
        <p:spPr>
          <a:xfrm>
            <a:off x="594360" y="584454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engineering rule is not a clinical threshold. See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23  ·  CONTINUED 2</a:t>
            </a:r>
          </a:p>
        </p:txBody>
      </p:sp>
      <p:sp>
        <p:nvSpPr>
          <p:cNvPr id="4" name="title:line-1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Decide agreement before comparing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13</a:t>
            </a:r>
          </a:p>
        </p:txBody>
      </p:sp>
      <p:sp>
        <p:nvSpPr>
          <p:cNvPr id="6" name="content:line-126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comparison rules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12 / 23</a:t>
            </a:r>
          </a:p>
        </p:txBody>
      </p:sp>
      <p:sp>
        <p:nvSpPr>
          <p:cNvPr id="4" name="title:line-13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launch the supplied stack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14</a:t>
            </a:r>
          </a:p>
        </p:txBody>
      </p:sp>
      <p:sp>
        <p:nvSpPr>
          <p:cNvPr id="6" name="content:line-13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a running Docker engine and Compose v2. All commands start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at the repository root; activate Python 3.12 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later local captures.</a:t>
            </a:r>
          </a:p>
        </p:txBody>
      </p:sp>
      <p:sp>
        <p:nvSpPr>
          <p:cNvPr id="7" name="content:line-135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version</a:t>
            </a:r>
          </a:p>
        </p:txBody>
      </p:sp>
      <p:sp>
        <p:nvSpPr>
          <p:cNvPr id="8" name="content:line-136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config --quiet</a:t>
            </a:r>
          </a:p>
        </p:txBody>
      </p:sp>
      <p:sp>
        <p:nvSpPr>
          <p:cNvPr id="9" name="content:line-137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up --build</a:t>
            </a:r>
          </a:p>
        </p:txBody>
      </p:sp>
      <p:sp>
        <p:nvSpPr>
          <p:cNvPr id="10" name="content:line-140:0"/>
          <p:cNvSpPr txBox="1"/>
          <p:nvPr/>
        </p:nvSpPr>
        <p:spPr>
          <a:xfrm>
            <a:off x="594360" y="40675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a second terminal at the same root:</a:t>
            </a:r>
          </a:p>
        </p:txBody>
      </p:sp>
      <p:sp>
        <p:nvSpPr>
          <p:cNvPr id="11" name="content:line-143:0"/>
          <p:cNvSpPr txBox="1"/>
          <p:nvPr/>
        </p:nvSpPr>
        <p:spPr>
          <a:xfrm>
            <a:off x="594360" y="455980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ps</a:t>
            </a:r>
          </a:p>
        </p:txBody>
      </p:sp>
      <p:sp>
        <p:nvSpPr>
          <p:cNvPr id="12" name="content:line-144:0"/>
          <p:cNvSpPr txBox="1"/>
          <p:nvPr/>
        </p:nvSpPr>
        <p:spPr>
          <a:xfrm>
            <a:off x="594360" y="49377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http://127.0.0.1:8000/health</a:t>
            </a:r>
          </a:p>
        </p:txBody>
      </p:sp>
      <p:sp>
        <p:nvSpPr>
          <p:cNvPr id="13" name="content:line-147:0"/>
          <p:cNvSpPr txBox="1"/>
          <p:nvPr/>
        </p:nvSpPr>
        <p:spPr>
          <a:xfrm>
            <a:off x="594360" y="531571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backend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healthy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Keep the first terminal open for logs.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23</a:t>
            </a:r>
          </a:p>
        </p:txBody>
      </p:sp>
      <p:sp>
        <p:nvSpPr>
          <p:cNvPr id="4" name="title:line-15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upload and inspect the results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15</a:t>
            </a:r>
          </a:p>
        </p:txBody>
      </p:sp>
      <p:sp>
        <p:nvSpPr>
          <p:cNvPr id="6" name="content:line-15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http://127.0.0.1:8501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displayed backend should be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http://backend:8000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154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Upload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dm.csv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as Participants CSV (DM)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lb.csv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Laboratory CSV (LB).</a:t>
            </a:r>
          </a:p>
        </p:txBody>
      </p:sp>
      <p:sp>
        <p:nvSpPr>
          <p:cNvPr id="8" name="content:line-155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Select Process CSVs: expect 24 participants, 96 joined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records, 95 observed, 1 missing.</a:t>
            </a:r>
          </a:p>
        </p:txBody>
      </p:sp>
      <p:sp>
        <p:nvSpPr>
          <p:cNvPr id="9" name="content:line-156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Inspect joined records, arm/visit summaries, and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observed mean chart in nmol/L.</a:t>
            </a:r>
          </a:p>
        </p:txBody>
      </p:sp>
      <p:sp>
        <p:nvSpPr>
          <p:cNvPr id="10" name="content:line-157:0"/>
          <p:cNvSpPr txBox="1"/>
          <p:nvPr/>
        </p:nvSpPr>
        <p:spPr>
          <a:xfrm>
            <a:off x="594360" y="511454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EDU-LPA-007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at DAY 30 stays unavailable. Synthetic descriptive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results do not establish clinical benefit.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23  ·  CONTINUED 2</a:t>
            </a:r>
          </a:p>
        </p:txBody>
      </p:sp>
      <p:sp>
        <p:nvSpPr>
          <p:cNvPr id="4" name="title:line-15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upload and inspect the results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16</a:t>
            </a:r>
          </a:p>
        </p:txBody>
      </p:sp>
      <p:sp>
        <p:nvSpPr>
          <p:cNvPr id="6" name="content:line-15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Repeating a chart is useful inspection; use captured outputs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for formal agreement evidence.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frontend walkthrough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23</a:t>
            </a:r>
          </a:p>
        </p:txBody>
      </p:sp>
      <p:sp>
        <p:nvSpPr>
          <p:cNvPr id="4" name="title:line-16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isolate a connection problem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17</a:t>
            </a:r>
          </a:p>
        </p:txBody>
      </p:sp>
      <p:sp>
        <p:nvSpPr>
          <p:cNvPr id="6" name="content:line-16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First check the API independently of Streamlit:</a:t>
            </a:r>
          </a:p>
        </p:txBody>
      </p:sp>
      <p:sp>
        <p:nvSpPr>
          <p:cNvPr id="7" name="content:line-167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http://127.0.0.1:8000/process \</a:t>
            </a:r>
          </a:p>
        </p:txBody>
      </p:sp>
      <p:sp>
        <p:nvSpPr>
          <p:cNvPr id="8" name="content:line-168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participants=@data/synthetic/dm.csv \</a:t>
            </a:r>
          </a:p>
        </p:txBody>
      </p:sp>
      <p:sp>
        <p:nvSpPr>
          <p:cNvPr id="9" name="content:line-169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laboratory=@data/synthetic/lb.csv</a:t>
            </a:r>
          </a:p>
        </p:txBody>
      </p:sp>
      <p:sp>
        <p:nvSpPr>
          <p:cNvPr id="10" name="content:line-170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logs --tail=100 backend frontend</a:t>
            </a:r>
          </a:p>
        </p:txBody>
      </p:sp>
      <p:sp>
        <p:nvSpPr>
          <p:cNvPr id="11" name="content:line-171:0"/>
          <p:cNvSpPr txBox="1"/>
          <p:nvPr/>
        </p:nvSpPr>
        <p:spPr>
          <a:xfrm>
            <a:off x="594360" y="37414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exec frontend python -c \</a:t>
            </a:r>
          </a:p>
        </p:txBody>
      </p:sp>
      <p:sp>
        <p:nvSpPr>
          <p:cNvPr id="12" name="content:line-172:0"/>
          <p:cNvSpPr txBox="1"/>
          <p:nvPr/>
        </p:nvSpPr>
        <p:spPr>
          <a:xfrm>
            <a:off x="594360" y="4119371"/>
            <a:ext cx="11003279" cy="981455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"import urllib.request; 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print(urllib.request.urlopen('http://backend:8000/health', 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timeout=2).read().decode())"</a:t>
            </a:r>
          </a:p>
        </p:txBody>
      </p:sp>
      <p:sp>
        <p:nvSpPr>
          <p:cNvPr id="13" name="content:line-175:0"/>
          <p:cNvSpPr txBox="1"/>
          <p:nvPr/>
        </p:nvSpPr>
        <p:spPr>
          <a:xfrm>
            <a:off x="594360" y="510082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Host health succeeds but internal request fails: inspect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service name, port, and shared Compose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23  ·  CONTINUED 2</a:t>
            </a:r>
          </a:p>
        </p:txBody>
      </p:sp>
      <p:sp>
        <p:nvSpPr>
          <p:cNvPr id="4" name="title:line-16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isolate a connection problem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18</a:t>
            </a:r>
          </a:p>
        </p:txBody>
      </p:sp>
      <p:sp>
        <p:nvSpPr>
          <p:cNvPr id="6" name="content:line-176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422 response means input rejection; a connection error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means the request could not reach the 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23</a:t>
            </a:r>
          </a:p>
        </p:txBody>
      </p:sp>
      <p:sp>
        <p:nvSpPr>
          <p:cNvPr id="4" name="title:line-18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cause a recoverable local failure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19</a:t>
            </a:r>
          </a:p>
        </p:txBody>
      </p:sp>
      <p:sp>
        <p:nvSpPr>
          <p:cNvPr id="6" name="content:line-18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Stop Compose to free ports, then start the local backend in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terminal A. Use the activated environment with frontend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dependencies 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local 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185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down</a:t>
            </a:r>
          </a:p>
        </p:txBody>
      </p:sp>
      <p:sp>
        <p:nvSpPr>
          <p:cNvPr id="8" name="content:line-186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uvicorn app.main:app --app-dir backend \</a:t>
            </a:r>
          </a:p>
        </p:txBody>
      </p:sp>
      <p:sp>
        <p:nvSpPr>
          <p:cNvPr id="9" name="content:line-187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--host 127.0.0.1 --port 8000</a:t>
            </a:r>
          </a:p>
        </p:txBody>
      </p:sp>
      <p:sp>
        <p:nvSpPr>
          <p:cNvPr id="10" name="content:line-190:0"/>
          <p:cNvSpPr txBox="1"/>
          <p:nvPr/>
        </p:nvSpPr>
        <p:spPr>
          <a:xfrm>
            <a:off x="594360" y="40675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terminal B, first confirm port 8999 is unused; if occupied,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choose another unused port. Apply this override to this one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 only:</a:t>
            </a:r>
          </a:p>
        </p:txBody>
      </p:sp>
      <p:sp>
        <p:nvSpPr>
          <p:cNvPr id="11" name="content:line-193:0"/>
          <p:cNvSpPr txBox="1"/>
          <p:nvPr/>
        </p:nvSpPr>
        <p:spPr>
          <a:xfrm>
            <a:off x="594360" y="526389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BACKEND_URL=http://127.0.0.1:8999 \</a:t>
            </a:r>
          </a:p>
        </p:txBody>
      </p:sp>
      <p:sp>
        <p:nvSpPr>
          <p:cNvPr id="12" name="content:line-194:0"/>
          <p:cNvSpPr txBox="1"/>
          <p:nvPr/>
        </p:nvSpPr>
        <p:spPr>
          <a:xfrm>
            <a:off x="594360" y="564184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streamlit run frontend/app.py \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23  ·  CONTINUED 2</a:t>
            </a:r>
          </a:p>
        </p:txBody>
      </p:sp>
      <p:sp>
        <p:nvSpPr>
          <p:cNvPr id="4" name="title:line-18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cause a recoverable local failure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20</a:t>
            </a:r>
          </a:p>
        </p:txBody>
      </p:sp>
      <p:sp>
        <p:nvSpPr>
          <p:cNvPr id="6" name="content:line-195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--server.address 127.0.0.1 --server.port 8501</a:t>
            </a:r>
          </a:p>
        </p:txBody>
      </p:sp>
      <p:sp>
        <p:nvSpPr>
          <p:cNvPr id="7" name="content:line-198:0"/>
          <p:cNvSpPr txBox="1"/>
          <p:nvPr/>
        </p:nvSpPr>
        <p:spPr>
          <a:xfrm>
            <a:off x="594360" y="21153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Submit both files: expect “Could not connect to the backend.”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No source or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edits are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23</a:t>
            </a:r>
          </a:p>
        </p:txBody>
      </p:sp>
      <p:sp>
        <p:nvSpPr>
          <p:cNvPr id="4" name="title:line-20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restore the working connection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21</a:t>
            </a:r>
          </a:p>
        </p:txBody>
      </p:sp>
      <p:sp>
        <p:nvSpPr>
          <p:cNvPr id="6" name="content:line-204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Stop the failing Streamlit process with Ctrl-C in terminal B;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restart with the correct address:</a:t>
            </a:r>
          </a:p>
        </p:txBody>
      </p:sp>
      <p:sp>
        <p:nvSpPr>
          <p:cNvPr id="7" name="content:line-207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BACKEND_URL=http://127.0.0.1:8000 \</a:t>
            </a:r>
          </a:p>
        </p:txBody>
      </p:sp>
      <p:sp>
        <p:nvSpPr>
          <p:cNvPr id="8" name="content:line-208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streamlit run frontend/app.py \</a:t>
            </a:r>
          </a:p>
        </p:txBody>
      </p:sp>
      <p:sp>
        <p:nvSpPr>
          <p:cNvPr id="9" name="content:line-209:0"/>
          <p:cNvSpPr txBox="1"/>
          <p:nvPr/>
        </p:nvSpPr>
        <p:spPr>
          <a:xfrm>
            <a:off x="594360" y="33375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--server.address 127.0.0.1 --server.port 8501</a:t>
            </a:r>
          </a:p>
        </p:txBody>
      </p:sp>
      <p:sp>
        <p:nvSpPr>
          <p:cNvPr id="10" name="content:line-212:0"/>
          <p:cNvSpPr txBox="1"/>
          <p:nvPr/>
        </p:nvSpPr>
        <p:spPr>
          <a:xfrm>
            <a:off x="594360" y="37155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Upload again: expect 24/96/95/1 and visible results.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original shell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settings were never changed.</a:t>
            </a:r>
          </a:p>
        </p:txBody>
      </p:sp>
      <p:sp>
        <p:nvSpPr>
          <p:cNvPr id="11" name="content:line-213:0"/>
          <p:cNvSpPr txBox="1"/>
          <p:nvPr/>
        </p:nvSpPr>
        <p:spPr>
          <a:xfrm>
            <a:off x="594360" y="45598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Stop both local servers with Ctrl-C before restarting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Compose on those ports.</a:t>
            </a:r>
          </a:p>
        </p:txBody>
      </p:sp>
      <p:sp>
        <p:nvSpPr>
          <p:cNvPr id="12" name="content:line-214:0"/>
          <p:cNvSpPr txBox="1"/>
          <p:nvPr/>
        </p:nvSpPr>
        <p:spPr>
          <a:xfrm>
            <a:off x="594360" y="54041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Compose explicitly sets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http://backend:8000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changing local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cannot override that service setting.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23  ·  CONTINUED 2</a:t>
            </a:r>
          </a:p>
        </p:txBody>
      </p:sp>
      <p:sp>
        <p:nvSpPr>
          <p:cNvPr id="4" name="title:line-20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restore the working connection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22</a:t>
            </a:r>
          </a:p>
        </p:txBody>
      </p:sp>
      <p:sp>
        <p:nvSpPr>
          <p:cNvPr id="6" name="content:line-215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Restore by restarting the process with the right address; do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not commit a broken configuration.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23</a:t>
            </a:r>
          </a:p>
        </p:txBody>
      </p:sp>
      <p:sp>
        <p:nvSpPr>
          <p:cNvPr id="4" name="title:line-21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capture repeated local outputs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23</a:t>
            </a:r>
          </a:p>
        </p:txBody>
      </p:sp>
      <p:sp>
        <p:nvSpPr>
          <p:cNvPr id="6" name="content:line-221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same checkout, unchanged CSVs, and activated Python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environment. Backslashes continue one shell command across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readable lines.</a:t>
            </a:r>
          </a:p>
        </p:txBody>
      </p:sp>
      <p:sp>
        <p:nvSpPr>
          <p:cNvPr id="7" name="content:line-224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PYTHONPATH=backend python -m stat_core.capture \</a:t>
            </a:r>
          </a:p>
        </p:txBody>
      </p:sp>
      <p:sp>
        <p:nvSpPr>
          <p:cNvPr id="8" name="content:line-225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--participants data/synthetic/dm.csv \</a:t>
            </a:r>
          </a:p>
        </p:txBody>
      </p:sp>
      <p:sp>
        <p:nvSpPr>
          <p:cNvPr id="9" name="content:line-226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--laboratory data/synthetic/lb.csv \</a:t>
            </a:r>
          </a:p>
        </p:txBody>
      </p:sp>
      <p:sp>
        <p:nvSpPr>
          <p:cNvPr id="10" name="content:line-227:0"/>
          <p:cNvSpPr txBox="1"/>
          <p:nvPr/>
        </p:nvSpPr>
        <p:spPr>
          <a:xfrm>
            <a:off x="594360" y="40675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--output outputs/local-1.json</a:t>
            </a:r>
          </a:p>
        </p:txBody>
      </p:sp>
      <p:sp>
        <p:nvSpPr>
          <p:cNvPr id="11" name="content:line-228:0"/>
          <p:cNvSpPr txBox="1"/>
          <p:nvPr/>
        </p:nvSpPr>
        <p:spPr>
          <a:xfrm>
            <a:off x="594360" y="444550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PYTHONPATH=backend python -m stat_core.capture \</a:t>
            </a:r>
          </a:p>
        </p:txBody>
      </p:sp>
      <p:sp>
        <p:nvSpPr>
          <p:cNvPr id="12" name="content:line-229:0"/>
          <p:cNvSpPr txBox="1"/>
          <p:nvPr/>
        </p:nvSpPr>
        <p:spPr>
          <a:xfrm>
            <a:off x="594360" y="48234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--participants data/synthetic/dm.csv \</a:t>
            </a:r>
          </a:p>
        </p:txBody>
      </p:sp>
      <p:sp>
        <p:nvSpPr>
          <p:cNvPr id="13" name="content:line-230:0"/>
          <p:cNvSpPr txBox="1"/>
          <p:nvPr/>
        </p:nvSpPr>
        <p:spPr>
          <a:xfrm>
            <a:off x="594360" y="52014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--laboratory data/synthetic/lb.csv \</a:t>
            </a:r>
          </a:p>
        </p:txBody>
      </p:sp>
      <p:sp>
        <p:nvSpPr>
          <p:cNvPr id="14" name="content:line-231:0"/>
          <p:cNvSpPr txBox="1"/>
          <p:nvPr/>
        </p:nvSpPr>
        <p:spPr>
          <a:xfrm>
            <a:off x="594360" y="55793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--output outputs/local-2.json</a:t>
            </a:r>
          </a:p>
        </p:txBody>
      </p:sp>
      <p:sp>
        <p:nvSpPr>
          <p:cNvPr id="15" name="content:line-232:0"/>
          <p:cNvSpPr txBox="1"/>
          <p:nvPr/>
        </p:nvSpPr>
        <p:spPr>
          <a:xfrm>
            <a:off x="594360" y="59573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PYTHONPATH=backend python -m stat_core.comparison \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23  ·  CONTINUED 2</a:t>
            </a:r>
          </a:p>
        </p:txBody>
      </p:sp>
      <p:sp>
        <p:nvSpPr>
          <p:cNvPr id="4" name="title:line-21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capture repeated local outputs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24</a:t>
            </a:r>
          </a:p>
        </p:txBody>
      </p:sp>
      <p:sp>
        <p:nvSpPr>
          <p:cNvPr id="6" name="content:line-233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outputs/local-1.json outputs/local-2.json</a:t>
            </a:r>
          </a:p>
        </p:txBody>
      </p:sp>
      <p:sp>
        <p:nvSpPr>
          <p:cNvPr id="7" name="content:line-236:0"/>
          <p:cNvSpPr txBox="1"/>
          <p:nvPr/>
        </p:nvSpPr>
        <p:spPr>
          <a:xfrm>
            <a:off x="594360" y="21153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Outputs agree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exit code 0. Captures call the public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generated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outputs/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is ignored.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23</a:t>
            </a:r>
          </a:p>
        </p:txBody>
      </p:sp>
      <p:sp>
        <p:nvSpPr>
          <p:cNvPr id="4" name="title:line-24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capture the actual Docker run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25</a:t>
            </a:r>
          </a:p>
        </p:txBody>
      </p:sp>
      <p:sp>
        <p:nvSpPr>
          <p:cNvPr id="6" name="content:line-24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Stop local servers first; keep the two local captures. Rebuild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after code, dependency, or bundled data changes: these images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copy files and do not live-update from the checkout.</a:t>
            </a:r>
          </a:p>
        </p:txBody>
      </p:sp>
      <p:sp>
        <p:nvSpPr>
          <p:cNvPr id="7" name="content:line-245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build</a:t>
            </a:r>
          </a:p>
        </p:txBody>
      </p:sp>
      <p:sp>
        <p:nvSpPr>
          <p:cNvPr id="8" name="content:line-246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up -d --wait --wait-timeout 120</a:t>
            </a:r>
          </a:p>
        </p:txBody>
      </p:sp>
      <p:sp>
        <p:nvSpPr>
          <p:cNvPr id="9" name="content:line-247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http://127.0.0.1:8000/health</a:t>
            </a:r>
          </a:p>
        </p:txBody>
      </p:sp>
      <p:sp>
        <p:nvSpPr>
          <p:cNvPr id="10" name="content:line-248:0"/>
          <p:cNvSpPr txBox="1"/>
          <p:nvPr/>
        </p:nvSpPr>
        <p:spPr>
          <a:xfrm>
            <a:off x="594360" y="40675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--retry 20 --retry-all-errors \</a:t>
            </a:r>
          </a:p>
        </p:txBody>
      </p:sp>
      <p:sp>
        <p:nvSpPr>
          <p:cNvPr id="11" name="content:line-249:0"/>
          <p:cNvSpPr txBox="1"/>
          <p:nvPr/>
        </p:nvSpPr>
        <p:spPr>
          <a:xfrm>
            <a:off x="594360" y="4445508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--retry-delay 2 http://127.0.0.1:8501/_stcore/health</a:t>
            </a:r>
          </a:p>
        </p:txBody>
      </p:sp>
      <p:sp>
        <p:nvSpPr>
          <p:cNvPr id="12" name="content:line-250:0"/>
          <p:cNvSpPr txBox="1"/>
          <p:nvPr/>
        </p:nvSpPr>
        <p:spPr>
          <a:xfrm>
            <a:off x="594360" y="48234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docker compose exec -T backend python -m stat_core.capture \</a:t>
            </a:r>
          </a:p>
        </p:txBody>
      </p:sp>
      <p:sp>
        <p:nvSpPr>
          <p:cNvPr id="13" name="content:line-251:0"/>
          <p:cNvSpPr txBox="1"/>
          <p:nvPr/>
        </p:nvSpPr>
        <p:spPr>
          <a:xfrm>
            <a:off x="594360" y="52014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--participants data/synthetic/dm.csv \</a:t>
            </a:r>
          </a:p>
        </p:txBody>
      </p:sp>
      <p:sp>
        <p:nvSpPr>
          <p:cNvPr id="14" name="content:line-252:0"/>
          <p:cNvSpPr txBox="1"/>
          <p:nvPr/>
        </p:nvSpPr>
        <p:spPr>
          <a:xfrm>
            <a:off x="594360" y="55793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--laboratory data/synthetic/lb.csv &gt; outputs/docker.json</a:t>
            </a:r>
          </a:p>
        </p:txBody>
      </p:sp>
      <p:sp>
        <p:nvSpPr>
          <p:cNvPr id="15" name="content:line-253:0"/>
          <p:cNvSpPr txBox="1"/>
          <p:nvPr/>
        </p:nvSpPr>
        <p:spPr>
          <a:xfrm>
            <a:off x="594360" y="59573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PYTHONPATH=backend python -m stat_core.comparison \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23  ·  CONTINUED 2</a:t>
            </a:r>
          </a:p>
        </p:txBody>
      </p:sp>
      <p:sp>
        <p:nvSpPr>
          <p:cNvPr id="4" name="title:line-24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capture the actual Docker run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26</a:t>
            </a:r>
          </a:p>
        </p:txBody>
      </p:sp>
      <p:sp>
        <p:nvSpPr>
          <p:cNvPr id="6" name="content:line-254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outputs/local-1.json outputs/docker.json</a:t>
            </a:r>
          </a:p>
        </p:txBody>
      </p:sp>
      <p:sp>
        <p:nvSpPr>
          <p:cNvPr id="7" name="content:line-257:0"/>
          <p:cNvSpPr txBox="1"/>
          <p:nvPr/>
        </p:nvSpPr>
        <p:spPr>
          <a:xfrm>
            <a:off x="594360" y="211531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Outputs agree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exit code 0.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-T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disables terminal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formatting for redirected JSON. Full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capture/API commands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include a multipart result comparison.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19 / 23</a:t>
            </a:r>
          </a:p>
        </p:txBody>
      </p:sp>
      <p:sp>
        <p:nvSpPr>
          <p:cNvPr id="4" name="title:line-26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Read the evidence and diagnose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disagreement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27</a:t>
            </a:r>
          </a:p>
        </p:txBody>
      </p:sp>
      <p:sp>
        <p:nvSpPr>
          <p:cNvPr id="6" name="content:line-263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Each capture has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result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plus metadata: Python, platform,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dependency versions, and SHA-256 hashes of code and exact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CSV bytes.</a:t>
            </a:r>
          </a:p>
        </p:txBody>
      </p:sp>
      <p:sp>
        <p:nvSpPr>
          <p:cNvPr id="7" name="content:line-264:0"/>
          <p:cNvSpPr txBox="1"/>
          <p:nvPr/>
        </p:nvSpPr>
        <p:spPr>
          <a:xfrm>
            <a:off x="594360" y="29337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hash is a file fingerprint. Code/data hashes must agree;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inspect expected environment differences separately.</a:t>
            </a:r>
          </a:p>
        </p:txBody>
      </p:sp>
      <p:sp>
        <p:nvSpPr>
          <p:cNvPr id="8" name="content:line-265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Results preserve stable ordering; comparison does not sort,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round, or replace nulls to force agreement.</a:t>
            </a:r>
          </a:p>
        </p:txBody>
      </p:sp>
      <p:sp>
        <p:nvSpPr>
          <p:cNvPr id="9" name="content:line-266:0"/>
          <p:cNvSpPr txBox="1"/>
          <p:nvPr/>
        </p:nvSpPr>
        <p:spPr>
          <a:xfrm>
            <a:off x="594360" y="462229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Nonzero exit and a field such as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counts.missing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locate 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disagreement. Hash mismatch: recover matching code/data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rebuild.</a:t>
            </a:r>
          </a:p>
        </p:txBody>
      </p:sp>
      <p:sp>
        <p:nvSpPr>
          <p:cNvPr id="10" name="content:line-267:0"/>
          <p:cNvSpPr txBox="1"/>
          <p:nvPr/>
        </p:nvSpPr>
        <p:spPr>
          <a:xfrm>
            <a:off x="594360" y="581863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Derived decimal outside tolerance: investigate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19 / 23  ·  CONTINUED 2</a:t>
            </a:r>
          </a:p>
        </p:txBody>
      </p:sp>
      <p:sp>
        <p:nvSpPr>
          <p:cNvPr id="4" name="title:line-26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Read the evidence and diagnose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disagreement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28</a:t>
            </a:r>
          </a:p>
        </p:txBody>
      </p:sp>
      <p:sp>
        <p:nvSpPr>
          <p:cNvPr id="6" name="content:line-267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processing/dependencies; keep the declared tolerance.</a:t>
            </a:r>
          </a:p>
        </p:txBody>
      </p:sp>
      <p:sp>
        <p:nvSpPr>
          <p:cNvPr id="7" name="content:line-268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captures and logs together; a chart or passing unrelated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test alone does not establish agreement.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23</a:t>
            </a:r>
          </a:p>
        </p:txBody>
      </p:sp>
      <p:sp>
        <p:nvSpPr>
          <p:cNvPr id="4" name="title:line-27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What has actually been verified?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29</a:t>
            </a:r>
          </a:p>
        </p:txBody>
      </p:sp>
      <p:sp>
        <p:nvSpPr>
          <p:cNvPr id="6" name="content:line-274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Remote Docker CI run 38876609585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completed successfully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for commit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c5fc92a37ec660492c7238f55f88b023a9200775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75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Its Docker output comparison job builds real images, checks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readiness and service DNS/HTTP, compares local/container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captures, and compares multipart API results.</a:t>
            </a:r>
          </a:p>
        </p:txBody>
      </p:sp>
      <p:sp>
        <p:nvSpPr>
          <p:cNvPr id="8" name="content:line-276:0"/>
          <p:cNvSpPr txBox="1"/>
          <p:nvPr/>
        </p:nvSpPr>
        <p:spPr>
          <a:xfrm>
            <a:off x="594360" y="377799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is evidence for that commit and environment; rerun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later changes.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workflow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retains available evidence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seven days.</a:t>
            </a:r>
          </a:p>
        </p:txBody>
      </p:sp>
      <p:sp>
        <p:nvSpPr>
          <p:cNvPr id="9" name="content:line-277:0"/>
          <p:cNvSpPr txBox="1"/>
          <p:nvPr/>
        </p:nvSpPr>
        <p:spPr>
          <a:xfrm>
            <a:off x="594360" y="497433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Docker is absent on the slide-authoring host: local captures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can be checked there; container execution and browser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behavior cannot be claimed from those checks.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23  ·  CONTINUED 2</a:t>
            </a:r>
          </a:p>
        </p:txBody>
      </p:sp>
      <p:sp>
        <p:nvSpPr>
          <p:cNvPr id="4" name="title:line-27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What has actually been verified?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30</a:t>
            </a:r>
          </a:p>
        </p:txBody>
      </p:sp>
      <p:sp>
        <p:nvSpPr>
          <p:cNvPr id="6" name="content:line-27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PowerPoint rendering is also unverified here. Markdown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maintained for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editable converter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23</a:t>
            </a:r>
          </a:p>
        </p:txBody>
      </p:sp>
      <p:sp>
        <p:nvSpPr>
          <p:cNvPr id="4" name="title:line-28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Break, then 90 minutes of guided practice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31</a:t>
            </a:r>
          </a:p>
        </p:txBody>
      </p:sp>
      <p:sp>
        <p:nvSpPr>
          <p:cNvPr id="6" name="content:line-28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Take a 15-minute break before practice.</a:t>
            </a:r>
          </a:p>
        </p:txBody>
      </p:sp>
      <p:sp>
        <p:nvSpPr>
          <p:cNvPr id="7" name="content:line-285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15 minutes: trace uploads, HTTP,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stat_core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each caller's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address.</a:t>
            </a:r>
          </a:p>
        </p:txBody>
      </p:sp>
      <p:sp>
        <p:nvSpPr>
          <p:cNvPr id="8" name="content:line-286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20 minutes: launch the supplied stack, upload both CSVs,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inspect health and logs.</a:t>
            </a:r>
          </a:p>
        </p:txBody>
      </p:sp>
      <p:sp>
        <p:nvSpPr>
          <p:cNvPr id="9" name="content:line-287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15 minutes: repeat the temporary local address failure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recovery; restore a working stack.</a:t>
            </a:r>
          </a:p>
        </p:txBody>
      </p:sp>
      <p:sp>
        <p:nvSpPr>
          <p:cNvPr id="10" name="content:line-288:0"/>
          <p:cNvSpPr txBox="1"/>
          <p:nvPr/>
        </p:nvSpPr>
        <p:spPr>
          <a:xfrm>
            <a:off x="594360" y="47625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25 minutes: capture twice locally and once in Docker; compare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explain exact fields, nulls, and tolerance.</a:t>
            </a:r>
          </a:p>
        </p:txBody>
      </p:sp>
      <p:sp>
        <p:nvSpPr>
          <p:cNvPr id="11" name="content:line-289:0"/>
          <p:cNvSpPr txBox="1"/>
          <p:nvPr/>
        </p:nvSpPr>
        <p:spPr>
          <a:xfrm>
            <a:off x="594360" y="56067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15 minutes: review a teammate's commands and evidence;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23  ·  CONTINUED 2</a:t>
            </a:r>
          </a:p>
        </p:txBody>
      </p:sp>
      <p:sp>
        <p:nvSpPr>
          <p:cNvPr id="4" name="title:line-28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Break, then 90 minutes of guided practice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32</a:t>
            </a:r>
          </a:p>
        </p:txBody>
      </p:sp>
      <p:sp>
        <p:nvSpPr>
          <p:cNvPr id="6" name="content:line-289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code/data hashes and any environment differences.</a:t>
            </a:r>
          </a:p>
        </p:txBody>
      </p:sp>
      <p:sp>
        <p:nvSpPr>
          <p:cNvPr id="7" name="content:line-290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supplied framework and your group's declared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behavior; UI polish and model complexity are not priorities.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23</a:t>
            </a:r>
          </a:p>
        </p:txBody>
      </p:sp>
      <p:sp>
        <p:nvSpPr>
          <p:cNvPr id="4" name="title:line-29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Checkpoint and presentation preparation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33</a:t>
            </a:r>
          </a:p>
        </p:txBody>
      </p:sp>
      <p:sp>
        <p:nvSpPr>
          <p:cNvPr id="6" name="content:line-296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images versus containers, internal versus published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ports, and startup readiness.</a:t>
            </a:r>
          </a:p>
        </p:txBody>
      </p:sp>
      <p:sp>
        <p:nvSpPr>
          <p:cNvPr id="7" name="content:line-297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Show working uploads, restored configuration, and matching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 outputs; retain commands, conditions, captures,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logs.</a:t>
            </a:r>
          </a:p>
        </p:txBody>
      </p:sp>
      <p:sp>
        <p:nvSpPr>
          <p:cNvPr id="8" name="content:line-298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Finish the demonstration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docker compose down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host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CSVs and built images remain.</a:t>
            </a:r>
          </a:p>
        </p:txBody>
      </p:sp>
      <p:sp>
        <p:nvSpPr>
          <p:cNvPr id="9" name="content:line-299:0"/>
          <p:cNvSpPr txBox="1"/>
          <p:nvPr/>
        </p:nvSpPr>
        <p:spPr>
          <a:xfrm>
            <a:off x="594360" y="462229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Mandatory homework: about two hours rehearsing application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startup, validation, tests, comparisons, and navigation to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PR/review evidence.</a:t>
            </a:r>
          </a:p>
        </p:txBody>
      </p:sp>
      <p:sp>
        <p:nvSpPr>
          <p:cNvPr id="10" name="content:line-300:0"/>
          <p:cNvSpPr txBox="1"/>
          <p:nvPr/>
        </p:nvSpPr>
        <p:spPr>
          <a:xfrm>
            <a:off x="594360" y="581863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Every student needs an authored PR and meaningful peer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23  ·  CONTINUED 2</a:t>
            </a:r>
          </a:p>
        </p:txBody>
      </p:sp>
      <p:sp>
        <p:nvSpPr>
          <p:cNvPr id="4" name="title:line-29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Checkpoint and presentation preparation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34</a:t>
            </a:r>
          </a:p>
        </p:txBody>
      </p:sp>
      <p:sp>
        <p:nvSpPr>
          <p:cNvPr id="6" name="content:line-300:1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review. Prepare for the final presentation's pass/fail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engineering checks.</a:t>
            </a:r>
          </a:p>
        </p:txBody>
      </p:sp>
      <p:sp>
        <p:nvSpPr>
          <p:cNvPr id="7" name="content:line-301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checkpoint is preparation, not a separate assessed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submission. Final presentation has no resubmission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reassessment;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assessment policy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23 / 23</a:t>
            </a:r>
          </a:p>
        </p:txBody>
      </p:sp>
      <p:sp>
        <p:nvSpPr>
          <p:cNvPr id="4" name="title:line-30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Source map for rehearsal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session-4.md   ·   35</a:t>
            </a:r>
          </a:p>
        </p:txBody>
      </p:sp>
      <p:sp>
        <p:nvSpPr>
          <p:cNvPr id="6" name="content:line-307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Course specification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4"/>
              </a:rPr>
              <a:t>three-R glossary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308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5"/>
              </a:rPr>
              <a:t>Local frontend and recovery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6"/>
              </a:rPr>
              <a:t>Compose operation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7"/>
              </a:rPr>
              <a:t>output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7"/>
              </a:rPr>
              <a:t>capture/comparison commands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309:0"/>
          <p:cNvSpPr txBox="1"/>
          <p:nvPr/>
        </p:nvSpPr>
        <p:spPr>
          <a:xfrm>
            <a:off x="594360" y="30739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8"/>
              </a:rPr>
              <a:t>Backend image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9"/>
              </a:rPr>
              <a:t>frontend image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10"/>
              </a:rPr>
              <a:t>service configuration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310:0"/>
          <p:cNvSpPr txBox="1"/>
          <p:nvPr/>
        </p:nvSpPr>
        <p:spPr>
          <a:xfrm>
            <a:off x="594360" y="35661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11"/>
              </a:rPr>
              <a:t>Synthetic input provenance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12"/>
              </a:rPr>
              <a:t>API 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311:0"/>
          <p:cNvSpPr txBox="1"/>
          <p:nvPr/>
        </p:nvSpPr>
        <p:spPr>
          <a:xfrm>
            <a:off x="594360" y="40584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13"/>
              </a:rPr>
              <a:t>Session 4 authoring ticket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14"/>
              </a:rPr>
              <a:t>supported slide Markdown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Containers and output comparisons</dc:title>
  <dc:subject>Editable slides generated from session-4.md</dc:subject>
  <dc:creator>Three-R course</dc:creator>
  <cp:keywords>editable, Markdown, course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