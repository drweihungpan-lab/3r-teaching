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SYLLABUS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frontend/app.py" TargetMode="External"/><Relationship Id="rId3" Type="http://schemas.openxmlformats.org/officeDocument/2006/relationships/hyperlink" Target="../../backend/app/main.py" TargetMode="External"/><Relationship Id="rId4" Type="http://schemas.openxmlformats.org/officeDocument/2006/relationships/hyperlink" Target="../../docs/api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backend/Dockerfile" TargetMode="External"/><Relationship Id="rId3" Type="http://schemas.openxmlformats.org/officeDocument/2006/relationships/hyperlink" Target="../../frontend/Dockerfile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compose.ya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compose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GLOSSARY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comparisons.md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setup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ata/synthetic/dm.csv" TargetMode="External"/><Relationship Id="rId3" Type="http://schemas.openxmlformats.org/officeDocument/2006/relationships/hyperlink" Target="../../data/synthetic/lb.csv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frontend.md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frontend.md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comparisons.md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rweihungpan-lab/3R-teaching/actions/runs/38876609585" TargetMode="External"/><Relationship Id="rId3" Type="http://schemas.openxmlformats.org/officeDocument/2006/relationships/hyperlink" Target="../../.github/workflows/backend-tests.ym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README.md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SYLLABUS.md#assessment-policy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specs/course-framework-and-teaching-materials.md" TargetMode="External"/><Relationship Id="rId3" Type="http://schemas.openxmlformats.org/officeDocument/2006/relationships/hyperlink" Target="../../SYLLABUS.md" TargetMode="External"/><Relationship Id="rId4" Type="http://schemas.openxmlformats.org/officeDocument/2006/relationships/hyperlink" Target="../../GLOSSARY.md" TargetMode="External"/><Relationship Id="rId5" Type="http://schemas.openxmlformats.org/officeDocument/2006/relationships/hyperlink" Target="../../docs/frontend.md" TargetMode="External"/><Relationship Id="rId6" Type="http://schemas.openxmlformats.org/officeDocument/2006/relationships/hyperlink" Target="../../docs/compose.md" TargetMode="External"/><Relationship Id="rId7" Type="http://schemas.openxmlformats.org/officeDocument/2006/relationships/hyperlink" Target="../../docs/comparisons.md" TargetMode="External"/><Relationship Id="rId8" Type="http://schemas.openxmlformats.org/officeDocument/2006/relationships/hyperlink" Target="../../backend/Dockerfile" TargetMode="External"/><Relationship Id="rId9" Type="http://schemas.openxmlformats.org/officeDocument/2006/relationships/hyperlink" Target="../../frontend/Dockerfile" TargetMode="External"/><Relationship Id="rId10" Type="http://schemas.openxmlformats.org/officeDocument/2006/relationships/hyperlink" Target="../../compose.yaml" TargetMode="External"/><Relationship Id="rId11" Type="http://schemas.openxmlformats.org/officeDocument/2006/relationships/hyperlink" Target="../../data/synthetic/README.md" TargetMode="External"/><Relationship Id="rId12" Type="http://schemas.openxmlformats.org/officeDocument/2006/relationships/hyperlink" Target="../../docs/api.md" TargetMode="External"/><Relationship Id="rId13" Type="http://schemas.openxmlformats.org/officeDocument/2006/relationships/hyperlink" Target="../../docs/tickets/16-session-4-markdown-slides.md" TargetMode="External"/><Relationship Id="rId14" Type="http://schemas.openxmlformats.org/officeDocument/2006/relationships/hyperlink" Target="README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 / 22</a:t>
            </a:r>
          </a:p>
        </p:txBody>
      </p:sp>
      <p:sp>
        <p:nvSpPr>
          <p:cNvPr id="4" name="title:line-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Session 4: Containers and output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comparisons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</a:t>
            </a:r>
          </a:p>
        </p:txBody>
      </p:sp>
      <p:sp>
        <p:nvSpPr>
          <p:cNvPr id="6" name="content:line-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Follow CSV uploads through the supplied Streamlit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FastAPI services.</a:t>
            </a:r>
          </a:p>
        </p:txBody>
      </p:sp>
      <p:sp>
        <p:nvSpPr>
          <p:cNvPr id="7" name="content:line-4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Explain container addresses, startup, and recoverable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connection failures.</a:t>
            </a:r>
          </a:p>
        </p:txBody>
      </p:sp>
      <p:sp>
        <p:nvSpPr>
          <p:cNvPr id="8" name="content:line-5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Compare repeated local runs and local/Docker results using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declared rules.</a:t>
            </a:r>
          </a:p>
        </p:txBody>
      </p:sp>
      <p:sp>
        <p:nvSpPr>
          <p:cNvPr id="9" name="content:line-6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the complete synthetic example; focus on engineering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workflow.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 / 22</a:t>
            </a:r>
          </a:p>
        </p:txBody>
      </p:sp>
      <p:sp>
        <p:nvSpPr>
          <p:cNvPr id="4" name="title:line-1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Our 180-minute agenda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</a:t>
            </a:r>
          </a:p>
        </p:txBody>
      </p:sp>
      <p:sp>
        <p:nvSpPr>
          <p:cNvPr id="6" name="content:line-12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0–45: explanation — request flow, images, networking,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readiness, agreement.</a:t>
            </a:r>
          </a:p>
        </p:txBody>
      </p:sp>
      <p:sp>
        <p:nvSpPr>
          <p:cNvPr id="7" name="content:line-13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45–75: demonstration — launch 8, diagnose/recover 7, compare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outputs 15 minutes.</a:t>
            </a:r>
          </a:p>
        </p:txBody>
      </p:sp>
      <p:sp>
        <p:nvSpPr>
          <p:cNvPr id="8" name="content:line-14:0"/>
          <p:cNvSpPr txBox="1"/>
          <p:nvPr/>
        </p:nvSpPr>
        <p:spPr>
          <a:xfrm>
            <a:off x="594360" y="342595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75–90: break — 15 minutes.</a:t>
            </a:r>
          </a:p>
        </p:txBody>
      </p:sp>
      <p:sp>
        <p:nvSpPr>
          <p:cNvPr id="9" name="content:line-15:0"/>
          <p:cNvSpPr txBox="1"/>
          <p:nvPr/>
        </p:nvSpPr>
        <p:spPr>
          <a:xfrm>
            <a:off x="594360" y="39182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90–180: guided practice — trace 15, run 20, recover 15, compare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25, review 15 minutes.</a:t>
            </a:r>
          </a:p>
        </p:txBody>
      </p:sp>
      <p:sp>
        <p:nvSpPr>
          <p:cNvPr id="10" name="content:line-16:0"/>
          <p:cNvSpPr txBox="1"/>
          <p:nvPr/>
        </p:nvSpPr>
        <p:spPr>
          <a:xfrm>
            <a:off x="594360" y="476250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Timings are provisional; see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syllabus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3 / 22</a:t>
            </a:r>
          </a:p>
        </p:txBody>
      </p:sp>
      <p:sp>
        <p:nvSpPr>
          <p:cNvPr id="4" name="title:line-2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Trace the complete request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3</a:t>
            </a:r>
          </a:p>
        </p:txBody>
      </p:sp>
      <p:sp>
        <p:nvSpPr>
          <p:cNvPr id="6" name="content:line-22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HTTP is the request/response protocol connecting these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programs. Multipart means one request contains named file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parts.</a:t>
            </a:r>
          </a:p>
        </p:txBody>
      </p:sp>
      <p:sp>
        <p:nvSpPr>
          <p:cNvPr id="7" name="content:line-25:0"/>
          <p:cNvSpPr txBox="1"/>
          <p:nvPr/>
        </p:nvSpPr>
        <p:spPr>
          <a:xfrm>
            <a:off x="594360" y="293370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Browser -&gt; Streamlit Python: upload DM and LB</a:t>
            </a:r>
          </a:p>
        </p:txBody>
      </p:sp>
      <p:sp>
        <p:nvSpPr>
          <p:cNvPr id="8" name="content:line-26:0"/>
          <p:cNvSpPr txBox="1"/>
          <p:nvPr/>
        </p:nvSpPr>
        <p:spPr>
          <a:xfrm>
            <a:off x="594360" y="33116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Streamlit -&gt; FastAPI: POST /process</a:t>
            </a:r>
          </a:p>
        </p:txBody>
      </p:sp>
      <p:sp>
        <p:nvSpPr>
          <p:cNvPr id="9" name="content:line-27:0"/>
          <p:cNvSpPr txBox="1"/>
          <p:nvPr/>
        </p:nvSpPr>
        <p:spPr>
          <a:xfrm>
            <a:off x="594360" y="368960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multipart fields: participants, laboratory</a:t>
            </a:r>
          </a:p>
        </p:txBody>
      </p:sp>
      <p:sp>
        <p:nvSpPr>
          <p:cNvPr id="10" name="content:line-28:0"/>
          <p:cNvSpPr txBox="1"/>
          <p:nvPr/>
        </p:nvSpPr>
        <p:spPr>
          <a:xfrm>
            <a:off x="594360" y="40675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FastAPI -&gt; stat_core.process_csv: validate, join, summarize</a:t>
            </a:r>
          </a:p>
        </p:txBody>
      </p:sp>
      <p:sp>
        <p:nvSpPr>
          <p:cNvPr id="11" name="content:line-29:0"/>
          <p:cNvSpPr txBox="1"/>
          <p:nvPr/>
        </p:nvSpPr>
        <p:spPr>
          <a:xfrm>
            <a:off x="594360" y="4445508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FastAPI -&gt; Streamlit: JSON result</a:t>
            </a:r>
          </a:p>
        </p:txBody>
      </p:sp>
      <p:sp>
        <p:nvSpPr>
          <p:cNvPr id="12" name="content:line-30:0"/>
          <p:cNvSpPr txBox="1"/>
          <p:nvPr/>
        </p:nvSpPr>
        <p:spPr>
          <a:xfrm>
            <a:off x="594360" y="48234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Streamlit -&gt; Browser: counts, records, summaries, chart</a:t>
            </a:r>
          </a:p>
        </p:txBody>
      </p:sp>
      <p:sp>
        <p:nvSpPr>
          <p:cNvPr id="13" name="content:line-33:0"/>
          <p:cNvSpPr txBox="1"/>
          <p:nvPr/>
        </p:nvSpPr>
        <p:spPr>
          <a:xfrm>
            <a:off x="594360" y="520141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Streamlit displays backend results; it does not import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stat_core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3 / 22  ·  CONTINUED 2</a:t>
            </a:r>
          </a:p>
        </p:txBody>
      </p:sp>
      <p:sp>
        <p:nvSpPr>
          <p:cNvPr id="4" name="title:line-2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Trace the complete request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4</a:t>
            </a:r>
          </a:p>
        </p:txBody>
      </p:sp>
      <p:sp>
        <p:nvSpPr>
          <p:cNvPr id="6" name="content:line-34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Trace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frontend code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API code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4"/>
              </a:rPr>
              <a:t>contract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4 / 22</a:t>
            </a:r>
          </a:p>
        </p:txBody>
      </p:sp>
      <p:sp>
        <p:nvSpPr>
          <p:cNvPr id="4" name="title:line-3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An image is a recipe's built result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5</a:t>
            </a:r>
          </a:p>
        </p:txBody>
      </p:sp>
      <p:sp>
        <p:nvSpPr>
          <p:cNvPr id="6" name="content:line-40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Dockerfile describes how to assemble an image: Python,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dependencies, code, and a startup command.</a:t>
            </a:r>
          </a:p>
        </p:txBody>
      </p:sp>
      <p:sp>
        <p:nvSpPr>
          <p:cNvPr id="7" name="content:line-41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An image is a packaged filesystem and defaults; a container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 running instance of it.</a:t>
            </a:r>
          </a:p>
        </p:txBody>
      </p:sp>
      <p:sp>
        <p:nvSpPr>
          <p:cNvPr id="8" name="content:line-42:0"/>
          <p:cNvSpPr txBox="1"/>
          <p:nvPr/>
        </p:nvSpPr>
        <p:spPr>
          <a:xfrm>
            <a:off x="594360" y="342595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virtual environment isolates Python packages; containers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also supply user-space system files and process/network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isolation.</a:t>
            </a:r>
          </a:p>
        </p:txBody>
      </p:sp>
      <p:sp>
        <p:nvSpPr>
          <p:cNvPr id="9" name="content:line-43:0"/>
          <p:cNvSpPr txBox="1"/>
          <p:nvPr/>
        </p:nvSpPr>
        <p:spPr>
          <a:xfrm>
            <a:off x="594360" y="462229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Containers share a host kernel; packaging alone does not prove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matching outputs.</a:t>
            </a:r>
          </a:p>
        </p:txBody>
      </p:sp>
      <p:sp>
        <p:nvSpPr>
          <p:cNvPr id="10" name="content:line-44:0"/>
          <p:cNvSpPr txBox="1"/>
          <p:nvPr/>
        </p:nvSpPr>
        <p:spPr>
          <a:xfrm>
            <a:off x="594360" y="546658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build context is the directory Docker can copy from: here,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repository root.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5 / 22</a:t>
            </a:r>
          </a:p>
        </p:txBody>
      </p:sp>
      <p:sp>
        <p:nvSpPr>
          <p:cNvPr id="4" name="title:line-4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Read the two supplied Dockerfiles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6</a:t>
            </a:r>
          </a:p>
        </p:txBody>
      </p:sp>
      <p:sp>
        <p:nvSpPr>
          <p:cNvPr id="6" name="content:line-50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Both start from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python:3.12-slim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 small Python base image.</a:t>
            </a:r>
          </a:p>
        </p:txBody>
      </p:sp>
      <p:sp>
        <p:nvSpPr>
          <p:cNvPr id="7" name="content:line-51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Backend Dockerfile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copies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app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stat_core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package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metadata; installs the package and includes synthetic CSVs.</a:t>
            </a:r>
          </a:p>
        </p:txBody>
      </p:sp>
      <p:sp>
        <p:nvSpPr>
          <p:cNvPr id="8" name="content:line-52:0"/>
          <p:cNvSpPr txBox="1"/>
          <p:nvPr/>
        </p:nvSpPr>
        <p:spPr>
          <a:xfrm>
            <a:off x="594360" y="30739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Backend starts Uvicorn, the API server, on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0.0.0.0:8000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53:0"/>
          <p:cNvSpPr txBox="1"/>
          <p:nvPr/>
        </p:nvSpPr>
        <p:spPr>
          <a:xfrm>
            <a:off x="594360" y="35661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Frontend Dockerfile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installs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frontend/requirements.txt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copies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frontend/app.py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starts Streamlit on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0.0.0.0:8501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0" name="content:line-54:0"/>
          <p:cNvSpPr txBox="1"/>
          <p:nvPr/>
        </p:nvSpPr>
        <p:spPr>
          <a:xfrm>
            <a:off x="594360" y="44104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0.0.0.0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listens on all container interfaces; it is not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browser destination.</a:t>
            </a:r>
          </a:p>
        </p:txBody>
      </p:sp>
      <p:sp>
        <p:nvSpPr>
          <p:cNvPr id="11" name="content:line-55:0"/>
          <p:cNvSpPr txBox="1"/>
          <p:nvPr/>
        </p:nvSpPr>
        <p:spPr>
          <a:xfrm>
            <a:off x="594360" y="52547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EXPOSE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documents an internal port. Compose publishes a port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to the host.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6 / 22</a:t>
            </a:r>
          </a:p>
        </p:txBody>
      </p:sp>
      <p:sp>
        <p:nvSpPr>
          <p:cNvPr id="4" name="title:line-5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Compose connects two services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7</a:t>
            </a:r>
          </a:p>
        </p:txBody>
      </p:sp>
      <p:sp>
        <p:nvSpPr>
          <p:cNvPr id="6" name="content:line-61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 service is a named application component. Compose builds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runs the supplied services together.</a:t>
            </a:r>
          </a:p>
        </p:txBody>
      </p:sp>
      <p:sp>
        <p:nvSpPr>
          <p:cNvPr id="7" name="content:line-64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compose.yaml</a:t>
            </a:r>
          </a:p>
        </p:txBody>
      </p:sp>
      <p:sp>
        <p:nvSpPr>
          <p:cNvPr id="8" name="content:line-65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backend: root context, backend/Dockerfile</a:t>
            </a:r>
          </a:p>
        </p:txBody>
      </p:sp>
      <p:sp>
        <p:nvSpPr>
          <p:cNvPr id="9" name="content:line-66:0"/>
          <p:cNvSpPr txBox="1"/>
          <p:nvPr/>
        </p:nvSpPr>
        <p:spPr>
          <a:xfrm>
            <a:off x="594360" y="33375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host 127.0.0.1:8000 -&gt; container 8000</a:t>
            </a:r>
          </a:p>
        </p:txBody>
      </p:sp>
      <p:sp>
        <p:nvSpPr>
          <p:cNvPr id="10" name="content:line-67:0"/>
          <p:cNvSpPr txBox="1"/>
          <p:nvPr/>
        </p:nvSpPr>
        <p:spPr>
          <a:xfrm>
            <a:off x="594360" y="37155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frontend: root context, frontend/Dockerfile</a:t>
            </a:r>
          </a:p>
        </p:txBody>
      </p:sp>
      <p:sp>
        <p:nvSpPr>
          <p:cNvPr id="11" name="content:line-68:0"/>
          <p:cNvSpPr txBox="1"/>
          <p:nvPr/>
        </p:nvSpPr>
        <p:spPr>
          <a:xfrm>
            <a:off x="594360" y="409346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host 127.0.0.1:8501 -&gt; container 8501</a:t>
            </a:r>
          </a:p>
        </p:txBody>
      </p:sp>
      <p:sp>
        <p:nvSpPr>
          <p:cNvPr id="12" name="content:line-69:0"/>
          <p:cNvSpPr txBox="1"/>
          <p:nvPr/>
        </p:nvSpPr>
        <p:spPr>
          <a:xfrm>
            <a:off x="594360" y="44714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BACKEND_URL=http://backend:8000</a:t>
            </a:r>
          </a:p>
        </p:txBody>
      </p:sp>
      <p:sp>
        <p:nvSpPr>
          <p:cNvPr id="13" name="content:line-72:0"/>
          <p:cNvSpPr txBox="1"/>
          <p:nvPr/>
        </p:nvSpPr>
        <p:spPr>
          <a:xfrm>
            <a:off x="594360" y="484936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compose.yaml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ports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maps host to container ports.</a:t>
            </a:r>
          </a:p>
        </p:txBody>
      </p:sp>
      <p:sp>
        <p:nvSpPr>
          <p:cNvPr id="14" name="content:line-73:0"/>
          <p:cNvSpPr txBox="1"/>
          <p:nvPr/>
        </p:nvSpPr>
        <p:spPr>
          <a:xfrm>
            <a:off x="594360" y="5341619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These host bindings accept connections from this computer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only.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7 / 22</a:t>
            </a:r>
          </a:p>
        </p:txBody>
      </p:sp>
      <p:sp>
        <p:nvSpPr>
          <p:cNvPr id="4" name="title:line-7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Addresses depend on who is calling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8</a:t>
            </a:r>
          </a:p>
        </p:txBody>
      </p:sp>
      <p:sp>
        <p:nvSpPr>
          <p:cNvPr id="6" name="content:line-79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Browser on host → Streamlit: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http://127.0.0.1:8501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80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Host curl → API: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http://127.0.0.1:8000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81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Streamlit inside Compose → API: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http://backend:8000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82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Backend health probe → itself: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http://127.0.0.1:8000/health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0" name="content:line-83:0"/>
          <p:cNvSpPr txBox="1"/>
          <p:nvPr/>
        </p:nvSpPr>
        <p:spPr>
          <a:xfrm>
            <a:off x="594360" y="370636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DNS means looking up an address by name. Compose resolves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service name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on its shared network.</a:t>
            </a:r>
          </a:p>
        </p:txBody>
      </p:sp>
      <p:sp>
        <p:nvSpPr>
          <p:cNvPr id="11" name="content:line-84:0"/>
          <p:cNvSpPr txBox="1"/>
          <p:nvPr/>
        </p:nvSpPr>
        <p:spPr>
          <a:xfrm>
            <a:off x="594360" y="4550664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localhost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means the caller's own network environment.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Inside frontend, it points to frontend; the host browser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cannot resolve Compose service names.</a:t>
            </a:r>
          </a:p>
        </p:txBody>
      </p:sp>
      <p:sp>
        <p:nvSpPr>
          <p:cNvPr id="12" name="content:line-85:0"/>
          <p:cNvSpPr txBox="1"/>
          <p:nvPr/>
        </p:nvSpPr>
        <p:spPr>
          <a:xfrm>
            <a:off x="594360" y="574700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address and troubleshooting guide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8 / 22</a:t>
            </a:r>
          </a:p>
        </p:txBody>
      </p:sp>
      <p:sp>
        <p:nvSpPr>
          <p:cNvPr id="4" name="title:line-8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Started is different from ready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9</a:t>
            </a:r>
          </a:p>
        </p:txBody>
      </p:sp>
      <p:sp>
        <p:nvSpPr>
          <p:cNvPr id="6" name="content:line-91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GET /health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returning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{"status":"ok"}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says the API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available, not that uploaded data are valid.</a:t>
            </a:r>
          </a:p>
        </p:txBody>
      </p:sp>
      <p:sp>
        <p:nvSpPr>
          <p:cNvPr id="7" name="content:line-92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backend healthcheck probes that endpoint inside its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container.</a:t>
            </a:r>
          </a:p>
        </p:txBody>
      </p:sp>
      <p:sp>
        <p:nvSpPr>
          <p:cNvPr id="8" name="content:line-93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Frontend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depends_on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uses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condition: service_healthy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wait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for backend health before starting frontend.</a:t>
            </a:r>
          </a:p>
        </p:txBody>
      </p:sp>
      <p:sp>
        <p:nvSpPr>
          <p:cNvPr id="9" name="content:line-94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This startup gate does not guarantee later backend availability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or restart frontend after a later failure.</a:t>
            </a:r>
          </a:p>
        </p:txBody>
      </p:sp>
      <p:sp>
        <p:nvSpPr>
          <p:cNvPr id="10" name="content:line-95:0"/>
          <p:cNvSpPr txBox="1"/>
          <p:nvPr/>
        </p:nvSpPr>
        <p:spPr>
          <a:xfrm>
            <a:off x="594360" y="511454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Check Streamlit readiness separately at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/_stcore/health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inspect logs instead of adding an arbitrary sleep.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9 / 22</a:t>
            </a:r>
          </a:p>
        </p:txBody>
      </p:sp>
      <p:sp>
        <p:nvSpPr>
          <p:cNvPr id="4" name="title:line-9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The course's three Rs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10</a:t>
            </a:r>
          </a:p>
        </p:txBody>
      </p:sp>
      <p:sp>
        <p:nvSpPr>
          <p:cNvPr id="6" name="content:line-101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Repeatability: agreement across successive runs under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same conditions; run locally twice.</a:t>
            </a:r>
          </a:p>
        </p:txBody>
      </p:sp>
      <p:sp>
        <p:nvSpPr>
          <p:cNvPr id="7" name="content:line-102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Replicability: agreement for the same process under slightly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different conditions; compare local Python with Docker.</a:t>
            </a:r>
          </a:p>
        </p:txBody>
      </p:sp>
      <p:sp>
        <p:nvSpPr>
          <p:cNvPr id="8" name="content:line-103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Reproducibility: agreement under very different conditions,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such as independent simulation; discussed conceptually here.</a:t>
            </a:r>
          </a:p>
        </p:txBody>
      </p:sp>
      <p:sp>
        <p:nvSpPr>
          <p:cNvPr id="9" name="content:line-104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code and CSV bytes unchanged across captures. Record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environment differences.</a:t>
            </a:r>
          </a:p>
        </p:txBody>
      </p:sp>
      <p:sp>
        <p:nvSpPr>
          <p:cNvPr id="10" name="content:line-105:0"/>
          <p:cNvSpPr txBox="1"/>
          <p:nvPr/>
        </p:nvSpPr>
        <p:spPr>
          <a:xfrm>
            <a:off x="594360" y="511454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course glossary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governs these meanings; terminology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varies by discipline.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22</a:t>
            </a:r>
          </a:p>
        </p:txBody>
      </p:sp>
      <p:sp>
        <p:nvSpPr>
          <p:cNvPr id="4" name="title:line-10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Decide agreement before comparing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11</a:t>
            </a:r>
          </a:p>
        </p:txBody>
      </p:sp>
      <p:sp>
        <p:nvSpPr>
          <p:cNvPr id="6" name="content:line-111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Exact: structure, types, list order, identifiers, raw cleaned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values, copied baselines, counts, and nulls.</a:t>
            </a:r>
          </a:p>
        </p:txBody>
      </p:sp>
      <p:sp>
        <p:nvSpPr>
          <p:cNvPr id="7" name="content:line-112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missing value is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null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never zero; a missing field is not a null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field.</a:t>
            </a:r>
          </a:p>
        </p:txBody>
      </p:sp>
      <p:sp>
        <p:nvSpPr>
          <p:cNvPr id="8" name="content:line-113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Only record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change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percent_change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visit-summary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mean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use tolerance in both comparisons.</a:t>
            </a:r>
          </a:p>
        </p:txBody>
      </p:sp>
      <p:sp>
        <p:nvSpPr>
          <p:cNvPr id="9" name="content:line-116:0"/>
          <p:cNvSpPr txBox="1"/>
          <p:nvPr/>
        </p:nvSpPr>
        <p:spPr>
          <a:xfrm>
            <a:off x="594360" y="4270248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abs(actual - expected) &lt;= max(1e-9, 1e-9 * abs(expected))</a:t>
            </a:r>
          </a:p>
        </p:txBody>
      </p:sp>
      <p:sp>
        <p:nvSpPr>
          <p:cNvPr id="10" name="content:line-119:0"/>
          <p:cNvSpPr txBox="1"/>
          <p:nvPr/>
        </p:nvSpPr>
        <p:spPr>
          <a:xfrm>
            <a:off x="594360" y="464820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First file is the reference. Relative tolerance has no unit;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absolute tolerance is nmol/L for change/mean, percentage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points for percentage change.</a:t>
            </a:r>
          </a:p>
        </p:txBody>
      </p:sp>
      <p:sp>
        <p:nvSpPr>
          <p:cNvPr id="11" name="content:line-120:0"/>
          <p:cNvSpPr txBox="1"/>
          <p:nvPr/>
        </p:nvSpPr>
        <p:spPr>
          <a:xfrm>
            <a:off x="594360" y="584454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This engineering rule is not a clinical threshold. See 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22  ·  CONTINUED 2</a:t>
            </a:r>
          </a:p>
        </p:txBody>
      </p:sp>
      <p:sp>
        <p:nvSpPr>
          <p:cNvPr id="4" name="title:line-10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Decide agreement before comparing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12</a:t>
            </a:r>
          </a:p>
        </p:txBody>
      </p:sp>
      <p:sp>
        <p:nvSpPr>
          <p:cNvPr id="6" name="content:line-120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comparison rules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11 / 22</a:t>
            </a:r>
          </a:p>
        </p:txBody>
      </p:sp>
      <p:sp>
        <p:nvSpPr>
          <p:cNvPr id="4" name="title:line-12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launch the supplied stack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13</a:t>
            </a:r>
          </a:p>
        </p:txBody>
      </p:sp>
      <p:sp>
        <p:nvSpPr>
          <p:cNvPr id="6" name="content:line-126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a running Docker engine and Compose v2. All commands start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at the repository root; activate Python 3.12 from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setup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later local captures.</a:t>
            </a:r>
          </a:p>
        </p:txBody>
      </p:sp>
      <p:sp>
        <p:nvSpPr>
          <p:cNvPr id="7" name="content:line-129:0"/>
          <p:cNvSpPr txBox="1"/>
          <p:nvPr/>
        </p:nvSpPr>
        <p:spPr>
          <a:xfrm>
            <a:off x="594360" y="293370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version</a:t>
            </a:r>
          </a:p>
        </p:txBody>
      </p:sp>
      <p:sp>
        <p:nvSpPr>
          <p:cNvPr id="8" name="content:line-130:0"/>
          <p:cNvSpPr txBox="1"/>
          <p:nvPr/>
        </p:nvSpPr>
        <p:spPr>
          <a:xfrm>
            <a:off x="594360" y="33116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config --quiet</a:t>
            </a:r>
          </a:p>
        </p:txBody>
      </p:sp>
      <p:sp>
        <p:nvSpPr>
          <p:cNvPr id="9" name="content:line-131:0"/>
          <p:cNvSpPr txBox="1"/>
          <p:nvPr/>
        </p:nvSpPr>
        <p:spPr>
          <a:xfrm>
            <a:off x="594360" y="368960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up --build</a:t>
            </a:r>
          </a:p>
        </p:txBody>
      </p:sp>
      <p:sp>
        <p:nvSpPr>
          <p:cNvPr id="10" name="content:line-134:0"/>
          <p:cNvSpPr txBox="1"/>
          <p:nvPr/>
        </p:nvSpPr>
        <p:spPr>
          <a:xfrm>
            <a:off x="594360" y="40675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a second terminal at the same root:</a:t>
            </a:r>
          </a:p>
        </p:txBody>
      </p:sp>
      <p:sp>
        <p:nvSpPr>
          <p:cNvPr id="11" name="content:line-137:0"/>
          <p:cNvSpPr txBox="1"/>
          <p:nvPr/>
        </p:nvSpPr>
        <p:spPr>
          <a:xfrm>
            <a:off x="594360" y="4559808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ps</a:t>
            </a:r>
          </a:p>
        </p:txBody>
      </p:sp>
      <p:sp>
        <p:nvSpPr>
          <p:cNvPr id="12" name="content:line-138:0"/>
          <p:cNvSpPr txBox="1"/>
          <p:nvPr/>
        </p:nvSpPr>
        <p:spPr>
          <a:xfrm>
            <a:off x="594360" y="49377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curl --fail-with-body http://127.0.0.1:8000/health</a:t>
            </a:r>
          </a:p>
        </p:txBody>
      </p:sp>
      <p:sp>
        <p:nvSpPr>
          <p:cNvPr id="13" name="content:line-141:0"/>
          <p:cNvSpPr txBox="1"/>
          <p:nvPr/>
        </p:nvSpPr>
        <p:spPr>
          <a:xfrm>
            <a:off x="594360" y="5315711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 backend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healthy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Keep the first terminal open for logs.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12 / 22</a:t>
            </a:r>
          </a:p>
        </p:txBody>
      </p:sp>
      <p:sp>
        <p:nvSpPr>
          <p:cNvPr id="4" name="title:line-14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upload and inspect the results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14</a:t>
            </a:r>
          </a:p>
        </p:txBody>
      </p:sp>
      <p:sp>
        <p:nvSpPr>
          <p:cNvPr id="6" name="content:line-147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http://127.0.0.1:8501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displayed backend should be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http://backend:8000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148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Upload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dm.csv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as Participants CSV (DM)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lb.csv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Laboratory CSV (LB).</a:t>
            </a:r>
          </a:p>
        </p:txBody>
      </p:sp>
      <p:sp>
        <p:nvSpPr>
          <p:cNvPr id="8" name="content:line-149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Select Process CSVs: expect 24 participants, 96 joined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records, 95 observed, 1 missing.</a:t>
            </a:r>
          </a:p>
        </p:txBody>
      </p:sp>
      <p:sp>
        <p:nvSpPr>
          <p:cNvPr id="9" name="content:line-150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Inspect joined records, arm/visit summaries, and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observed mean chart in nmol/L.</a:t>
            </a:r>
          </a:p>
        </p:txBody>
      </p:sp>
      <p:sp>
        <p:nvSpPr>
          <p:cNvPr id="10" name="content:line-151:0"/>
          <p:cNvSpPr txBox="1"/>
          <p:nvPr/>
        </p:nvSpPr>
        <p:spPr>
          <a:xfrm>
            <a:off x="594360" y="511454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EDU-LPA-007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at DAY 30 stays unavailable. Synthetic descriptive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results do not establish clinical benefit.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12 / 22  ·  CONTINUED 2</a:t>
            </a:r>
          </a:p>
        </p:txBody>
      </p:sp>
      <p:sp>
        <p:nvSpPr>
          <p:cNvPr id="4" name="title:line-14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upload and inspect the results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15</a:t>
            </a:r>
          </a:p>
        </p:txBody>
      </p:sp>
      <p:sp>
        <p:nvSpPr>
          <p:cNvPr id="6" name="content:line-152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Repeating a chart is useful inspection; use captured outputs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for formal agreement evidence. 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frontend walkthrough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13 / 22</a:t>
            </a:r>
          </a:p>
        </p:txBody>
      </p:sp>
      <p:sp>
        <p:nvSpPr>
          <p:cNvPr id="4" name="title:line-15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isolate a connection problem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16</a:t>
            </a:r>
          </a:p>
        </p:txBody>
      </p:sp>
      <p:sp>
        <p:nvSpPr>
          <p:cNvPr id="6" name="content:line-158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First check the API independently of Streamlit:</a:t>
            </a:r>
          </a:p>
        </p:txBody>
      </p:sp>
      <p:sp>
        <p:nvSpPr>
          <p:cNvPr id="7" name="content:line-161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curl --fail-with-body http://127.0.0.1:8000/process \</a:t>
            </a:r>
          </a:p>
        </p:txBody>
      </p:sp>
      <p:sp>
        <p:nvSpPr>
          <p:cNvPr id="8" name="content:line-162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-F participants=@data/synthetic/dm.csv \</a:t>
            </a:r>
          </a:p>
        </p:txBody>
      </p:sp>
      <p:sp>
        <p:nvSpPr>
          <p:cNvPr id="9" name="content:line-163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-F laboratory=@data/synthetic/lb.csv</a:t>
            </a:r>
          </a:p>
        </p:txBody>
      </p:sp>
      <p:sp>
        <p:nvSpPr>
          <p:cNvPr id="10" name="content:line-164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logs --tail=100 backend frontend</a:t>
            </a:r>
          </a:p>
        </p:txBody>
      </p:sp>
      <p:sp>
        <p:nvSpPr>
          <p:cNvPr id="11" name="content:line-165:0"/>
          <p:cNvSpPr txBox="1"/>
          <p:nvPr/>
        </p:nvSpPr>
        <p:spPr>
          <a:xfrm>
            <a:off x="594360" y="37414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exec frontend python -c \</a:t>
            </a:r>
          </a:p>
        </p:txBody>
      </p:sp>
      <p:sp>
        <p:nvSpPr>
          <p:cNvPr id="12" name="content:line-166:0"/>
          <p:cNvSpPr txBox="1"/>
          <p:nvPr/>
        </p:nvSpPr>
        <p:spPr>
          <a:xfrm>
            <a:off x="594360" y="4119371"/>
            <a:ext cx="11003279" cy="981455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"import urllib.request; 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print(urllib.request.urlopen('http://backend:8000/health', </a:t>
            </a:r>
            <a:br/>
            <a:r>
              <a:rPr sz="1800" b="0" i="0">
                <a:solidFill>
                  <a:srgbClr val="20344A"/>
                </a:solidFill>
                <a:latin typeface="Courier New"/>
              </a:rPr>
              <a:t>timeout=2).read().decode())"</a:t>
            </a:r>
          </a:p>
        </p:txBody>
      </p:sp>
      <p:sp>
        <p:nvSpPr>
          <p:cNvPr id="13" name="content:line-169:0"/>
          <p:cNvSpPr txBox="1"/>
          <p:nvPr/>
        </p:nvSpPr>
        <p:spPr>
          <a:xfrm>
            <a:off x="594360" y="510082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Host health succeeds but internal request fails: inspect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service name, port, and shared Compose project.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13 / 22  ·  CONTINUED 2</a:t>
            </a:r>
          </a:p>
        </p:txBody>
      </p:sp>
      <p:sp>
        <p:nvSpPr>
          <p:cNvPr id="4" name="title:line-15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isolate a connection problem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17</a:t>
            </a:r>
          </a:p>
        </p:txBody>
      </p:sp>
      <p:sp>
        <p:nvSpPr>
          <p:cNvPr id="6" name="content:line-170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422 response means input rejection; a connection error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means the request could not reach the API.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22</a:t>
            </a:r>
          </a:p>
        </p:txBody>
      </p:sp>
      <p:sp>
        <p:nvSpPr>
          <p:cNvPr id="4" name="title:line-17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cause a recoverable local failure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18</a:t>
            </a:r>
          </a:p>
        </p:txBody>
      </p:sp>
      <p:sp>
        <p:nvSpPr>
          <p:cNvPr id="6" name="content:line-176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Stop Compose to free ports, then start the local backend in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terminal A. Use the activated environment with frontend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dependencies from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local setup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179:0"/>
          <p:cNvSpPr txBox="1"/>
          <p:nvPr/>
        </p:nvSpPr>
        <p:spPr>
          <a:xfrm>
            <a:off x="594360" y="293370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down</a:t>
            </a:r>
          </a:p>
        </p:txBody>
      </p:sp>
      <p:sp>
        <p:nvSpPr>
          <p:cNvPr id="8" name="content:line-180:0"/>
          <p:cNvSpPr txBox="1"/>
          <p:nvPr/>
        </p:nvSpPr>
        <p:spPr>
          <a:xfrm>
            <a:off x="594360" y="33116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uvicorn app.main:app --app-dir backend \</a:t>
            </a:r>
          </a:p>
        </p:txBody>
      </p:sp>
      <p:sp>
        <p:nvSpPr>
          <p:cNvPr id="9" name="content:line-181:0"/>
          <p:cNvSpPr txBox="1"/>
          <p:nvPr/>
        </p:nvSpPr>
        <p:spPr>
          <a:xfrm>
            <a:off x="594360" y="368960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--host 127.0.0.1 --port 8000</a:t>
            </a:r>
          </a:p>
        </p:txBody>
      </p:sp>
      <p:sp>
        <p:nvSpPr>
          <p:cNvPr id="10" name="content:line-184:0"/>
          <p:cNvSpPr txBox="1"/>
          <p:nvPr/>
        </p:nvSpPr>
        <p:spPr>
          <a:xfrm>
            <a:off x="594360" y="40675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terminal B, first confirm port 8999 is unused; if occupied,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choose another unused port. Apply this override to this one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process only:</a:t>
            </a:r>
          </a:p>
        </p:txBody>
      </p:sp>
      <p:sp>
        <p:nvSpPr>
          <p:cNvPr id="11" name="content:line-187:0"/>
          <p:cNvSpPr txBox="1"/>
          <p:nvPr/>
        </p:nvSpPr>
        <p:spPr>
          <a:xfrm>
            <a:off x="594360" y="526389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BACKEND_URL=http://127.0.0.1:8999 \</a:t>
            </a:r>
          </a:p>
        </p:txBody>
      </p:sp>
      <p:sp>
        <p:nvSpPr>
          <p:cNvPr id="12" name="content:line-188:0"/>
          <p:cNvSpPr txBox="1"/>
          <p:nvPr/>
        </p:nvSpPr>
        <p:spPr>
          <a:xfrm>
            <a:off x="594360" y="5641848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streamlit run frontend/app.py \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22  ·  CONTINUED 2</a:t>
            </a:r>
          </a:p>
        </p:txBody>
      </p:sp>
      <p:sp>
        <p:nvSpPr>
          <p:cNvPr id="4" name="title:line-17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cause a recoverable local failure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19</a:t>
            </a:r>
          </a:p>
        </p:txBody>
      </p:sp>
      <p:sp>
        <p:nvSpPr>
          <p:cNvPr id="6" name="content:line-189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--server.address 127.0.0.1 --server.port 8501</a:t>
            </a:r>
          </a:p>
        </p:txBody>
      </p:sp>
      <p:sp>
        <p:nvSpPr>
          <p:cNvPr id="7" name="content:line-192:0"/>
          <p:cNvSpPr txBox="1"/>
          <p:nvPr/>
        </p:nvSpPr>
        <p:spPr>
          <a:xfrm>
            <a:off x="594360" y="21153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Submit both files: expect “Could not connect to the backend.”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No source or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edits are needed.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22</a:t>
            </a:r>
          </a:p>
        </p:txBody>
      </p:sp>
      <p:sp>
        <p:nvSpPr>
          <p:cNvPr id="4" name="title:line-19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restore the working connection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20</a:t>
            </a:r>
          </a:p>
        </p:txBody>
      </p:sp>
      <p:sp>
        <p:nvSpPr>
          <p:cNvPr id="6" name="content:line-19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Stop the failing Streamlit process with Ctrl-C in terminal B;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restart with the correct address:</a:t>
            </a:r>
          </a:p>
        </p:txBody>
      </p:sp>
      <p:sp>
        <p:nvSpPr>
          <p:cNvPr id="7" name="content:line-201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BACKEND_URL=http://127.0.0.1:8000 \</a:t>
            </a:r>
          </a:p>
        </p:txBody>
      </p:sp>
      <p:sp>
        <p:nvSpPr>
          <p:cNvPr id="8" name="content:line-202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streamlit run frontend/app.py \</a:t>
            </a:r>
          </a:p>
        </p:txBody>
      </p:sp>
      <p:sp>
        <p:nvSpPr>
          <p:cNvPr id="9" name="content:line-203:0"/>
          <p:cNvSpPr txBox="1"/>
          <p:nvPr/>
        </p:nvSpPr>
        <p:spPr>
          <a:xfrm>
            <a:off x="594360" y="33375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--server.address 127.0.0.1 --server.port 8501</a:t>
            </a:r>
          </a:p>
        </p:txBody>
      </p:sp>
      <p:sp>
        <p:nvSpPr>
          <p:cNvPr id="10" name="content:line-206:0"/>
          <p:cNvSpPr txBox="1"/>
          <p:nvPr/>
        </p:nvSpPr>
        <p:spPr>
          <a:xfrm>
            <a:off x="594360" y="371551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Upload again: expect 24/96/95/1 and visible results.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original shell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settings were never changed.</a:t>
            </a:r>
          </a:p>
        </p:txBody>
      </p:sp>
      <p:sp>
        <p:nvSpPr>
          <p:cNvPr id="11" name="content:line-207:0"/>
          <p:cNvSpPr txBox="1"/>
          <p:nvPr/>
        </p:nvSpPr>
        <p:spPr>
          <a:xfrm>
            <a:off x="594360" y="45598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Stop both local servers with Ctrl-C before restarting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Compose on those ports.</a:t>
            </a:r>
          </a:p>
        </p:txBody>
      </p:sp>
      <p:sp>
        <p:nvSpPr>
          <p:cNvPr id="12" name="content:line-208:0"/>
          <p:cNvSpPr txBox="1"/>
          <p:nvPr/>
        </p:nvSpPr>
        <p:spPr>
          <a:xfrm>
            <a:off x="594360" y="54041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Compose explicitly sets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http://backend:8000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changing local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cannot override that service setting.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22  ·  CONTINUED 2</a:t>
            </a:r>
          </a:p>
        </p:txBody>
      </p:sp>
      <p:sp>
        <p:nvSpPr>
          <p:cNvPr id="4" name="title:line-19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restore the working connection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21</a:t>
            </a:r>
          </a:p>
        </p:txBody>
      </p:sp>
      <p:sp>
        <p:nvSpPr>
          <p:cNvPr id="6" name="content:line-209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Restore by restarting the process with the right address; do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not commit a broken configuration.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22</a:t>
            </a:r>
          </a:p>
        </p:txBody>
      </p:sp>
      <p:sp>
        <p:nvSpPr>
          <p:cNvPr id="4" name="title:line-21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capture repeated local outputs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22</a:t>
            </a:r>
          </a:p>
        </p:txBody>
      </p:sp>
      <p:sp>
        <p:nvSpPr>
          <p:cNvPr id="6" name="content:line-215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the same checkout, unchanged CSVs, and activated Python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environment. Backslashes continue one shell command across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readable lines.</a:t>
            </a:r>
          </a:p>
        </p:txBody>
      </p:sp>
      <p:sp>
        <p:nvSpPr>
          <p:cNvPr id="7" name="content:line-218:0"/>
          <p:cNvSpPr txBox="1"/>
          <p:nvPr/>
        </p:nvSpPr>
        <p:spPr>
          <a:xfrm>
            <a:off x="594360" y="293370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PYTHONPATH=backend python -m stat_core.capture \</a:t>
            </a:r>
          </a:p>
        </p:txBody>
      </p:sp>
      <p:sp>
        <p:nvSpPr>
          <p:cNvPr id="8" name="content:line-219:0"/>
          <p:cNvSpPr txBox="1"/>
          <p:nvPr/>
        </p:nvSpPr>
        <p:spPr>
          <a:xfrm>
            <a:off x="594360" y="33116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--participants data/synthetic/dm.csv \</a:t>
            </a:r>
          </a:p>
        </p:txBody>
      </p:sp>
      <p:sp>
        <p:nvSpPr>
          <p:cNvPr id="9" name="content:line-220:0"/>
          <p:cNvSpPr txBox="1"/>
          <p:nvPr/>
        </p:nvSpPr>
        <p:spPr>
          <a:xfrm>
            <a:off x="594360" y="368960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--laboratory data/synthetic/lb.csv \</a:t>
            </a:r>
          </a:p>
        </p:txBody>
      </p:sp>
      <p:sp>
        <p:nvSpPr>
          <p:cNvPr id="10" name="content:line-221:0"/>
          <p:cNvSpPr txBox="1"/>
          <p:nvPr/>
        </p:nvSpPr>
        <p:spPr>
          <a:xfrm>
            <a:off x="594360" y="40675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--output outputs/local-1.json</a:t>
            </a:r>
          </a:p>
        </p:txBody>
      </p:sp>
      <p:sp>
        <p:nvSpPr>
          <p:cNvPr id="11" name="content:line-222:0"/>
          <p:cNvSpPr txBox="1"/>
          <p:nvPr/>
        </p:nvSpPr>
        <p:spPr>
          <a:xfrm>
            <a:off x="594360" y="4445508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PYTHONPATH=backend python -m stat_core.capture \</a:t>
            </a:r>
          </a:p>
        </p:txBody>
      </p:sp>
      <p:sp>
        <p:nvSpPr>
          <p:cNvPr id="12" name="content:line-223:0"/>
          <p:cNvSpPr txBox="1"/>
          <p:nvPr/>
        </p:nvSpPr>
        <p:spPr>
          <a:xfrm>
            <a:off x="594360" y="48234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--participants data/synthetic/dm.csv \</a:t>
            </a:r>
          </a:p>
        </p:txBody>
      </p:sp>
      <p:sp>
        <p:nvSpPr>
          <p:cNvPr id="13" name="content:line-224:0"/>
          <p:cNvSpPr txBox="1"/>
          <p:nvPr/>
        </p:nvSpPr>
        <p:spPr>
          <a:xfrm>
            <a:off x="594360" y="52014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--laboratory data/synthetic/lb.csv \</a:t>
            </a:r>
          </a:p>
        </p:txBody>
      </p:sp>
      <p:sp>
        <p:nvSpPr>
          <p:cNvPr id="14" name="content:line-225:0"/>
          <p:cNvSpPr txBox="1"/>
          <p:nvPr/>
        </p:nvSpPr>
        <p:spPr>
          <a:xfrm>
            <a:off x="594360" y="557936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--output outputs/local-2.json</a:t>
            </a:r>
          </a:p>
        </p:txBody>
      </p:sp>
      <p:sp>
        <p:nvSpPr>
          <p:cNvPr id="15" name="content:line-226:0"/>
          <p:cNvSpPr txBox="1"/>
          <p:nvPr/>
        </p:nvSpPr>
        <p:spPr>
          <a:xfrm>
            <a:off x="594360" y="59573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PYTHONPATH=backend python -m stat_core.comparison \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22  ·  CONTINUED 2</a:t>
            </a:r>
          </a:p>
        </p:txBody>
      </p:sp>
      <p:sp>
        <p:nvSpPr>
          <p:cNvPr id="4" name="title:line-21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capture repeated local outputs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23</a:t>
            </a:r>
          </a:p>
        </p:txBody>
      </p:sp>
      <p:sp>
        <p:nvSpPr>
          <p:cNvPr id="6" name="content:line-227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outputs/local-1.json outputs/local-2.json</a:t>
            </a:r>
          </a:p>
        </p:txBody>
      </p:sp>
      <p:sp>
        <p:nvSpPr>
          <p:cNvPr id="7" name="content:line-230:0"/>
          <p:cNvSpPr txBox="1"/>
          <p:nvPr/>
        </p:nvSpPr>
        <p:spPr>
          <a:xfrm>
            <a:off x="594360" y="21153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Outputs agree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exit code 0. Captures call the public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process_csv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generated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outputs/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is ignored.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22</a:t>
            </a:r>
          </a:p>
        </p:txBody>
      </p:sp>
      <p:sp>
        <p:nvSpPr>
          <p:cNvPr id="4" name="title:line-23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capture the actual Docker run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24</a:t>
            </a:r>
          </a:p>
        </p:txBody>
      </p:sp>
      <p:sp>
        <p:nvSpPr>
          <p:cNvPr id="6" name="content:line-236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Stop local servers first; keep the two local captures. Rebuild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after code, dependency, or bundled data changes: these images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copy files and do not live-update from the checkout.</a:t>
            </a:r>
          </a:p>
        </p:txBody>
      </p:sp>
      <p:sp>
        <p:nvSpPr>
          <p:cNvPr id="7" name="content:line-239:0"/>
          <p:cNvSpPr txBox="1"/>
          <p:nvPr/>
        </p:nvSpPr>
        <p:spPr>
          <a:xfrm>
            <a:off x="594360" y="293370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build</a:t>
            </a:r>
          </a:p>
        </p:txBody>
      </p:sp>
      <p:sp>
        <p:nvSpPr>
          <p:cNvPr id="8" name="content:line-240:0"/>
          <p:cNvSpPr txBox="1"/>
          <p:nvPr/>
        </p:nvSpPr>
        <p:spPr>
          <a:xfrm>
            <a:off x="594360" y="33116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up -d --wait --wait-timeout 120</a:t>
            </a:r>
          </a:p>
        </p:txBody>
      </p:sp>
      <p:sp>
        <p:nvSpPr>
          <p:cNvPr id="9" name="content:line-241:0"/>
          <p:cNvSpPr txBox="1"/>
          <p:nvPr/>
        </p:nvSpPr>
        <p:spPr>
          <a:xfrm>
            <a:off x="594360" y="368960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curl --fail-with-body http://127.0.0.1:8000/health</a:t>
            </a:r>
          </a:p>
        </p:txBody>
      </p:sp>
      <p:sp>
        <p:nvSpPr>
          <p:cNvPr id="10" name="content:line-242:0"/>
          <p:cNvSpPr txBox="1"/>
          <p:nvPr/>
        </p:nvSpPr>
        <p:spPr>
          <a:xfrm>
            <a:off x="594360" y="40675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curl --fail-with-body --retry 20 --retry-all-errors \</a:t>
            </a:r>
          </a:p>
        </p:txBody>
      </p:sp>
      <p:sp>
        <p:nvSpPr>
          <p:cNvPr id="11" name="content:line-243:0"/>
          <p:cNvSpPr txBox="1"/>
          <p:nvPr/>
        </p:nvSpPr>
        <p:spPr>
          <a:xfrm>
            <a:off x="594360" y="4445508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--retry-delay 2 http://127.0.0.1:8501/_stcore/health</a:t>
            </a:r>
          </a:p>
        </p:txBody>
      </p:sp>
      <p:sp>
        <p:nvSpPr>
          <p:cNvPr id="12" name="content:line-244:0"/>
          <p:cNvSpPr txBox="1"/>
          <p:nvPr/>
        </p:nvSpPr>
        <p:spPr>
          <a:xfrm>
            <a:off x="594360" y="48234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docker compose exec -T backend python -m stat_core.capture \</a:t>
            </a:r>
          </a:p>
        </p:txBody>
      </p:sp>
      <p:sp>
        <p:nvSpPr>
          <p:cNvPr id="13" name="content:line-245:0"/>
          <p:cNvSpPr txBox="1"/>
          <p:nvPr/>
        </p:nvSpPr>
        <p:spPr>
          <a:xfrm>
            <a:off x="594360" y="52014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--participants data/synthetic/dm.csv \</a:t>
            </a:r>
          </a:p>
        </p:txBody>
      </p:sp>
      <p:sp>
        <p:nvSpPr>
          <p:cNvPr id="14" name="content:line-246:0"/>
          <p:cNvSpPr txBox="1"/>
          <p:nvPr/>
        </p:nvSpPr>
        <p:spPr>
          <a:xfrm>
            <a:off x="594360" y="557936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--laboratory data/synthetic/lb.csv &gt; outputs/docker.json</a:t>
            </a:r>
          </a:p>
        </p:txBody>
      </p:sp>
      <p:sp>
        <p:nvSpPr>
          <p:cNvPr id="15" name="content:line-247:0"/>
          <p:cNvSpPr txBox="1"/>
          <p:nvPr/>
        </p:nvSpPr>
        <p:spPr>
          <a:xfrm>
            <a:off x="594360" y="59573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PYTHONPATH=backend python -m stat_core.comparison \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22  ·  CONTINUED 2</a:t>
            </a:r>
          </a:p>
        </p:txBody>
      </p:sp>
      <p:sp>
        <p:nvSpPr>
          <p:cNvPr id="4" name="title:line-23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capture the actual Docker run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25</a:t>
            </a:r>
          </a:p>
        </p:txBody>
      </p:sp>
      <p:sp>
        <p:nvSpPr>
          <p:cNvPr id="6" name="content:line-248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outputs/local-1.json outputs/docker.json</a:t>
            </a:r>
          </a:p>
        </p:txBody>
      </p:sp>
      <p:sp>
        <p:nvSpPr>
          <p:cNvPr id="7" name="content:line-251:0"/>
          <p:cNvSpPr txBox="1"/>
          <p:nvPr/>
        </p:nvSpPr>
        <p:spPr>
          <a:xfrm>
            <a:off x="594360" y="211531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Outputs agree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exit code 0.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-T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disables terminal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formatting for redirected JSON. Full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capture/API commands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include a multipart result comparison.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18 / 22</a:t>
            </a:r>
          </a:p>
        </p:txBody>
      </p:sp>
      <p:sp>
        <p:nvSpPr>
          <p:cNvPr id="4" name="title:line-25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Read the evidence and diagnose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disagreement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26</a:t>
            </a:r>
          </a:p>
        </p:txBody>
      </p:sp>
      <p:sp>
        <p:nvSpPr>
          <p:cNvPr id="6" name="content:line-257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Each capture has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result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plus metadata: Python, platform,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dependency versions, and SHA-256 hashes of code and exact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CSV bytes.</a:t>
            </a:r>
          </a:p>
        </p:txBody>
      </p:sp>
      <p:sp>
        <p:nvSpPr>
          <p:cNvPr id="7" name="content:line-258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hash is a file fingerprint. Code/data hashes must agree;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inspect expected environment differences separately.</a:t>
            </a:r>
          </a:p>
        </p:txBody>
      </p:sp>
      <p:sp>
        <p:nvSpPr>
          <p:cNvPr id="8" name="content:line-259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Results preserve stable ordering; comparison does not sort,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round, or replace nulls to force agreement.</a:t>
            </a:r>
          </a:p>
        </p:txBody>
      </p:sp>
      <p:sp>
        <p:nvSpPr>
          <p:cNvPr id="9" name="content:line-260:0"/>
          <p:cNvSpPr txBox="1"/>
          <p:nvPr/>
        </p:nvSpPr>
        <p:spPr>
          <a:xfrm>
            <a:off x="594360" y="462229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Nonzero exit and a field such as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counts.missing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locate 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disagreement. Hash mismatch: recover matching code/data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rebuild.</a:t>
            </a:r>
          </a:p>
        </p:txBody>
      </p:sp>
      <p:sp>
        <p:nvSpPr>
          <p:cNvPr id="10" name="content:line-261:0"/>
          <p:cNvSpPr txBox="1"/>
          <p:nvPr/>
        </p:nvSpPr>
        <p:spPr>
          <a:xfrm>
            <a:off x="594360" y="581863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Derived decimal outside tolerance: investigate 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18 / 22  ·  CONTINUED 2</a:t>
            </a:r>
          </a:p>
        </p:txBody>
      </p:sp>
      <p:sp>
        <p:nvSpPr>
          <p:cNvPr id="4" name="title:line-25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Read the evidence and diagnose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disagreement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27</a:t>
            </a:r>
          </a:p>
        </p:txBody>
      </p:sp>
      <p:sp>
        <p:nvSpPr>
          <p:cNvPr id="6" name="content:line-261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processing/dependencies; keep the declared tolerance.</a:t>
            </a:r>
          </a:p>
        </p:txBody>
      </p:sp>
      <p:sp>
        <p:nvSpPr>
          <p:cNvPr id="7" name="content:line-262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captures and logs together; a chart or passing unrelated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test alone does not establish agreement.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19 / 22</a:t>
            </a:r>
          </a:p>
        </p:txBody>
      </p:sp>
      <p:sp>
        <p:nvSpPr>
          <p:cNvPr id="4" name="title:line-26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What has actually been verified?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28</a:t>
            </a:r>
          </a:p>
        </p:txBody>
      </p:sp>
      <p:sp>
        <p:nvSpPr>
          <p:cNvPr id="6" name="content:line-26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Remote Docker CI run 38876609585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completed successfully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for commit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c5fc92a37ec660492c7238f55f88b023a9200775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269:0"/>
          <p:cNvSpPr txBox="1"/>
          <p:nvPr/>
        </p:nvSpPr>
        <p:spPr>
          <a:xfrm>
            <a:off x="594360" y="25816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Its Docker output comparison job builds real images, checks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readiness and service DNS/HTTP, compares local/container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captures, and compares multipart API results.</a:t>
            </a:r>
          </a:p>
        </p:txBody>
      </p:sp>
      <p:sp>
        <p:nvSpPr>
          <p:cNvPr id="8" name="content:line-270:0"/>
          <p:cNvSpPr txBox="1"/>
          <p:nvPr/>
        </p:nvSpPr>
        <p:spPr>
          <a:xfrm>
            <a:off x="594360" y="377799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This is evidence for that commit and environment; rerun for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later changes.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workflow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retains available evidence for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seven days.</a:t>
            </a:r>
          </a:p>
        </p:txBody>
      </p:sp>
      <p:sp>
        <p:nvSpPr>
          <p:cNvPr id="9" name="content:line-271:0"/>
          <p:cNvSpPr txBox="1"/>
          <p:nvPr/>
        </p:nvSpPr>
        <p:spPr>
          <a:xfrm>
            <a:off x="594360" y="497433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Docker is absent on the slide-authoring host: local captures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can be checked there; container execution and browser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behavior cannot be claimed from those checks.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19 / 22  ·  CONTINUED 2</a:t>
            </a:r>
          </a:p>
        </p:txBody>
      </p:sp>
      <p:sp>
        <p:nvSpPr>
          <p:cNvPr id="4" name="title:line-26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What has actually been verified?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29</a:t>
            </a:r>
          </a:p>
        </p:txBody>
      </p:sp>
      <p:sp>
        <p:nvSpPr>
          <p:cNvPr id="6" name="content:line-272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PowerPoint rendering is also unverified here. Markdown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maintained for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editable converter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20 / 22</a:t>
            </a:r>
          </a:p>
        </p:txBody>
      </p:sp>
      <p:sp>
        <p:nvSpPr>
          <p:cNvPr id="4" name="title:line-27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Break, then 90 minutes of guided practice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30</a:t>
            </a:r>
          </a:p>
        </p:txBody>
      </p:sp>
      <p:sp>
        <p:nvSpPr>
          <p:cNvPr id="6" name="content:line-278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Take a 15-minute break before practice.</a:t>
            </a:r>
          </a:p>
        </p:txBody>
      </p:sp>
      <p:sp>
        <p:nvSpPr>
          <p:cNvPr id="7" name="content:line-279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15 minutes: trace uploads, HTTP,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stat_core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each caller's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address.</a:t>
            </a:r>
          </a:p>
        </p:txBody>
      </p:sp>
      <p:sp>
        <p:nvSpPr>
          <p:cNvPr id="8" name="content:line-280:0"/>
          <p:cNvSpPr txBox="1"/>
          <p:nvPr/>
        </p:nvSpPr>
        <p:spPr>
          <a:xfrm>
            <a:off x="594360" y="30739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20 minutes: launch the supplied stack, upload both CSVs,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inspect health and logs.</a:t>
            </a:r>
          </a:p>
        </p:txBody>
      </p:sp>
      <p:sp>
        <p:nvSpPr>
          <p:cNvPr id="9" name="content:line-281:0"/>
          <p:cNvSpPr txBox="1"/>
          <p:nvPr/>
        </p:nvSpPr>
        <p:spPr>
          <a:xfrm>
            <a:off x="594360" y="39182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15 minutes: repeat the temporary local address failure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recovery; restore a working stack.</a:t>
            </a:r>
          </a:p>
        </p:txBody>
      </p:sp>
      <p:sp>
        <p:nvSpPr>
          <p:cNvPr id="10" name="content:line-282:0"/>
          <p:cNvSpPr txBox="1"/>
          <p:nvPr/>
        </p:nvSpPr>
        <p:spPr>
          <a:xfrm>
            <a:off x="594360" y="47625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25 minutes: capture twice locally and once in Docker; compare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explain exact fields, nulls, and tolerance.</a:t>
            </a:r>
          </a:p>
        </p:txBody>
      </p:sp>
      <p:sp>
        <p:nvSpPr>
          <p:cNvPr id="11" name="content:line-283:0"/>
          <p:cNvSpPr txBox="1"/>
          <p:nvPr/>
        </p:nvSpPr>
        <p:spPr>
          <a:xfrm>
            <a:off x="594360" y="560679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15 minutes: review a teammate's commands and evidence; 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20 / 22  ·  CONTINUED 2</a:t>
            </a:r>
          </a:p>
        </p:txBody>
      </p:sp>
      <p:sp>
        <p:nvSpPr>
          <p:cNvPr id="4" name="title:line-27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Break, then 90 minutes of guided practice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31</a:t>
            </a:r>
          </a:p>
        </p:txBody>
      </p:sp>
      <p:sp>
        <p:nvSpPr>
          <p:cNvPr id="6" name="content:line-283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explain code/data hashes and any environment differences.</a:t>
            </a:r>
          </a:p>
        </p:txBody>
      </p:sp>
      <p:sp>
        <p:nvSpPr>
          <p:cNvPr id="7" name="content:line-284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the supplied framework and your group's declared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behavior; UI polish and model complexity are not priorities.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21 / 22</a:t>
            </a:r>
          </a:p>
        </p:txBody>
      </p:sp>
      <p:sp>
        <p:nvSpPr>
          <p:cNvPr id="4" name="title:line-28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Checkpoint and presentation preparation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32</a:t>
            </a:r>
          </a:p>
        </p:txBody>
      </p:sp>
      <p:sp>
        <p:nvSpPr>
          <p:cNvPr id="6" name="content:line-290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Explain images versus containers, internal versus published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ports, and startup readiness.</a:t>
            </a:r>
          </a:p>
        </p:txBody>
      </p:sp>
      <p:sp>
        <p:nvSpPr>
          <p:cNvPr id="7" name="content:line-291:0"/>
          <p:cNvSpPr txBox="1"/>
          <p:nvPr/>
        </p:nvSpPr>
        <p:spPr>
          <a:xfrm>
            <a:off x="594360" y="25816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Show working uploads, restored configuration, and matching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comparison outputs; retain commands, conditions, captures,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logs.</a:t>
            </a:r>
          </a:p>
        </p:txBody>
      </p:sp>
      <p:sp>
        <p:nvSpPr>
          <p:cNvPr id="8" name="content:line-292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Finish the demonstration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docker compose down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host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CSVs and built images remain.</a:t>
            </a:r>
          </a:p>
        </p:txBody>
      </p:sp>
      <p:sp>
        <p:nvSpPr>
          <p:cNvPr id="9" name="content:line-293:0"/>
          <p:cNvSpPr txBox="1"/>
          <p:nvPr/>
        </p:nvSpPr>
        <p:spPr>
          <a:xfrm>
            <a:off x="594360" y="462229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Mandatory homework: about two hours rehearsing application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startup, validation, tests, comparisons, and navigation to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PR/review evidence.</a:t>
            </a:r>
          </a:p>
        </p:txBody>
      </p:sp>
      <p:sp>
        <p:nvSpPr>
          <p:cNvPr id="10" name="content:line-294:0"/>
          <p:cNvSpPr txBox="1"/>
          <p:nvPr/>
        </p:nvSpPr>
        <p:spPr>
          <a:xfrm>
            <a:off x="594360" y="581863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Every student needs an authored PR and meaningful peer 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21 / 22  ·  CONTINUED 2</a:t>
            </a:r>
          </a:p>
        </p:txBody>
      </p:sp>
      <p:sp>
        <p:nvSpPr>
          <p:cNvPr id="4" name="title:line-28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Checkpoint and presentation preparation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33</a:t>
            </a:r>
          </a:p>
        </p:txBody>
      </p:sp>
      <p:sp>
        <p:nvSpPr>
          <p:cNvPr id="6" name="content:line-294:1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review. Prepare for the final presentation's pass/fail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engineering checks.</a:t>
            </a:r>
          </a:p>
        </p:txBody>
      </p:sp>
      <p:sp>
        <p:nvSpPr>
          <p:cNvPr id="7" name="content:line-295:0"/>
          <p:cNvSpPr txBox="1"/>
          <p:nvPr/>
        </p:nvSpPr>
        <p:spPr>
          <a:xfrm>
            <a:off x="594360" y="25816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This checkpoint is preparation, not a separate assessed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submission. Final presentation has no resubmission 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reassessment; 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assessment policy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22 / 22</a:t>
            </a:r>
          </a:p>
        </p:txBody>
      </p:sp>
      <p:sp>
        <p:nvSpPr>
          <p:cNvPr id="4" name="title:line-29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Source map for rehearsal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session-4.md   ·   34</a:t>
            </a:r>
          </a:p>
        </p:txBody>
      </p:sp>
      <p:sp>
        <p:nvSpPr>
          <p:cNvPr id="6" name="content:line-301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Course specification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syllabus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4"/>
              </a:rPr>
              <a:t>three-R glossary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302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5"/>
              </a:rPr>
              <a:t>Local frontend and recovery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007F82"/>
                </a:solidFill>
                <a:latin typeface="Arial"/>
                <a:hlinkClick r:id="rId6"/>
              </a:rPr>
              <a:t>Compose operation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7"/>
              </a:rPr>
              <a:t>output </a:t>
            </a:r>
            <a:br/>
            <a:r>
              <a:rPr sz="2100" b="0" i="0">
                <a:solidFill>
                  <a:srgbClr val="007F82"/>
                </a:solidFill>
                <a:latin typeface="Arial"/>
                <a:hlinkClick r:id="rId7"/>
              </a:rPr>
              <a:t>capture/comparison commands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303:0"/>
          <p:cNvSpPr txBox="1"/>
          <p:nvPr/>
        </p:nvSpPr>
        <p:spPr>
          <a:xfrm>
            <a:off x="594360" y="307390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8"/>
              </a:rPr>
              <a:t>Backend image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r>
              <a:rPr sz="2100" b="0" i="0">
                <a:solidFill>
                  <a:srgbClr val="007F82"/>
                </a:solidFill>
                <a:latin typeface="Arial"/>
                <a:hlinkClick r:id="rId9"/>
              </a:rPr>
              <a:t>frontend image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10"/>
              </a:rPr>
              <a:t>service configuration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304:0"/>
          <p:cNvSpPr txBox="1"/>
          <p:nvPr/>
        </p:nvSpPr>
        <p:spPr>
          <a:xfrm>
            <a:off x="594360" y="35661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11"/>
              </a:rPr>
              <a:t>Synthetic input provenance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12"/>
              </a:rPr>
              <a:t>API contract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0" name="content:line-305:0"/>
          <p:cNvSpPr txBox="1"/>
          <p:nvPr/>
        </p:nvSpPr>
        <p:spPr>
          <a:xfrm>
            <a:off x="594360" y="40584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007F82"/>
                </a:solidFill>
                <a:latin typeface="Arial"/>
                <a:hlinkClick r:id="rId13"/>
              </a:rPr>
              <a:t>Session 4 authoring ticket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14"/>
              </a:rPr>
              <a:t>supported slide Markdown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4: Containers and output comparisons</dc:title>
  <dc:subject>Editable slides generated from session-4.md</dc:subject>
  <dc:creator>Three-R course</dc:creator>
  <cp:keywords>editable, Markdown, course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