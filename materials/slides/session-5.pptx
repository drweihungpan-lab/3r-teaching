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assessment/final-presentation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SYLLABUS.md#assessment-policy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backend/pyproject.toml" TargetMode="External"/><Relationship Id="rId3" Type="http://schemas.openxmlformats.org/officeDocument/2006/relationships/hyperlink" Target="../../docs/setup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frontend/app.py" TargetMode="External"/><Relationship Id="rId3" Type="http://schemas.openxmlformats.org/officeDocument/2006/relationships/hyperlink" Target="../../backend/app/main.py" TargetMode="External"/><Relationship Id="rId4" Type="http://schemas.openxmlformats.org/officeDocument/2006/relationships/hyperlink" Target="../../backend/stat_core/__init__.py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compose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api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testing.md" TargetMode="External"/><Relationship Id="rId3" Type="http://schemas.openxmlformats.org/officeDocument/2006/relationships/hyperlink" Target="../../docs/ci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GLOSSARY.md" TargetMode="External"/><Relationship Id="rId3" Type="http://schemas.openxmlformats.org/officeDocument/2006/relationships/hyperlink" Target="../../docs/comparisons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collaboration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assessment/final-presentation.md" TargetMode="External"/><Relationship Id="rId3" Type="http://schemas.openxmlformats.org/officeDocument/2006/relationships/hyperlink" Target="../../SYLLABUS.md#assessment-polic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 / 17</a:t>
            </a:r>
          </a:p>
        </p:txBody>
      </p:sp>
      <p:sp>
        <p:nvSpPr>
          <p:cNvPr id="4" name="title:line-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Session 5: Final showcase and engineering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review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1</a:t>
            </a:r>
          </a:p>
        </p:txBody>
      </p:sp>
      <p:sp>
        <p:nvSpPr>
          <p:cNvPr id="6" name="content:line-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Demonstrate your group's working application and declared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processing behavior.</a:t>
            </a:r>
          </a:p>
        </p:txBody>
      </p:sp>
      <p:sp>
        <p:nvSpPr>
          <p:cNvPr id="7" name="content:line-4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Explain the evidence behind the results and each person's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contribution.</a:t>
            </a:r>
          </a:p>
        </p:txBody>
      </p:sp>
      <p:sp>
        <p:nvSpPr>
          <p:cNvPr id="8" name="content:line-5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your own repository, dataset, and question in groups of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three or four.</a:t>
            </a:r>
          </a:p>
        </p:txBody>
      </p:sp>
      <p:sp>
        <p:nvSpPr>
          <p:cNvPr id="9" name="content:line-6:0"/>
          <p:cNvSpPr txBox="1"/>
          <p:nvPr/>
        </p:nvSpPr>
        <p:spPr>
          <a:xfrm>
            <a:off x="594360" y="427024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final presentation checklist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governs this briefing.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 / 17</a:t>
            </a:r>
          </a:p>
        </p:txBody>
      </p:sp>
      <p:sp>
        <p:nvSpPr>
          <p:cNvPr id="4" name="title:line-1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Back at the bubble tea shop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2</a:t>
            </a:r>
          </a:p>
        </p:txBody>
      </p:sp>
      <p:sp>
        <p:nvSpPr>
          <p:cNvPr id="6" name="content:line-12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1" i="0">
                <a:solidFill>
                  <a:srgbClr val="20344A"/>
                </a:solidFill>
                <a:latin typeface="Arial"/>
              </a:rPr>
              <a:t>How would you prove to a customer that both shops make the </a:t>
            </a:r>
            <a:br/>
            <a:r>
              <a:rPr sz="2100" b="1" i="0">
                <a:solidFill>
                  <a:srgbClr val="20344A"/>
                </a:solidFill>
                <a:latin typeface="Arial"/>
              </a:rPr>
              <a:t>same tea?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3 / 17</a:t>
            </a:r>
          </a:p>
        </p:txBody>
      </p:sp>
      <p:sp>
        <p:nvSpPr>
          <p:cNvPr id="4" name="title:line-1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Our 180-minute showcase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3</a:t>
            </a:r>
          </a:p>
        </p:txBody>
      </p:sp>
      <p:sp>
        <p:nvSpPr>
          <p:cNvPr id="6" name="content:line-18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Opening brief: 10 minutes. Group slots: 150 minutes in total.</a:t>
            </a:r>
          </a:p>
        </p:txBody>
      </p:sp>
      <p:sp>
        <p:nvSpPr>
          <p:cNvPr id="7" name="content:line-19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Shared break: 15 minutes between group slots. Closing: 5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minutes.</a:t>
            </a:r>
          </a:p>
        </p:txBody>
      </p:sp>
      <p:sp>
        <p:nvSpPr>
          <p:cNvPr id="8" name="content:line-20:0"/>
          <p:cNvSpPr txBox="1"/>
          <p:nvPr/>
        </p:nvSpPr>
        <p:spPr>
          <a:xfrm>
            <a:off x="594360" y="30739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Let G be the actual number of groups; each slot is S = 150 / G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minutes.</a:t>
            </a:r>
          </a:p>
        </p:txBody>
      </p:sp>
      <p:sp>
        <p:nvSpPr>
          <p:cNvPr id="9" name="content:line-21:0"/>
          <p:cNvSpPr txBox="1"/>
          <p:nvPr/>
        </p:nvSpPr>
        <p:spPr>
          <a:xfrm>
            <a:off x="594360" y="391820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Total: 10 + G * S + 15 + 5 = 180 minutes.</a:t>
            </a:r>
          </a:p>
        </p:txBody>
      </p:sp>
      <p:sp>
        <p:nvSpPr>
          <p:cNvPr id="10" name="content:line-22:0"/>
          <p:cNvSpPr txBox="1"/>
          <p:nvPr/>
        </p:nvSpPr>
        <p:spPr>
          <a:xfrm>
            <a:off x="594360" y="44104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Publish start/end times once G is known; keep fractional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minutes or use seconds. Include startup and transitions inside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slots.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4 / 17</a:t>
            </a:r>
          </a:p>
        </p:txBody>
      </p:sp>
      <p:sp>
        <p:nvSpPr>
          <p:cNvPr id="4" name="title:line-2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Use your group slot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4</a:t>
            </a:r>
          </a:p>
        </p:txBody>
      </p:sp>
      <p:sp>
        <p:nvSpPr>
          <p:cNvPr id="6" name="content:line-28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 / 2: live demo, including startup, CSV processing,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invalid-input rejection.</a:t>
            </a:r>
          </a:p>
        </p:txBody>
      </p:sp>
      <p:sp>
        <p:nvSpPr>
          <p:cNvPr id="7" name="content:line-29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 / 3: inspect environment, tests, CI, comparisons,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collaboration evidence.</a:t>
            </a:r>
          </a:p>
        </p:txBody>
      </p:sp>
      <p:sp>
        <p:nvSpPr>
          <p:cNvPr id="8" name="content:line-30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 / 6: questions, including individual explanations; every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member speaks.</a:t>
            </a:r>
          </a:p>
        </p:txBody>
      </p:sp>
      <p:sp>
        <p:nvSpPr>
          <p:cNvPr id="9" name="content:line-31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These fractions sum to S. Open evidence promptly and keep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transitions within your slot.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5 / 17</a:t>
            </a:r>
          </a:p>
        </p:txBody>
      </p:sp>
      <p:sp>
        <p:nvSpPr>
          <p:cNvPr id="4" name="title:line-3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Final-only pass/fail assessment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5</a:t>
            </a:r>
          </a:p>
        </p:txBody>
      </p:sp>
      <p:sp>
        <p:nvSpPr>
          <p:cNvPr id="6" name="content:line-37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Every engineering requirement and every student's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participation requirement is mandatory; no weighted grades.</a:t>
            </a:r>
          </a:p>
        </p:txBody>
      </p:sp>
      <p:sp>
        <p:nvSpPr>
          <p:cNvPr id="7" name="content:line-38:0"/>
          <p:cNvSpPr txBox="1"/>
          <p:nvPr/>
        </p:nvSpPr>
        <p:spPr>
          <a:xfrm>
            <a:off x="594360" y="25816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Assessment happens only at this presentation. The result is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final: no separate submission, resubmission, reassessment, 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later retry.</a:t>
            </a:r>
          </a:p>
        </p:txBody>
      </p:sp>
      <p:sp>
        <p:nvSpPr>
          <p:cNvPr id="8" name="content:line-39:0"/>
          <p:cNvSpPr txBox="1"/>
          <p:nvPr/>
        </p:nvSpPr>
        <p:spPr>
          <a:xfrm>
            <a:off x="594360" y="377799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Homework and checkpoints were preparation. Modeling is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optional; scientific correctness, conclusions, model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complexity, and UI polish are not graded.</a:t>
            </a:r>
          </a:p>
        </p:txBody>
      </p:sp>
      <p:sp>
        <p:nvSpPr>
          <p:cNvPr id="9" name="content:line-40:0"/>
          <p:cNvSpPr txBox="1"/>
          <p:nvPr/>
        </p:nvSpPr>
        <p:spPr>
          <a:xfrm>
            <a:off x="594360" y="497433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Tests and comparisons must still check your declared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processing behavior. See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assessment policy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6 / 17</a:t>
            </a:r>
          </a:p>
        </p:txBody>
      </p:sp>
      <p:sp>
        <p:nvSpPr>
          <p:cNvPr id="4" name="title:line-4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Briefing: open the actual evidence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6</a:t>
            </a:r>
          </a:p>
        </p:txBody>
      </p:sp>
      <p:sp>
        <p:nvSpPr>
          <p:cNvPr id="6" name="content:line-46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Instructor demonstrates navigation using the completed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synthetic example; groups then show their own work.</a:t>
            </a:r>
          </a:p>
        </p:txBody>
      </p:sp>
      <p:sp>
        <p:nvSpPr>
          <p:cNvPr id="7" name="content:line-47:0"/>
          <p:cNvSpPr txBox="1"/>
          <p:nvPr/>
        </p:nvSpPr>
        <p:spPr>
          <a:xfrm>
            <a:off x="594360" y="25816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README evidence links: tested commit SHA, CI run,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captures/logs, authored PRs, and review permalinks. A SHA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identifies a code version.</a:t>
            </a:r>
          </a:p>
        </p:txBody>
      </p:sp>
      <p:sp>
        <p:nvSpPr>
          <p:cNvPr id="8" name="content:line-48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Instructor records repository, date, demonstrated SHA,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members, and GitHub usernames in the checklist.</a:t>
            </a:r>
          </a:p>
        </p:txBody>
      </p:sp>
      <p:sp>
        <p:nvSpPr>
          <p:cNvPr id="9" name="content:line-49:0"/>
          <p:cNvSpPr txBox="1"/>
          <p:nvPr/>
        </p:nvSpPr>
        <p:spPr>
          <a:xfrm>
            <a:off x="594360" y="462229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For every mandatory row, inspect the actual artifact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record Pass/Fail, its URL/path, and an observation. Missing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evidence fails that requirement.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7 / 17</a:t>
            </a:r>
          </a:p>
        </p:txBody>
      </p:sp>
      <p:sp>
        <p:nvSpPr>
          <p:cNvPr id="4" name="title:line-5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Inspect environment and configuration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7</a:t>
            </a:r>
          </a:p>
        </p:txBody>
      </p:sp>
      <p:sp>
        <p:nvSpPr>
          <p:cNvPr id="6" name="content:line-55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Show Python 3.12 in an active venv, its interpreter path,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 installed reusable package working locally.</a:t>
            </a:r>
          </a:p>
        </p:txBody>
      </p:sp>
      <p:sp>
        <p:nvSpPr>
          <p:cNvPr id="7" name="content:line-56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dependency declarations in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backend/pyproject.toml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explain how the environment supplies these packages.</a:t>
            </a:r>
          </a:p>
        </p:txBody>
      </p:sp>
      <p:sp>
        <p:nvSpPr>
          <p:cNvPr id="8" name="content:line-57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ignore rules and shareable .env.example; verify local .env,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credentials, and .venv stay out of tracked files/history.</a:t>
            </a:r>
          </a:p>
        </p:txBody>
      </p:sp>
      <p:sp>
        <p:nvSpPr>
          <p:cNvPr id="9" name="content:line-58:0"/>
          <p:cNvSpPr txBox="1"/>
          <p:nvPr/>
        </p:nvSpPr>
        <p:spPr>
          <a:xfrm>
            <a:off x="594360" y="4270248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Explain local versus container settings without showing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secrets. Instructor inspects files and execution, alongside the </a:t>
            </a:r>
            <a:br/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setup guide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8 / 17</a:t>
            </a:r>
          </a:p>
        </p:txBody>
      </p:sp>
      <p:sp>
        <p:nvSpPr>
          <p:cNvPr id="4" name="title:line-6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Trace the working application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8</a:t>
            </a:r>
          </a:p>
        </p:txBody>
      </p:sp>
      <p:sp>
        <p:nvSpPr>
          <p:cNvPr id="6" name="content:line-65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CSV upload -&gt; Streamlit -&gt; HTTP request -&gt; FastAPI</a:t>
            </a:r>
          </a:p>
        </p:txBody>
      </p:sp>
      <p:sp>
        <p:nvSpPr>
          <p:cNvPr id="7" name="content:line-66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FastAPI -&gt; reusable stat_core processing -&gt; result</a:t>
            </a:r>
          </a:p>
        </p:txBody>
      </p:sp>
      <p:sp>
        <p:nvSpPr>
          <p:cNvPr id="8" name="content:line-67:0"/>
          <p:cNvSpPr txBox="1"/>
          <p:nvPr/>
        </p:nvSpPr>
        <p:spPr>
          <a:xfrm>
            <a:off x="594360" y="24932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result -&gt; Streamlit -&gt; visible records/summary/chart</a:t>
            </a:r>
          </a:p>
        </p:txBody>
      </p:sp>
      <p:sp>
        <p:nvSpPr>
          <p:cNvPr id="9" name="content:line-70:0"/>
          <p:cNvSpPr txBox="1"/>
          <p:nvPr/>
        </p:nvSpPr>
        <p:spPr>
          <a:xfrm>
            <a:off x="594360" y="287121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HTTP carries requests and responses between programs;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reusable processing functions work without the API or UI.</a:t>
            </a:r>
          </a:p>
        </p:txBody>
      </p:sp>
      <p:sp>
        <p:nvSpPr>
          <p:cNvPr id="10" name="content:line-71:0"/>
          <p:cNvSpPr txBox="1"/>
          <p:nvPr/>
        </p:nvSpPr>
        <p:spPr>
          <a:xfrm>
            <a:off x="594360" y="371551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Instructor follows one request through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frontend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API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and </a:t>
            </a:r>
            <a:br/>
            <a:r>
              <a:rPr sz="2100" b="0" i="0">
                <a:solidFill>
                  <a:srgbClr val="007F82"/>
                </a:solidFill>
                <a:latin typeface="Arial"/>
                <a:hlinkClick r:id="rId4"/>
              </a:rPr>
              <a:t>package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checking inputs and returned results.</a:t>
            </a:r>
          </a:p>
        </p:txBody>
      </p:sp>
      <p:sp>
        <p:nvSpPr>
          <p:cNvPr id="11" name="content:line-72:0"/>
          <p:cNvSpPr txBox="1"/>
          <p:nvPr/>
        </p:nvSpPr>
        <p:spPr>
          <a:xfrm>
            <a:off x="594360" y="45598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State your dataset, question, and expected behavior briefly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before tracing your own application.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9 / 17</a:t>
            </a:r>
          </a:p>
        </p:txBody>
      </p:sp>
      <p:sp>
        <p:nvSpPr>
          <p:cNvPr id="4" name="title:line-7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Show real startup and CSV results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9</a:t>
            </a:r>
          </a:p>
        </p:txBody>
      </p:sp>
      <p:sp>
        <p:nvSpPr>
          <p:cNvPr id="6" name="content:line-78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Run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docker compose up --build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live; show frontend/backend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running, backend readiness, and relevant logs or health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responses.</a:t>
            </a:r>
          </a:p>
        </p:txBody>
      </p:sp>
      <p:sp>
        <p:nvSpPr>
          <p:cNvPr id="7" name="content:line-79:0"/>
          <p:cNvSpPr txBox="1"/>
          <p:nvPr/>
        </p:nvSpPr>
        <p:spPr>
          <a:xfrm>
            <a:off x="594360" y="293370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Browser opens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http://127.0.0.1:8501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frontend calls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http://backend:8000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inside Compose. There, localhost means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 frontend itself.</a:t>
            </a:r>
          </a:p>
        </p:txBody>
      </p:sp>
      <p:sp>
        <p:nvSpPr>
          <p:cNvPr id="8" name="content:line-80:0"/>
          <p:cNvSpPr txBox="1"/>
          <p:nvPr/>
        </p:nvSpPr>
        <p:spPr>
          <a:xfrm>
            <a:off x="594360" y="413004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Upload and process CSVs; show results or a chart. In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supplied example, upload DM and LB: 24 participants, 96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records, 95 observed, 1 missing.</a:t>
            </a:r>
          </a:p>
        </p:txBody>
      </p:sp>
      <p:sp>
        <p:nvSpPr>
          <p:cNvPr id="9" name="content:line-81:0"/>
          <p:cNvSpPr txBox="1"/>
          <p:nvPr/>
        </p:nvSpPr>
        <p:spPr>
          <a:xfrm>
            <a:off x="594360" y="532638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Instructor inspects actual service communication and output,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not only configuration. Follow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Compose guide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stop 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9 / 17  ·  CONTINUED 2</a:t>
            </a:r>
          </a:p>
        </p:txBody>
      </p:sp>
      <p:sp>
        <p:nvSpPr>
          <p:cNvPr id="4" name="title:line-7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Show real startup and CSV results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10</a:t>
            </a:r>
          </a:p>
        </p:txBody>
      </p:sp>
      <p:sp>
        <p:nvSpPr>
          <p:cNvPr id="6" name="content:line-81:2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standalone servers using the same ports first.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10 / 17</a:t>
            </a:r>
          </a:p>
        </p:txBody>
      </p:sp>
      <p:sp>
        <p:nvSpPr>
          <p:cNvPr id="4" name="title:line-8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Show validation and its test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11</a:t>
            </a:r>
          </a:p>
        </p:txBody>
      </p:sp>
      <p:sp>
        <p:nvSpPr>
          <p:cNvPr id="6" name="content:line-87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Demonstrate one invalid input rejected clearly; it must not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appear as a successful result.</a:t>
            </a:r>
          </a:p>
        </p:txBody>
      </p:sp>
      <p:sp>
        <p:nvSpPr>
          <p:cNvPr id="7" name="content:line-88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Explain the rule: expected types, allowed bounds, 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missing-value handling. Missing does not mean zero.</a:t>
            </a:r>
          </a:p>
        </p:txBody>
      </p:sp>
      <p:sp>
        <p:nvSpPr>
          <p:cNvPr id="8" name="content:line-89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 the supplied example, show the API error and open its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corresponding passing validation test.</a:t>
            </a:r>
          </a:p>
        </p:txBody>
      </p:sp>
      <p:sp>
        <p:nvSpPr>
          <p:cNvPr id="9" name="content:line-90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Instructor checks the observed rejection against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API </a:t>
            </a:r>
            <a:br/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contract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the group's declared rule.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11 / 17</a:t>
            </a:r>
          </a:p>
        </p:txBody>
      </p:sp>
      <p:sp>
        <p:nvSpPr>
          <p:cNvPr id="4" name="title:line-9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Inspect local tests and hosted CI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12</a:t>
            </a:r>
          </a:p>
        </p:txBody>
      </p:sp>
      <p:sp>
        <p:nvSpPr>
          <p:cNvPr id="6" name="content:line-96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 the active local environment, run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python -m pytest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backend/tests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show passing output.</a:t>
            </a:r>
          </a:p>
        </p:txBody>
      </p:sp>
      <p:sp>
        <p:nvSpPr>
          <p:cNvPr id="7" name="content:line-97:0"/>
          <p:cNvSpPr txBox="1"/>
          <p:nvPr/>
        </p:nvSpPr>
        <p:spPr>
          <a:xfrm>
            <a:off x="594360" y="25816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a successful GitHub Actions run for the demonstrated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commit. CI means automated checks on GitHub; a local pass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alone is insufficient.</a:t>
            </a:r>
          </a:p>
        </p:txBody>
      </p:sp>
      <p:sp>
        <p:nvSpPr>
          <p:cNvPr id="8" name="content:line-98:0"/>
          <p:cNvSpPr txBox="1"/>
          <p:nvPr/>
        </p:nvSpPr>
        <p:spPr>
          <a:xfrm>
            <a:off x="594360" y="377799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Instructor opens tests at public processing, API,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comparison boundaries: expected outputs, invalid inputs,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agreement rules.</a:t>
            </a:r>
          </a:p>
        </p:txBody>
      </p:sp>
      <p:sp>
        <p:nvSpPr>
          <p:cNvPr id="9" name="content:line-99:0"/>
          <p:cNvSpPr txBox="1"/>
          <p:nvPr/>
        </p:nvSpPr>
        <p:spPr>
          <a:xfrm>
            <a:off x="594360" y="497433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Tests check declared behavior, not scientific validity. 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workflow reporting success does not itself configure required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checks; see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testing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CI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12 / 17</a:t>
            </a:r>
          </a:p>
        </p:txBody>
      </p:sp>
      <p:sp>
        <p:nvSpPr>
          <p:cNvPr id="4" name="title:line-10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Demonstrate the two practical Rs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13</a:t>
            </a:r>
          </a:p>
        </p:txBody>
      </p:sp>
      <p:sp>
        <p:nvSpPr>
          <p:cNvPr id="6" name="content:line-105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Repeatability: agreement under the same conditions. Compare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local run 1 with local run 2.</a:t>
            </a:r>
          </a:p>
        </p:txBody>
      </p:sp>
      <p:sp>
        <p:nvSpPr>
          <p:cNvPr id="7" name="content:line-106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Replicability: agreement under slightly different conditions.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Compare local with real Docker execution of the same process.</a:t>
            </a:r>
          </a:p>
        </p:txBody>
      </p:sp>
      <p:sp>
        <p:nvSpPr>
          <p:cNvPr id="8" name="content:line-107:0"/>
          <p:cNvSpPr txBox="1"/>
          <p:nvPr/>
        </p:nvSpPr>
        <p:spPr>
          <a:xfrm>
            <a:off x="594360" y="342595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code and CSV bytes unchanged; show successful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comparisons, underlying captures, commands, logs,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environment details, and code/input identity.</a:t>
            </a:r>
          </a:p>
        </p:txBody>
      </p:sp>
      <p:sp>
        <p:nvSpPr>
          <p:cNvPr id="9" name="content:line-108:0"/>
          <p:cNvSpPr txBox="1"/>
          <p:nvPr/>
        </p:nvSpPr>
        <p:spPr>
          <a:xfrm>
            <a:off x="594360" y="462229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Reproducibility means agreement under very different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conditions in this course; independent simulation, cross-group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reproduction, and new-data experiments are not required.</a:t>
            </a:r>
          </a:p>
        </p:txBody>
      </p:sp>
      <p:sp>
        <p:nvSpPr>
          <p:cNvPr id="10" name="content:line-109:0"/>
          <p:cNvSpPr txBox="1"/>
          <p:nvPr/>
        </p:nvSpPr>
        <p:spPr>
          <a:xfrm>
            <a:off x="594360" y="581863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glossary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capture/comparison commands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13 / 17</a:t>
            </a:r>
          </a:p>
        </p:txBody>
      </p:sp>
      <p:sp>
        <p:nvSpPr>
          <p:cNvPr id="4" name="title:line-11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Inspect agreement, field by field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14</a:t>
            </a:r>
          </a:p>
        </p:txBody>
      </p:sp>
      <p:sp>
        <p:nvSpPr>
          <p:cNvPr id="6" name="content:line-115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Exact: cleaned records, identifiers, raw values, copied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baselines, counts, types, structure, ordering, and nulls.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Missing stays distinct from zero.</a:t>
            </a:r>
          </a:p>
        </p:txBody>
      </p:sp>
      <p:sp>
        <p:nvSpPr>
          <p:cNvPr id="7" name="content:line-116:0"/>
          <p:cNvSpPr txBox="1"/>
          <p:nvPr/>
        </p:nvSpPr>
        <p:spPr>
          <a:xfrm>
            <a:off x="594360" y="293370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Only derived decimals receive declared tolerances documented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 tests. In the example: change, percent_change,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visit-summary mean.</a:t>
            </a:r>
          </a:p>
        </p:txBody>
      </p:sp>
      <p:sp>
        <p:nvSpPr>
          <p:cNvPr id="8" name="content:line-119:0"/>
          <p:cNvSpPr txBox="1"/>
          <p:nvPr/>
        </p:nvSpPr>
        <p:spPr>
          <a:xfrm>
            <a:off x="594360" y="413004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abs(actual - expected) &lt;= max(1e-9, 1e-9 * abs(expected))</a:t>
            </a:r>
          </a:p>
        </p:txBody>
      </p:sp>
      <p:sp>
        <p:nvSpPr>
          <p:cNvPr id="9" name="content:line-122:0"/>
          <p:cNvSpPr txBox="1"/>
          <p:nvPr/>
        </p:nvSpPr>
        <p:spPr>
          <a:xfrm>
            <a:off x="594360" y="4507992"/>
            <a:ext cx="11003279" cy="148437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first output is the reference. Instructor opens outputs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and diagnostics; matching charts alone are insufficient. Do not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drop fields, round away differences, or widen tolerance to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14 / 17</a:t>
            </a:r>
          </a:p>
        </p:txBody>
      </p:sp>
      <p:sp>
        <p:nvSpPr>
          <p:cNvPr id="4" name="title:line-12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Inspect collaboration and every member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15</a:t>
            </a:r>
          </a:p>
        </p:txBody>
      </p:sp>
      <p:sp>
        <p:nvSpPr>
          <p:cNvPr id="6" name="content:line-128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feature branches, descriptive commits, PRs,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meaningful teammate reviews about behavior, tests, 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clarity; show responses/follow-up to concerns.</a:t>
            </a:r>
          </a:p>
        </p:txBody>
      </p:sp>
      <p:sp>
        <p:nvSpPr>
          <p:cNvPr id="7" name="content:line-129:0"/>
          <p:cNvSpPr txBox="1"/>
          <p:nvPr/>
        </p:nvSpPr>
        <p:spPr>
          <a:xfrm>
            <a:off x="594360" y="293370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For EACH student: open at least one personally authored PR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and at least one substantive review of a teammate's PR, with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authorship and review permalinks.</a:t>
            </a:r>
          </a:p>
        </p:txBody>
      </p:sp>
      <p:sp>
        <p:nvSpPr>
          <p:cNvPr id="8" name="content:line-130:0"/>
          <p:cNvSpPr txBox="1"/>
          <p:nvPr/>
        </p:nvSpPr>
        <p:spPr>
          <a:xfrm>
            <a:off x="594360" y="413004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Each member explains their contribution, authored change,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review reasoning, and any follow-up. Approval alone or “looks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good” is insufficient.</a:t>
            </a:r>
          </a:p>
        </p:txBody>
      </p:sp>
      <p:sp>
        <p:nvSpPr>
          <p:cNvPr id="9" name="content:line-131:0"/>
          <p:cNvSpPr txBox="1"/>
          <p:nvPr/>
        </p:nvSpPr>
        <p:spPr>
          <a:xfrm>
            <a:off x="594360" y="532638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Instructor completes an individual evidence row for every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member. Template history and instructor/agent work do not 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14 / 17  ·  CONTINUED 2</a:t>
            </a:r>
          </a:p>
        </p:txBody>
      </p:sp>
      <p:sp>
        <p:nvSpPr>
          <p:cNvPr id="4" name="title:line-12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Inspect collaboration and every member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16</a:t>
            </a:r>
          </a:p>
        </p:txBody>
      </p:sp>
      <p:sp>
        <p:nvSpPr>
          <p:cNvPr id="6" name="content:line-131:2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count; see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collaboration guide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15 / 17</a:t>
            </a:r>
          </a:p>
        </p:txBody>
      </p:sp>
      <p:sp>
        <p:nvSpPr>
          <p:cNvPr id="4" name="title:line-13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Questions follow the evidence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17</a:t>
            </a:r>
          </a:p>
        </p:txBody>
      </p:sp>
      <p:sp>
        <p:nvSpPr>
          <p:cNvPr id="6" name="content:line-137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Why does this input fail? Open the rejection and the test that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establishes the rule.</a:t>
            </a:r>
          </a:p>
        </p:txBody>
      </p:sp>
      <p:sp>
        <p:nvSpPr>
          <p:cNvPr id="7" name="content:line-138:0"/>
          <p:cNvSpPr txBox="1"/>
          <p:nvPr/>
        </p:nvSpPr>
        <p:spPr>
          <a:xfrm>
            <a:off x="594360" y="25816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Which code and input produced these outputs? Open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commit and capture fingerprints, then explain environment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differences.</a:t>
            </a:r>
          </a:p>
        </p:txBody>
      </p:sp>
      <p:sp>
        <p:nvSpPr>
          <p:cNvPr id="8" name="content:line-139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Which fields compare exactly, and why is a derived value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allowed tolerance? Open the comparison and its tests.</a:t>
            </a:r>
          </a:p>
        </p:txBody>
      </p:sp>
      <p:sp>
        <p:nvSpPr>
          <p:cNvPr id="9" name="content:line-140:0"/>
          <p:cNvSpPr txBox="1"/>
          <p:nvPr/>
        </p:nvSpPr>
        <p:spPr>
          <a:xfrm>
            <a:off x="594360" y="462229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What did you change or ask a teammate to improve? Open your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 or review and explain the result.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16 / 17</a:t>
            </a:r>
          </a:p>
        </p:txBody>
      </p:sp>
      <p:sp>
        <p:nvSpPr>
          <p:cNvPr id="4" name="title:line-14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Shared break and remaining groups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18</a:t>
            </a:r>
          </a:p>
        </p:txBody>
      </p:sp>
      <p:sp>
        <p:nvSpPr>
          <p:cNvPr id="6" name="content:line-146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Take the reserved 15-minute break at the published slot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boundary.</a:t>
            </a:r>
          </a:p>
        </p:txBody>
      </p:sp>
      <p:sp>
        <p:nvSpPr>
          <p:cNvPr id="7" name="content:line-147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Resume with the next group's live demo, evidence inspection,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and questions using the same S allocation.</a:t>
            </a:r>
          </a:p>
        </p:txBody>
      </p:sp>
      <p:sp>
        <p:nvSpPr>
          <p:cNvPr id="8" name="content:line-148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Every group uses the same mandatory checklist; keep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reserved five-minute closing within the three hours.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17 / 17</a:t>
            </a:r>
          </a:p>
        </p:txBody>
      </p:sp>
      <p:sp>
        <p:nvSpPr>
          <p:cNvPr id="4" name="title:line-15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Closing: connect the engineering evidence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session-5.md   ·   19</a:t>
            </a:r>
          </a:p>
        </p:txBody>
      </p:sp>
      <p:sp>
        <p:nvSpPr>
          <p:cNvPr id="6" name="content:line-154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the final five minutes to connect environment, package,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API/UI, containers, tests, comparisons, and peer review.</a:t>
            </a:r>
          </a:p>
        </p:txBody>
      </p:sp>
      <p:sp>
        <p:nvSpPr>
          <p:cNvPr id="7" name="content:line-155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Pass requires every mandatory group row and every student's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individual participation requirement to pass.</a:t>
            </a:r>
          </a:p>
        </p:txBody>
      </p:sp>
      <p:sp>
        <p:nvSpPr>
          <p:cNvPr id="8" name="content:line-156:0"/>
          <p:cNvSpPr txBox="1"/>
          <p:nvPr/>
        </p:nvSpPr>
        <p:spPr>
          <a:xfrm>
            <a:off x="594360" y="342595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Instructor records failed rows and reasons at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presentation; no averaging or complexity bonuses, and no later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retry.</a:t>
            </a:r>
          </a:p>
        </p:txBody>
      </p:sp>
      <p:sp>
        <p:nvSpPr>
          <p:cNvPr id="9" name="content:line-157:0"/>
          <p:cNvSpPr txBox="1"/>
          <p:nvPr/>
        </p:nvSpPr>
        <p:spPr>
          <a:xfrm>
            <a:off x="594360" y="462229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final checklist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syllabus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remain the assessment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reference.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5: Final showcase and engineering review</dc:title>
  <dc:subject>Editable slides generated from session-5.md</dc:subject>
  <dc:creator>Three-R course</dc:creator>
  <cp:keywords>editable, Markdown, course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