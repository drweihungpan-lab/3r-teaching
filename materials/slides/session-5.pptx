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assessment/final-presentation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device-exampl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#assessment-policy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pyproject.toml" TargetMode="External"/><Relationship Id="rId3" Type="http://schemas.openxmlformats.org/officeDocument/2006/relationships/hyperlink" Target="../../docs/setup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frontend/app.py" TargetMode="External"/><Relationship Id="rId3" Type="http://schemas.openxmlformats.org/officeDocument/2006/relationships/hyperlink" Target="../../backend/app/main.py" TargetMode="External"/><Relationship Id="rId4" Type="http://schemas.openxmlformats.org/officeDocument/2006/relationships/hyperlink" Target="../../backend/stat_core/__init__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ose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sting.md" TargetMode="External"/><Relationship Id="rId3" Type="http://schemas.openxmlformats.org/officeDocument/2006/relationships/hyperlink" Target="../../docs/ci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docs/comparisons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llaboration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assessment/final-presentation.md" TargetMode="External"/><Relationship Id="rId3" Type="http://schemas.openxmlformats.org/officeDocument/2006/relationships/hyperlink" Target="../../SYLLABUS.md#assessment-polic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18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5: Final showcase and engineering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Demonstrate your group's working application and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behavior.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the evidence behind the results and each person's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contribution.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your own repository, dataset, and question in groups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three or four.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final presentation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this briefing.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18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How would you prove to a customer that both shops make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same tea?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18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device example: seven stages, pain to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fix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1 (Session 1): notebook copied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/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v2</a:t>
            </a:r>
            <a:r>
              <a:rPr sz="2100" b="0" i="0">
                <a:solidFill>
                  <a:srgbClr val="20344A"/>
                </a:solidFill>
                <a:latin typeface="Arial"/>
              </a:rPr>
              <a:t>/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v3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which copy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made the report?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Git.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2 (Session 1): helper files; works with pandas 1.5,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crashes with pandas 2.x.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isolated environment and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declared dependencies.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3 (Session 2):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requirements.txt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rerunning a cell moves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date.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functions with inputs and outputs.</a:t>
            </a:r>
          </a:p>
        </p:txBody>
      </p:sp>
      <p:sp>
        <p:nvSpPr>
          <p:cNvPr id="9" name="content:line-2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4 (Session 2): package; fails from another folder, and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cleanup quietly moves the date.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tests.</a:t>
            </a:r>
          </a:p>
        </p:txBody>
      </p:sp>
      <p:sp>
        <p:nvSpPr>
          <p:cNvPr id="10" name="content:line-2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5 (Session 3): tests and CI; CI turns red on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cleanup, but only programmers get a prediction.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API and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18  ·  CONTINUED 2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device example: seven stages, pain to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fix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4</a:t>
            </a:r>
          </a:p>
        </p:txBody>
      </p:sp>
      <p:sp>
        <p:nvSpPr>
          <p:cNvPr id="6" name="content:line-22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1" i="0">
                <a:solidFill>
                  <a:srgbClr val="20344A"/>
                </a:solidFill>
                <a:latin typeface="Arial"/>
              </a:rPr>
              <a:t>UI.</a:t>
            </a:r>
          </a:p>
        </p:txBody>
      </p:sp>
      <p:sp>
        <p:nvSpPr>
          <p:cNvPr id="7" name="content:line-23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6 (Sessions 3–4): FastAPI and Streamlit; works only 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correctly set-up machine.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Fix: Docker.</a:t>
            </a:r>
          </a:p>
        </p:txBody>
      </p:sp>
      <p:sp>
        <p:nvSpPr>
          <p:cNvPr id="8" name="content:line-24:0"/>
          <p:cNvSpPr txBox="1"/>
          <p:nvPr/>
        </p:nvSpPr>
        <p:spPr>
          <a:xfrm>
            <a:off x="594360" y="307390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7 (Session 4): Docker; local and Docker give the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limit date. Tell this story in your final presentation. 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Stage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READMEs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18</a:t>
            </a:r>
          </a:p>
        </p:txBody>
      </p:sp>
      <p:sp>
        <p:nvSpPr>
          <p:cNvPr id="4" name="title:line-2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showcase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5</a:t>
            </a:r>
          </a:p>
        </p:txBody>
      </p:sp>
      <p:sp>
        <p:nvSpPr>
          <p:cNvPr id="6" name="content:line-3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Opening brief: 10 minutes. Group slots: 150 minutes in total.</a:t>
            </a:r>
          </a:p>
        </p:txBody>
      </p:sp>
      <p:sp>
        <p:nvSpPr>
          <p:cNvPr id="7" name="content:line-31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Shared break: 15 minutes between group slots. Closing: 5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minutes.</a:t>
            </a:r>
          </a:p>
        </p:txBody>
      </p:sp>
      <p:sp>
        <p:nvSpPr>
          <p:cNvPr id="8" name="content:line-32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Let G be the actual number of groups; each slot is S = 150 / 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minutes.</a:t>
            </a:r>
          </a:p>
        </p:txBody>
      </p:sp>
      <p:sp>
        <p:nvSpPr>
          <p:cNvPr id="9" name="content:line-33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Total: 10 + G * S + 15 + 5 = 180 minutes.</a:t>
            </a:r>
          </a:p>
        </p:txBody>
      </p:sp>
      <p:sp>
        <p:nvSpPr>
          <p:cNvPr id="10" name="content:line-34:0"/>
          <p:cNvSpPr txBox="1"/>
          <p:nvPr/>
        </p:nvSpPr>
        <p:spPr>
          <a:xfrm>
            <a:off x="594360" y="44104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Publish start/end times once G is known; keep fractional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 or use seconds. Include startup and transitions inside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slots.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18</a:t>
            </a:r>
          </a:p>
        </p:txBody>
      </p:sp>
      <p:sp>
        <p:nvSpPr>
          <p:cNvPr id="4" name="title:line-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Use your group slot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6</a:t>
            </a:r>
          </a:p>
        </p:txBody>
      </p:sp>
      <p:sp>
        <p:nvSpPr>
          <p:cNvPr id="6" name="content:line-4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2: live demo, including startup, CSV processing,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invalid-input rejection.</a:t>
            </a:r>
          </a:p>
        </p:txBody>
      </p:sp>
      <p:sp>
        <p:nvSpPr>
          <p:cNvPr id="7" name="content:line-41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3: inspect environment, tests, CI, comparisons,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collaboration evidence.</a:t>
            </a:r>
          </a:p>
        </p:txBody>
      </p:sp>
      <p:sp>
        <p:nvSpPr>
          <p:cNvPr id="8" name="content:line-42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6: questions, including individual explanations; every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 speaks.</a:t>
            </a:r>
          </a:p>
        </p:txBody>
      </p:sp>
      <p:sp>
        <p:nvSpPr>
          <p:cNvPr id="9" name="content:line-43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fractions sum to S. Open evidence promptly and keep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transitions within your slot.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18</a:t>
            </a:r>
          </a:p>
        </p:txBody>
      </p:sp>
      <p:sp>
        <p:nvSpPr>
          <p:cNvPr id="4" name="title:line-4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Final-only pass/fail assessment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7</a:t>
            </a:r>
          </a:p>
        </p:txBody>
      </p:sp>
      <p:sp>
        <p:nvSpPr>
          <p:cNvPr id="6" name="content:line-4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engineering requirement and every student's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participation requirement is mandatory; no weighted grades.</a:t>
            </a:r>
          </a:p>
        </p:txBody>
      </p:sp>
      <p:sp>
        <p:nvSpPr>
          <p:cNvPr id="7" name="content:line-50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happens only at this presentation. The result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final: no separate submission, resubmission, reassessment,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later retry.</a:t>
            </a:r>
          </a:p>
        </p:txBody>
      </p:sp>
      <p:sp>
        <p:nvSpPr>
          <p:cNvPr id="8" name="content:line-51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Homework and checkpoints were preparation. Modeling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optional; scientific correctness, conclusions, model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complexity, and UI polish are not graded.</a:t>
            </a:r>
          </a:p>
        </p:txBody>
      </p:sp>
      <p:sp>
        <p:nvSpPr>
          <p:cNvPr id="9" name="content:line-52:0"/>
          <p:cNvSpPr txBox="1"/>
          <p:nvPr/>
        </p:nvSpPr>
        <p:spPr>
          <a:xfrm>
            <a:off x="594360" y="497433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Tests and comparisons must still check your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behavior.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assessment policy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18</a:t>
            </a:r>
          </a:p>
        </p:txBody>
      </p:sp>
      <p:sp>
        <p:nvSpPr>
          <p:cNvPr id="4" name="title:line-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Briefing: open the actual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8</a:t>
            </a:r>
          </a:p>
        </p:txBody>
      </p:sp>
      <p:sp>
        <p:nvSpPr>
          <p:cNvPr id="6" name="content:line-5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demonstrates navigation using the completed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synthetic example; groups then show their own work.</a:t>
            </a:r>
          </a:p>
        </p:txBody>
      </p:sp>
      <p:sp>
        <p:nvSpPr>
          <p:cNvPr id="7" name="content:line-5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README evidence links: tested commit SHA, CI run,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captures/logs, authored PRs, and review permalinks. A SHA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identifies a code version.</a:t>
            </a:r>
          </a:p>
        </p:txBody>
      </p:sp>
      <p:sp>
        <p:nvSpPr>
          <p:cNvPr id="8" name="content:line-6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records repository, date, demonstrated SHA,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members, and GitHub usernames in the checklist.</a:t>
            </a:r>
          </a:p>
        </p:txBody>
      </p:sp>
      <p:sp>
        <p:nvSpPr>
          <p:cNvPr id="9" name="content:line-61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For every mandatory row, inspect the actual artifact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Pass/Fail, its URL/path, and an observation. Missing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evidence fails that requirement.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18</a:t>
            </a:r>
          </a:p>
        </p:txBody>
      </p:sp>
      <p:sp>
        <p:nvSpPr>
          <p:cNvPr id="4" name="title:line-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environment and configuration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9</a:t>
            </a:r>
          </a:p>
        </p:txBody>
      </p:sp>
      <p:sp>
        <p:nvSpPr>
          <p:cNvPr id="6" name="content:line-6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Python 3.12 in an active venv, its interpreter path,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installed reusable package working locally.</a:t>
            </a:r>
          </a:p>
        </p:txBody>
      </p:sp>
      <p:sp>
        <p:nvSpPr>
          <p:cNvPr id="7" name="content:line-6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dependency declarations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backend/pyproject.toml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 how the environment supplies these packages.</a:t>
            </a:r>
          </a:p>
        </p:txBody>
      </p:sp>
      <p:sp>
        <p:nvSpPr>
          <p:cNvPr id="8" name="content:line-6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ignore rules and shareable .env.example; verify local .env,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credentials, and .venv stay out of tracked files/history.</a:t>
            </a:r>
          </a:p>
        </p:txBody>
      </p:sp>
      <p:sp>
        <p:nvSpPr>
          <p:cNvPr id="9" name="content:line-70:0"/>
          <p:cNvSpPr txBox="1"/>
          <p:nvPr/>
        </p:nvSpPr>
        <p:spPr>
          <a:xfrm>
            <a:off x="594360" y="427024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local versus container settings without showing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secrets. Instructor inspects files and execution, alongside the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setup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18</a:t>
            </a:r>
          </a:p>
        </p:txBody>
      </p:sp>
      <p:sp>
        <p:nvSpPr>
          <p:cNvPr id="4" name="title:line-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working application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10</a:t>
            </a:r>
          </a:p>
        </p:txBody>
      </p:sp>
      <p:sp>
        <p:nvSpPr>
          <p:cNvPr id="6" name="content:line-77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CSV upload -&gt; Streamlit -&gt; HTTP request -&gt; FastAPI</a:t>
            </a:r>
          </a:p>
        </p:txBody>
      </p:sp>
      <p:sp>
        <p:nvSpPr>
          <p:cNvPr id="7" name="content:line-78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reusable stat_core processing -&gt; result</a:t>
            </a:r>
          </a:p>
        </p:txBody>
      </p:sp>
      <p:sp>
        <p:nvSpPr>
          <p:cNvPr id="8" name="content:line-79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result -&gt; Streamlit -&gt; visible records/summary/chart</a:t>
            </a:r>
          </a:p>
        </p:txBody>
      </p:sp>
      <p:sp>
        <p:nvSpPr>
          <p:cNvPr id="9" name="content:line-82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carries requests and responses between programs;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reusable processing functions work without the API or UI.</a:t>
            </a:r>
          </a:p>
        </p:txBody>
      </p:sp>
      <p:sp>
        <p:nvSpPr>
          <p:cNvPr id="10" name="content:line-83:0"/>
          <p:cNvSpPr txBox="1"/>
          <p:nvPr/>
        </p:nvSpPr>
        <p:spPr>
          <a:xfrm>
            <a:off x="594360" y="37155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follows one request through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API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package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checking inputs and returned results.</a:t>
            </a:r>
          </a:p>
        </p:txBody>
      </p:sp>
      <p:sp>
        <p:nvSpPr>
          <p:cNvPr id="11" name="content:line-84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State your dataset, question, and expected behavior briefly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before tracing your own application.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18</a:t>
            </a:r>
          </a:p>
        </p:txBody>
      </p:sp>
      <p:sp>
        <p:nvSpPr>
          <p:cNvPr id="4" name="title:line-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real startup and CSV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11</a:t>
            </a:r>
          </a:p>
        </p:txBody>
      </p:sp>
      <p:sp>
        <p:nvSpPr>
          <p:cNvPr id="6" name="content:line-90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up --build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live; show frontend/backend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running, backend readiness, and relevant logs or health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responses.</a:t>
            </a:r>
          </a:p>
        </p:txBody>
      </p:sp>
      <p:sp>
        <p:nvSpPr>
          <p:cNvPr id="7" name="content:line-91:0"/>
          <p:cNvSpPr txBox="1"/>
          <p:nvPr/>
        </p:nvSpPr>
        <p:spPr>
          <a:xfrm>
            <a:off x="594360" y="29337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opens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frontend calls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inside Compose. There, localhost means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frontend itself.</a:t>
            </a:r>
          </a:p>
        </p:txBody>
      </p:sp>
      <p:sp>
        <p:nvSpPr>
          <p:cNvPr id="8" name="content:line-92:0"/>
          <p:cNvSpPr txBox="1"/>
          <p:nvPr/>
        </p:nvSpPr>
        <p:spPr>
          <a:xfrm>
            <a:off x="594360" y="413004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and process CSVs; show results or a chart. In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supplied example, upload DM and LB: 24 participants, 96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records, 95 observed, 1 missing.</a:t>
            </a:r>
          </a:p>
        </p:txBody>
      </p:sp>
      <p:sp>
        <p:nvSpPr>
          <p:cNvPr id="9" name="content:line-93:0"/>
          <p:cNvSpPr txBox="1"/>
          <p:nvPr/>
        </p:nvSpPr>
        <p:spPr>
          <a:xfrm>
            <a:off x="594360" y="532638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inspects actual service communication and output,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not only configuration. Follow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Compose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stop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18  ·  CONTINUED 2</a:t>
            </a:r>
          </a:p>
        </p:txBody>
      </p:sp>
      <p:sp>
        <p:nvSpPr>
          <p:cNvPr id="4" name="title:line-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real startup and CSV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12</a:t>
            </a:r>
          </a:p>
        </p:txBody>
      </p:sp>
      <p:sp>
        <p:nvSpPr>
          <p:cNvPr id="6" name="content:line-93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standalone servers using the same ports first.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18</a:t>
            </a:r>
          </a:p>
        </p:txBody>
      </p:sp>
      <p:sp>
        <p:nvSpPr>
          <p:cNvPr id="4" name="title:line-9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validation and its test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13</a:t>
            </a:r>
          </a:p>
        </p:txBody>
      </p:sp>
      <p:sp>
        <p:nvSpPr>
          <p:cNvPr id="6" name="content:line-9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Demonstrate one invalid input rejected clearly; it must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appear as a successful result.</a:t>
            </a:r>
          </a:p>
        </p:txBody>
      </p:sp>
      <p:sp>
        <p:nvSpPr>
          <p:cNvPr id="7" name="content:line-100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the rule: expected types, allowed bounds,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missing-value handling. Missing does not mean zero.</a:t>
            </a:r>
          </a:p>
        </p:txBody>
      </p:sp>
      <p:sp>
        <p:nvSpPr>
          <p:cNvPr id="8" name="content:line-101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supplied example, show the API error and open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corresponding passing validation test.</a:t>
            </a:r>
          </a:p>
        </p:txBody>
      </p:sp>
      <p:sp>
        <p:nvSpPr>
          <p:cNvPr id="9" name="content:line-102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checks the observed rejection against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API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group's declared rule.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18</a:t>
            </a:r>
          </a:p>
        </p:txBody>
      </p:sp>
      <p:sp>
        <p:nvSpPr>
          <p:cNvPr id="4" name="title:line-10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local tests and hosted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14</a:t>
            </a:r>
          </a:p>
        </p:txBody>
      </p:sp>
      <p:sp>
        <p:nvSpPr>
          <p:cNvPr id="6" name="content:line-10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active local environment, 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pytest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backend/tests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show passing output.</a:t>
            </a:r>
          </a:p>
        </p:txBody>
      </p:sp>
      <p:sp>
        <p:nvSpPr>
          <p:cNvPr id="7" name="content:line-10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a successful GitHub Actions run for the demonstrated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commit. CI means automated checks on GitHub; a local pass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alone is insufficient.</a:t>
            </a:r>
          </a:p>
        </p:txBody>
      </p:sp>
      <p:sp>
        <p:nvSpPr>
          <p:cNvPr id="8" name="content:line-110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opens tests at public processing, API,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 boundaries: expected outputs, invalid inputs,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agreement rules.</a:t>
            </a:r>
          </a:p>
        </p:txBody>
      </p:sp>
      <p:sp>
        <p:nvSpPr>
          <p:cNvPr id="9" name="content:line-111:0"/>
          <p:cNvSpPr txBox="1"/>
          <p:nvPr/>
        </p:nvSpPr>
        <p:spPr>
          <a:xfrm>
            <a:off x="594360" y="497433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Tests check declared behavior, not scientific validity.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workflow reporting success does not itself configure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testing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18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Demonstrate the two practical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15</a:t>
            </a:r>
          </a:p>
        </p:txBody>
      </p:sp>
      <p:sp>
        <p:nvSpPr>
          <p:cNvPr id="6" name="content:line-11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under the same conditions.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local run 1 with local run 2.</a:t>
            </a:r>
          </a:p>
        </p:txBody>
      </p:sp>
      <p:sp>
        <p:nvSpPr>
          <p:cNvPr id="7" name="content:line-11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 local with real Docker execution of the same process.</a:t>
            </a:r>
          </a:p>
        </p:txBody>
      </p:sp>
      <p:sp>
        <p:nvSpPr>
          <p:cNvPr id="8" name="content:line-119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bytes unchanged; show successful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comparisons, underlying captures, commands, logs,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details, and code/input identity.</a:t>
            </a:r>
          </a:p>
        </p:txBody>
      </p:sp>
      <p:sp>
        <p:nvSpPr>
          <p:cNvPr id="9" name="content:line-120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 means agreement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 in this course; independent simulation, cross-group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reproduction, and new-data experiments are not required.</a:t>
            </a:r>
          </a:p>
        </p:txBody>
      </p:sp>
      <p:sp>
        <p:nvSpPr>
          <p:cNvPr id="10" name="content:line-121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capture/comparison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18</a:t>
            </a:r>
          </a:p>
        </p:txBody>
      </p:sp>
      <p:sp>
        <p:nvSpPr>
          <p:cNvPr id="4" name="title:line-1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agreement, field by field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16</a:t>
            </a:r>
          </a:p>
        </p:txBody>
      </p:sp>
      <p:sp>
        <p:nvSpPr>
          <p:cNvPr id="6" name="content:line-12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cleaned records, identifiers, raw values, copied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baselines, counts, types, structure, ordering, and nulls.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 stays distinct from zero.</a:t>
            </a:r>
          </a:p>
        </p:txBody>
      </p:sp>
      <p:sp>
        <p:nvSpPr>
          <p:cNvPr id="7" name="content:line-128:0"/>
          <p:cNvSpPr txBox="1"/>
          <p:nvPr/>
        </p:nvSpPr>
        <p:spPr>
          <a:xfrm>
            <a:off x="594360" y="29337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derived decimals receive declared tolerances documented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tests. In the example: change, percent_change,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visit-summary mean.</a:t>
            </a:r>
          </a:p>
        </p:txBody>
      </p:sp>
      <p:sp>
        <p:nvSpPr>
          <p:cNvPr id="8" name="content:line-131:0"/>
          <p:cNvSpPr txBox="1"/>
          <p:nvPr/>
        </p:nvSpPr>
        <p:spPr>
          <a:xfrm>
            <a:off x="594360" y="413004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abs(actual - expected) &lt;= max(1e-9, 1e-9 * abs(expected))</a:t>
            </a:r>
          </a:p>
        </p:txBody>
      </p:sp>
      <p:sp>
        <p:nvSpPr>
          <p:cNvPr id="9" name="content:line-134:0"/>
          <p:cNvSpPr txBox="1"/>
          <p:nvPr/>
        </p:nvSpPr>
        <p:spPr>
          <a:xfrm>
            <a:off x="594360" y="4507992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first output is the reference. Instructor opens outputs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diagnostics; matching charts alone are insufficient. Do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drop fields, round away differences, or widen tolerance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18</a:t>
            </a:r>
          </a:p>
        </p:txBody>
      </p:sp>
      <p:sp>
        <p:nvSpPr>
          <p:cNvPr id="4" name="title:line-1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collaboration and every member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17</a:t>
            </a:r>
          </a:p>
        </p:txBody>
      </p:sp>
      <p:sp>
        <p:nvSpPr>
          <p:cNvPr id="6" name="content:line-140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feature branches, descriptive commits, PRs,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meaningful teammate reviews about behavior, tests,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clarity; show responses/follow-up to concerns.</a:t>
            </a:r>
          </a:p>
        </p:txBody>
      </p:sp>
      <p:sp>
        <p:nvSpPr>
          <p:cNvPr id="7" name="content:line-141:0"/>
          <p:cNvSpPr txBox="1"/>
          <p:nvPr/>
        </p:nvSpPr>
        <p:spPr>
          <a:xfrm>
            <a:off x="594360" y="29337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For EACH student: open at least one personally authored PR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at least one substantive review of a teammate's PR,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authorship and review permalinks.</a:t>
            </a:r>
          </a:p>
        </p:txBody>
      </p:sp>
      <p:sp>
        <p:nvSpPr>
          <p:cNvPr id="8" name="content:line-142:0"/>
          <p:cNvSpPr txBox="1"/>
          <p:nvPr/>
        </p:nvSpPr>
        <p:spPr>
          <a:xfrm>
            <a:off x="594360" y="413004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member explains their contribution, authored change,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 reasoning, and any follow-up.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9" name="content:line-143:0"/>
          <p:cNvSpPr txBox="1"/>
          <p:nvPr/>
        </p:nvSpPr>
        <p:spPr>
          <a:xfrm>
            <a:off x="594360" y="532638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completes an individual evidence row for every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member. Template history and instructor/agent work do not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18  ·  CONTINUED 2</a:t>
            </a:r>
          </a:p>
        </p:txBody>
      </p:sp>
      <p:sp>
        <p:nvSpPr>
          <p:cNvPr id="4" name="title:line-1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collaboration and every member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18</a:t>
            </a:r>
          </a:p>
        </p:txBody>
      </p:sp>
      <p:sp>
        <p:nvSpPr>
          <p:cNvPr id="6" name="content:line-143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count;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collaboration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18</a:t>
            </a:r>
          </a:p>
        </p:txBody>
      </p:sp>
      <p:sp>
        <p:nvSpPr>
          <p:cNvPr id="4" name="title:line-14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Questions follow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19</a:t>
            </a:r>
          </a:p>
        </p:txBody>
      </p:sp>
      <p:sp>
        <p:nvSpPr>
          <p:cNvPr id="6" name="content:line-14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Why does this input fail? Open the rejection and the test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establishes the rule.</a:t>
            </a:r>
          </a:p>
        </p:txBody>
      </p:sp>
      <p:sp>
        <p:nvSpPr>
          <p:cNvPr id="7" name="content:line-150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code and input produced these outputs? Open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and capture fingerprints, then explain environment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differences.</a:t>
            </a:r>
          </a:p>
        </p:txBody>
      </p:sp>
      <p:sp>
        <p:nvSpPr>
          <p:cNvPr id="8" name="content:line-151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fields compare exactly, and why is a derived value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allowed tolerance? Open the comparison and its tests.</a:t>
            </a:r>
          </a:p>
        </p:txBody>
      </p:sp>
      <p:sp>
        <p:nvSpPr>
          <p:cNvPr id="9" name="content:line-152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What did you change or ask a teammate to improve? Open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 or review and explain the result.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18</a:t>
            </a:r>
          </a:p>
        </p:txBody>
      </p:sp>
      <p:sp>
        <p:nvSpPr>
          <p:cNvPr id="4" name="title:line-1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Shared break and remaining groups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20</a:t>
            </a:r>
          </a:p>
        </p:txBody>
      </p:sp>
      <p:sp>
        <p:nvSpPr>
          <p:cNvPr id="6" name="content:line-15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the reserved 15-minute break at the published slot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boundary.</a:t>
            </a:r>
          </a:p>
        </p:txBody>
      </p:sp>
      <p:sp>
        <p:nvSpPr>
          <p:cNvPr id="7" name="content:line-15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Resume with the next group's live demo, evidence inspection,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questions using the same S allocation.</a:t>
            </a:r>
          </a:p>
        </p:txBody>
      </p:sp>
      <p:sp>
        <p:nvSpPr>
          <p:cNvPr id="8" name="content:line-16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group uses the same mandatory checklist; keep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reserved five-minute closing within the three hours.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18</a:t>
            </a:r>
          </a:p>
        </p:txBody>
      </p:sp>
      <p:sp>
        <p:nvSpPr>
          <p:cNvPr id="4" name="title:line-16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Closing: connect the engineering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21</a:t>
            </a:r>
          </a:p>
        </p:txBody>
      </p:sp>
      <p:sp>
        <p:nvSpPr>
          <p:cNvPr id="6" name="content:line-16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final five minutes to connect environment, package,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API/UI, containers, tests, comparisons, and peer review.</a:t>
            </a:r>
          </a:p>
        </p:txBody>
      </p:sp>
      <p:sp>
        <p:nvSpPr>
          <p:cNvPr id="7" name="content:line-16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requires every mandatory group row and every student's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individual participation requirement to pass.</a:t>
            </a:r>
          </a:p>
        </p:txBody>
      </p:sp>
      <p:sp>
        <p:nvSpPr>
          <p:cNvPr id="8" name="content:line-168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records failed rows and reasons at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presentation; no averaging or complexity bonuses, and no later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retry.</a:t>
            </a:r>
          </a:p>
        </p:txBody>
      </p:sp>
      <p:sp>
        <p:nvSpPr>
          <p:cNvPr id="9" name="content:line-169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final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remain the assessment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5: Final showcase and engineering review</dc:title>
  <dc:subject>Editable slides generated from session-5.md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