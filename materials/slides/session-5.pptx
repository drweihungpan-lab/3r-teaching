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assessment/final-presentation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rweihungpan-lab/3R-sandbox/tree/main/device-example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SYLLABUS.md#assessment-policy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GLOSSARY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assessment/final-presentation.md" TargetMode="External"/><Relationship Id="rId3" Type="http://schemas.openxmlformats.org/officeDocument/2006/relationships/hyperlink" Target="../../SYLLABUS.md#assessment-polic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 / 18</a:t>
            </a:r>
          </a:p>
        </p:txBody>
      </p:sp>
      <p:sp>
        <p:nvSpPr>
          <p:cNvPr id="4" name="title:line-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Session 5: Final showcase and engineering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review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1</a:t>
            </a:r>
          </a:p>
        </p:txBody>
      </p:sp>
      <p:sp>
        <p:nvSpPr>
          <p:cNvPr id="6" name="content:line-3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Demonstrate your group's working application and declared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processing behavior.</a:t>
            </a:r>
          </a:p>
        </p:txBody>
      </p:sp>
      <p:sp>
        <p:nvSpPr>
          <p:cNvPr id="7" name="content:line-4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Explain the evidence behind the results and each person's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contribution.</a:t>
            </a:r>
          </a:p>
        </p:txBody>
      </p:sp>
      <p:sp>
        <p:nvSpPr>
          <p:cNvPr id="8" name="content:line-5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your own Backend repo, dataset, and question in groups of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three or four.</a:t>
            </a:r>
          </a:p>
        </p:txBody>
      </p:sp>
      <p:sp>
        <p:nvSpPr>
          <p:cNvPr id="9" name="content:line-6:0"/>
          <p:cNvSpPr txBox="1"/>
          <p:nvPr/>
        </p:nvSpPr>
        <p:spPr>
          <a:xfrm>
            <a:off x="594360" y="427024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final presentation checklist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governs this briefing.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 / 18</a:t>
            </a:r>
          </a:p>
        </p:txBody>
      </p:sp>
      <p:sp>
        <p:nvSpPr>
          <p:cNvPr id="4" name="title:line-1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Back at the bubble tea shop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2</a:t>
            </a:r>
          </a:p>
        </p:txBody>
      </p:sp>
      <p:sp>
        <p:nvSpPr>
          <p:cNvPr id="6" name="content:line-12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1" i="0">
                <a:solidFill>
                  <a:srgbClr val="20344A"/>
                </a:solidFill>
                <a:latin typeface="Arial"/>
              </a:rPr>
              <a:t>How would you prove to a customer that both shops make the </a:t>
            </a:r>
            <a:br/>
            <a:r>
              <a:rPr sz="2100" b="1" i="0">
                <a:solidFill>
                  <a:srgbClr val="20344A"/>
                </a:solidFill>
                <a:latin typeface="Arial"/>
              </a:rPr>
              <a:t>same tea?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3 / 18</a:t>
            </a:r>
          </a:p>
        </p:txBody>
      </p:sp>
      <p:sp>
        <p:nvSpPr>
          <p:cNvPr id="4" name="title:line-1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The device example: seven stages, pain to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fix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3</a:t>
            </a:r>
          </a:p>
        </p:txBody>
      </p:sp>
      <p:sp>
        <p:nvSpPr>
          <p:cNvPr id="6" name="content:line-18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Stage 1 (Session 1): notebook copied as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v1</a:t>
            </a:r>
            <a:r>
              <a:rPr sz="2100" b="0" i="0">
                <a:solidFill>
                  <a:srgbClr val="20344A"/>
                </a:solidFill>
                <a:latin typeface="Arial"/>
              </a:rPr>
              <a:t>/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v2</a:t>
            </a:r>
            <a:r>
              <a:rPr sz="2100" b="0" i="0">
                <a:solidFill>
                  <a:srgbClr val="20344A"/>
                </a:solidFill>
                <a:latin typeface="Arial"/>
              </a:rPr>
              <a:t>/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v3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which copy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made the report?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Fix: Git.</a:t>
            </a:r>
          </a:p>
        </p:txBody>
      </p:sp>
      <p:sp>
        <p:nvSpPr>
          <p:cNvPr id="7" name="content:line-19:0"/>
          <p:cNvSpPr txBox="1"/>
          <p:nvPr/>
        </p:nvSpPr>
        <p:spPr>
          <a:xfrm>
            <a:off x="594360" y="258165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Stage 2 (Session 1): helper files; works with pandas 1.5,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crashes with pandas 2.x.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Fix: isolated environment and </a:t>
            </a:r>
            <a:br/>
            <a:r>
              <a:rPr sz="2100" b="1" i="0">
                <a:solidFill>
                  <a:srgbClr val="20344A"/>
                </a:solidFill>
                <a:latin typeface="Arial"/>
              </a:rPr>
              <a:t>declared dependencies.</a:t>
            </a:r>
          </a:p>
        </p:txBody>
      </p:sp>
      <p:sp>
        <p:nvSpPr>
          <p:cNvPr id="8" name="content:line-20:0"/>
          <p:cNvSpPr txBox="1"/>
          <p:nvPr/>
        </p:nvSpPr>
        <p:spPr>
          <a:xfrm>
            <a:off x="594360" y="377799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Stage 3 (Session 2):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requirements.txt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rerunning a cell moves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the date.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Fix: functions with inputs and outputs.</a:t>
            </a:r>
          </a:p>
        </p:txBody>
      </p:sp>
      <p:sp>
        <p:nvSpPr>
          <p:cNvPr id="9" name="content:line-21:0"/>
          <p:cNvSpPr txBox="1"/>
          <p:nvPr/>
        </p:nvSpPr>
        <p:spPr>
          <a:xfrm>
            <a:off x="594360" y="4622292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Stage 4 (Session 2): package; fails from another folder, and a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cleanup quietly moves the date.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Fix: tests, and a Release </a:t>
            </a:r>
            <a:br/>
            <a:r>
              <a:rPr sz="2100" b="1" i="0">
                <a:solidFill>
                  <a:srgbClr val="20344A"/>
                </a:solidFill>
                <a:latin typeface="Arial"/>
              </a:rPr>
              <a:t>others can install.</a:t>
            </a:r>
          </a:p>
        </p:txBody>
      </p:sp>
      <p:sp>
        <p:nvSpPr>
          <p:cNvPr id="10" name="content:line-22:0"/>
          <p:cNvSpPr txBox="1"/>
          <p:nvPr/>
        </p:nvSpPr>
        <p:spPr>
          <a:xfrm>
            <a:off x="594360" y="581863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Stage 5 (Session 3): tests and CI; CI turns red on that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3 / 18  ·  CONTINUED 2</a:t>
            </a:r>
          </a:p>
        </p:txBody>
      </p:sp>
      <p:sp>
        <p:nvSpPr>
          <p:cNvPr id="4" name="title:line-1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The device example: seven stages, pain to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fix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4</a:t>
            </a:r>
          </a:p>
        </p:txBody>
      </p:sp>
      <p:sp>
        <p:nvSpPr>
          <p:cNvPr id="6" name="content:line-22:1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 "/>
            </a:pPr>
            <a:r>
              <a:rPr sz="2100" b="0" i="0">
                <a:solidFill>
                  <a:srgbClr val="20344A"/>
                </a:solidFill>
                <a:latin typeface="Arial"/>
              </a:rPr>
              <a:t>cleanup, but only programmers get a prediction.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Fix: API and </a:t>
            </a:r>
            <a:br/>
            <a:r>
              <a:rPr sz="2100" b="1" i="0">
                <a:solidFill>
                  <a:srgbClr val="20344A"/>
                </a:solidFill>
                <a:latin typeface="Arial"/>
              </a:rPr>
              <a:t>UI.</a:t>
            </a:r>
          </a:p>
        </p:txBody>
      </p:sp>
      <p:sp>
        <p:nvSpPr>
          <p:cNvPr id="7" name="content:line-23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Stage 6 (Session 4): FastAPI and Streamlit; works only on a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correctly set-up machine.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Fix: Docker.</a:t>
            </a:r>
          </a:p>
        </p:txBody>
      </p:sp>
      <p:sp>
        <p:nvSpPr>
          <p:cNvPr id="8" name="content:line-24:0"/>
          <p:cNvSpPr txBox="1"/>
          <p:nvPr/>
        </p:nvSpPr>
        <p:spPr>
          <a:xfrm>
            <a:off x="594360" y="3425952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Stage 7 (Session 4): Docker; local and Docker give the same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limit date. Tell this story in your final presentation. (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Stage </a:t>
            </a:r>
            <a:br/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READMEs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4 / 18</a:t>
            </a:r>
          </a:p>
        </p:txBody>
      </p:sp>
      <p:sp>
        <p:nvSpPr>
          <p:cNvPr id="4" name="title:line-28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Our 170-minute showcase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5</a:t>
            </a:r>
          </a:p>
        </p:txBody>
      </p:sp>
      <p:sp>
        <p:nvSpPr>
          <p:cNvPr id="6" name="content:line-30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Opening brief: 10 minutes. Group slots: 145 minutes in total.</a:t>
            </a:r>
          </a:p>
        </p:txBody>
      </p:sp>
      <p:sp>
        <p:nvSpPr>
          <p:cNvPr id="7" name="content:line-31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Shared break: 10 minutes between group slots. Closing: 5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minutes.</a:t>
            </a:r>
          </a:p>
        </p:txBody>
      </p:sp>
      <p:sp>
        <p:nvSpPr>
          <p:cNvPr id="8" name="content:line-32:0"/>
          <p:cNvSpPr txBox="1"/>
          <p:nvPr/>
        </p:nvSpPr>
        <p:spPr>
          <a:xfrm>
            <a:off x="594360" y="30739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Let G be the actual number of groups; each slot is S = 145 / G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minutes.</a:t>
            </a:r>
          </a:p>
        </p:txBody>
      </p:sp>
      <p:sp>
        <p:nvSpPr>
          <p:cNvPr id="9" name="content:line-33:0"/>
          <p:cNvSpPr txBox="1"/>
          <p:nvPr/>
        </p:nvSpPr>
        <p:spPr>
          <a:xfrm>
            <a:off x="594360" y="391820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Total: 10 + G * S + 10 + 5 = 170 minutes.</a:t>
            </a:r>
          </a:p>
        </p:txBody>
      </p:sp>
      <p:sp>
        <p:nvSpPr>
          <p:cNvPr id="10" name="content:line-34:0"/>
          <p:cNvSpPr txBox="1"/>
          <p:nvPr/>
        </p:nvSpPr>
        <p:spPr>
          <a:xfrm>
            <a:off x="594360" y="441045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Publish start/end times once G is known; keep fractional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minutes or use seconds. Include startup and transitions inside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slots.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5 / 18</a:t>
            </a:r>
          </a:p>
        </p:txBody>
      </p:sp>
      <p:sp>
        <p:nvSpPr>
          <p:cNvPr id="4" name="title:line-38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Use your group slot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6</a:t>
            </a:r>
          </a:p>
        </p:txBody>
      </p:sp>
      <p:sp>
        <p:nvSpPr>
          <p:cNvPr id="6" name="content:line-40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 / 2: live demo, including startup, CSV processing,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invalid-input rejection.</a:t>
            </a:r>
          </a:p>
        </p:txBody>
      </p:sp>
      <p:sp>
        <p:nvSpPr>
          <p:cNvPr id="7" name="content:line-41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 / 3: inspect environment, tests, CI, comparisons,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collaboration evidence.</a:t>
            </a:r>
          </a:p>
        </p:txBody>
      </p:sp>
      <p:sp>
        <p:nvSpPr>
          <p:cNvPr id="8" name="content:line-42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 / 6: questions, including individual explanations; every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member speaks.</a:t>
            </a:r>
          </a:p>
        </p:txBody>
      </p:sp>
      <p:sp>
        <p:nvSpPr>
          <p:cNvPr id="9" name="content:line-43:0"/>
          <p:cNvSpPr txBox="1"/>
          <p:nvPr/>
        </p:nvSpPr>
        <p:spPr>
          <a:xfrm>
            <a:off x="594360" y="427024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These fractions sum to S. Open evidence promptly and keep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transitions within your slot.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6 / 18</a:t>
            </a:r>
          </a:p>
        </p:txBody>
      </p:sp>
      <p:sp>
        <p:nvSpPr>
          <p:cNvPr id="4" name="title:line-4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Final-only pass/fail assessment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7</a:t>
            </a:r>
          </a:p>
        </p:txBody>
      </p:sp>
      <p:sp>
        <p:nvSpPr>
          <p:cNvPr id="6" name="content:line-49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Every engineering requirement and every student's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participation requirement is mandatory; no weighted grades.</a:t>
            </a:r>
          </a:p>
        </p:txBody>
      </p:sp>
      <p:sp>
        <p:nvSpPr>
          <p:cNvPr id="7" name="content:line-50:0"/>
          <p:cNvSpPr txBox="1"/>
          <p:nvPr/>
        </p:nvSpPr>
        <p:spPr>
          <a:xfrm>
            <a:off x="594360" y="258165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Assessment happens only at this presentation. The result is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final: no separate submission, resubmission, reassessment, 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later retry.</a:t>
            </a:r>
          </a:p>
        </p:txBody>
      </p:sp>
      <p:sp>
        <p:nvSpPr>
          <p:cNvPr id="8" name="content:line-51:0"/>
          <p:cNvSpPr txBox="1"/>
          <p:nvPr/>
        </p:nvSpPr>
        <p:spPr>
          <a:xfrm>
            <a:off x="594360" y="377799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Homework and checkpoints were preparation. Modeling is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optional; scientific correctness, conclusions, model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complexity, and UI polish are not graded.</a:t>
            </a:r>
          </a:p>
        </p:txBody>
      </p:sp>
      <p:sp>
        <p:nvSpPr>
          <p:cNvPr id="9" name="content:line-52:0"/>
          <p:cNvSpPr txBox="1"/>
          <p:nvPr/>
        </p:nvSpPr>
        <p:spPr>
          <a:xfrm>
            <a:off x="594360" y="497433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Tests and comparisons must still check your declared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processing behavior. See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assessment policy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7 / 18</a:t>
            </a:r>
          </a:p>
        </p:txBody>
      </p:sp>
      <p:sp>
        <p:nvSpPr>
          <p:cNvPr id="4" name="title:line-5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Briefing: open the actual evidence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8</a:t>
            </a:r>
          </a:p>
        </p:txBody>
      </p:sp>
      <p:sp>
        <p:nvSpPr>
          <p:cNvPr id="6" name="content:line-58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Instructor demonstrates navigation using a completed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example Backend repo; groups then show their own work.</a:t>
            </a:r>
          </a:p>
        </p:txBody>
      </p:sp>
      <p:sp>
        <p:nvSpPr>
          <p:cNvPr id="7" name="content:line-59:0"/>
          <p:cNvSpPr txBox="1"/>
          <p:nvPr/>
        </p:nvSpPr>
        <p:spPr>
          <a:xfrm>
            <a:off x="594360" y="258165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README evidence links: tested commit SHA, CI run,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captures/logs, authored PRs, review permalinks, and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Release tag. A SHA identifies a code version.</a:t>
            </a:r>
          </a:p>
        </p:txBody>
      </p:sp>
      <p:sp>
        <p:nvSpPr>
          <p:cNvPr id="8" name="content:line-60:0"/>
          <p:cNvSpPr txBox="1"/>
          <p:nvPr/>
        </p:nvSpPr>
        <p:spPr>
          <a:xfrm>
            <a:off x="594360" y="377799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Instructor records repository, date, demonstrated SHA,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members, and GitHub usernames in the checklist.</a:t>
            </a:r>
          </a:p>
        </p:txBody>
      </p:sp>
      <p:sp>
        <p:nvSpPr>
          <p:cNvPr id="9" name="content:line-61:0"/>
          <p:cNvSpPr txBox="1"/>
          <p:nvPr/>
        </p:nvSpPr>
        <p:spPr>
          <a:xfrm>
            <a:off x="594360" y="4622292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For every mandatory row, inspect the actual artifact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record Pass/Fail, its URL/path, and an observation. Missing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evidence fails that requirement.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8 / 18</a:t>
            </a:r>
          </a:p>
        </p:txBody>
      </p:sp>
      <p:sp>
        <p:nvSpPr>
          <p:cNvPr id="4" name="title:line-6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Inspect environment, configuration, and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Releases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9</a:t>
            </a:r>
          </a:p>
        </p:txBody>
      </p:sp>
      <p:sp>
        <p:nvSpPr>
          <p:cNvPr id="6" name="content:line-67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Show Python 3.12 in an active venv and the installed package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working locally.</a:t>
            </a:r>
          </a:p>
        </p:txBody>
      </p:sp>
      <p:sp>
        <p:nvSpPr>
          <p:cNvPr id="7" name="content:line-68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the dependency declarations in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setup.cfg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explain how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environment supplies these packages.</a:t>
            </a:r>
          </a:p>
        </p:txBody>
      </p:sp>
      <p:sp>
        <p:nvSpPr>
          <p:cNvPr id="8" name="content:line-69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ignore rules and the shareable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.env.example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verify local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.env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credentials,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.venv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stay out of tracked files/history.</a:t>
            </a:r>
          </a:p>
        </p:txBody>
      </p:sp>
      <p:sp>
        <p:nvSpPr>
          <p:cNvPr id="9" name="content:line-70:0"/>
          <p:cNvSpPr txBox="1"/>
          <p:nvPr/>
        </p:nvSpPr>
        <p:spPr>
          <a:xfrm>
            <a:off x="594360" y="427024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Show a tagged Release and install it from its git URL into a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fresh virtual environment; run the command-line tool.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9 / 18</a:t>
            </a:r>
          </a:p>
        </p:txBody>
      </p:sp>
      <p:sp>
        <p:nvSpPr>
          <p:cNvPr id="4" name="title:line-7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Trace the working application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10</a:t>
            </a:r>
          </a:p>
        </p:txBody>
      </p:sp>
      <p:sp>
        <p:nvSpPr>
          <p:cNvPr id="6" name="content:line-77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CSV upload -&gt; Frontend page -&gt; HTTP request -&gt; FastAPI</a:t>
            </a:r>
          </a:p>
        </p:txBody>
      </p:sp>
      <p:sp>
        <p:nvSpPr>
          <p:cNvPr id="7" name="content:line-78:0"/>
          <p:cNvSpPr txBox="1"/>
          <p:nvPr/>
        </p:nvSpPr>
        <p:spPr>
          <a:xfrm>
            <a:off x="594360" y="21153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FastAPI -&gt; package processing function -&gt; result</a:t>
            </a:r>
          </a:p>
        </p:txBody>
      </p:sp>
      <p:sp>
        <p:nvSpPr>
          <p:cNvPr id="8" name="content:line-79:0"/>
          <p:cNvSpPr txBox="1"/>
          <p:nvPr/>
        </p:nvSpPr>
        <p:spPr>
          <a:xfrm>
            <a:off x="594360" y="24932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result -&gt; page -&gt; visible table or chart</a:t>
            </a:r>
          </a:p>
        </p:txBody>
      </p:sp>
      <p:sp>
        <p:nvSpPr>
          <p:cNvPr id="9" name="content:line-82:0"/>
          <p:cNvSpPr txBox="1"/>
          <p:nvPr/>
        </p:nvSpPr>
        <p:spPr>
          <a:xfrm>
            <a:off x="594360" y="2871215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HTTP carries requests and responses between programs;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processing function works without the API or the page.</a:t>
            </a:r>
          </a:p>
        </p:txBody>
      </p:sp>
      <p:sp>
        <p:nvSpPr>
          <p:cNvPr id="10" name="content:line-83:0"/>
          <p:cNvSpPr txBox="1"/>
          <p:nvPr/>
        </p:nvSpPr>
        <p:spPr>
          <a:xfrm>
            <a:off x="594360" y="3715511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Instructor follows one request through the Frontend repo's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client, your API module, and your package, checking inputs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returned results.</a:t>
            </a:r>
          </a:p>
        </p:txBody>
      </p:sp>
      <p:sp>
        <p:nvSpPr>
          <p:cNvPr id="11" name="content:line-84:0"/>
          <p:cNvSpPr txBox="1"/>
          <p:nvPr/>
        </p:nvSpPr>
        <p:spPr>
          <a:xfrm>
            <a:off x="594360" y="4911851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State your dataset, question, and expected behavior briefly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before tracing your own application.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10 / 18</a:t>
            </a:r>
          </a:p>
        </p:txBody>
      </p:sp>
      <p:sp>
        <p:nvSpPr>
          <p:cNvPr id="4" name="title:line-88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Show real startup and CSV results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11</a:t>
            </a:r>
          </a:p>
        </p:txBody>
      </p:sp>
      <p:sp>
        <p:nvSpPr>
          <p:cNvPr id="6" name="content:line-90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Run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docker compose up --build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live; show both services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running, backend readiness, and relevant logs or health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responses.</a:t>
            </a:r>
          </a:p>
        </p:txBody>
      </p:sp>
      <p:sp>
        <p:nvSpPr>
          <p:cNvPr id="7" name="content:line-91:0"/>
          <p:cNvSpPr txBox="1"/>
          <p:nvPr/>
        </p:nvSpPr>
        <p:spPr>
          <a:xfrm>
            <a:off x="594360" y="293370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Browser opens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http://127.0.0.1:8501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the page calls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http://backend:8000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inside Compose. There, localhost means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the page itself.</a:t>
            </a:r>
          </a:p>
        </p:txBody>
      </p:sp>
      <p:sp>
        <p:nvSpPr>
          <p:cNvPr id="8" name="content:line-92:0"/>
          <p:cNvSpPr txBox="1"/>
          <p:nvPr/>
        </p:nvSpPr>
        <p:spPr>
          <a:xfrm>
            <a:off x="594360" y="413004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Upload your group's CSV and show the results or a chart.</a:t>
            </a:r>
          </a:p>
        </p:txBody>
      </p:sp>
      <p:sp>
        <p:nvSpPr>
          <p:cNvPr id="9" name="content:line-93:0"/>
          <p:cNvSpPr txBox="1"/>
          <p:nvPr/>
        </p:nvSpPr>
        <p:spPr>
          <a:xfrm>
            <a:off x="594360" y="4622292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Instructor inspects actual service communication and output,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not only configuration. Stop standalone servers using the same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ports first.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11 / 18</a:t>
            </a:r>
          </a:p>
        </p:txBody>
      </p:sp>
      <p:sp>
        <p:nvSpPr>
          <p:cNvPr id="4" name="title:line-9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Show validation and its test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12</a:t>
            </a:r>
          </a:p>
        </p:txBody>
      </p:sp>
      <p:sp>
        <p:nvSpPr>
          <p:cNvPr id="6" name="content:line-99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Demonstrate one invalid input rejected clearly; it must not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appear as a successful result.</a:t>
            </a:r>
          </a:p>
        </p:txBody>
      </p:sp>
      <p:sp>
        <p:nvSpPr>
          <p:cNvPr id="7" name="content:line-100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Explain the rule: expected types, allowed bounds, 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missing-value handling. Missing does not mean zero.</a:t>
            </a:r>
          </a:p>
        </p:txBody>
      </p:sp>
      <p:sp>
        <p:nvSpPr>
          <p:cNvPr id="8" name="content:line-101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Show the API error for the rejected input and open its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corresponding passing validation test.</a:t>
            </a:r>
          </a:p>
        </p:txBody>
      </p:sp>
      <p:sp>
        <p:nvSpPr>
          <p:cNvPr id="9" name="content:line-102:0"/>
          <p:cNvSpPr txBox="1"/>
          <p:nvPr/>
        </p:nvSpPr>
        <p:spPr>
          <a:xfrm>
            <a:off x="594360" y="427024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Instructor checks the observed rejection against the group's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declared rule.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12 / 18</a:t>
            </a:r>
          </a:p>
        </p:txBody>
      </p:sp>
      <p:sp>
        <p:nvSpPr>
          <p:cNvPr id="4" name="title:line-10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Inspect local tests and hosted CI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13</a:t>
            </a:r>
          </a:p>
        </p:txBody>
      </p:sp>
      <p:sp>
        <p:nvSpPr>
          <p:cNvPr id="6" name="content:line-108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 the active local environment, run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pytest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show passing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output.</a:t>
            </a:r>
          </a:p>
        </p:txBody>
      </p:sp>
      <p:sp>
        <p:nvSpPr>
          <p:cNvPr id="7" name="content:line-109:0"/>
          <p:cNvSpPr txBox="1"/>
          <p:nvPr/>
        </p:nvSpPr>
        <p:spPr>
          <a:xfrm>
            <a:off x="594360" y="258165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a successful GitHub Actions run for the demonstrated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commit with the test job switched on. CI means automated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checks on GitHub; a local pass alone is insufficient.</a:t>
            </a:r>
          </a:p>
        </p:txBody>
      </p:sp>
      <p:sp>
        <p:nvSpPr>
          <p:cNvPr id="8" name="content:line-110:0"/>
          <p:cNvSpPr txBox="1"/>
          <p:nvPr/>
        </p:nvSpPr>
        <p:spPr>
          <a:xfrm>
            <a:off x="594360" y="377799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Instructor opens tests for processing, invalid inputs,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agreement rules.</a:t>
            </a:r>
          </a:p>
        </p:txBody>
      </p:sp>
      <p:sp>
        <p:nvSpPr>
          <p:cNvPr id="9" name="content:line-111:0"/>
          <p:cNvSpPr txBox="1"/>
          <p:nvPr/>
        </p:nvSpPr>
        <p:spPr>
          <a:xfrm>
            <a:off x="594360" y="4622292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Tests check declared behavior, not scientific validity. A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workflow reporting success does not itself configure required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checks.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13 / 18</a:t>
            </a:r>
          </a:p>
        </p:txBody>
      </p:sp>
      <p:sp>
        <p:nvSpPr>
          <p:cNvPr id="4" name="title:line-11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Demonstrate the two practical Rs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14</a:t>
            </a:r>
          </a:p>
        </p:txBody>
      </p:sp>
      <p:sp>
        <p:nvSpPr>
          <p:cNvPr id="6" name="content:line-117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Repeatability: agreement under the same conditions. Compare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local run 1 with local run 2.</a:t>
            </a:r>
          </a:p>
        </p:txBody>
      </p:sp>
      <p:sp>
        <p:nvSpPr>
          <p:cNvPr id="7" name="content:line-118:0"/>
          <p:cNvSpPr txBox="1"/>
          <p:nvPr/>
        </p:nvSpPr>
        <p:spPr>
          <a:xfrm>
            <a:off x="594360" y="258165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Replicability: agreement under slightly different conditions.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Compare a Release installed in a fresh environment, and a real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Docker run, with the local run.</a:t>
            </a:r>
          </a:p>
        </p:txBody>
      </p:sp>
      <p:sp>
        <p:nvSpPr>
          <p:cNvPr id="8" name="content:line-119:0"/>
          <p:cNvSpPr txBox="1"/>
          <p:nvPr/>
        </p:nvSpPr>
        <p:spPr>
          <a:xfrm>
            <a:off x="594360" y="377799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code and CSV unchanged; show successful comparisons,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underlying captures, commands, logs, and environment details.</a:t>
            </a:r>
          </a:p>
        </p:txBody>
      </p:sp>
      <p:sp>
        <p:nvSpPr>
          <p:cNvPr id="9" name="content:line-120:0"/>
          <p:cNvSpPr txBox="1"/>
          <p:nvPr/>
        </p:nvSpPr>
        <p:spPr>
          <a:xfrm>
            <a:off x="594360" y="4622292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Reproducibility means agreement under very different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conditions in this course; independent simulation, cross-group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reproduction, and new-data experiments are not required.</a:t>
            </a:r>
          </a:p>
        </p:txBody>
      </p:sp>
      <p:sp>
        <p:nvSpPr>
          <p:cNvPr id="10" name="content:line-121:0"/>
          <p:cNvSpPr txBox="1"/>
          <p:nvPr/>
        </p:nvSpPr>
        <p:spPr>
          <a:xfrm>
            <a:off x="594360" y="581863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glossary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14 / 18</a:t>
            </a:r>
          </a:p>
        </p:txBody>
      </p:sp>
      <p:sp>
        <p:nvSpPr>
          <p:cNvPr id="4" name="title:line-12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Inspect agreement, field by field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15</a:t>
            </a:r>
          </a:p>
        </p:txBody>
      </p:sp>
      <p:sp>
        <p:nvSpPr>
          <p:cNvPr id="6" name="content:line-127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Exact: cleaned records, identifiers, dates, counts, types,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structure, ordering, and nulls. Missing stays distinct from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zero.</a:t>
            </a:r>
          </a:p>
        </p:txBody>
      </p:sp>
      <p:sp>
        <p:nvSpPr>
          <p:cNvPr id="7" name="content:line-128:0"/>
          <p:cNvSpPr txBox="1"/>
          <p:nvPr/>
        </p:nvSpPr>
        <p:spPr>
          <a:xfrm>
            <a:off x="594360" y="29337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Only derived decimals receive declared tolerances documented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 tests.</a:t>
            </a:r>
          </a:p>
        </p:txBody>
      </p:sp>
      <p:sp>
        <p:nvSpPr>
          <p:cNvPr id="8" name="content:line-131:0"/>
          <p:cNvSpPr txBox="1"/>
          <p:nvPr/>
        </p:nvSpPr>
        <p:spPr>
          <a:xfrm>
            <a:off x="594360" y="377799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abs(actual - expected) &lt;= max(1e-9, 1e-9 * abs(expected))</a:t>
            </a:r>
          </a:p>
        </p:txBody>
      </p:sp>
      <p:sp>
        <p:nvSpPr>
          <p:cNvPr id="9" name="content:line-134:0"/>
          <p:cNvSpPr txBox="1"/>
          <p:nvPr/>
        </p:nvSpPr>
        <p:spPr>
          <a:xfrm>
            <a:off x="594360" y="4155948"/>
            <a:ext cx="11003279" cy="148437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first output is the reference. Instructor opens outputs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and diagnostics; matching charts alone are insufficient. Do not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drop fields, round away differences, or widen tolerance to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pass.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15 / 18</a:t>
            </a:r>
          </a:p>
        </p:txBody>
      </p:sp>
      <p:sp>
        <p:nvSpPr>
          <p:cNvPr id="4" name="title:line-138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Inspect collaboration and every member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16</a:t>
            </a:r>
          </a:p>
        </p:txBody>
      </p:sp>
      <p:sp>
        <p:nvSpPr>
          <p:cNvPr id="6" name="content:line-140:0"/>
          <p:cNvSpPr txBox="1"/>
          <p:nvPr/>
        </p:nvSpPr>
        <p:spPr>
          <a:xfrm>
            <a:off x="594360" y="1737360"/>
            <a:ext cx="11003279" cy="148437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feature branches, descriptive commits, PRs,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meaningful teammate reviews in the Backend repo about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behavior, tests, or clarity; show responses/follow-up to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concerns.</a:t>
            </a:r>
          </a:p>
        </p:txBody>
      </p:sp>
      <p:sp>
        <p:nvSpPr>
          <p:cNvPr id="7" name="content:line-141:0"/>
          <p:cNvSpPr txBox="1"/>
          <p:nvPr/>
        </p:nvSpPr>
        <p:spPr>
          <a:xfrm>
            <a:off x="594360" y="3285744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For EACH student: open at least one personally authored PR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and at least one substantive review of a teammate's PR, with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authorship and review permalinks.</a:t>
            </a:r>
          </a:p>
        </p:txBody>
      </p:sp>
      <p:sp>
        <p:nvSpPr>
          <p:cNvPr id="8" name="content:line-142:0"/>
          <p:cNvSpPr txBox="1"/>
          <p:nvPr/>
        </p:nvSpPr>
        <p:spPr>
          <a:xfrm>
            <a:off x="594360" y="4482084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Each member explains their contribution, authored change,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review reasoning, and any follow-up. Approval alone or “looks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good” is insufficient.</a:t>
            </a:r>
          </a:p>
        </p:txBody>
      </p:sp>
      <p:sp>
        <p:nvSpPr>
          <p:cNvPr id="9" name="content:line-143:0"/>
          <p:cNvSpPr txBox="1"/>
          <p:nvPr/>
        </p:nvSpPr>
        <p:spPr>
          <a:xfrm>
            <a:off x="594360" y="567842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Instructor completes an individual evidence row for every 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15 / 18  ·  CONTINUED 2</a:t>
            </a:r>
          </a:p>
        </p:txBody>
      </p:sp>
      <p:sp>
        <p:nvSpPr>
          <p:cNvPr id="4" name="title:line-138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Inspect collaboration and every member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17</a:t>
            </a:r>
          </a:p>
        </p:txBody>
      </p:sp>
      <p:sp>
        <p:nvSpPr>
          <p:cNvPr id="6" name="content:line-143:1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 "/>
            </a:pPr>
            <a:r>
              <a:rPr sz="2100" b="0" i="0">
                <a:solidFill>
                  <a:srgbClr val="20344A"/>
                </a:solidFill>
                <a:latin typeface="Arial"/>
              </a:rPr>
              <a:t>member. Sandbox practice, generated template history,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instructor/agent work do not count.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16 / 18</a:t>
            </a:r>
          </a:p>
        </p:txBody>
      </p:sp>
      <p:sp>
        <p:nvSpPr>
          <p:cNvPr id="4" name="title:line-14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Questions follow the evidence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18</a:t>
            </a:r>
          </a:p>
        </p:txBody>
      </p:sp>
      <p:sp>
        <p:nvSpPr>
          <p:cNvPr id="6" name="content:line-149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Why does this input fail? Open the rejection and the test that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establishes the rule.</a:t>
            </a:r>
          </a:p>
        </p:txBody>
      </p:sp>
      <p:sp>
        <p:nvSpPr>
          <p:cNvPr id="7" name="content:line-150:0"/>
          <p:cNvSpPr txBox="1"/>
          <p:nvPr/>
        </p:nvSpPr>
        <p:spPr>
          <a:xfrm>
            <a:off x="594360" y="258165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Which code and input produced these outputs? Open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commit and capture fingerprints, then explain environment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differences.</a:t>
            </a:r>
          </a:p>
        </p:txBody>
      </p:sp>
      <p:sp>
        <p:nvSpPr>
          <p:cNvPr id="8" name="content:line-151:0"/>
          <p:cNvSpPr txBox="1"/>
          <p:nvPr/>
        </p:nvSpPr>
        <p:spPr>
          <a:xfrm>
            <a:off x="594360" y="377799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Which fields compare exactly, and why is a derived value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allowed tolerance? Open the comparison and its tests.</a:t>
            </a:r>
          </a:p>
        </p:txBody>
      </p:sp>
      <p:sp>
        <p:nvSpPr>
          <p:cNvPr id="9" name="content:line-152:0"/>
          <p:cNvSpPr txBox="1"/>
          <p:nvPr/>
        </p:nvSpPr>
        <p:spPr>
          <a:xfrm>
            <a:off x="594360" y="462229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What did you change or ask a teammate to improve? Open your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 or review and explain the result.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17 / 18</a:t>
            </a:r>
          </a:p>
        </p:txBody>
      </p:sp>
      <p:sp>
        <p:nvSpPr>
          <p:cNvPr id="4" name="title:line-15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Shared break and remaining groups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19</a:t>
            </a:r>
          </a:p>
        </p:txBody>
      </p:sp>
      <p:sp>
        <p:nvSpPr>
          <p:cNvPr id="6" name="content:line-158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Take the reserved 10-minute break at the published slot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boundary.</a:t>
            </a:r>
          </a:p>
        </p:txBody>
      </p:sp>
      <p:sp>
        <p:nvSpPr>
          <p:cNvPr id="7" name="content:line-159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Resume with the next group's live demo, evidence inspection,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and questions using the same S allocation.</a:t>
            </a:r>
          </a:p>
        </p:txBody>
      </p:sp>
      <p:sp>
        <p:nvSpPr>
          <p:cNvPr id="8" name="content:line-160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Every group uses the same mandatory checklist; keep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reserved five-minute closing within the 170 minutes.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18 / 18</a:t>
            </a:r>
          </a:p>
        </p:txBody>
      </p:sp>
      <p:sp>
        <p:nvSpPr>
          <p:cNvPr id="4" name="title:line-16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Closing: connect the engineering evidence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20</a:t>
            </a:r>
          </a:p>
        </p:txBody>
      </p:sp>
      <p:sp>
        <p:nvSpPr>
          <p:cNvPr id="6" name="content:line-166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the final five minutes to connect environment, package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and Release, API/UI, containers, tests, comparisons, and peer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review.</a:t>
            </a:r>
          </a:p>
        </p:txBody>
      </p:sp>
      <p:sp>
        <p:nvSpPr>
          <p:cNvPr id="7" name="content:line-167:0"/>
          <p:cNvSpPr txBox="1"/>
          <p:nvPr/>
        </p:nvSpPr>
        <p:spPr>
          <a:xfrm>
            <a:off x="594360" y="29337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Pass requires every mandatory group row and every student's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individual participation requirement to pass.</a:t>
            </a:r>
          </a:p>
        </p:txBody>
      </p:sp>
      <p:sp>
        <p:nvSpPr>
          <p:cNvPr id="8" name="content:line-168:0"/>
          <p:cNvSpPr txBox="1"/>
          <p:nvPr/>
        </p:nvSpPr>
        <p:spPr>
          <a:xfrm>
            <a:off x="594360" y="377799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Instructor records failed rows and reasons at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presentation; no averaging or complexity bonuses, and no later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retry.</a:t>
            </a:r>
          </a:p>
        </p:txBody>
      </p:sp>
      <p:sp>
        <p:nvSpPr>
          <p:cNvPr id="9" name="content:line-169:0"/>
          <p:cNvSpPr txBox="1"/>
          <p:nvPr/>
        </p:nvSpPr>
        <p:spPr>
          <a:xfrm>
            <a:off x="594360" y="497433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final checklist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syllabus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remain the assessment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reference.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5: Final showcase and engineering review</dc:title>
  <dc:subject>Editable slides generated from session-5.md</dc:subject>
  <dc:creator>Three-R course</dc:creator>
  <cp:keywords>editable, Markdown, course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